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0" r:id="rId1"/>
    <p:sldMasterId id="2147484052" r:id="rId2"/>
    <p:sldMasterId id="2147484055" r:id="rId3"/>
  </p:sldMasterIdLst>
  <p:notesMasterIdLst>
    <p:notesMasterId r:id="rId71"/>
  </p:notesMasterIdLst>
  <p:sldIdLst>
    <p:sldId id="415" r:id="rId4"/>
    <p:sldId id="291" r:id="rId5"/>
    <p:sldId id="292" r:id="rId6"/>
    <p:sldId id="293" r:id="rId7"/>
    <p:sldId id="294" r:id="rId8"/>
    <p:sldId id="295" r:id="rId9"/>
    <p:sldId id="296" r:id="rId10"/>
    <p:sldId id="297" r:id="rId11"/>
    <p:sldId id="298" r:id="rId12"/>
    <p:sldId id="393" r:id="rId13"/>
    <p:sldId id="299" r:id="rId14"/>
    <p:sldId id="300" r:id="rId15"/>
    <p:sldId id="394" r:id="rId16"/>
    <p:sldId id="301" r:id="rId17"/>
    <p:sldId id="302" r:id="rId18"/>
    <p:sldId id="304" r:id="rId19"/>
    <p:sldId id="305" r:id="rId20"/>
    <p:sldId id="306" r:id="rId21"/>
    <p:sldId id="308" r:id="rId22"/>
    <p:sldId id="309" r:id="rId23"/>
    <p:sldId id="310" r:id="rId24"/>
    <p:sldId id="312" r:id="rId25"/>
    <p:sldId id="313" r:id="rId26"/>
    <p:sldId id="314" r:id="rId27"/>
    <p:sldId id="315" r:id="rId28"/>
    <p:sldId id="316" r:id="rId29"/>
    <p:sldId id="395" r:id="rId30"/>
    <p:sldId id="318" r:id="rId31"/>
    <p:sldId id="396" r:id="rId32"/>
    <p:sldId id="397" r:id="rId33"/>
    <p:sldId id="320" r:id="rId34"/>
    <p:sldId id="321" r:id="rId35"/>
    <p:sldId id="398" r:id="rId36"/>
    <p:sldId id="399" r:id="rId37"/>
    <p:sldId id="400" r:id="rId38"/>
    <p:sldId id="401" r:id="rId39"/>
    <p:sldId id="402" r:id="rId40"/>
    <p:sldId id="403" r:id="rId41"/>
    <p:sldId id="327" r:id="rId42"/>
    <p:sldId id="328" r:id="rId43"/>
    <p:sldId id="405" r:id="rId44"/>
    <p:sldId id="330" r:id="rId45"/>
    <p:sldId id="407" r:id="rId46"/>
    <p:sldId id="408" r:id="rId47"/>
    <p:sldId id="416" r:id="rId48"/>
    <p:sldId id="409" r:id="rId49"/>
    <p:sldId id="410" r:id="rId50"/>
    <p:sldId id="333" r:id="rId51"/>
    <p:sldId id="334" r:id="rId52"/>
    <p:sldId id="335" r:id="rId53"/>
    <p:sldId id="336" r:id="rId54"/>
    <p:sldId id="337" r:id="rId55"/>
    <p:sldId id="338" r:id="rId56"/>
    <p:sldId id="339" r:id="rId57"/>
    <p:sldId id="340" r:id="rId58"/>
    <p:sldId id="341" r:id="rId59"/>
    <p:sldId id="342" r:id="rId60"/>
    <p:sldId id="343" r:id="rId61"/>
    <p:sldId id="345" r:id="rId62"/>
    <p:sldId id="346" r:id="rId63"/>
    <p:sldId id="347" r:id="rId64"/>
    <p:sldId id="348" r:id="rId65"/>
    <p:sldId id="350" r:id="rId66"/>
    <p:sldId id="351" r:id="rId67"/>
    <p:sldId id="352" r:id="rId68"/>
    <p:sldId id="412" r:id="rId69"/>
    <p:sldId id="354" r:id="rId70"/>
  </p:sldIdLst>
  <p:sldSz cx="9144000" cy="6858000" type="screen4x3"/>
  <p:notesSz cx="6797675" cy="9928225"/>
  <p:defaultTextStyle>
    <a:defPPr>
      <a:defRPr lang="en-GB"/>
    </a:defPPr>
    <a:lvl1pPr algn="l" defTabSz="449263"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1pPr>
    <a:lvl2pPr marL="742950" indent="-285750" algn="l" defTabSz="449263"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2pPr>
    <a:lvl3pPr marL="1143000" indent="-228600" algn="l" defTabSz="449263"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3pPr>
    <a:lvl4pPr marL="1600200" indent="-228600" algn="l" defTabSz="449263"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4pPr>
    <a:lvl5pPr marL="2057400" indent="-228600" algn="l" defTabSz="449263" rtl="0" fontAlgn="base">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5pPr>
    <a:lvl6pPr marL="22860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6pPr>
    <a:lvl7pPr marL="27432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7pPr>
    <a:lvl8pPr marL="32004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8pPr>
    <a:lvl9pPr marL="36576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Arial" panose="020B0604020202020204" pitchFamily="34" charset="0"/>
      </a:defRPr>
    </a:lvl9pPr>
  </p:defaultTextStyle>
  <p:extLst>
    <p:ext uri="{EFAFB233-063F-42B5-8137-9DF3F51BA10A}">
      <p15:sldGuideLst xmlns:p15="http://schemas.microsoft.com/office/powerpoint/2012/main">
        <p15:guide id="1" orient="horz" pos="495">
          <p15:clr>
            <a:srgbClr val="A4A3A4"/>
          </p15:clr>
        </p15:guide>
        <p15:guide id="2" pos="2880">
          <p15:clr>
            <a:srgbClr val="A4A3A4"/>
          </p15:clr>
        </p15:guide>
      </p15:sldGuideLst>
    </p:ext>
    <p:ext uri="{2D200454-40CA-4A62-9FC3-DE9A4176ACB9}">
      <p15:notesGuideLst xmlns:p15="http://schemas.microsoft.com/office/powerpoint/2012/main">
        <p15:guide id="1" orient="horz" pos="3076" userDrawn="1">
          <p15:clr>
            <a:srgbClr val="A4A3A4"/>
          </p15:clr>
        </p15:guide>
        <p15:guide id="2" pos="209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ch4mathed" initials="t" lastIdx="3" clrIdx="0">
    <p:extLst>
      <p:ext uri="{19B8F6BF-5375-455C-9EA6-DF929625EA0E}">
        <p15:presenceInfo xmlns:p15="http://schemas.microsoft.com/office/powerpoint/2012/main" userId="tech4mathed" providerId="None"/>
      </p:ext>
    </p:extLst>
  </p:cmAuthor>
  <p:cmAuthor id="2" name="Pam Trim" initials="PT" lastIdx="5" clrIdx="1">
    <p:extLst>
      <p:ext uri="{19B8F6BF-5375-455C-9EA6-DF929625EA0E}">
        <p15:presenceInfo xmlns:p15="http://schemas.microsoft.com/office/powerpoint/2012/main" userId="S-1-5-21-791141741-2800993609-798820751-11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2" autoAdjust="0"/>
    <p:restoredTop sz="93428" autoAdjust="0"/>
  </p:normalViewPr>
  <p:slideViewPr>
    <p:cSldViewPr>
      <p:cViewPr varScale="1">
        <p:scale>
          <a:sx n="104" d="100"/>
          <a:sy n="104" d="100"/>
        </p:scale>
        <p:origin x="1740" y="102"/>
      </p:cViewPr>
      <p:guideLst>
        <p:guide orient="horz" pos="495"/>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9" d="100"/>
          <a:sy n="59" d="100"/>
        </p:scale>
        <p:origin x="-1752" y="-72"/>
      </p:cViewPr>
      <p:guideLst>
        <p:guide orient="horz" pos="3076"/>
        <p:guide pos="2095"/>
      </p:guideLst>
    </p:cSldViewPr>
  </p:notesViewPr>
  <p:gridSpacing cx="77724" cy="77724"/>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AutoShape 1"/>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8675" name="AutoShape 2"/>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8676" name="AutoShape 3"/>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8677" name="AutoShape 4"/>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8678" name="AutoShape 5"/>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4102" name="Rectangle 6"/>
          <p:cNvSpPr>
            <a:spLocks noGrp="1" noChangeArrowheads="1"/>
          </p:cNvSpPr>
          <p:nvPr>
            <p:ph type="hdr"/>
          </p:nvPr>
        </p:nvSpPr>
        <p:spPr bwMode="auto">
          <a:xfrm>
            <a:off x="0" y="0"/>
            <a:ext cx="2939244"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SzPct val="45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smtClean="0">
                <a:solidFill>
                  <a:srgbClr val="000000"/>
                </a:solidFill>
                <a:latin typeface="Times New Roman" pitchFamily="-80" charset="0"/>
                <a:ea typeface="Microsoft YaHei" charset="-122"/>
                <a:cs typeface="Arial Unicode MS" pitchFamily="-80" charset="0"/>
              </a:defRPr>
            </a:lvl1pPr>
          </a:lstStyle>
          <a:p>
            <a:pPr>
              <a:defRPr/>
            </a:pPr>
            <a:endParaRPr lang="en-US"/>
          </a:p>
        </p:txBody>
      </p:sp>
      <p:sp>
        <p:nvSpPr>
          <p:cNvPr id="4103" name="Rectangle 7"/>
          <p:cNvSpPr>
            <a:spLocks noGrp="1" noChangeArrowheads="1"/>
          </p:cNvSpPr>
          <p:nvPr>
            <p:ph type="dt"/>
          </p:nvPr>
        </p:nvSpPr>
        <p:spPr bwMode="auto">
          <a:xfrm>
            <a:off x="3850734" y="0"/>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a:buClrTx/>
              <a:buSzPct val="45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smtClean="0">
                <a:solidFill>
                  <a:srgbClr val="000000"/>
                </a:solidFill>
                <a:latin typeface="Times New Roman" pitchFamily="-80" charset="0"/>
                <a:ea typeface="Microsoft YaHei" charset="-122"/>
                <a:cs typeface="Arial Unicode MS" pitchFamily="-80" charset="0"/>
              </a:defRPr>
            </a:lvl1pPr>
          </a:lstStyle>
          <a:p>
            <a:pPr>
              <a:defRPr/>
            </a:pPr>
            <a:endParaRPr lang="en-US"/>
          </a:p>
        </p:txBody>
      </p:sp>
      <p:sp>
        <p:nvSpPr>
          <p:cNvPr id="28681" name="Rectangle 8"/>
          <p:cNvSpPr>
            <a:spLocks noGrp="1" noRot="1" noChangeAspect="1" noChangeArrowheads="1"/>
          </p:cNvSpPr>
          <p:nvPr>
            <p:ph type="sldImg"/>
          </p:nvPr>
        </p:nvSpPr>
        <p:spPr bwMode="auto">
          <a:xfrm>
            <a:off x="920750" y="744538"/>
            <a:ext cx="4951413" cy="37147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5" name="Rectangle 9"/>
          <p:cNvSpPr>
            <a:spLocks noGrp="1" noChangeArrowheads="1"/>
          </p:cNvSpPr>
          <p:nvPr>
            <p:ph type="body"/>
          </p:nvPr>
        </p:nvSpPr>
        <p:spPr bwMode="auto">
          <a:xfrm>
            <a:off x="680538" y="4717391"/>
            <a:ext cx="5430442" cy="4459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4106" name="Rectangle 10"/>
          <p:cNvSpPr>
            <a:spLocks noGrp="1" noChangeArrowheads="1"/>
          </p:cNvSpPr>
          <p:nvPr>
            <p:ph type="ftr"/>
          </p:nvPr>
        </p:nvSpPr>
        <p:spPr bwMode="auto">
          <a:xfrm>
            <a:off x="0" y="9431389"/>
            <a:ext cx="2939244"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ClrTx/>
              <a:buSzPct val="45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smtClean="0">
                <a:solidFill>
                  <a:srgbClr val="000000"/>
                </a:solidFill>
                <a:latin typeface="Times New Roman" pitchFamily="-80" charset="0"/>
                <a:ea typeface="Microsoft YaHei" charset="-122"/>
                <a:cs typeface="Arial Unicode MS" pitchFamily="-80" charset="0"/>
              </a:defRPr>
            </a:lvl1pPr>
          </a:lstStyle>
          <a:p>
            <a:pPr>
              <a:defRPr/>
            </a:pPr>
            <a:endParaRPr lang="en-US"/>
          </a:p>
        </p:txBody>
      </p:sp>
      <p:sp>
        <p:nvSpPr>
          <p:cNvPr id="4107" name="Rectangle 11"/>
          <p:cNvSpPr>
            <a:spLocks noGrp="1" noChangeArrowheads="1"/>
          </p:cNvSpPr>
          <p:nvPr>
            <p:ph type="sldNum"/>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SzPct val="45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fld id="{5538066B-42C1-4D10-B185-7405A856C1E3}" type="slidenum">
              <a:rPr lang="en-US" altLang="en-US"/>
              <a:pPr/>
              <a:t>‹#›</a:t>
            </a:fld>
            <a:endParaRPr lang="en-US" altLang="en-US"/>
          </a:p>
        </p:txBody>
      </p:sp>
    </p:spTree>
    <p:extLst>
      <p:ext uri="{BB962C8B-B14F-4D97-AF65-F5344CB8AC3E}">
        <p14:creationId xmlns:p14="http://schemas.microsoft.com/office/powerpoint/2010/main" val="1837322700"/>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51796186-6432-4236-AE55-A59D1F6AF45E}" type="slidenum">
              <a:rPr lang="en-US" altLang="en-US" sz="1200">
                <a:solidFill>
                  <a:srgbClr val="000000"/>
                </a:solidFill>
              </a:rPr>
              <a:pPr algn="r" eaLnBrk="1" hangingPunct="1">
                <a:buClrTx/>
                <a:buSzPct val="45000"/>
                <a:buFontTx/>
                <a:buNone/>
              </a:pPr>
              <a:t>2</a:t>
            </a:fld>
            <a:endParaRPr lang="en-US" altLang="en-US" sz="1200">
              <a:solidFill>
                <a:srgbClr val="000000"/>
              </a:solidFill>
            </a:endParaRPr>
          </a:p>
        </p:txBody>
      </p:sp>
      <p:sp>
        <p:nvSpPr>
          <p:cNvPr id="5939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40868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CE04782F-3C44-44E0-B33B-4CB947E3EAC8}" type="slidenum">
              <a:rPr lang="en-US" altLang="en-US" sz="1200">
                <a:solidFill>
                  <a:srgbClr val="000000"/>
                </a:solidFill>
              </a:rPr>
              <a:pPr algn="r" eaLnBrk="1" hangingPunct="1">
                <a:buClrTx/>
                <a:buSzPct val="45000"/>
                <a:buFontTx/>
                <a:buNone/>
              </a:pPr>
              <a:t>3</a:t>
            </a:fld>
            <a:endParaRPr lang="en-US" altLang="en-US" sz="1200">
              <a:solidFill>
                <a:srgbClr val="000000"/>
              </a:solidFill>
            </a:endParaRPr>
          </a:p>
        </p:txBody>
      </p:sp>
      <p:sp>
        <p:nvSpPr>
          <p:cNvPr id="6144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00209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9AD75A1-B928-4FF6-8C58-892FD4CB280E}" type="slidenum">
              <a:rPr lang="en-US" altLang="en-US" sz="1200">
                <a:solidFill>
                  <a:srgbClr val="000000"/>
                </a:solidFill>
              </a:rPr>
              <a:pPr algn="r" eaLnBrk="1" hangingPunct="1">
                <a:buClrTx/>
                <a:buSzPct val="45000"/>
                <a:buFontTx/>
                <a:buNone/>
              </a:pPr>
              <a:t>4</a:t>
            </a:fld>
            <a:endParaRPr lang="en-US" altLang="en-US" sz="1200">
              <a:solidFill>
                <a:srgbClr val="000000"/>
              </a:solidFill>
            </a:endParaRPr>
          </a:p>
        </p:txBody>
      </p:sp>
      <p:sp>
        <p:nvSpPr>
          <p:cNvPr id="6349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689067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633A687B-A8AE-4581-90A7-F3403C044B69}" type="slidenum">
              <a:rPr lang="en-US" altLang="en-US" sz="1200">
                <a:solidFill>
                  <a:srgbClr val="000000"/>
                </a:solidFill>
              </a:rPr>
              <a:pPr algn="r" eaLnBrk="1" hangingPunct="1">
                <a:buClrTx/>
                <a:buSzPct val="45000"/>
                <a:buFontTx/>
                <a:buNone/>
              </a:pPr>
              <a:t>5</a:t>
            </a:fld>
            <a:endParaRPr lang="en-US" altLang="en-US" sz="1200">
              <a:solidFill>
                <a:srgbClr val="000000"/>
              </a:solidFill>
            </a:endParaRPr>
          </a:p>
        </p:txBody>
      </p:sp>
      <p:sp>
        <p:nvSpPr>
          <p:cNvPr id="6553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4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77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6F57B041-5C5E-480F-809A-B206E4C902CD}" type="slidenum">
              <a:rPr lang="en-US" altLang="en-US" sz="1200">
                <a:solidFill>
                  <a:srgbClr val="000000"/>
                </a:solidFill>
              </a:rPr>
              <a:pPr algn="r" eaLnBrk="1" hangingPunct="1">
                <a:buClrTx/>
                <a:buSzPct val="45000"/>
                <a:buFontTx/>
                <a:buNone/>
              </a:pPr>
              <a:t>6</a:t>
            </a:fld>
            <a:endParaRPr lang="en-US" altLang="en-US" sz="1200">
              <a:solidFill>
                <a:srgbClr val="000000"/>
              </a:solidFill>
            </a:endParaRPr>
          </a:p>
        </p:txBody>
      </p:sp>
      <p:sp>
        <p:nvSpPr>
          <p:cNvPr id="6758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8"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72764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4A60C511-922E-4D55-B500-47635C6E0568}" type="slidenum">
              <a:rPr lang="en-US" altLang="en-US" sz="1200">
                <a:solidFill>
                  <a:srgbClr val="000000"/>
                </a:solidFill>
              </a:rPr>
              <a:pPr algn="r" eaLnBrk="1" hangingPunct="1">
                <a:buClrTx/>
                <a:buSzPct val="45000"/>
                <a:buFontTx/>
                <a:buNone/>
              </a:pPr>
              <a:t>7</a:t>
            </a:fld>
            <a:endParaRPr lang="en-US" altLang="en-US" sz="1200">
              <a:solidFill>
                <a:srgbClr val="000000"/>
              </a:solidFill>
            </a:endParaRPr>
          </a:p>
        </p:txBody>
      </p:sp>
      <p:sp>
        <p:nvSpPr>
          <p:cNvPr id="6963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5297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7A87FE41-902B-484D-9107-9CAD8055C3BC}" type="slidenum">
              <a:rPr lang="en-US" altLang="en-US" sz="1200">
                <a:solidFill>
                  <a:srgbClr val="000000"/>
                </a:solidFill>
              </a:rPr>
              <a:pPr algn="r" eaLnBrk="1" hangingPunct="1">
                <a:buClrTx/>
                <a:buSzPct val="45000"/>
                <a:buFontTx/>
                <a:buNone/>
              </a:pPr>
              <a:t>8</a:t>
            </a:fld>
            <a:endParaRPr lang="en-US" altLang="en-US" sz="1200">
              <a:solidFill>
                <a:srgbClr val="000000"/>
              </a:solidFill>
            </a:endParaRPr>
          </a:p>
        </p:txBody>
      </p:sp>
      <p:sp>
        <p:nvSpPr>
          <p:cNvPr id="7168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68031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1948975B-EDA7-4561-8000-722E1985FC67}" type="slidenum">
              <a:rPr lang="en-US" altLang="en-US" sz="1200">
                <a:solidFill>
                  <a:srgbClr val="000000"/>
                </a:solidFill>
              </a:rPr>
              <a:pPr algn="r" eaLnBrk="1" hangingPunct="1">
                <a:buClrTx/>
                <a:buSzPct val="45000"/>
                <a:buFontTx/>
                <a:buNone/>
              </a:pPr>
              <a:t>9</a:t>
            </a:fld>
            <a:endParaRPr lang="en-US" altLang="en-US" sz="1200">
              <a:solidFill>
                <a:srgbClr val="000000"/>
              </a:solidFill>
            </a:endParaRPr>
          </a:p>
        </p:txBody>
      </p:sp>
      <p:sp>
        <p:nvSpPr>
          <p:cNvPr id="7373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1580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1948975B-EDA7-4561-8000-722E1985FC67}" type="slidenum">
              <a:rPr lang="en-US" altLang="en-US" sz="1200">
                <a:solidFill>
                  <a:srgbClr val="000000"/>
                </a:solidFill>
              </a:rPr>
              <a:pPr algn="r" eaLnBrk="1" hangingPunct="1">
                <a:buClrTx/>
                <a:buSzPct val="45000"/>
                <a:buFontTx/>
                <a:buNone/>
              </a:pPr>
              <a:t>10</a:t>
            </a:fld>
            <a:endParaRPr lang="en-US" altLang="en-US" sz="1200">
              <a:solidFill>
                <a:srgbClr val="000000"/>
              </a:solidFill>
            </a:endParaRPr>
          </a:p>
        </p:txBody>
      </p:sp>
      <p:sp>
        <p:nvSpPr>
          <p:cNvPr id="7373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2469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53FADBE-D4AA-4E04-ABE9-17AF0A9E2C74}" type="slidenum">
              <a:rPr lang="en-US" altLang="en-US" sz="1200">
                <a:solidFill>
                  <a:srgbClr val="000000"/>
                </a:solidFill>
              </a:rPr>
              <a:pPr algn="r" eaLnBrk="1" hangingPunct="1">
                <a:buClrTx/>
                <a:buSzPct val="45000"/>
                <a:buFontTx/>
                <a:buNone/>
              </a:pPr>
              <a:t>11</a:t>
            </a:fld>
            <a:endParaRPr lang="en-US" altLang="en-US" sz="1200">
              <a:solidFill>
                <a:srgbClr val="000000"/>
              </a:solidFill>
            </a:endParaRPr>
          </a:p>
        </p:txBody>
      </p:sp>
      <p:sp>
        <p:nvSpPr>
          <p:cNvPr id="7577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26225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FA3727F4-47C5-4E4E-B1E8-4DCC0B3515B1}" type="slidenum">
              <a:rPr lang="en-US" altLang="en-US" sz="1200">
                <a:solidFill>
                  <a:srgbClr val="000000"/>
                </a:solidFill>
              </a:rPr>
              <a:pPr algn="r" eaLnBrk="1" hangingPunct="1">
                <a:buClrTx/>
                <a:buSzPct val="45000"/>
                <a:buFontTx/>
                <a:buNone/>
              </a:pPr>
              <a:t>12</a:t>
            </a:fld>
            <a:endParaRPr lang="en-US" altLang="en-US" sz="1200">
              <a:solidFill>
                <a:srgbClr val="000000"/>
              </a:solidFill>
            </a:endParaRPr>
          </a:p>
        </p:txBody>
      </p:sp>
      <p:sp>
        <p:nvSpPr>
          <p:cNvPr id="7782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8"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44814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FA3727F4-47C5-4E4E-B1E8-4DCC0B3515B1}" type="slidenum">
              <a:rPr lang="en-US" altLang="en-US" sz="1200">
                <a:solidFill>
                  <a:srgbClr val="000000"/>
                </a:solidFill>
              </a:rPr>
              <a:pPr algn="r" eaLnBrk="1" hangingPunct="1">
                <a:buClrTx/>
                <a:buSzPct val="45000"/>
                <a:buFontTx/>
                <a:buNone/>
              </a:pPr>
              <a:t>13</a:t>
            </a:fld>
            <a:endParaRPr lang="en-US" altLang="en-US" sz="1200">
              <a:solidFill>
                <a:srgbClr val="000000"/>
              </a:solidFill>
            </a:endParaRPr>
          </a:p>
        </p:txBody>
      </p:sp>
      <p:sp>
        <p:nvSpPr>
          <p:cNvPr id="7782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8"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922875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BEFB8902-C90F-42A8-B0E8-30CF169872B0}" type="slidenum">
              <a:rPr lang="en-US" altLang="en-US" sz="1200">
                <a:solidFill>
                  <a:srgbClr val="000000"/>
                </a:solidFill>
              </a:rPr>
              <a:pPr algn="r" eaLnBrk="1" hangingPunct="1">
                <a:buClrTx/>
                <a:buSzPct val="45000"/>
                <a:buFontTx/>
                <a:buNone/>
              </a:pPr>
              <a:t>14</a:t>
            </a:fld>
            <a:endParaRPr lang="en-US" altLang="en-US" sz="1200">
              <a:solidFill>
                <a:srgbClr val="000000"/>
              </a:solidFill>
            </a:endParaRPr>
          </a:p>
        </p:txBody>
      </p:sp>
      <p:sp>
        <p:nvSpPr>
          <p:cNvPr id="7987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3031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B86B9747-C745-4583-80FB-D6AD50DC3830}" type="slidenum">
              <a:rPr lang="en-US" altLang="en-US" sz="1200">
                <a:solidFill>
                  <a:srgbClr val="000000"/>
                </a:solidFill>
              </a:rPr>
              <a:pPr algn="r" eaLnBrk="1" hangingPunct="1">
                <a:buClrTx/>
                <a:buSzPct val="45000"/>
                <a:buFontTx/>
                <a:buNone/>
              </a:pPr>
              <a:t>15</a:t>
            </a:fld>
            <a:endParaRPr lang="en-US" altLang="en-US" sz="1200">
              <a:solidFill>
                <a:srgbClr val="000000"/>
              </a:solidFill>
            </a:endParaRPr>
          </a:p>
        </p:txBody>
      </p:sp>
      <p:sp>
        <p:nvSpPr>
          <p:cNvPr id="8192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0719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C2136AB5-C316-483D-8606-21761F710395}" type="slidenum">
              <a:rPr lang="en-US" altLang="en-US" sz="1200">
                <a:solidFill>
                  <a:srgbClr val="000000"/>
                </a:solidFill>
              </a:rPr>
              <a:pPr algn="r" eaLnBrk="1" hangingPunct="1">
                <a:buClrTx/>
                <a:buSzPct val="45000"/>
                <a:buFontTx/>
                <a:buNone/>
              </a:pPr>
              <a:t>16</a:t>
            </a:fld>
            <a:endParaRPr lang="en-US" altLang="en-US" sz="1200">
              <a:solidFill>
                <a:srgbClr val="000000"/>
              </a:solidFill>
            </a:endParaRPr>
          </a:p>
        </p:txBody>
      </p:sp>
      <p:sp>
        <p:nvSpPr>
          <p:cNvPr id="8601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2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80405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568C20DD-C68E-4FF1-8542-EB7FB1D6B86C}" type="slidenum">
              <a:rPr lang="en-US" altLang="en-US" sz="1200">
                <a:solidFill>
                  <a:srgbClr val="000000"/>
                </a:solidFill>
              </a:rPr>
              <a:pPr algn="r" eaLnBrk="1" hangingPunct="1">
                <a:buClrTx/>
                <a:buSzPct val="45000"/>
                <a:buFontTx/>
                <a:buNone/>
              </a:pPr>
              <a:t>17</a:t>
            </a:fld>
            <a:endParaRPr lang="en-US" altLang="en-US" sz="1200">
              <a:solidFill>
                <a:srgbClr val="000000"/>
              </a:solidFill>
            </a:endParaRPr>
          </a:p>
        </p:txBody>
      </p:sp>
      <p:sp>
        <p:nvSpPr>
          <p:cNvPr id="8806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8"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89228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1E3A038A-70AC-417B-924D-EEC6BCD3011A}" type="slidenum">
              <a:rPr lang="en-US" altLang="en-US" sz="1200">
                <a:solidFill>
                  <a:srgbClr val="000000"/>
                </a:solidFill>
              </a:rPr>
              <a:pPr algn="r" eaLnBrk="1" hangingPunct="1">
                <a:buClrTx/>
                <a:buSzPct val="45000"/>
                <a:buFontTx/>
                <a:buNone/>
              </a:pPr>
              <a:t>18</a:t>
            </a:fld>
            <a:endParaRPr lang="en-US" altLang="en-US" sz="1200">
              <a:solidFill>
                <a:srgbClr val="000000"/>
              </a:solidFill>
            </a:endParaRPr>
          </a:p>
        </p:txBody>
      </p:sp>
      <p:sp>
        <p:nvSpPr>
          <p:cNvPr id="9011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21863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44DB424-320A-4962-AD7F-18CE3C6B8C91}" type="slidenum">
              <a:rPr lang="en-US" altLang="en-US" sz="1200">
                <a:solidFill>
                  <a:srgbClr val="000000"/>
                </a:solidFill>
              </a:rPr>
              <a:pPr algn="r" eaLnBrk="1" hangingPunct="1">
                <a:buClrTx/>
                <a:buSzPct val="45000"/>
                <a:buFontTx/>
                <a:buNone/>
              </a:pPr>
              <a:t>19</a:t>
            </a:fld>
            <a:endParaRPr lang="en-US" altLang="en-US" sz="1200">
              <a:solidFill>
                <a:srgbClr val="000000"/>
              </a:solidFill>
            </a:endParaRPr>
          </a:p>
        </p:txBody>
      </p:sp>
      <p:sp>
        <p:nvSpPr>
          <p:cNvPr id="9421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31778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D0D0F39-7436-4A64-B757-099016CFF00F}" type="slidenum">
              <a:rPr lang="en-US" altLang="en-US" sz="1200">
                <a:solidFill>
                  <a:srgbClr val="000000"/>
                </a:solidFill>
              </a:rPr>
              <a:pPr algn="r" eaLnBrk="1" hangingPunct="1">
                <a:buClrTx/>
                <a:buSzPct val="45000"/>
                <a:buFontTx/>
                <a:buNone/>
              </a:pPr>
              <a:t>20</a:t>
            </a:fld>
            <a:endParaRPr lang="en-US" altLang="en-US" sz="1200">
              <a:solidFill>
                <a:srgbClr val="000000"/>
              </a:solidFill>
            </a:endParaRPr>
          </a:p>
        </p:txBody>
      </p:sp>
      <p:sp>
        <p:nvSpPr>
          <p:cNvPr id="9625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6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2940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02FFEB63-3E47-46FC-B934-DA9D4783B844}" type="slidenum">
              <a:rPr lang="en-US" altLang="en-US" sz="1200">
                <a:solidFill>
                  <a:srgbClr val="000000"/>
                </a:solidFill>
              </a:rPr>
              <a:pPr algn="r" eaLnBrk="1" hangingPunct="1">
                <a:buClrTx/>
                <a:buSzPct val="45000"/>
                <a:buFontTx/>
                <a:buNone/>
              </a:pPr>
              <a:t>21</a:t>
            </a:fld>
            <a:endParaRPr lang="en-US" altLang="en-US" sz="1200">
              <a:solidFill>
                <a:srgbClr val="000000"/>
              </a:solidFill>
            </a:endParaRPr>
          </a:p>
        </p:txBody>
      </p:sp>
      <p:sp>
        <p:nvSpPr>
          <p:cNvPr id="9830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8" name="Rectangle 2"/>
          <p:cNvSpPr>
            <a:spLocks noGrp="1" noChangeArrowheads="1"/>
          </p:cNvSpPr>
          <p:nvPr>
            <p:ph type="body" idx="1"/>
          </p:nvPr>
        </p:nvSpPr>
        <p:spPr>
          <a:xfrm>
            <a:off x="906871" y="4717391"/>
            <a:ext cx="4985475"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10010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C6A36CF2-F7F8-4A34-A01D-8E6CDA683D77}" type="slidenum">
              <a:rPr lang="en-US" altLang="en-US" sz="1200">
                <a:solidFill>
                  <a:srgbClr val="000000"/>
                </a:solidFill>
              </a:rPr>
              <a:pPr algn="r" eaLnBrk="1" hangingPunct="1">
                <a:buClrTx/>
                <a:buSzPct val="45000"/>
                <a:buFontTx/>
                <a:buNone/>
              </a:pPr>
              <a:t>22</a:t>
            </a:fld>
            <a:endParaRPr lang="en-US" altLang="en-US" sz="1200">
              <a:solidFill>
                <a:srgbClr val="000000"/>
              </a:solidFill>
            </a:endParaRPr>
          </a:p>
        </p:txBody>
      </p:sp>
      <p:sp>
        <p:nvSpPr>
          <p:cNvPr id="10240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75015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4FC6FC68-59F7-48FB-9D3E-82EFEF152C1C}" type="slidenum">
              <a:rPr lang="en-US" altLang="en-US" sz="1200">
                <a:solidFill>
                  <a:srgbClr val="000000"/>
                </a:solidFill>
              </a:rPr>
              <a:pPr algn="r" eaLnBrk="1" hangingPunct="1">
                <a:buClrTx/>
                <a:buSzPct val="45000"/>
                <a:buFontTx/>
                <a:buNone/>
              </a:pPr>
              <a:t>23</a:t>
            </a:fld>
            <a:endParaRPr lang="en-US" altLang="en-US" sz="1200">
              <a:solidFill>
                <a:srgbClr val="000000"/>
              </a:solidFill>
            </a:endParaRPr>
          </a:p>
        </p:txBody>
      </p:sp>
      <p:sp>
        <p:nvSpPr>
          <p:cNvPr id="10445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25940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FCD4ED84-375C-444D-B053-EF6C403996C0}" type="slidenum">
              <a:rPr lang="en-US" altLang="en-US" sz="1200">
                <a:solidFill>
                  <a:srgbClr val="000000"/>
                </a:solidFill>
              </a:rPr>
              <a:pPr algn="r" eaLnBrk="1" hangingPunct="1">
                <a:buClrTx/>
                <a:buSzPct val="45000"/>
                <a:buFontTx/>
                <a:buNone/>
              </a:pPr>
              <a:t>24</a:t>
            </a:fld>
            <a:endParaRPr lang="en-US" altLang="en-US" sz="1200">
              <a:solidFill>
                <a:srgbClr val="000000"/>
              </a:solidFill>
            </a:endParaRPr>
          </a:p>
        </p:txBody>
      </p:sp>
      <p:sp>
        <p:nvSpPr>
          <p:cNvPr id="10649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60794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542D74D-8C84-45DC-B1C4-0D0A26A62BDD}" type="slidenum">
              <a:rPr lang="en-US" altLang="en-US" sz="1200">
                <a:solidFill>
                  <a:srgbClr val="000000"/>
                </a:solidFill>
              </a:rPr>
              <a:pPr algn="r" eaLnBrk="1" hangingPunct="1">
                <a:buClrTx/>
                <a:buSzPct val="45000"/>
                <a:buFontTx/>
                <a:buNone/>
              </a:pPr>
              <a:t>25</a:t>
            </a:fld>
            <a:endParaRPr lang="en-US" altLang="en-US" sz="1200">
              <a:solidFill>
                <a:srgbClr val="000000"/>
              </a:solidFill>
            </a:endParaRPr>
          </a:p>
        </p:txBody>
      </p:sp>
      <p:sp>
        <p:nvSpPr>
          <p:cNvPr id="10854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8" name="Rectangle 2"/>
          <p:cNvSpPr>
            <a:spLocks noGrp="1" noChangeArrowheads="1"/>
          </p:cNvSpPr>
          <p:nvPr>
            <p:ph type="body" idx="1"/>
          </p:nvPr>
        </p:nvSpPr>
        <p:spPr>
          <a:xfrm>
            <a:off x="906871" y="4717391"/>
            <a:ext cx="4985475"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8492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A13A8D57-1F8F-4ECE-A40B-F7EDDE3BDD11}" type="slidenum">
              <a:rPr lang="en-US" altLang="en-US" sz="1200">
                <a:solidFill>
                  <a:srgbClr val="000000"/>
                </a:solidFill>
              </a:rPr>
              <a:pPr algn="r" eaLnBrk="1" hangingPunct="1">
                <a:buClrTx/>
                <a:buSzPct val="45000"/>
                <a:buFontTx/>
                <a:buNone/>
              </a:pPr>
              <a:t>26</a:t>
            </a:fld>
            <a:endParaRPr lang="en-US" altLang="en-US" sz="1200">
              <a:solidFill>
                <a:srgbClr val="000000"/>
              </a:solidFill>
            </a:endParaRPr>
          </a:p>
        </p:txBody>
      </p:sp>
      <p:sp>
        <p:nvSpPr>
          <p:cNvPr id="11059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86548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A13A8D57-1F8F-4ECE-A40B-F7EDDE3BDD11}" type="slidenum">
              <a:rPr lang="en-US" altLang="en-US" sz="1200">
                <a:solidFill>
                  <a:srgbClr val="000000"/>
                </a:solidFill>
              </a:rPr>
              <a:pPr algn="r" eaLnBrk="1" hangingPunct="1">
                <a:buClrTx/>
                <a:buSzPct val="45000"/>
                <a:buFontTx/>
                <a:buNone/>
              </a:pPr>
              <a:t>27</a:t>
            </a:fld>
            <a:endParaRPr lang="en-US" altLang="en-US" sz="1200">
              <a:solidFill>
                <a:srgbClr val="000000"/>
              </a:solidFill>
            </a:endParaRPr>
          </a:p>
        </p:txBody>
      </p:sp>
      <p:sp>
        <p:nvSpPr>
          <p:cNvPr id="11059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75555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F6D0EF8-3970-4330-BA66-A2977E627799}" type="slidenum">
              <a:rPr lang="en-US" altLang="en-US" sz="1200">
                <a:solidFill>
                  <a:srgbClr val="000000"/>
                </a:solidFill>
              </a:rPr>
              <a:pPr algn="r" eaLnBrk="1" hangingPunct="1">
                <a:buClrTx/>
                <a:buSzPct val="45000"/>
                <a:buFontTx/>
                <a:buNone/>
              </a:pPr>
              <a:t>28</a:t>
            </a:fld>
            <a:endParaRPr lang="en-US" altLang="en-US" sz="1200">
              <a:solidFill>
                <a:srgbClr val="000000"/>
              </a:solidFill>
            </a:endParaRPr>
          </a:p>
        </p:txBody>
      </p:sp>
      <p:sp>
        <p:nvSpPr>
          <p:cNvPr id="11469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58182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F6D0EF8-3970-4330-BA66-A2977E627799}" type="slidenum">
              <a:rPr lang="en-US" altLang="en-US" sz="1200">
                <a:solidFill>
                  <a:srgbClr val="000000"/>
                </a:solidFill>
              </a:rPr>
              <a:pPr algn="r" eaLnBrk="1" hangingPunct="1">
                <a:buClrTx/>
                <a:buSzPct val="45000"/>
                <a:buFontTx/>
                <a:buNone/>
              </a:pPr>
              <a:t>29</a:t>
            </a:fld>
            <a:endParaRPr lang="en-US" altLang="en-US" sz="1200">
              <a:solidFill>
                <a:srgbClr val="000000"/>
              </a:solidFill>
            </a:endParaRPr>
          </a:p>
        </p:txBody>
      </p:sp>
      <p:sp>
        <p:nvSpPr>
          <p:cNvPr id="11469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41582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F6D0EF8-3970-4330-BA66-A2977E627799}" type="slidenum">
              <a:rPr lang="en-US" altLang="en-US" sz="1200">
                <a:solidFill>
                  <a:srgbClr val="000000"/>
                </a:solidFill>
              </a:rPr>
              <a:pPr algn="r" eaLnBrk="1" hangingPunct="1">
                <a:buClrTx/>
                <a:buSzPct val="45000"/>
                <a:buFontTx/>
                <a:buNone/>
              </a:pPr>
              <a:t>30</a:t>
            </a:fld>
            <a:endParaRPr lang="en-US" altLang="en-US" sz="1200">
              <a:solidFill>
                <a:srgbClr val="000000"/>
              </a:solidFill>
            </a:endParaRPr>
          </a:p>
        </p:txBody>
      </p:sp>
      <p:sp>
        <p:nvSpPr>
          <p:cNvPr id="11469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254094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AAB218F3-2F7E-422F-BDD8-7029715C2816}" type="slidenum">
              <a:rPr lang="en-US" altLang="en-US" sz="1200">
                <a:solidFill>
                  <a:srgbClr val="000000"/>
                </a:solidFill>
              </a:rPr>
              <a:pPr algn="r" eaLnBrk="1" hangingPunct="1">
                <a:buClrTx/>
                <a:buSzPct val="45000"/>
                <a:buFontTx/>
                <a:buNone/>
              </a:pPr>
              <a:t>31</a:t>
            </a:fld>
            <a:endParaRPr lang="en-US" altLang="en-US" sz="1200">
              <a:solidFill>
                <a:srgbClr val="000000"/>
              </a:solidFill>
            </a:endParaRPr>
          </a:p>
        </p:txBody>
      </p:sp>
      <p:sp>
        <p:nvSpPr>
          <p:cNvPr id="11878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440098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32</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495726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33</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80024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34</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0811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35</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426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36</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181941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37</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79653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E4E5FEB-372A-4C1B-9031-D621980FA46A}" type="slidenum">
              <a:rPr lang="en-US" altLang="en-US" sz="1200">
                <a:solidFill>
                  <a:srgbClr val="000000"/>
                </a:solidFill>
              </a:rPr>
              <a:pPr algn="r" eaLnBrk="1" hangingPunct="1">
                <a:buClrTx/>
                <a:buSzPct val="45000"/>
                <a:buFontTx/>
                <a:buNone/>
              </a:pPr>
              <a:t>38</a:t>
            </a:fld>
            <a:endParaRPr lang="en-US" altLang="en-US" sz="1200">
              <a:solidFill>
                <a:srgbClr val="000000"/>
              </a:solidFill>
            </a:endParaRPr>
          </a:p>
        </p:txBody>
      </p:sp>
      <p:sp>
        <p:nvSpPr>
          <p:cNvPr id="1208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526228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FD2625CD-31AF-4378-8A41-110BD4A2959C}" type="slidenum">
              <a:rPr lang="en-US" altLang="en-US" sz="1200">
                <a:solidFill>
                  <a:srgbClr val="000000"/>
                </a:solidFill>
              </a:rPr>
              <a:pPr algn="r" eaLnBrk="1" hangingPunct="1">
                <a:buClrTx/>
                <a:buSzPct val="45000"/>
                <a:buFontTx/>
                <a:buNone/>
              </a:pPr>
              <a:t>39</a:t>
            </a:fld>
            <a:endParaRPr lang="en-US" altLang="en-US" sz="1200">
              <a:solidFill>
                <a:srgbClr val="000000"/>
              </a:solidFill>
            </a:endParaRPr>
          </a:p>
        </p:txBody>
      </p:sp>
      <p:sp>
        <p:nvSpPr>
          <p:cNvPr id="133123"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4"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37214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6A280490-29D7-40FC-8381-8D5998E5D52E}" type="slidenum">
              <a:rPr lang="en-US" altLang="en-US" sz="1200">
                <a:solidFill>
                  <a:srgbClr val="000000"/>
                </a:solidFill>
              </a:rPr>
              <a:pPr algn="r" eaLnBrk="1" hangingPunct="1">
                <a:buClrTx/>
                <a:buSzPct val="45000"/>
                <a:buFontTx/>
                <a:buNone/>
              </a:pPr>
              <a:t>40</a:t>
            </a:fld>
            <a:endParaRPr lang="en-US" altLang="en-US" sz="1200">
              <a:solidFill>
                <a:srgbClr val="000000"/>
              </a:solidFill>
            </a:endParaRPr>
          </a:p>
        </p:txBody>
      </p:sp>
      <p:sp>
        <p:nvSpPr>
          <p:cNvPr id="13517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2" name="Rectangle 2"/>
          <p:cNvSpPr>
            <a:spLocks noGrp="1" noChangeArrowheads="1"/>
          </p:cNvSpPr>
          <p:nvPr>
            <p:ph type="body" idx="1"/>
          </p:nvPr>
        </p:nvSpPr>
        <p:spPr>
          <a:xfrm>
            <a:off x="906871" y="4717391"/>
            <a:ext cx="4985475"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022448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6A280490-29D7-40FC-8381-8D5998E5D52E}" type="slidenum">
              <a:rPr lang="en-US" altLang="en-US" sz="1200">
                <a:solidFill>
                  <a:srgbClr val="000000"/>
                </a:solidFill>
              </a:rPr>
              <a:pPr algn="r" eaLnBrk="1" hangingPunct="1">
                <a:buClrTx/>
                <a:buSzPct val="45000"/>
                <a:buFontTx/>
                <a:buNone/>
              </a:pPr>
              <a:t>41</a:t>
            </a:fld>
            <a:endParaRPr lang="en-US" altLang="en-US" sz="1200">
              <a:solidFill>
                <a:srgbClr val="000000"/>
              </a:solidFill>
            </a:endParaRPr>
          </a:p>
        </p:txBody>
      </p:sp>
      <p:sp>
        <p:nvSpPr>
          <p:cNvPr id="135171"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2" name="Rectangle 2"/>
          <p:cNvSpPr>
            <a:spLocks noGrp="1" noChangeArrowheads="1"/>
          </p:cNvSpPr>
          <p:nvPr>
            <p:ph type="body" idx="1"/>
          </p:nvPr>
        </p:nvSpPr>
        <p:spPr>
          <a:xfrm>
            <a:off x="906871" y="4717391"/>
            <a:ext cx="4985475"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290220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42</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457318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43</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9111423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44</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335437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45</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613107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46</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540125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D785B7DB-ADE9-4EC6-B2BF-9DFA7AEA91F9}" type="slidenum">
              <a:rPr lang="en-US" altLang="en-US" sz="1200">
                <a:solidFill>
                  <a:srgbClr val="000000"/>
                </a:solidFill>
              </a:rPr>
              <a:pPr algn="r" eaLnBrk="1" hangingPunct="1">
                <a:buClrTx/>
                <a:buSzPct val="45000"/>
                <a:buFontTx/>
                <a:buNone/>
              </a:pPr>
              <a:t>47</a:t>
            </a:fld>
            <a:endParaRPr lang="en-US" altLang="en-US" sz="1200">
              <a:solidFill>
                <a:srgbClr val="000000"/>
              </a:solidFill>
            </a:endParaRPr>
          </a:p>
        </p:txBody>
      </p:sp>
      <p:sp>
        <p:nvSpPr>
          <p:cNvPr id="13926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503415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A63BDEC-DDD1-44AD-BA00-1B9DCC24D6C6}" type="slidenum">
              <a:rPr lang="en-US" altLang="en-US" sz="1200">
                <a:solidFill>
                  <a:srgbClr val="000000"/>
                </a:solidFill>
              </a:rPr>
              <a:pPr algn="r" eaLnBrk="1" hangingPunct="1">
                <a:buClrTx/>
                <a:buSzPct val="45000"/>
                <a:buFontTx/>
                <a:buNone/>
              </a:pPr>
              <a:t>48</a:t>
            </a:fld>
            <a:endParaRPr lang="en-US" altLang="en-US" sz="1200">
              <a:solidFill>
                <a:srgbClr val="000000"/>
              </a:solidFill>
            </a:endParaRPr>
          </a:p>
        </p:txBody>
      </p:sp>
      <p:sp>
        <p:nvSpPr>
          <p:cNvPr id="145411"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5412"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182417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B6EEBEA-2BE9-4425-BA93-D32797AA5739}" type="slidenum">
              <a:rPr lang="en-US" altLang="en-US" sz="1200">
                <a:solidFill>
                  <a:srgbClr val="000000"/>
                </a:solidFill>
              </a:rPr>
              <a:pPr algn="r" eaLnBrk="1" hangingPunct="1">
                <a:buClrTx/>
                <a:buSzPct val="45000"/>
                <a:buFontTx/>
                <a:buNone/>
              </a:pPr>
              <a:t>49</a:t>
            </a:fld>
            <a:endParaRPr lang="en-US" altLang="en-US" sz="1200">
              <a:solidFill>
                <a:srgbClr val="000000"/>
              </a:solidFill>
            </a:endParaRPr>
          </a:p>
        </p:txBody>
      </p:sp>
      <p:sp>
        <p:nvSpPr>
          <p:cNvPr id="147459"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7460"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785909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47C8CEFC-2E30-41CB-8CE1-F90120BB52F5}" type="slidenum">
              <a:rPr lang="en-US" altLang="en-US" sz="1200">
                <a:solidFill>
                  <a:srgbClr val="000000"/>
                </a:solidFill>
              </a:rPr>
              <a:pPr algn="r" eaLnBrk="1" hangingPunct="1">
                <a:buClrTx/>
                <a:buSzPct val="45000"/>
                <a:buFontTx/>
                <a:buNone/>
              </a:pPr>
              <a:t>50</a:t>
            </a:fld>
            <a:endParaRPr lang="en-US" altLang="en-US" sz="1200">
              <a:solidFill>
                <a:srgbClr val="000000"/>
              </a:solidFill>
            </a:endParaRPr>
          </a:p>
        </p:txBody>
      </p:sp>
      <p:sp>
        <p:nvSpPr>
          <p:cNvPr id="14950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950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915978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42048FD6-CDBD-4795-87B9-8FFBC060CE97}" type="slidenum">
              <a:rPr lang="en-US" altLang="en-US" sz="1200">
                <a:solidFill>
                  <a:srgbClr val="000000"/>
                </a:solidFill>
              </a:rPr>
              <a:pPr algn="r" eaLnBrk="1" hangingPunct="1">
                <a:buClrTx/>
                <a:buSzPct val="45000"/>
                <a:buFontTx/>
                <a:buNone/>
              </a:pPr>
              <a:t>51</a:t>
            </a:fld>
            <a:endParaRPr lang="en-US" altLang="en-US" sz="1200">
              <a:solidFill>
                <a:srgbClr val="000000"/>
              </a:solidFill>
            </a:endParaRPr>
          </a:p>
        </p:txBody>
      </p:sp>
      <p:sp>
        <p:nvSpPr>
          <p:cNvPr id="15155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155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01333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0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32208BA-DF52-4A15-82E9-CF14BF1B42D3}" type="slidenum">
              <a:rPr lang="en-US" altLang="en-US" sz="1200">
                <a:solidFill>
                  <a:srgbClr val="000000"/>
                </a:solidFill>
              </a:rPr>
              <a:pPr algn="r" eaLnBrk="1" hangingPunct="1">
                <a:buClrTx/>
                <a:buSzPct val="45000"/>
                <a:buFontTx/>
                <a:buNone/>
              </a:pPr>
              <a:t>52</a:t>
            </a:fld>
            <a:endParaRPr lang="en-US" altLang="en-US" sz="1200">
              <a:solidFill>
                <a:srgbClr val="000000"/>
              </a:solidFill>
            </a:endParaRPr>
          </a:p>
        </p:txBody>
      </p:sp>
      <p:sp>
        <p:nvSpPr>
          <p:cNvPr id="153603"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04"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35600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2B2A435-C52C-46F6-AD32-68624397F3A5}" type="slidenum">
              <a:rPr lang="en-US" altLang="en-US" sz="1200">
                <a:solidFill>
                  <a:srgbClr val="000000"/>
                </a:solidFill>
              </a:rPr>
              <a:pPr algn="r" eaLnBrk="1" hangingPunct="1">
                <a:buClrTx/>
                <a:buSzPct val="45000"/>
                <a:buFontTx/>
                <a:buNone/>
              </a:pPr>
              <a:t>53</a:t>
            </a:fld>
            <a:endParaRPr lang="en-US" altLang="en-US" sz="1200">
              <a:solidFill>
                <a:srgbClr val="000000"/>
              </a:solidFill>
            </a:endParaRPr>
          </a:p>
        </p:txBody>
      </p:sp>
      <p:sp>
        <p:nvSpPr>
          <p:cNvPr id="155651"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5652"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851527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69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0D5FEC58-51AE-4340-BFF6-2C20853D014B}" type="slidenum">
              <a:rPr lang="en-US" altLang="en-US" sz="1200">
                <a:solidFill>
                  <a:srgbClr val="000000"/>
                </a:solidFill>
              </a:rPr>
              <a:pPr algn="r" eaLnBrk="1" hangingPunct="1">
                <a:buClrTx/>
                <a:buSzPct val="45000"/>
                <a:buFontTx/>
                <a:buNone/>
              </a:pPr>
              <a:t>54</a:t>
            </a:fld>
            <a:endParaRPr lang="en-US" altLang="en-US" sz="1200">
              <a:solidFill>
                <a:srgbClr val="000000"/>
              </a:solidFill>
            </a:endParaRPr>
          </a:p>
        </p:txBody>
      </p:sp>
      <p:sp>
        <p:nvSpPr>
          <p:cNvPr id="157699"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7700"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092405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74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A0A7085E-D313-4E52-8E24-5C4503194913}" type="slidenum">
              <a:rPr lang="en-US" altLang="en-US" sz="1200">
                <a:solidFill>
                  <a:srgbClr val="000000"/>
                </a:solidFill>
              </a:rPr>
              <a:pPr algn="r" eaLnBrk="1" hangingPunct="1">
                <a:buClrTx/>
                <a:buSzPct val="45000"/>
                <a:buFontTx/>
                <a:buNone/>
              </a:pPr>
              <a:t>55</a:t>
            </a:fld>
            <a:endParaRPr lang="en-US" altLang="en-US" sz="1200">
              <a:solidFill>
                <a:srgbClr val="000000"/>
              </a:solidFill>
            </a:endParaRPr>
          </a:p>
        </p:txBody>
      </p:sp>
      <p:sp>
        <p:nvSpPr>
          <p:cNvPr id="15974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974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986241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79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0A556558-08D3-49C2-879C-458D4EB6CE09}" type="slidenum">
              <a:rPr lang="en-US" altLang="en-US" sz="1200">
                <a:solidFill>
                  <a:srgbClr val="000000"/>
                </a:solidFill>
              </a:rPr>
              <a:pPr algn="r" eaLnBrk="1" hangingPunct="1">
                <a:buClrTx/>
                <a:buSzPct val="45000"/>
                <a:buFontTx/>
                <a:buNone/>
              </a:pPr>
              <a:t>56</a:t>
            </a:fld>
            <a:endParaRPr lang="en-US" altLang="en-US" sz="1200">
              <a:solidFill>
                <a:srgbClr val="000000"/>
              </a:solidFill>
            </a:endParaRPr>
          </a:p>
        </p:txBody>
      </p:sp>
      <p:sp>
        <p:nvSpPr>
          <p:cNvPr id="16179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179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971044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4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D56B911-65B9-4860-A62F-0F70FC4823DB}" type="slidenum">
              <a:rPr lang="en-US" altLang="en-US" sz="1200">
                <a:solidFill>
                  <a:srgbClr val="000000"/>
                </a:solidFill>
              </a:rPr>
              <a:pPr algn="r" eaLnBrk="1" hangingPunct="1">
                <a:buClrTx/>
                <a:buSzPct val="45000"/>
                <a:buFontTx/>
                <a:buNone/>
              </a:pPr>
              <a:t>57</a:t>
            </a:fld>
            <a:endParaRPr lang="en-US" altLang="en-US" sz="1200">
              <a:solidFill>
                <a:srgbClr val="000000"/>
              </a:solidFill>
            </a:endParaRPr>
          </a:p>
        </p:txBody>
      </p:sp>
      <p:sp>
        <p:nvSpPr>
          <p:cNvPr id="163843"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44"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903911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FC6FCB12-9829-47B8-A145-44A526DF805C}" type="slidenum">
              <a:rPr lang="en-US" altLang="en-US" sz="1200">
                <a:solidFill>
                  <a:srgbClr val="000000"/>
                </a:solidFill>
              </a:rPr>
              <a:pPr algn="r" eaLnBrk="1" hangingPunct="1">
                <a:buClrTx/>
                <a:buSzPct val="45000"/>
                <a:buFontTx/>
                <a:buNone/>
              </a:pPr>
              <a:t>58</a:t>
            </a:fld>
            <a:endParaRPr lang="en-US" altLang="en-US" sz="1200">
              <a:solidFill>
                <a:srgbClr val="000000"/>
              </a:solidFill>
            </a:endParaRPr>
          </a:p>
        </p:txBody>
      </p:sp>
      <p:sp>
        <p:nvSpPr>
          <p:cNvPr id="165891"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5892"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774707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98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FDDDF21-3B50-4F96-B3E0-2456960C8F84}" type="slidenum">
              <a:rPr lang="en-US" altLang="en-US" sz="1200">
                <a:solidFill>
                  <a:srgbClr val="000000"/>
                </a:solidFill>
              </a:rPr>
              <a:pPr algn="r" eaLnBrk="1" hangingPunct="1">
                <a:buClrTx/>
                <a:buSzPct val="45000"/>
                <a:buFontTx/>
                <a:buNone/>
              </a:pPr>
              <a:t>59</a:t>
            </a:fld>
            <a:endParaRPr lang="en-US" altLang="en-US" sz="1200">
              <a:solidFill>
                <a:srgbClr val="000000"/>
              </a:solidFill>
            </a:endParaRPr>
          </a:p>
        </p:txBody>
      </p:sp>
      <p:sp>
        <p:nvSpPr>
          <p:cNvPr id="169987"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9988"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388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03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32A4B522-FC15-43C5-ACC7-B07D0920C6C1}" type="slidenum">
              <a:rPr lang="en-US" altLang="en-US" sz="1200">
                <a:solidFill>
                  <a:srgbClr val="000000"/>
                </a:solidFill>
              </a:rPr>
              <a:pPr algn="r" eaLnBrk="1" hangingPunct="1">
                <a:buClrTx/>
                <a:buSzPct val="45000"/>
                <a:buFontTx/>
                <a:buNone/>
              </a:pPr>
              <a:t>60</a:t>
            </a:fld>
            <a:endParaRPr lang="en-US" altLang="en-US" sz="1200">
              <a:solidFill>
                <a:srgbClr val="000000"/>
              </a:solidFill>
            </a:endParaRPr>
          </a:p>
        </p:txBody>
      </p:sp>
      <p:sp>
        <p:nvSpPr>
          <p:cNvPr id="172035"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2036"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952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08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258820BC-11EF-4851-BD1E-F84F5481F8FA}" type="slidenum">
              <a:rPr lang="en-US" altLang="en-US" sz="1200">
                <a:solidFill>
                  <a:srgbClr val="000000"/>
                </a:solidFill>
              </a:rPr>
              <a:pPr algn="r" eaLnBrk="1" hangingPunct="1">
                <a:buClrTx/>
                <a:buSzPct val="45000"/>
                <a:buFontTx/>
                <a:buNone/>
              </a:pPr>
              <a:t>61</a:t>
            </a:fld>
            <a:endParaRPr lang="en-US" altLang="en-US" sz="1200">
              <a:solidFill>
                <a:srgbClr val="000000"/>
              </a:solidFill>
            </a:endParaRPr>
          </a:p>
        </p:txBody>
      </p:sp>
      <p:sp>
        <p:nvSpPr>
          <p:cNvPr id="174083"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084"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33055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130"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14BBFF81-572A-45AA-B1B4-14F1BC08F094}" type="slidenum">
              <a:rPr lang="en-US" altLang="en-US" sz="1200">
                <a:solidFill>
                  <a:srgbClr val="000000"/>
                </a:solidFill>
              </a:rPr>
              <a:pPr algn="r" eaLnBrk="1" hangingPunct="1">
                <a:buClrTx/>
                <a:buSzPct val="45000"/>
                <a:buFontTx/>
                <a:buNone/>
              </a:pPr>
              <a:t>62</a:t>
            </a:fld>
            <a:endParaRPr lang="en-US" altLang="en-US" sz="1200">
              <a:solidFill>
                <a:srgbClr val="000000"/>
              </a:solidFill>
            </a:endParaRPr>
          </a:p>
        </p:txBody>
      </p:sp>
      <p:sp>
        <p:nvSpPr>
          <p:cNvPr id="176131" name="Rectangle 1"/>
          <p:cNvSpPr>
            <a:spLocks noGrp="1" noRot="1" noChangeAspect="1" noChangeArrowheads="1" noTextEdit="1"/>
          </p:cNvSpPr>
          <p:nvPr>
            <p:ph type="sldImg"/>
          </p:nvPr>
        </p:nvSpPr>
        <p:spPr>
          <a:xfrm>
            <a:off x="919163" y="746125"/>
            <a:ext cx="4962525" cy="372268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6132" name="Rectangle 2"/>
          <p:cNvSpPr>
            <a:spLocks noGrp="1" noChangeArrowheads="1"/>
          </p:cNvSpPr>
          <p:nvPr>
            <p:ph type="body" idx="1"/>
          </p:nvPr>
        </p:nvSpPr>
        <p:spPr>
          <a:xfrm>
            <a:off x="680537" y="4717391"/>
            <a:ext cx="5438140" cy="4466429"/>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882504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226"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649A8F67-B9FA-4089-9DEF-7A24BE5A0B83}" type="slidenum">
              <a:rPr lang="en-US" altLang="en-US" sz="1200">
                <a:solidFill>
                  <a:srgbClr val="000000"/>
                </a:solidFill>
              </a:rPr>
              <a:pPr algn="r" eaLnBrk="1" hangingPunct="1">
                <a:buClrTx/>
                <a:buSzPct val="45000"/>
                <a:buFontTx/>
                <a:buNone/>
              </a:pPr>
              <a:t>63</a:t>
            </a:fld>
            <a:endParaRPr lang="en-US" altLang="en-US" sz="1200">
              <a:solidFill>
                <a:srgbClr val="000000"/>
              </a:solidFill>
            </a:endParaRPr>
          </a:p>
        </p:txBody>
      </p:sp>
      <p:sp>
        <p:nvSpPr>
          <p:cNvPr id="180227"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0228"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56757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274"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BA8A07E2-C2AC-41F3-9154-83402362FCF6}" type="slidenum">
              <a:rPr lang="en-US" altLang="en-US" sz="1200">
                <a:solidFill>
                  <a:srgbClr val="000000"/>
                </a:solidFill>
              </a:rPr>
              <a:pPr algn="r" eaLnBrk="1" hangingPunct="1">
                <a:buClrTx/>
                <a:buSzPct val="45000"/>
                <a:buFontTx/>
                <a:buNone/>
              </a:pPr>
              <a:t>64</a:t>
            </a:fld>
            <a:endParaRPr lang="en-US" altLang="en-US" sz="1200">
              <a:solidFill>
                <a:srgbClr val="000000"/>
              </a:solidFill>
            </a:endParaRPr>
          </a:p>
        </p:txBody>
      </p:sp>
      <p:sp>
        <p:nvSpPr>
          <p:cNvPr id="182275"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2276"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910544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2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FAE8B3B-7B2A-4C2B-A5AA-7B45512C97D1}" type="slidenum">
              <a:rPr lang="en-US" altLang="en-US" sz="1200">
                <a:solidFill>
                  <a:srgbClr val="000000"/>
                </a:solidFill>
              </a:rPr>
              <a:pPr algn="r" eaLnBrk="1" hangingPunct="1">
                <a:buClrTx/>
                <a:buSzPct val="45000"/>
                <a:buFontTx/>
                <a:buNone/>
              </a:pPr>
              <a:t>65</a:t>
            </a:fld>
            <a:endParaRPr lang="en-US" altLang="en-US" sz="1200">
              <a:solidFill>
                <a:srgbClr val="000000"/>
              </a:solidFill>
            </a:endParaRPr>
          </a:p>
        </p:txBody>
      </p:sp>
      <p:sp>
        <p:nvSpPr>
          <p:cNvPr id="18432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2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238065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22"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EFAE8B3B-7B2A-4C2B-A5AA-7B45512C97D1}" type="slidenum">
              <a:rPr lang="en-US" altLang="en-US" sz="1200">
                <a:solidFill>
                  <a:srgbClr val="000000"/>
                </a:solidFill>
              </a:rPr>
              <a:pPr algn="r" eaLnBrk="1" hangingPunct="1">
                <a:buClrTx/>
                <a:buSzPct val="45000"/>
                <a:buFontTx/>
                <a:buNone/>
              </a:pPr>
              <a:t>66</a:t>
            </a:fld>
            <a:endParaRPr lang="en-US" altLang="en-US" sz="1200">
              <a:solidFill>
                <a:srgbClr val="000000"/>
              </a:solidFill>
            </a:endParaRPr>
          </a:p>
        </p:txBody>
      </p:sp>
      <p:sp>
        <p:nvSpPr>
          <p:cNvPr id="184323"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24"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865260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418" name="Rectangle 8"/>
          <p:cNvSpPr txBox="1">
            <a:spLocks noGrp="1" noChangeArrowheads="1"/>
          </p:cNvSpPr>
          <p:nvPr/>
        </p:nvSpPr>
        <p:spPr bwMode="auto">
          <a:xfrm>
            <a:off x="3850734" y="9431389"/>
            <a:ext cx="2939243" cy="488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ClrTx/>
              <a:buSzPct val="45000"/>
              <a:buFontTx/>
              <a:buNone/>
            </a:pPr>
            <a:fld id="{9C443A68-225E-48E2-8505-A492F626B25F}" type="slidenum">
              <a:rPr lang="en-US" altLang="en-US" sz="1200">
                <a:solidFill>
                  <a:srgbClr val="000000"/>
                </a:solidFill>
              </a:rPr>
              <a:pPr algn="r" eaLnBrk="1" hangingPunct="1">
                <a:buClrTx/>
                <a:buSzPct val="45000"/>
                <a:buFontTx/>
                <a:buNone/>
              </a:pPr>
              <a:t>67</a:t>
            </a:fld>
            <a:endParaRPr lang="en-US" altLang="en-US" sz="1200">
              <a:solidFill>
                <a:srgbClr val="000000"/>
              </a:solidFill>
            </a:endParaRPr>
          </a:p>
        </p:txBody>
      </p:sp>
      <p:sp>
        <p:nvSpPr>
          <p:cNvPr id="188419" name="Rectangle 1"/>
          <p:cNvSpPr>
            <a:spLocks noGrp="1" noRot="1" noChangeAspect="1" noChangeArrowheads="1" noTextEdit="1"/>
          </p:cNvSpPr>
          <p:nvPr>
            <p:ph type="sldImg"/>
          </p:nvPr>
        </p:nvSpPr>
        <p:spPr>
          <a:xfrm>
            <a:off x="917575" y="744538"/>
            <a:ext cx="4964113" cy="3724275"/>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8420" name="Rectangle 2"/>
          <p:cNvSpPr>
            <a:spLocks noGrp="1" noChangeArrowheads="1"/>
          </p:cNvSpPr>
          <p:nvPr>
            <p:ph type="body" idx="1"/>
          </p:nvPr>
        </p:nvSpPr>
        <p:spPr>
          <a:xfrm>
            <a:off x="680537" y="4717391"/>
            <a:ext cx="5438140" cy="4468125"/>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551049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 Box 11"/>
          <p:cNvSpPr txBox="1">
            <a:spLocks noChangeArrowheads="1"/>
          </p:cNvSpPr>
          <p:nvPr userDrawn="1"/>
        </p:nvSpPr>
        <p:spPr bwMode="auto">
          <a:xfrm>
            <a:off x="92075" y="6537325"/>
            <a:ext cx="904875"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1400" b="1">
                <a:solidFill>
                  <a:srgbClr val="FFFFFF"/>
                </a:solidFill>
                <a:latin typeface="Arial" panose="020B0604020202020204" pitchFamily="34" charset="0"/>
              </a:rPr>
              <a:t> 10-</a:t>
            </a:r>
            <a:fld id="{6904A461-D8E8-400A-8EFE-F70669C54D2A}" type="slidenum">
              <a:rPr lang="en-US" altLang="en-US" sz="1400" b="1">
                <a:solidFill>
                  <a:srgbClr val="FFFFFF"/>
                </a:solidFill>
                <a:latin typeface="Arial" panose="020B0604020202020204" pitchFamily="34" charset="0"/>
              </a:rPr>
              <a:pPr eaLnBrk="1" hangingPunct="1">
                <a:buClrTx/>
                <a:buFontTx/>
                <a:buNone/>
              </a:pPr>
              <a:t>‹#›</a:t>
            </a:fld>
            <a:endParaRPr lang="en-US" altLang="en-US" sz="1400" b="1">
              <a:solidFill>
                <a:srgbClr val="FFFFFF"/>
              </a:solidFill>
              <a:latin typeface="Arial" panose="020B0604020202020204" pitchFamily="34" charset="0"/>
            </a:endParaRPr>
          </a:p>
        </p:txBody>
      </p:sp>
      <p:sp>
        <p:nvSpPr>
          <p:cNvPr id="10" name="Text Box 10"/>
          <p:cNvSpPr txBox="1">
            <a:spLocks noChangeArrowheads="1"/>
          </p:cNvSpPr>
          <p:nvPr userDrawn="1"/>
        </p:nvSpPr>
        <p:spPr bwMode="auto">
          <a:xfrm>
            <a:off x="2495550" y="6392863"/>
            <a:ext cx="42878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ctr" eaLnBrk="1" hangingPunct="1">
              <a:buClrTx/>
              <a:buFontTx/>
              <a:buNone/>
            </a:pPr>
            <a:endParaRPr lang="en-US" altLang="en-US" sz="1000" dirty="0">
              <a:solidFill>
                <a:srgbClr val="000000"/>
              </a:solidFill>
              <a:latin typeface="Arial" panose="020B0604020202020204" pitchFamily="34" charset="0"/>
            </a:endParaRPr>
          </a:p>
          <a:p>
            <a:pPr algn="ctr" eaLnBrk="1" hangingPunct="1">
              <a:buClrTx/>
              <a:buFontTx/>
              <a:buNone/>
            </a:pPr>
            <a:r>
              <a:rPr lang="en-US" altLang="en-US" sz="1000" dirty="0">
                <a:solidFill>
                  <a:srgbClr val="FFFFFF"/>
                </a:solidFill>
                <a:latin typeface="Arial" panose="020B0604020202020204" pitchFamily="34" charset="0"/>
              </a:rPr>
              <a:t>Copyright © 2017,  Pearson Education, Ltd. All Rights Reserved</a:t>
            </a:r>
          </a:p>
        </p:txBody>
      </p:sp>
      <p:sp>
        <p:nvSpPr>
          <p:cNvPr id="3" name="Text Placeholder 2"/>
          <p:cNvSpPr>
            <a:spLocks noGrp="1"/>
          </p:cNvSpPr>
          <p:nvPr>
            <p:ph type="body" sz="quarter" idx="10"/>
          </p:nvPr>
        </p:nvSpPr>
        <p:spPr>
          <a:xfrm>
            <a:off x="762000" y="1600200"/>
            <a:ext cx="7924800" cy="4480560"/>
          </a:xfrm>
          <a:prstGeom prst="rect">
            <a:avLst/>
          </a:prstGeom>
        </p:spPr>
        <p:txBody>
          <a:bodyPr lIns="0" rIns="0">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
          <p:cNvSpPr>
            <a:spLocks noGrp="1"/>
          </p:cNvSpPr>
          <p:nvPr>
            <p:ph type="title"/>
          </p:nvPr>
        </p:nvSpPr>
        <p:spPr>
          <a:xfrm>
            <a:off x="762000" y="274638"/>
            <a:ext cx="7924800" cy="1143000"/>
          </a:xfrm>
          <a:prstGeom prst="rect">
            <a:avLst/>
          </a:prstGeom>
        </p:spPr>
        <p:txBody>
          <a:bodyPr vert="horz" lIns="0" tIns="45720" rIns="0" bIns="45720" rtlCol="0" anchor="b" anchorCtr="0">
            <a:normAutofit/>
          </a:bodyPr>
          <a:lstStyle/>
          <a:p>
            <a:r>
              <a:rPr lang="en-US" dirty="0"/>
              <a:t>Click to edit Master title style</a:t>
            </a:r>
          </a:p>
        </p:txBody>
      </p:sp>
    </p:spTree>
    <p:extLst>
      <p:ext uri="{BB962C8B-B14F-4D97-AF65-F5344CB8AC3E}">
        <p14:creationId xmlns:p14="http://schemas.microsoft.com/office/powerpoint/2010/main" val="4255501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15990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zh-HK" altLang="en-US"/>
          </a:p>
        </p:txBody>
      </p:sp>
    </p:spTree>
    <p:extLst>
      <p:ext uri="{BB962C8B-B14F-4D97-AF65-F5344CB8AC3E}">
        <p14:creationId xmlns:p14="http://schemas.microsoft.com/office/powerpoint/2010/main" val="35728448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562189"/>
      </p:ext>
    </p:extLst>
  </p:cSld>
  <p:clrMap bg1="lt1" tx1="dk1" bg2="lt2" tx2="dk2" accent1="accent1" accent2="accent2" accent3="accent3" accent4="accent4" accent5="accent5" accent6="accent6" hlink="hlink" folHlink="folHlink"/>
  <p:hf sldNum="0"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cs typeface="+mn-cs"/>
        </a:defRPr>
      </a:lvl1pPr>
      <a:lvl2pPr marL="742950" indent="-285750" algn="l" defTabSz="449263" rtl="0" eaLnBrk="0" fontAlgn="base" hangingPunct="0">
        <a:spcBef>
          <a:spcPts val="650"/>
        </a:spcBef>
        <a:spcAft>
          <a:spcPct val="0"/>
        </a:spcAft>
        <a:buClr>
          <a:srgbClr val="000000"/>
        </a:buClr>
        <a:buSzPct val="100000"/>
        <a:buFont typeface="Times New Roman" panose="02020603050405020304" pitchFamily="18" charset="0"/>
        <a:defRPr sz="2600">
          <a:solidFill>
            <a:srgbClr val="000000"/>
          </a:solidFill>
          <a:latin typeface="+mn-lt"/>
          <a:cs typeface="+mn-cs"/>
        </a:defRPr>
      </a:lvl2pPr>
      <a:lvl3pPr marL="1143000" indent="-228600" algn="l" defTabSz="449263" rtl="0" eaLnBrk="0" fontAlgn="base" hangingPunct="0">
        <a:spcBef>
          <a:spcPts val="575"/>
        </a:spcBef>
        <a:spcAft>
          <a:spcPct val="0"/>
        </a:spcAft>
        <a:buClr>
          <a:srgbClr val="000000"/>
        </a:buClr>
        <a:buSzPct val="100000"/>
        <a:buFont typeface="Times New Roman" panose="02020603050405020304" pitchFamily="18" charset="0"/>
        <a:defRPr sz="2300">
          <a:solidFill>
            <a:srgbClr val="000000"/>
          </a:solidFill>
          <a:latin typeface="+mn-lt"/>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034885"/>
      </p:ext>
    </p:extLst>
  </p:cSld>
  <p:clrMap bg1="lt1" tx1="dk1" bg2="lt2" tx2="dk2" accent1="accent1" accent2="accent2" accent3="accent3" accent4="accent4" accent5="accent5" accent6="accent6" hlink="hlink" folHlink="folHlink"/>
  <p:sldLayoutIdLst>
    <p:sldLayoutId id="2147484053" r:id="rId1"/>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26779"/>
      </p:ext>
    </p:extLst>
  </p:cSld>
  <p:clrMap bg1="lt1" tx1="dk1" bg2="lt2" tx2="dk2" accent1="accent1" accent2="accent2" accent3="accent3" accent4="accent4" accent5="accent5" accent6="accent6" hlink="hlink" folHlink="folHlink"/>
  <p:sldLayoutIdLst>
    <p:sldLayoutId id="2147484056" r:id="rId1"/>
    <p:sldLayoutId id="2147484057" r:id="rId2"/>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9.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8.wmf"/><Relationship Id="rId4"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22.wmf"/><Relationship Id="rId4"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8.bin"/><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27.wmf"/><Relationship Id="rId5" Type="http://schemas.openxmlformats.org/officeDocument/2006/relationships/oleObject" Target="../embeddings/oleObject9.bin"/><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10.bin"/><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11.bin"/><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33.wmf"/><Relationship Id="rId4" Type="http://schemas.openxmlformats.org/officeDocument/2006/relationships/oleObject" Target="../embeddings/oleObject12.bin"/></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36.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4.bin"/><Relationship Id="rId5" Type="http://schemas.openxmlformats.org/officeDocument/2006/relationships/image" Target="../media/image35.wmf"/><Relationship Id="rId4" Type="http://schemas.openxmlformats.org/officeDocument/2006/relationships/oleObject" Target="../embeddings/oleObject13.bin"/></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40.wmf"/><Relationship Id="rId5" Type="http://schemas.openxmlformats.org/officeDocument/2006/relationships/oleObject" Target="../embeddings/oleObject15.bin"/><Relationship Id="rId4" Type="http://schemas.openxmlformats.org/officeDocument/2006/relationships/image" Target="../media/image56.png"/></Relationships>
</file>

<file path=ppt/slides/_rels/slide65.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notesSlide" Target="../notesSlides/notesSlide64.xml"/><Relationship Id="rId7"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16.bin"/><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p:cNvSpPr>
            <a:spLocks noGrp="1"/>
          </p:cNvSpPr>
          <p:nvPr>
            <p:ph type="subTitle" idx="1"/>
          </p:nvPr>
        </p:nvSpPr>
        <p:spPr bwMode="auto">
          <a:xfrm>
            <a:off x="1403350" y="3213100"/>
            <a:ext cx="6400800" cy="3024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HK" b="1" dirty="0">
                <a:solidFill>
                  <a:srgbClr val="898989"/>
                </a:solidFill>
                <a:ea typeface="新細明體" pitchFamily="18" charset="-120"/>
              </a:rPr>
              <a:t>Instructor: </a:t>
            </a:r>
            <a:r>
              <a:rPr lang="en-US" altLang="zh-HK" dirty="0">
                <a:solidFill>
                  <a:srgbClr val="898989"/>
                </a:solidFill>
                <a:ea typeface="新細明體" pitchFamily="18" charset="-120"/>
              </a:rPr>
              <a:t>CAO Kang Hua </a:t>
            </a:r>
            <a:r>
              <a:rPr lang="en-US" altLang="zh-HK" dirty="0" err="1">
                <a:solidFill>
                  <a:srgbClr val="898989"/>
                </a:solidFill>
                <a:ea typeface="新細明體" pitchFamily="18" charset="-120"/>
              </a:rPr>
              <a:t>曹康華</a:t>
            </a:r>
            <a:endParaRPr lang="en-US" altLang="zh-HK" dirty="0">
              <a:solidFill>
                <a:srgbClr val="898989"/>
              </a:solidFill>
              <a:ea typeface="新細明體" pitchFamily="18" charset="-120"/>
            </a:endParaRPr>
          </a:p>
          <a:p>
            <a:pPr eaLnBrk="1" hangingPunct="1"/>
            <a:endParaRPr lang="en-US" altLang="zh-TW" dirty="0">
              <a:solidFill>
                <a:srgbClr val="898989"/>
              </a:solidFill>
              <a:ea typeface="新細明體" pitchFamily="18" charset="-120"/>
            </a:endParaRPr>
          </a:p>
          <a:p>
            <a:pPr algn="l" eaLnBrk="1" hangingPunct="1"/>
            <a:r>
              <a:rPr lang="en-US" altLang="zh-TW" dirty="0">
                <a:solidFill>
                  <a:srgbClr val="898989"/>
                </a:solidFill>
                <a:ea typeface="新細明體" pitchFamily="18" charset="-120"/>
              </a:rPr>
              <a:t>Lecture 5</a:t>
            </a:r>
          </a:p>
          <a:p>
            <a:pPr algn="l" eaLnBrk="1" hangingPunct="1">
              <a:buFont typeface="Arial" panose="020B0604020202020204" pitchFamily="34" charset="0"/>
              <a:buChar char="•"/>
            </a:pPr>
            <a:r>
              <a:rPr lang="en-US" altLang="en-US" dirty="0">
                <a:solidFill>
                  <a:srgbClr val="898989"/>
                </a:solidFill>
              </a:rPr>
              <a:t> Comparing Two Groups</a:t>
            </a:r>
          </a:p>
        </p:txBody>
      </p:sp>
      <p:sp>
        <p:nvSpPr>
          <p:cNvPr id="3074" name="Title 1"/>
          <p:cNvSpPr>
            <a:spLocks noGrp="1"/>
          </p:cNvSpPr>
          <p:nvPr>
            <p:ph type="ctrTitle" idx="4294967295"/>
          </p:nvPr>
        </p:nvSpPr>
        <p:spPr bwMode="auto">
          <a:xfrm>
            <a:off x="717550" y="1181735"/>
            <a:ext cx="77724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Econ 7900</a:t>
            </a:r>
            <a:b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br>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Statistics for Data Science </a:t>
            </a:r>
            <a:endParaRPr lang="zh-HK" altLang="en-US" sz="4400" dirty="0">
              <a:solidFill>
                <a:schemeClr val="tx1"/>
              </a:solidFill>
              <a:latin typeface="Calibri Light" panose="020F0302020204030204" pitchFamily="34" charset="0"/>
              <a:ea typeface="新細明體" pitchFamily="18" charset="-120"/>
              <a:cs typeface="Calibri Light" panose="020F0302020204030204" pitchFamily="34" charset="0"/>
            </a:endParaRPr>
          </a:p>
        </p:txBody>
      </p:sp>
    </p:spTree>
    <p:extLst>
      <p:ext uri="{BB962C8B-B14F-4D97-AF65-F5344CB8AC3E}">
        <p14:creationId xmlns:p14="http://schemas.microsoft.com/office/powerpoint/2010/main" val="3121021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sz="quarter" idx="4294967295"/>
          </p:nvPr>
        </p:nvSpPr>
        <p:spPr bwMode="auto">
          <a:xfrm>
            <a:off x="841249" y="1600201"/>
            <a:ext cx="7461504" cy="4393691"/>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Most comparisons of groups use </a:t>
            </a:r>
            <a:r>
              <a:rPr lang="en-US" b="1" dirty="0"/>
              <a:t>independent</a:t>
            </a:r>
            <a:r>
              <a:rPr lang="en-US" dirty="0"/>
              <a:t> </a:t>
            </a:r>
            <a:r>
              <a:rPr lang="en-US" b="1" dirty="0"/>
              <a:t>samples</a:t>
            </a:r>
            <a:r>
              <a:rPr lang="en-US" dirty="0"/>
              <a:t> from the groups. The observations in one sample are </a:t>
            </a:r>
            <a:r>
              <a:rPr lang="en-US" i="1" dirty="0"/>
              <a:t>independent</a:t>
            </a:r>
            <a:r>
              <a:rPr lang="en-US" dirty="0"/>
              <a:t> of those in the other sample.</a:t>
            </a:r>
          </a:p>
          <a:p>
            <a:pPr marL="0" indent="-33972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dirty="0"/>
          </a:p>
          <a:p>
            <a:pPr marL="342900" lvl="1" indent="-342900">
              <a:spcBef>
                <a:spcPts val="70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Example: Randomized experiments that randomly allocate subjects to two treatment</a:t>
            </a:r>
            <a:r>
              <a:rPr lang="en-US" dirty="0">
                <a:solidFill>
                  <a:schemeClr val="tx1"/>
                </a:solidFill>
              </a:rPr>
              <a:t>s</a:t>
            </a:r>
          </a:p>
          <a:p>
            <a:pPr marL="3175" lvl="1" indent="-342900">
              <a:spcBef>
                <a:spcPts val="700"/>
              </a:spcBef>
              <a:buFont typeface="Wingdings" pitchFamily="1"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dirty="0"/>
          </a:p>
          <a:p>
            <a:pPr marL="342900" lvl="1" indent="-342900">
              <a:spcBef>
                <a:spcPts val="70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Example: An observational study that separates subjects into groups according to their value for an explanatory variabl</a:t>
            </a:r>
            <a:r>
              <a:rPr lang="en-US" dirty="0">
                <a:solidFill>
                  <a:schemeClr val="tx1"/>
                </a:solidFill>
              </a:rPr>
              <a:t>e</a:t>
            </a:r>
          </a:p>
        </p:txBody>
      </p:sp>
      <p:sp>
        <p:nvSpPr>
          <p:cNvPr id="58371" name="Rectangle 1"/>
          <p:cNvSpPr>
            <a:spLocks noGrp="1" noChangeArrowheads="1"/>
          </p:cNvSpPr>
          <p:nvPr>
            <p:ph type="title" idx="4294967295"/>
          </p:nvPr>
        </p:nvSpPr>
        <p:spPr bwMode="auto">
          <a:xfrm>
            <a:off x="762000" y="242888"/>
            <a:ext cx="81534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Dependent and Independent Samples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Grp="1" noChangeArrowheads="1"/>
          </p:cNvSpPr>
          <p:nvPr>
            <p:ph type="body" sz="quarter" idx="4294967295"/>
          </p:nvPr>
        </p:nvSpPr>
        <p:spPr bwMode="auto">
          <a:xfrm>
            <a:off x="762000" y="1600200"/>
            <a:ext cx="7540752"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3972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Dependent samples</a:t>
            </a:r>
            <a:r>
              <a:rPr lang="en-US" altLang="en-US" dirty="0"/>
              <a:t> result when the data are </a:t>
            </a:r>
            <a:r>
              <a:rPr lang="en-US" altLang="en-US" i="1" dirty="0"/>
              <a:t>matched pairs</a:t>
            </a:r>
            <a:r>
              <a:rPr lang="en-US" altLang="en-US" dirty="0"/>
              <a:t> – each subject in one sample is matched with a subject in the other sample.</a:t>
            </a:r>
          </a:p>
          <a:p>
            <a:pPr marL="0" indent="-33972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803275" lvl="3">
              <a:lnSpc>
                <a:spcPct val="90000"/>
              </a:lnSpc>
              <a:spcBef>
                <a:spcPts val="70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Example: Set of married couples, the men being in one sample and the women in the othe</a:t>
            </a:r>
            <a:r>
              <a:rPr lang="en-US" altLang="en-US" dirty="0">
                <a:solidFill>
                  <a:schemeClr val="tx1"/>
                </a:solidFill>
              </a:rPr>
              <a:t>r</a:t>
            </a:r>
          </a:p>
          <a:p>
            <a:pPr marL="3175" lvl="2" indent="0">
              <a:lnSpc>
                <a:spcPct val="90000"/>
              </a:lnSpc>
              <a:spcBef>
                <a:spcPts val="700"/>
              </a:spcBef>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175" lvl="2" indent="0">
              <a:lnSpc>
                <a:spcPct val="90000"/>
              </a:lnSpc>
              <a:spcBef>
                <a:spcPts val="700"/>
              </a:spcBef>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175" lvl="2" indent="0">
              <a:lnSpc>
                <a:spcPct val="90000"/>
              </a:lnSpc>
              <a:spcBef>
                <a:spcPts val="700"/>
              </a:spcBef>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Data from dependent samples need different statistical methods than data from independent samples.</a:t>
            </a:r>
          </a:p>
        </p:txBody>
      </p:sp>
      <p:sp>
        <p:nvSpPr>
          <p:cNvPr id="60419" name="Rectangle 1"/>
          <p:cNvSpPr>
            <a:spLocks noChangeArrowheads="1"/>
          </p:cNvSpPr>
          <p:nvPr/>
        </p:nvSpPr>
        <p:spPr bwMode="auto">
          <a:xfrm>
            <a:off x="762000" y="242888"/>
            <a:ext cx="81534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Dependent and Independent Samples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2466" name="Rectangle 2"/>
              <p:cNvSpPr>
                <a:spLocks noGrp="1" noChangeArrowheads="1"/>
              </p:cNvSpPr>
              <p:nvPr>
                <p:ph type="body" sz="quarter" idx="4294967295"/>
              </p:nvPr>
            </p:nvSpPr>
            <p:spPr bwMode="auto">
              <a:xfrm>
                <a:off x="695325" y="1600200"/>
                <a:ext cx="7607428" cy="4626864"/>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For a </a:t>
                </a:r>
                <a:r>
                  <a:rPr lang="en-US" altLang="en-US" i="1" dirty="0"/>
                  <a:t>categorical response variable</a:t>
                </a:r>
                <a:r>
                  <a:rPr lang="en-US" altLang="en-US" dirty="0"/>
                  <a:t>, inferences compare groups in terms of their population proportions in a particular </a:t>
                </a:r>
                <a:r>
                  <a:rPr lang="en-US" altLang="en-US" i="1" dirty="0"/>
                  <a:t>category.</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i="1"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We can compare the groups by the difference in their population proportions: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0"/>
                <a:r>
                  <a:rPr lang="en-US" dirty="0"/>
                  <a:t>This is estimated by the difference of the sample proportions:</a:t>
                </a:r>
              </a:p>
              <a:p>
                <a:pPr marL="0" indent="0" algn="ctr"/>
                <a14:m>
                  <m:oMath xmlns:m="http://schemas.openxmlformats.org/officeDocument/2006/math">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𝑝</m:t>
                        </m:r>
                      </m:e>
                    </m:acc>
                    <m:r>
                      <a:rPr lang="en-US" altLang="en-US" sz="2800" i="1" baseline="-25000">
                        <a:latin typeface="Cambria Math" panose="02040503050406030204" pitchFamily="18" charset="0"/>
                      </a:rPr>
                      <m:t>1</m:t>
                    </m:r>
                    <m:r>
                      <a:rPr lang="en-US" altLang="en-US" sz="2800" i="1">
                        <a:latin typeface="Cambria Math" panose="02040503050406030204" pitchFamily="18" charset="0"/>
                      </a:rPr>
                      <m:t> −</m:t>
                    </m:r>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𝑝</m:t>
                        </m:r>
                      </m:e>
                    </m:acc>
                  </m:oMath>
                </a14:m>
                <a:r>
                  <a:rPr lang="en-US" altLang="en-US" sz="2800" baseline="-25000" dirty="0"/>
                  <a:t>2</a:t>
                </a:r>
                <a:endParaRPr lang="en-US" altLang="en-US" sz="2800"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mc:Choice>
        <mc:Fallback>
          <p:sp>
            <p:nvSpPr>
              <p:cNvPr id="62466" name="Rectangle 2"/>
              <p:cNvSpPr>
                <a:spLocks noGrp="1" noRot="1" noChangeAspect="1" noMove="1" noResize="1" noEditPoints="1" noAdjustHandles="1" noChangeArrowheads="1" noChangeShapeType="1" noTextEdit="1"/>
              </p:cNvSpPr>
              <p:nvPr>
                <p:ph type="body" sz="quarter" idx="4294967295"/>
              </p:nvPr>
            </p:nvSpPr>
            <p:spPr bwMode="auto">
              <a:xfrm>
                <a:off x="695325" y="1600200"/>
                <a:ext cx="7607428" cy="4626864"/>
              </a:xfrm>
              <a:prstGeom prst="rect">
                <a:avLst/>
              </a:prstGeom>
              <a:blipFill>
                <a:blip r:embed="rId4"/>
                <a:stretch>
                  <a:fillRect l="-2404" t="-922" r="-2083" b="-5138"/>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2467" name="Rectangle 1"/>
          <p:cNvSpPr>
            <a:spLocks noGrp="1" noChangeArrowheads="1"/>
          </p:cNvSpPr>
          <p:nvPr>
            <p:ph type="title" idx="4294967295"/>
          </p:nvPr>
        </p:nvSpPr>
        <p:spPr bwMode="auto">
          <a:xfrm>
            <a:off x="695325" y="31750"/>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Categorical Response: Comparing Two Proportions</a:t>
            </a:r>
          </a:p>
        </p:txBody>
      </p:sp>
      <p:graphicFrame>
        <p:nvGraphicFramePr>
          <p:cNvPr id="2" name="Object 1"/>
          <p:cNvGraphicFramePr>
            <a:graphicFrameLocks noChangeAspect="1"/>
          </p:cNvGraphicFramePr>
          <p:nvPr>
            <p:extLst>
              <p:ext uri="{D42A27DB-BD31-4B8C-83A1-F6EECF244321}">
                <p14:modId xmlns:p14="http://schemas.microsoft.com/office/powerpoint/2010/main" val="3649940864"/>
              </p:ext>
            </p:extLst>
          </p:nvPr>
        </p:nvGraphicFramePr>
        <p:xfrm>
          <a:off x="3794760" y="4206240"/>
          <a:ext cx="1435100" cy="444500"/>
        </p:xfrm>
        <a:graphic>
          <a:graphicData uri="http://schemas.openxmlformats.org/presentationml/2006/ole">
            <mc:AlternateContent xmlns:mc="http://schemas.openxmlformats.org/markup-compatibility/2006">
              <mc:Choice xmlns:v="urn:schemas-microsoft-com:vml" Requires="v">
                <p:oleObj spid="_x0000_s1027" name="Equation" r:id="rId5" imgW="1434960" imgH="444240" progId="Equation.DSMT4">
                  <p:embed/>
                </p:oleObj>
              </mc:Choice>
              <mc:Fallback>
                <p:oleObj name="Equation" r:id="rId5" imgW="1434960" imgH="444240" progId="Equation.DSMT4">
                  <p:embed/>
                  <p:pic>
                    <p:nvPicPr>
                      <p:cNvPr id="0" name="Picture 2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4760" y="4206240"/>
                        <a:ext cx="1435100" cy="444500"/>
                      </a:xfrm>
                      <a:prstGeom prst="rect">
                        <a:avLst/>
                      </a:prstGeom>
                      <a:noFill/>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p:cNvSpPr>
            <a:spLocks noGrp="1" noChangeArrowheads="1"/>
          </p:cNvSpPr>
          <p:nvPr>
            <p:ph type="body" sz="quarter" idx="4294967295"/>
          </p:nvPr>
        </p:nvSpPr>
        <p:spPr bwMode="auto">
          <a:xfrm>
            <a:off x="841248" y="1600201"/>
            <a:ext cx="7461504" cy="4393691"/>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200" b="1" dirty="0"/>
              <a:t>Experiment:</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dirty="0"/>
          </a:p>
          <a:p>
            <a:pPr>
              <a:buFont typeface="Wingdings" panose="05000000000000000000" pitchFamily="2" charset="2"/>
              <a:buChar char="§"/>
            </a:pPr>
            <a:r>
              <a:rPr lang="en-US" sz="2200" dirty="0"/>
              <a:t>Results of a recent meta-analysis combined the results of eight related studies with a minimum duration of treatment of four years to determine the effects of aspirin on the risk of cancer death.</a:t>
            </a:r>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2200" dirty="0"/>
              <a:t>All experimental trials used were randomized and double-blind</a:t>
            </a:r>
          </a:p>
          <a:p>
            <a:pPr>
              <a:buFont typeface="Wingdings" panose="05000000000000000000" pitchFamily="2" charset="2"/>
              <a:buChar char="§"/>
            </a:pPr>
            <a:r>
              <a:rPr lang="en-US" sz="2200" dirty="0"/>
              <a:t>Of the 25,570 individuals studied, 347 of those in the control group died of cancer, whereas 327 in the aspirin treatment </a:t>
            </a:r>
            <a:r>
              <a:rPr lang="en-US" sz="2200" dirty="0">
                <a:solidFill>
                  <a:schemeClr val="tx1"/>
                </a:solidFill>
              </a:rPr>
              <a:t>group</a:t>
            </a:r>
            <a:r>
              <a:rPr lang="en-US" sz="2200" b="1" dirty="0">
                <a:solidFill>
                  <a:srgbClr val="FF0000"/>
                </a:solidFill>
              </a:rPr>
              <a:t> </a:t>
            </a:r>
            <a:r>
              <a:rPr lang="en-US" sz="2200" dirty="0"/>
              <a:t>died of cancer within 20 years following the study.</a:t>
            </a:r>
            <a:endParaRPr lang="en-US" altLang="en-US" sz="2200" dirty="0"/>
          </a:p>
        </p:txBody>
      </p:sp>
      <p:sp>
        <p:nvSpPr>
          <p:cNvPr id="64515" name="Rectangle 2"/>
          <p:cNvSpPr>
            <a:spLocks noGrp="1" noChangeArrowheads="1"/>
          </p:cNvSpPr>
          <p:nvPr>
            <p:ph type="title" idx="4294967295"/>
          </p:nvPr>
        </p:nvSpPr>
        <p:spPr bwMode="auto">
          <a:xfrm>
            <a:off x="762000" y="165100"/>
            <a:ext cx="80010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Example: Aspirin, the Wonder Drug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Grp="1" noChangeArrowheads="1"/>
          </p:cNvSpPr>
          <p:nvPr>
            <p:ph type="body" sz="quarter" idx="4294967295"/>
          </p:nvPr>
        </p:nvSpPr>
        <p:spPr bwMode="auto">
          <a:xfrm>
            <a:off x="841248" y="1600200"/>
            <a:ext cx="7845552"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Results displayed in a contingency table:</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66563" name="TextBox 1"/>
          <p:cNvSpPr txBox="1">
            <a:spLocks noChangeArrowheads="1"/>
          </p:cNvSpPr>
          <p:nvPr/>
        </p:nvSpPr>
        <p:spPr bwMode="auto">
          <a:xfrm>
            <a:off x="990600" y="5791200"/>
            <a:ext cx="7696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b="1">
                <a:solidFill>
                  <a:schemeClr val="tx1"/>
                </a:solidFill>
                <a:latin typeface="Arial" panose="020B0604020202020204" pitchFamily="34" charset="0"/>
              </a:rPr>
              <a:t>Table 10.1 Whether or Not Subject Died of Cancer, for Placebo and Aspirin Treatment Groups</a:t>
            </a:r>
          </a:p>
        </p:txBody>
      </p:sp>
      <p:sp>
        <p:nvSpPr>
          <p:cNvPr id="66564"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pic>
        <p:nvPicPr>
          <p:cNvPr id="66565" name="Picture 8" descr="Agresti_3e_Chapter10-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7038" y="2674938"/>
            <a:ext cx="5751512" cy="254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Grp="1" noChangeArrowheads="1"/>
          </p:cNvSpPr>
          <p:nvPr>
            <p:ph type="body" sz="quarter" idx="4294967295"/>
          </p:nvPr>
        </p:nvSpPr>
        <p:spPr bwMode="auto">
          <a:xfrm>
            <a:off x="841248" y="1641348"/>
            <a:ext cx="7383780" cy="450799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What is the response variable?</a:t>
            </a:r>
          </a:p>
          <a:p>
            <a:pPr marL="0"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r>
              <a:rPr lang="en-US" altLang="en-US" dirty="0" smtClean="0"/>
              <a:t>The </a:t>
            </a:r>
            <a:r>
              <a:rPr lang="en-US" altLang="en-US" dirty="0"/>
              <a:t>response variable is whether the subject died </a:t>
            </a:r>
            <a:r>
              <a:rPr lang="en-US" altLang="en-US" dirty="0" smtClean="0"/>
              <a:t>	from cancer</a:t>
            </a:r>
            <a:r>
              <a:rPr lang="en-US" altLang="en-US" dirty="0"/>
              <a:t>, with categories ‘yes’ or ‘no’.</a:t>
            </a:r>
          </a:p>
          <a:p>
            <a:pPr marL="0"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What are the groups to compare? </a:t>
            </a:r>
          </a:p>
          <a:p>
            <a:pPr marL="0"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The groups to compare are:</a:t>
            </a:r>
          </a:p>
          <a:p>
            <a:pPr marL="0" lvl="2" indent="-45402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Group 1: Subjects who took a placebo.</a:t>
            </a:r>
          </a:p>
          <a:p>
            <a:pPr marL="0" lvl="2" indent="-45402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Group 2: Subjects who took aspirin.</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68611"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ChangeArrowheads="1"/>
          </p:cNvSpPr>
          <p:nvPr>
            <p:ph type="body" sz="quarter" idx="4294967295"/>
          </p:nvPr>
        </p:nvSpPr>
        <p:spPr bwMode="auto">
          <a:xfrm>
            <a:off x="841248" y="1600200"/>
            <a:ext cx="7845552"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3972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Estimate the </a:t>
            </a:r>
            <a:r>
              <a:rPr lang="en-US" altLang="en-US" b="1" dirty="0"/>
              <a:t>difference</a:t>
            </a:r>
            <a:r>
              <a:rPr lang="en-US" altLang="en-US" dirty="0"/>
              <a:t> between the two population parameters of interest.</a:t>
            </a:r>
          </a:p>
          <a:p>
            <a:pPr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proportion who died of cancer is represented by </a:t>
            </a:r>
            <a:br>
              <a:rPr lang="en-US" altLang="en-US" dirty="0"/>
            </a:br>
            <a:r>
              <a:rPr lang="en-US" altLang="en-US" dirty="0"/>
              <a:t>	</a:t>
            </a:r>
          </a:p>
          <a:p>
            <a:pPr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dirty="0"/>
              <a:t>p</a:t>
            </a:r>
            <a:r>
              <a:rPr lang="en-US" altLang="en-US" baseline="-25000" dirty="0"/>
              <a:t>1</a:t>
            </a:r>
            <a:r>
              <a:rPr lang="en-US" altLang="en-US" dirty="0"/>
              <a:t> for taking placebo and  </a:t>
            </a:r>
            <a:br>
              <a:rPr lang="en-US" altLang="en-US" dirty="0"/>
            </a:br>
            <a:endParaRPr lang="en-US" altLang="en-US" dirty="0"/>
          </a:p>
          <a:p>
            <a:pPr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dirty="0"/>
              <a:t>p</a:t>
            </a:r>
            <a:r>
              <a:rPr lang="en-US" altLang="en-US" baseline="-25000" dirty="0"/>
              <a:t>2</a:t>
            </a:r>
            <a:r>
              <a:rPr lang="en-US" altLang="en-US" dirty="0"/>
              <a:t> for taking aspirin.</a:t>
            </a:r>
            <a:endParaRPr lang="en-US" altLang="en-US" b="1" i="1" dirty="0"/>
          </a:p>
          <a:p>
            <a:pPr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b="1" i="1" dirty="0"/>
          </a:p>
          <a:p>
            <a:pPr marL="0" indent="-33972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b="1" i="1" dirty="0"/>
          </a:p>
        </p:txBody>
      </p:sp>
      <p:sp>
        <p:nvSpPr>
          <p:cNvPr id="70659"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Placeholder 2"/>
          <p:cNvSpPr>
            <a:spLocks noGrp="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sample proportions of death from cancer were:</a:t>
            </a:r>
          </a:p>
          <a:p>
            <a:pPr marL="0" indent="0"/>
            <a:endParaRPr lang="en-US" altLang="en-US" dirty="0"/>
          </a:p>
          <a:p>
            <a:pPr marL="0" indent="0"/>
            <a:endParaRPr lang="en-US" altLang="en-US" dirty="0"/>
          </a:p>
          <a:p>
            <a:pPr marL="571500" lvl="1" indent="0">
              <a:buNone/>
            </a:pPr>
            <a:r>
              <a:rPr lang="en-US" altLang="en-US" dirty="0"/>
              <a:t>for the </a:t>
            </a:r>
            <a:r>
              <a:rPr lang="en-US" altLang="en-US" i="1" dirty="0">
                <a:latin typeface="+mj-lt"/>
              </a:rPr>
              <a:t>n</a:t>
            </a:r>
            <a:r>
              <a:rPr lang="en-US" altLang="en-US" baseline="-25000" dirty="0"/>
              <a:t>1</a:t>
            </a:r>
            <a:r>
              <a:rPr lang="en-US" altLang="en-US" dirty="0"/>
              <a:t> = 11,535 in the placebo group and:</a:t>
            </a:r>
          </a:p>
          <a:p>
            <a:pPr marL="0" indent="0"/>
            <a:endParaRPr lang="en-US" altLang="en-US" dirty="0"/>
          </a:p>
          <a:p>
            <a:pPr marL="0" indent="0"/>
            <a:endParaRPr lang="en-US" altLang="en-US" dirty="0"/>
          </a:p>
          <a:p>
            <a:pPr marL="0" indent="0"/>
            <a:endParaRPr lang="en-US" altLang="en-US" dirty="0"/>
          </a:p>
          <a:p>
            <a:pPr marL="571500" lvl="1" indent="0">
              <a:buNone/>
            </a:pPr>
            <a:r>
              <a:rPr lang="en-US" altLang="en-US" dirty="0"/>
              <a:t>for the </a:t>
            </a:r>
            <a:r>
              <a:rPr lang="en-US" altLang="en-US" i="1" dirty="0">
                <a:latin typeface="+mj-lt"/>
              </a:rPr>
              <a:t>n</a:t>
            </a:r>
            <a:r>
              <a:rPr lang="en-US" altLang="en-US" baseline="-25000" dirty="0">
                <a:latin typeface="+mj-lt"/>
              </a:rPr>
              <a:t>2</a:t>
            </a:r>
            <a:r>
              <a:rPr lang="en-US" altLang="en-US" dirty="0"/>
              <a:t> = 14,035 in the aspirin group.</a:t>
            </a:r>
          </a:p>
          <a:p>
            <a:pPr marL="0" indent="0"/>
            <a:endParaRPr lang="en-US" altLang="en-US" dirty="0"/>
          </a:p>
        </p:txBody>
      </p:sp>
      <p:sp>
        <p:nvSpPr>
          <p:cNvPr id="72709"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graphicFrame>
        <p:nvGraphicFramePr>
          <p:cNvPr id="2" name="Object 1"/>
          <p:cNvGraphicFramePr>
            <a:graphicFrameLocks noChangeAspect="1"/>
          </p:cNvGraphicFramePr>
          <p:nvPr>
            <p:extLst>
              <p:ext uri="{D42A27DB-BD31-4B8C-83A1-F6EECF244321}">
                <p14:modId xmlns:p14="http://schemas.microsoft.com/office/powerpoint/2010/main" val="471267542"/>
              </p:ext>
            </p:extLst>
          </p:nvPr>
        </p:nvGraphicFramePr>
        <p:xfrm>
          <a:off x="2273300" y="2247274"/>
          <a:ext cx="3200400" cy="381000"/>
        </p:xfrm>
        <a:graphic>
          <a:graphicData uri="http://schemas.openxmlformats.org/presentationml/2006/ole">
            <mc:AlternateContent xmlns:mc="http://schemas.openxmlformats.org/markup-compatibility/2006">
              <mc:Choice xmlns:v="urn:schemas-microsoft-com:vml" Requires="v">
                <p:oleObj spid="_x0000_s2052" name="Equation" r:id="rId4" imgW="3200400" imgH="380880" progId="Equation.DSMT4">
                  <p:embed/>
                </p:oleObj>
              </mc:Choice>
              <mc:Fallback>
                <p:oleObj name="Equation" r:id="rId4" imgW="3200400" imgH="380880" progId="Equation.DSMT4">
                  <p:embed/>
                  <p:pic>
                    <p:nvPicPr>
                      <p:cNvPr id="0" name="Picture 2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3300" y="2247274"/>
                        <a:ext cx="3200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391534204"/>
              </p:ext>
            </p:extLst>
          </p:nvPr>
        </p:nvGraphicFramePr>
        <p:xfrm>
          <a:off x="2273300" y="3863181"/>
          <a:ext cx="3213100" cy="381000"/>
        </p:xfrm>
        <a:graphic>
          <a:graphicData uri="http://schemas.openxmlformats.org/presentationml/2006/ole">
            <mc:AlternateContent xmlns:mc="http://schemas.openxmlformats.org/markup-compatibility/2006">
              <mc:Choice xmlns:v="urn:schemas-microsoft-com:vml" Requires="v">
                <p:oleObj spid="_x0000_s2053" name="Equation" r:id="rId6" imgW="3213000" imgH="380880" progId="Equation.DSMT4">
                  <p:embed/>
                </p:oleObj>
              </mc:Choice>
              <mc:Fallback>
                <p:oleObj name="Equation" r:id="rId6" imgW="3213000" imgH="380880" progId="Equation.DSMT4">
                  <p:embed/>
                  <p:pic>
                    <p:nvPicPr>
                      <p:cNvPr id="0" name="Picture 2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3300" y="3863181"/>
                        <a:ext cx="32131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2706" name="Text Placeholder 2"/>
              <p:cNvSpPr>
                <a:spLocks noGrp="1"/>
              </p:cNvSpPr>
              <p:nvPr>
                <p:ph type="body" sz="quarter" idx="4294967295"/>
              </p:nvPr>
            </p:nvSpPr>
            <p:spPr bwMode="auto">
              <a:xfrm>
                <a:off x="773113" y="1600201"/>
                <a:ext cx="7529639" cy="4315968"/>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dirty="0"/>
                  <a:t>Since </a:t>
                </a:r>
                <a:r>
                  <a:rPr lang="en-US" altLang="en-US" dirty="0"/>
                  <a:t>(</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r>
                      <a:rPr lang="en-US" altLang="en-US" i="1" baseline="-25000">
                        <a:latin typeface="Cambria Math" panose="02040503050406030204" pitchFamily="18" charset="0"/>
                      </a:rPr>
                      <m:t>1</m:t>
                    </m:r>
                    <m:r>
                      <a:rPr lang="en-US" altLang="en-US" i="1">
                        <a:latin typeface="Cambria Math" panose="02040503050406030204" pitchFamily="18" charset="0"/>
                      </a:rPr>
                      <m:t> −</m:t>
                    </m:r>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oMath>
                </a14:m>
                <a:r>
                  <a:rPr lang="en-US" altLang="en-US" baseline="-25000" dirty="0"/>
                  <a:t>2</a:t>
                </a:r>
                <a:r>
                  <a:rPr lang="en-US" altLang="en-US" dirty="0"/>
                  <a:t>) = </a:t>
                </a:r>
                <a:r>
                  <a:rPr lang="en-US" dirty="0"/>
                  <a:t>0.030 – 0.023 = 0.007, the proportion of those who died of cancer was 0.007 higher for those who took placebo. </a:t>
                </a:r>
              </a:p>
              <a:p>
                <a:pPr marL="0" indent="0"/>
                <a:endParaRPr lang="en-US" dirty="0"/>
              </a:p>
              <a:p>
                <a:pPr marL="0" indent="0"/>
                <a:r>
                  <a:rPr lang="en-US" dirty="0"/>
                  <a:t>In percentage terms, the difference was 3.0% - 2.3% = 0.7%, less than 1 percent. </a:t>
                </a:r>
              </a:p>
              <a:p>
                <a:pPr marL="0" indent="0"/>
                <a:endParaRPr lang="en-US" dirty="0"/>
              </a:p>
              <a:p>
                <a:pPr marL="0" indent="0"/>
                <a:r>
                  <a:rPr lang="en-US" dirty="0"/>
                  <a:t>For the combined studies, the percentage of cancer deaths in the placebo group was 0.7 percentage points higher than in the aspirin group.</a:t>
                </a:r>
                <a:endParaRPr lang="en-US" altLang="en-US" dirty="0"/>
              </a:p>
            </p:txBody>
          </p:sp>
        </mc:Choice>
        <mc:Fallback xmlns="">
          <p:sp>
            <p:nvSpPr>
              <p:cNvPr id="72706" name="Text Placeholder 2"/>
              <p:cNvSpPr>
                <a:spLocks noGrp="1" noRot="1" noChangeAspect="1" noMove="1" noResize="1" noEditPoints="1" noAdjustHandles="1" noChangeArrowheads="1" noChangeShapeType="1" noTextEdit="1"/>
              </p:cNvSpPr>
              <p:nvPr>
                <p:ph type="body" sz="quarter" idx="4294967295"/>
              </p:nvPr>
            </p:nvSpPr>
            <p:spPr bwMode="auto">
              <a:xfrm>
                <a:off x="773113" y="1600201"/>
                <a:ext cx="7529639" cy="4315968"/>
              </a:xfrm>
              <a:prstGeom prst="rect">
                <a:avLst/>
              </a:prstGeom>
              <a:blipFill>
                <a:blip r:embed="rId3"/>
                <a:stretch>
                  <a:fillRect l="-2510" t="-989" r="-2186"/>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2709"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spTree>
    <p:extLst>
      <p:ext uri="{BB962C8B-B14F-4D97-AF65-F5344CB8AC3E}">
        <p14:creationId xmlns:p14="http://schemas.microsoft.com/office/powerpoint/2010/main" val="170765997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754" name="Rectangle 1"/>
              <p:cNvSpPr>
                <a:spLocks noGrp="1" noChangeArrowheads="1"/>
              </p:cNvSpPr>
              <p:nvPr>
                <p:ph type="body" sz="quarter" idx="4294967295"/>
              </p:nvPr>
            </p:nvSpPr>
            <p:spPr bwMode="auto">
              <a:xfrm>
                <a:off x="695325" y="1830388"/>
                <a:ext cx="8229600" cy="1831784"/>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To make an inference about the difference of population proportions, (</a:t>
                </a:r>
                <a:r>
                  <a:rPr lang="en-US" altLang="en-US" i="1" dirty="0">
                    <a:latin typeface="+mj-lt"/>
                  </a:rPr>
                  <a:t>p</a:t>
                </a:r>
                <a:r>
                  <a:rPr lang="en-US" altLang="en-US" baseline="-25000" dirty="0">
                    <a:latin typeface="+mj-lt"/>
                  </a:rPr>
                  <a:t>1</a:t>
                </a:r>
                <a:r>
                  <a:rPr lang="en-US" altLang="en-US" baseline="-25000" dirty="0"/>
                  <a:t> </a:t>
                </a:r>
                <a:r>
                  <a:rPr lang="en-US" altLang="en-US" dirty="0"/>
                  <a:t>– </a:t>
                </a:r>
                <a:r>
                  <a:rPr lang="en-US" altLang="en-US" i="1" dirty="0">
                    <a:latin typeface="+mj-lt"/>
                  </a:rPr>
                  <a:t>p</a:t>
                </a:r>
                <a:r>
                  <a:rPr lang="en-US" altLang="en-US" baseline="-25000" dirty="0">
                    <a:latin typeface="+mj-lt"/>
                  </a:rPr>
                  <a:t>2</a:t>
                </a:r>
                <a:r>
                  <a:rPr lang="en-US" altLang="en-US" dirty="0"/>
                  <a:t>), we need to learn how much the difference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𝑝</m:t>
                        </m:r>
                      </m:e>
                    </m:acc>
                    <m:r>
                      <a:rPr lang="en-US" altLang="en-US" b="0" i="1" baseline="-25000" smtClean="0">
                        <a:latin typeface="Cambria Math" panose="02040503050406030204" pitchFamily="18" charset="0"/>
                      </a:rPr>
                      <m:t>1</m:t>
                    </m:r>
                    <m:r>
                      <a:rPr lang="en-US" altLang="en-US" b="0" i="1" smtClean="0">
                        <a:latin typeface="Cambria Math" panose="02040503050406030204" pitchFamily="18" charset="0"/>
                      </a:rPr>
                      <m:t> −</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𝑝</m:t>
                        </m:r>
                      </m:e>
                    </m:acc>
                  </m:oMath>
                </a14:m>
                <a:r>
                  <a:rPr lang="en-US" altLang="en-US" baseline="-25000" dirty="0">
                    <a:latin typeface="+mj-lt"/>
                  </a:rPr>
                  <a:t>2</a:t>
                </a:r>
                <a:r>
                  <a:rPr lang="en-US" altLang="en-US" dirty="0"/>
                  <a:t>) between the sample proportions would tend to vary from study to study.</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r>
                  <a:rPr lang="en-US" dirty="0"/>
                  <a:t>This is described by the standard error of the sampling distribution for the difference between the sample </a:t>
                </a:r>
                <a:r>
                  <a:rPr lang="en-US" dirty="0">
                    <a:solidFill>
                      <a:schemeClr val="tx1"/>
                    </a:solidFill>
                  </a:rPr>
                  <a:t>proportions.</a:t>
                </a:r>
                <a:endParaRPr lang="en-US" altLang="en-US" dirty="0">
                  <a:solidFill>
                    <a:schemeClr val="tx1"/>
                  </a:solidFill>
                </a:endParaRPr>
              </a:p>
            </p:txBody>
          </p:sp>
        </mc:Choice>
        <mc:Fallback xmlns="">
          <p:sp>
            <p:nvSpPr>
              <p:cNvPr id="74754" name="Rectangle 1"/>
              <p:cNvSpPr>
                <a:spLocks noGrp="1" noRot="1" noChangeAspect="1" noMove="1" noResize="1" noEditPoints="1" noAdjustHandles="1" noChangeArrowheads="1" noChangeShapeType="1" noTextEdit="1"/>
              </p:cNvSpPr>
              <p:nvPr>
                <p:ph type="body" sz="quarter" idx="4294967295"/>
              </p:nvPr>
            </p:nvSpPr>
            <p:spPr bwMode="auto">
              <a:xfrm>
                <a:off x="695325" y="1830388"/>
                <a:ext cx="8229600" cy="1831784"/>
              </a:xfrm>
              <a:prstGeom prst="rect">
                <a:avLst/>
              </a:prstGeom>
              <a:blipFill>
                <a:blip r:embed="rId3" cstate="print"/>
                <a:stretch>
                  <a:fillRect l="-2222" t="-2326" b="-82724"/>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4756" name="Rectangle 2"/>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chemeClr val="tx1"/>
                </a:solidFill>
                <a:latin typeface="Arial" panose="020B0604020202020204" pitchFamily="34" charset="0"/>
              </a:rPr>
              <a:t>Example: Aspirin, the Wonder Drug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6802"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The difference, (</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r>
                      <a:rPr lang="en-US" altLang="en-US" i="1" baseline="-25000">
                        <a:latin typeface="Cambria Math" panose="02040503050406030204" pitchFamily="18" charset="0"/>
                      </a:rPr>
                      <m:t>1</m:t>
                    </m:r>
                    <m:r>
                      <a:rPr lang="en-US" altLang="en-US" i="1">
                        <a:latin typeface="Cambria Math" panose="02040503050406030204" pitchFamily="18" charset="0"/>
                      </a:rPr>
                      <m:t> −</m:t>
                    </m:r>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oMath>
                </a14:m>
                <a:r>
                  <a:rPr lang="en-US" altLang="en-US" baseline="-25000" dirty="0"/>
                  <a:t>2</a:t>
                </a:r>
                <a:r>
                  <a:rPr lang="en-US" altLang="en-US" dirty="0"/>
                  <a:t>),  between two sample proportions has a sampling distribution that describes its likely values.</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r>
                  <a:rPr lang="en-US" dirty="0"/>
                  <a:t>The sampling distribution of the difference </a:t>
                </a:r>
                <a:r>
                  <a:rPr lang="en-US" altLang="en-US" dirty="0"/>
                  <a:t>(</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r>
                      <a:rPr lang="en-US" altLang="en-US" i="1" baseline="-25000">
                        <a:latin typeface="Cambria Math" panose="02040503050406030204" pitchFamily="18" charset="0"/>
                      </a:rPr>
                      <m:t>1</m:t>
                    </m:r>
                    <m:r>
                      <a:rPr lang="en-US" altLang="en-US" i="1">
                        <a:latin typeface="Cambria Math" panose="02040503050406030204" pitchFamily="18" charset="0"/>
                      </a:rPr>
                      <m:t> −</m:t>
                    </m:r>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𝑝</m:t>
                        </m:r>
                      </m:e>
                    </m:acc>
                  </m:oMath>
                </a14:m>
                <a:r>
                  <a:rPr lang="en-US" altLang="en-US" baseline="-25000" dirty="0"/>
                  <a:t>2</a:t>
                </a:r>
                <a:r>
                  <a:rPr lang="en-US" altLang="en-US" dirty="0"/>
                  <a:t>) of the</a:t>
                </a:r>
                <a:r>
                  <a:rPr lang="en-US" dirty="0"/>
                  <a:t>  two sample proportions has an approximately normal distribution, centered at the population difference (</a:t>
                </a:r>
                <a:r>
                  <a:rPr lang="en-US" i="1" dirty="0">
                    <a:latin typeface="+mj-lt"/>
                  </a:rPr>
                  <a:t>p</a:t>
                </a:r>
                <a:r>
                  <a:rPr lang="en-US" baseline="-25000" dirty="0">
                    <a:latin typeface="+mj-lt"/>
                  </a:rPr>
                  <a:t>1</a:t>
                </a:r>
                <a:r>
                  <a:rPr lang="en-US" dirty="0">
                    <a:latin typeface="+mj-lt"/>
                  </a:rPr>
                  <a:t> – </a:t>
                </a:r>
                <a:r>
                  <a:rPr lang="en-US" i="1" dirty="0">
                    <a:latin typeface="+mj-lt"/>
                  </a:rPr>
                  <a:t>p</a:t>
                </a:r>
                <a:r>
                  <a:rPr lang="en-US" baseline="-25000" dirty="0">
                    <a:latin typeface="+mj-lt"/>
                  </a:rPr>
                  <a:t>2</a:t>
                </a:r>
                <a:r>
                  <a:rPr lang="en-US" dirty="0"/>
                  <a:t>) and with standard deviation </a:t>
                </a:r>
              </a:p>
            </p:txBody>
          </p:sp>
        </mc:Choice>
        <mc:Fallback xmlns="">
          <p:sp>
            <p:nvSpPr>
              <p:cNvPr id="76802" name="Rectangle 1"/>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4" cstate="print"/>
                <a:stretch>
                  <a:fillRect l="-2296" t="-943" r="-74"/>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6806" name="Rectangle 2"/>
          <p:cNvSpPr>
            <a:spLocks noChangeArrowheads="1"/>
          </p:cNvSpPr>
          <p:nvPr/>
        </p:nvSpPr>
        <p:spPr bwMode="auto">
          <a:xfrm>
            <a:off x="762000" y="459041"/>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Sampling Distribution of the Difference Between Two Sample Proportions</a:t>
            </a:r>
          </a:p>
        </p:txBody>
      </p:sp>
      <p:graphicFrame>
        <p:nvGraphicFramePr>
          <p:cNvPr id="2" name="Object 1"/>
          <p:cNvGraphicFramePr>
            <a:graphicFrameLocks noChangeAspect="1"/>
          </p:cNvGraphicFramePr>
          <p:nvPr>
            <p:extLst>
              <p:ext uri="{D42A27DB-BD31-4B8C-83A1-F6EECF244321}">
                <p14:modId xmlns:p14="http://schemas.microsoft.com/office/powerpoint/2010/main" val="586277600"/>
              </p:ext>
            </p:extLst>
          </p:nvPr>
        </p:nvGraphicFramePr>
        <p:xfrm>
          <a:off x="1516063" y="4688840"/>
          <a:ext cx="6032500" cy="1460500"/>
        </p:xfrm>
        <a:graphic>
          <a:graphicData uri="http://schemas.openxmlformats.org/presentationml/2006/ole">
            <mc:AlternateContent xmlns:mc="http://schemas.openxmlformats.org/markup-compatibility/2006">
              <mc:Choice xmlns:v="urn:schemas-microsoft-com:vml" Requires="v">
                <p:oleObj spid="_x0000_s3075" name="Equation" r:id="rId5" imgW="6032160" imgH="1460160" progId="Equation.DSMT4">
                  <p:embed/>
                </p:oleObj>
              </mc:Choice>
              <mc:Fallback>
                <p:oleObj name="Equation" r:id="rId5" imgW="6032160" imgH="1460160" progId="Equation.DSMT4">
                  <p:embed/>
                  <p:pic>
                    <p:nvPicPr>
                      <p:cNvPr id="0" name="Picture 1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6063" y="4688840"/>
                        <a:ext cx="6032500" cy="146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In practice, we will have to estimate the standard deviation because it depends on the unknown population proportions. This gives the </a:t>
            </a:r>
            <a:r>
              <a:rPr lang="en-US" b="1" dirty="0"/>
              <a:t>standard error </a:t>
            </a:r>
            <a:r>
              <a:rPr lang="en-US" dirty="0"/>
              <a:t>of the difference,</a:t>
            </a:r>
            <a:r>
              <a:rPr lang="en-US" b="1" dirty="0">
                <a:solidFill>
                  <a:srgbClr val="FF0000"/>
                </a:solidFill>
              </a:rPr>
              <a:t> </a:t>
            </a:r>
            <a:r>
              <a:rPr lang="en-US" dirty="0"/>
              <a:t>which we will need to construct a confidence interval.</a:t>
            </a:r>
            <a:endParaRPr lang="en-US" altLang="en-US" dirty="0"/>
          </a:p>
        </p:txBody>
      </p:sp>
      <p:sp>
        <p:nvSpPr>
          <p:cNvPr id="76806" name="Rectangle 2"/>
          <p:cNvSpPr>
            <a:spLocks noChangeArrowheads="1"/>
          </p:cNvSpPr>
          <p:nvPr/>
        </p:nvSpPr>
        <p:spPr bwMode="auto">
          <a:xfrm>
            <a:off x="762000" y="459041"/>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Sampling Distribution of the Difference Between Two Sample Proportions</a:t>
            </a:r>
          </a:p>
        </p:txBody>
      </p:sp>
      <p:pic>
        <p:nvPicPr>
          <p:cNvPr id="3" name="Picture 2"/>
          <p:cNvPicPr>
            <a:picLocks noChangeAspect="1"/>
          </p:cNvPicPr>
          <p:nvPr/>
        </p:nvPicPr>
        <p:blipFill>
          <a:blip r:embed="rId3"/>
          <a:stretch>
            <a:fillRect/>
          </a:stretch>
        </p:blipFill>
        <p:spPr>
          <a:xfrm>
            <a:off x="1696212" y="3506724"/>
            <a:ext cx="5734050" cy="1200150"/>
          </a:xfrm>
          <a:prstGeom prst="rect">
            <a:avLst/>
          </a:prstGeom>
        </p:spPr>
      </p:pic>
    </p:spTree>
    <p:extLst>
      <p:ext uri="{BB962C8B-B14F-4D97-AF65-F5344CB8AC3E}">
        <p14:creationId xmlns:p14="http://schemas.microsoft.com/office/powerpoint/2010/main" val="12990687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
          <p:cNvSpPr>
            <a:spLocks noGrp="1" noChangeArrowheads="1"/>
          </p:cNvSpPr>
          <p:nvPr>
            <p:ph type="body" sz="quarter" idx="4294967295"/>
          </p:nvPr>
        </p:nvSpPr>
        <p:spPr bwMode="auto">
          <a:xfrm>
            <a:off x="918972" y="1600200"/>
            <a:ext cx="7461504"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341313" indent="-339725">
              <a:spcBef>
                <a:spcPts val="625"/>
              </a:spcBef>
              <a:buFontTx/>
              <a:buNone/>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altLang="en-US" dirty="0">
              <a:latin typeface="Times New Roman" panose="02020603050405020304" pitchFamily="18" charset="0"/>
            </a:endParaRPr>
          </a:p>
          <a:p>
            <a:pPr marL="341313" indent="-339725">
              <a:spcBef>
                <a:spcPts val="625"/>
              </a:spcBef>
              <a:buFontTx/>
              <a:buNone/>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altLang="en-US" dirty="0">
              <a:latin typeface="Times New Roman" panose="02020603050405020304" pitchFamily="18" charset="0"/>
            </a:endParaRPr>
          </a:p>
          <a:p>
            <a:pPr marL="341313" indent="-339725">
              <a:spcBef>
                <a:spcPts val="800"/>
              </a:spcBef>
              <a:buFontTx/>
              <a:buNone/>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altLang="en-US" dirty="0">
              <a:latin typeface="Times New Roman" panose="02020603050405020304" pitchFamily="18" charset="0"/>
            </a:endParaRPr>
          </a:p>
          <a:p>
            <a:pPr marL="341313" indent="-339725">
              <a:spcBef>
                <a:spcPts val="8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altLang="en-US" dirty="0"/>
              <a:t>The </a:t>
            </a:r>
            <a:r>
              <a:rPr lang="en-US" altLang="en-US" i="1" dirty="0"/>
              <a:t>z</a:t>
            </a:r>
            <a:r>
              <a:rPr lang="en-US" altLang="en-US" dirty="0"/>
              <a:t>-score depends on the confidence level.</a:t>
            </a:r>
          </a:p>
          <a:p>
            <a:pPr marL="341313" indent="-339725">
              <a:spcBef>
                <a:spcPts val="8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altLang="en-US" dirty="0"/>
          </a:p>
          <a:p>
            <a:pPr marL="341313" indent="-339725">
              <a:spcBef>
                <a:spcPts val="8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altLang="en-US" dirty="0"/>
              <a:t>This method requires:</a:t>
            </a:r>
          </a:p>
          <a:p>
            <a:pPr lvl="1">
              <a:spcBef>
                <a:spcPts val="7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altLang="en-US" dirty="0"/>
              <a:t>Categorical response variable for two groups.</a:t>
            </a:r>
          </a:p>
          <a:p>
            <a:pPr lvl="1">
              <a:spcBef>
                <a:spcPts val="7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altLang="en-US" dirty="0"/>
              <a:t>Independent random samples for the two groups.</a:t>
            </a:r>
          </a:p>
          <a:p>
            <a:pPr lvl="1">
              <a:spcBef>
                <a:spcPts val="700"/>
              </a:spcBef>
              <a:tabLst>
                <a:tab pos="341313" algn="l"/>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altLang="en-US" dirty="0"/>
              <a:t>Large enough sample sizes so that there are at least 10 “successes” and at least 10 “failures” in each group.</a:t>
            </a:r>
          </a:p>
        </p:txBody>
      </p:sp>
      <p:sp>
        <p:nvSpPr>
          <p:cNvPr id="78852" name="Rectangle 2"/>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Confidence Interval for the Difference Between Two Population Proportions</a:t>
            </a:r>
          </a:p>
        </p:txBody>
      </p:sp>
      <p:pic>
        <p:nvPicPr>
          <p:cNvPr id="3" name="Picture 2"/>
          <p:cNvPicPr>
            <a:picLocks noChangeAspect="1"/>
          </p:cNvPicPr>
          <p:nvPr/>
        </p:nvPicPr>
        <p:blipFill>
          <a:blip r:embed="rId3"/>
          <a:stretch>
            <a:fillRect/>
          </a:stretch>
        </p:blipFill>
        <p:spPr>
          <a:xfrm>
            <a:off x="620459" y="1719072"/>
            <a:ext cx="8066341" cy="1052131"/>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body" sz="quarter" idx="4294967295"/>
          </p:nvPr>
        </p:nvSpPr>
        <p:spPr bwMode="auto">
          <a:xfrm>
            <a:off x="762000" y="1768475"/>
            <a:ext cx="7924800" cy="4479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1588">
              <a:spcBef>
                <a:spcPts val="800"/>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 95% confidence interval for (</a:t>
            </a:r>
            <a:r>
              <a:rPr lang="en-US" altLang="en-US" i="1" dirty="0">
                <a:latin typeface="+mj-lt"/>
              </a:rPr>
              <a:t>p</a:t>
            </a:r>
            <a:r>
              <a:rPr lang="en-US" altLang="en-US" baseline="-25000" dirty="0">
                <a:latin typeface="+mj-lt"/>
              </a:rPr>
              <a:t>1</a:t>
            </a:r>
            <a:r>
              <a:rPr lang="en-US" altLang="en-US" dirty="0"/>
              <a:t> – </a:t>
            </a:r>
            <a:r>
              <a:rPr lang="en-US" altLang="en-US" i="1" dirty="0">
                <a:latin typeface="+mj-lt"/>
              </a:rPr>
              <a:t>p</a:t>
            </a:r>
            <a:r>
              <a:rPr lang="en-US" altLang="en-US" baseline="-25000" dirty="0">
                <a:latin typeface="+mj-lt"/>
              </a:rPr>
              <a:t>2</a:t>
            </a:r>
            <a:r>
              <a:rPr lang="en-US" altLang="en-US" dirty="0"/>
              <a:t>) is:</a:t>
            </a:r>
          </a:p>
          <a:p>
            <a:pPr marL="0" indent="1588">
              <a:spcBef>
                <a:spcPts val="800"/>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1588">
              <a:spcBef>
                <a:spcPts val="800"/>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latin typeface="Times New Roman" panose="02020603050405020304" pitchFamily="18" charset="0"/>
            </a:endParaRPr>
          </a:p>
          <a:p>
            <a:pPr marL="0" indent="0"/>
            <a:r>
              <a:rPr lang="en-US" dirty="0">
                <a:latin typeface="Times New Roman" panose="02020603050405020304" pitchFamily="18" charset="0"/>
              </a:rPr>
              <a:t/>
            </a:r>
            <a:br>
              <a:rPr lang="en-US" dirty="0">
                <a:latin typeface="Times New Roman" panose="02020603050405020304" pitchFamily="18" charset="0"/>
              </a:rPr>
            </a:br>
            <a:endParaRPr lang="en-US" sz="1200" dirty="0">
              <a:latin typeface="Times New Roman" panose="02020603050405020304" pitchFamily="18" charset="0"/>
            </a:endParaRPr>
          </a:p>
          <a:p>
            <a:pPr marL="0" indent="0"/>
            <a:r>
              <a:rPr lang="en-US" dirty="0"/>
              <a:t>The inference at the 95% confidence level that </a:t>
            </a:r>
            <a:r>
              <a:rPr lang="en-US" altLang="en-US" dirty="0"/>
              <a:t>(</a:t>
            </a:r>
            <a:r>
              <a:rPr lang="en-US" altLang="en-US" i="1" dirty="0">
                <a:latin typeface="+mj-lt"/>
              </a:rPr>
              <a:t>p</a:t>
            </a:r>
            <a:r>
              <a:rPr lang="en-US" altLang="en-US" baseline="-25000" dirty="0"/>
              <a:t>1</a:t>
            </a:r>
            <a:r>
              <a:rPr lang="en-US" altLang="en-US" dirty="0"/>
              <a:t> – </a:t>
            </a:r>
            <a:r>
              <a:rPr lang="en-US" altLang="en-US" i="1" dirty="0">
                <a:latin typeface="+mj-lt"/>
              </a:rPr>
              <a:t>p</a:t>
            </a:r>
            <a:r>
              <a:rPr lang="en-US" altLang="en-US" baseline="-25000" dirty="0"/>
              <a:t>2</a:t>
            </a:r>
            <a:r>
              <a:rPr lang="en-US" altLang="en-US" dirty="0"/>
              <a:t>)</a:t>
            </a:r>
            <a:r>
              <a:rPr lang="en-US" dirty="0"/>
              <a:t> is between 0.003 and 0.011 means that in experiments like this, the population proportion </a:t>
            </a:r>
            <a:r>
              <a:rPr lang="en-US" i="1" dirty="0">
                <a:latin typeface="+mj-lt"/>
              </a:rPr>
              <a:t>p</a:t>
            </a:r>
            <a:r>
              <a:rPr lang="en-US" baseline="-25000" dirty="0"/>
              <a:t>1</a:t>
            </a:r>
            <a:r>
              <a:rPr lang="en-US" dirty="0"/>
              <a:t> of cancer deaths for those taking placebo would be between 0.003 higher and 0.011 higher than the population proportion </a:t>
            </a:r>
            <a:r>
              <a:rPr lang="en-US" i="1" dirty="0">
                <a:latin typeface="+mj-lt"/>
              </a:rPr>
              <a:t>p</a:t>
            </a:r>
            <a:r>
              <a:rPr lang="en-US" baseline="-25000" dirty="0"/>
              <a:t>2</a:t>
            </a:r>
            <a:r>
              <a:rPr lang="en-US" dirty="0"/>
              <a:t> of cancer deaths for those taking aspirin.</a:t>
            </a:r>
            <a:endParaRPr lang="en-US" altLang="en-US" dirty="0">
              <a:latin typeface="Times New Roman" panose="02020603050405020304" pitchFamily="18" charset="0"/>
            </a:endParaRPr>
          </a:p>
          <a:p>
            <a:pPr marL="0" indent="1588">
              <a:spcBef>
                <a:spcPts val="800"/>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latin typeface="Times New Roman" panose="02020603050405020304" pitchFamily="18" charset="0"/>
              </a:rPr>
              <a:t>			</a:t>
            </a:r>
          </a:p>
        </p:txBody>
      </p:sp>
      <p:sp>
        <p:nvSpPr>
          <p:cNvPr id="80899" name="Rectangle 1"/>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Example: Comparing Cancer Death Rates for Aspirin and Placebo</a:t>
            </a:r>
          </a:p>
        </p:txBody>
      </p:sp>
      <p:pic>
        <p:nvPicPr>
          <p:cNvPr id="3" name="Picture 2"/>
          <p:cNvPicPr>
            <a:picLocks noChangeAspect="1"/>
          </p:cNvPicPr>
          <p:nvPr/>
        </p:nvPicPr>
        <p:blipFill>
          <a:blip r:embed="rId3"/>
          <a:stretch>
            <a:fillRect/>
          </a:stretch>
        </p:blipFill>
        <p:spPr>
          <a:xfrm>
            <a:off x="1081087" y="2496312"/>
            <a:ext cx="7286625" cy="1038225"/>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p:cNvSpPr>
            <a:spLocks noGrp="1" noChangeArrowheads="1"/>
          </p:cNvSpPr>
          <p:nvPr>
            <p:ph type="body" sz="quarter" idx="4294967295"/>
          </p:nvPr>
        </p:nvSpPr>
        <p:spPr bwMode="auto">
          <a:xfrm>
            <a:off x="767773" y="1563624"/>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population difference (</a:t>
            </a:r>
            <a:r>
              <a:rPr lang="en-US" altLang="en-US" dirty="0">
                <a:solidFill>
                  <a:schemeClr val="tx1"/>
                </a:solidFill>
              </a:rPr>
              <a:t>0.003</a:t>
            </a:r>
            <a:r>
              <a:rPr lang="en-US" altLang="en-US" dirty="0"/>
              <a:t>, 0.011) is</a:t>
            </a:r>
            <a:r>
              <a:rPr lang="en-US" altLang="en-US" b="1" dirty="0"/>
              <a:t> small.</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Even though it is a small difference, it may be important in</a:t>
            </a:r>
            <a:r>
              <a:rPr lang="en-US" altLang="en-US" b="1" dirty="0"/>
              <a:t> public health terms.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For example, a decrease of 0.01 over a 20 year period in the proportion of people dying from cancer would mean</a:t>
            </a:r>
            <a:r>
              <a:rPr lang="en-US" altLang="en-US" b="1" dirty="0"/>
              <a:t> 2 million fewer people </a:t>
            </a:r>
            <a:r>
              <a:rPr lang="en-US" altLang="en-US" dirty="0"/>
              <a:t>dying from cancer.</a:t>
            </a:r>
          </a:p>
        </p:txBody>
      </p:sp>
      <p:sp>
        <p:nvSpPr>
          <p:cNvPr id="4" name="Rectangle 1"/>
          <p:cNvSpPr>
            <a:spLocks noGrp="1" noChangeArrowheads="1"/>
          </p:cNvSpPr>
          <p:nvPr>
            <p:ph type="title" idx="4294967295"/>
          </p:nvPr>
        </p:nvSpPr>
        <p:spPr bwMode="auto">
          <a:xfrm>
            <a:off x="762000" y="76200"/>
            <a:ext cx="7924800" cy="102108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Example: Comparing Cancer Death Rates for Aspirin and Placebo</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
          <p:cNvSpPr>
            <a:spLocks noGrp="1" noChangeArrowheads="1"/>
          </p:cNvSpPr>
          <p:nvPr>
            <p:ph type="body" sz="quarter" idx="4294967295"/>
          </p:nvPr>
        </p:nvSpPr>
        <p:spPr bwMode="auto">
          <a:xfrm>
            <a:off x="762000" y="1600200"/>
            <a:ext cx="7463028"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Benefit was consistent across the different trial populations from the different randomized studies, suggesting that the findings have broader scope of generalization.</a:t>
            </a:r>
          </a:p>
          <a:p>
            <a:pPr marL="0" indent="0"/>
            <a:endParaRPr lang="en-US" altLang="en-US"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Before concluding that aspirin </a:t>
            </a:r>
            <a:r>
              <a:rPr lang="en-US" altLang="en-US" b="1" dirty="0"/>
              <a:t>benefits a larger population</a:t>
            </a:r>
            <a:r>
              <a:rPr lang="en-US" altLang="en-US" dirty="0"/>
              <a:t>, it is important to replicate the study to see if results are similar or different for populations used in this study and other populations</a:t>
            </a:r>
            <a:r>
              <a:rPr lang="en-US" altLang="en-US" sz="2600" dirty="0"/>
              <a:t>.</a:t>
            </a:r>
          </a:p>
        </p:txBody>
      </p:sp>
      <p:sp>
        <p:nvSpPr>
          <p:cNvPr id="4" name="Rectangle 1"/>
          <p:cNvSpPr>
            <a:spLocks noGrp="1" noChangeArrowheads="1"/>
          </p:cNvSpPr>
          <p:nvPr>
            <p:ph type="title" idx="4294967295"/>
          </p:nvPr>
        </p:nvSpPr>
        <p:spPr bwMode="auto">
          <a:xfrm>
            <a:off x="762000" y="76200"/>
            <a:ext cx="7924800" cy="102108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Example: Comparing Cancer Death Rates for Aspirin and Placebo</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
          <p:cNvSpPr>
            <a:spLocks noGrp="1" noChangeArrowheads="1"/>
          </p:cNvSpPr>
          <p:nvPr>
            <p:ph type="body" sz="quarter" idx="4294967295"/>
          </p:nvPr>
        </p:nvSpPr>
        <p:spPr bwMode="auto">
          <a:xfrm>
            <a:off x="609600" y="1524000"/>
            <a:ext cx="8382000" cy="457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3460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Check whether 0 falls in the CI. If so, it is plausible that the population proportions are equal.</a:t>
            </a:r>
          </a:p>
          <a:p>
            <a:pPr marL="3460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60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If all values in the CI for (</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are positive, you can infer that (</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&gt; 0, or </a:t>
            </a:r>
            <a:r>
              <a:rPr lang="en-US" altLang="en-US" i="1" dirty="0"/>
              <a:t>p</a:t>
            </a:r>
            <a:r>
              <a:rPr lang="en-US" altLang="en-US" baseline="-25000" dirty="0"/>
              <a:t>1</a:t>
            </a:r>
            <a:r>
              <a:rPr lang="en-US" altLang="en-US" dirty="0"/>
              <a:t> &gt; </a:t>
            </a:r>
            <a:r>
              <a:rPr lang="en-US" altLang="en-US" i="1" dirty="0"/>
              <a:t>p</a:t>
            </a:r>
            <a:r>
              <a:rPr lang="en-US" altLang="en-US" baseline="-25000" dirty="0"/>
              <a:t>2</a:t>
            </a:r>
            <a:r>
              <a:rPr lang="en-US" altLang="en-US" dirty="0"/>
              <a:t>. If all values in the CI for </a:t>
            </a:r>
            <a:br>
              <a:rPr lang="en-US" altLang="en-US" dirty="0"/>
            </a:br>
            <a:r>
              <a:rPr lang="en-US" altLang="en-US" dirty="0"/>
              <a:t>(</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are negative, you can infer that (</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&lt; 0 , or </a:t>
            </a:r>
            <a:br>
              <a:rPr lang="en-US" altLang="en-US" dirty="0"/>
            </a:br>
            <a:r>
              <a:rPr lang="en-US" altLang="en-US" i="1" dirty="0"/>
              <a:t>p</a:t>
            </a:r>
            <a:r>
              <a:rPr lang="en-US" altLang="en-US" baseline="-25000" dirty="0"/>
              <a:t>1</a:t>
            </a:r>
            <a:r>
              <a:rPr lang="en-US" altLang="en-US" dirty="0"/>
              <a:t> &lt; </a:t>
            </a:r>
            <a:r>
              <a:rPr lang="en-US" altLang="en-US" i="1" dirty="0"/>
              <a:t>p</a:t>
            </a:r>
            <a:r>
              <a:rPr lang="en-US" altLang="en-US" baseline="-25000" dirty="0"/>
              <a:t>2</a:t>
            </a:r>
            <a:r>
              <a:rPr lang="en-US" altLang="en-US" dirty="0"/>
              <a:t>.    </a:t>
            </a:r>
            <a:endParaRPr lang="en-US" altLang="en-US" baseline="-25000" dirty="0"/>
          </a:p>
          <a:p>
            <a:pPr marL="3460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a:buFont typeface="Wingdings" panose="05000000000000000000" pitchFamily="2" charset="2"/>
              <a:buChar char="§"/>
            </a:pPr>
            <a:r>
              <a:rPr lang="en-US" dirty="0"/>
              <a:t>The magnitude of values in the confidence interval tells you how </a:t>
            </a:r>
            <a:r>
              <a:rPr lang="en-US" i="1" dirty="0"/>
              <a:t>large </a:t>
            </a:r>
            <a:r>
              <a:rPr lang="en-US" dirty="0"/>
              <a:t>any true difference is. If all values in the confidence interval are near 0, the true difference may be relatively small in practical terms.</a:t>
            </a:r>
            <a:endParaRPr lang="en-US" altLang="en-US" dirty="0"/>
          </a:p>
        </p:txBody>
      </p:sp>
      <p:sp>
        <p:nvSpPr>
          <p:cNvPr id="89091" name="Text Box 2"/>
          <p:cNvSpPr txBox="1">
            <a:spLocks noChangeArrowheads="1"/>
          </p:cNvSpPr>
          <p:nvPr/>
        </p:nvSpPr>
        <p:spPr bwMode="auto">
          <a:xfrm>
            <a:off x="685800" y="47625"/>
            <a:ext cx="82296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SUMMARY: Interpreting a Confidence Interval for a Difference of Proportions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sz="quarter" idx="4294967295"/>
          </p:nvPr>
        </p:nvSpPr>
        <p:spPr bwMode="auto">
          <a:xfrm>
            <a:off x="773113" y="1600201"/>
            <a:ext cx="7451915" cy="447141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1. Assumptions: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900" b="1"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Categorical response variable for two group</a:t>
            </a:r>
            <a:r>
              <a:rPr lang="en-US" altLang="en-US" dirty="0">
                <a:solidFill>
                  <a:schemeClr val="tx1"/>
                </a:solidFill>
              </a:rPr>
              <a:t>s</a:t>
            </a:r>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Independent random samples, either from random sampling or a randomized experimen</a:t>
            </a:r>
            <a:r>
              <a:rPr lang="en-US" altLang="en-US" dirty="0">
                <a:solidFill>
                  <a:schemeClr val="tx1"/>
                </a:solidFill>
              </a:rPr>
              <a:t>t</a:t>
            </a:r>
          </a:p>
          <a:p>
            <a:pPr marL="631825" lvl="1" indent="0">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dirty="0"/>
              <a:t>n</a:t>
            </a:r>
            <a:r>
              <a:rPr lang="en-US" altLang="en-US" baseline="-25000" dirty="0"/>
              <a:t>1</a:t>
            </a:r>
            <a:r>
              <a:rPr lang="en-US" altLang="en-US" dirty="0"/>
              <a:t> and </a:t>
            </a:r>
            <a:r>
              <a:rPr lang="en-US" altLang="en-US" i="1" dirty="0"/>
              <a:t>n</a:t>
            </a:r>
            <a:r>
              <a:rPr lang="en-US" altLang="en-US" baseline="-25000" dirty="0"/>
              <a:t>2</a:t>
            </a:r>
            <a:r>
              <a:rPr lang="en-US" altLang="en-US" dirty="0"/>
              <a:t> are large enough that there are at least five successes and five failures in each group if using a two-sided alternative.</a:t>
            </a:r>
          </a:p>
          <a:p>
            <a:pPr marL="974725" lvl="1" indent="-3429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93187" name="Rectangle 1"/>
          <p:cNvSpPr>
            <a:spLocks noGrp="1" noChangeArrowheads="1"/>
          </p:cNvSpPr>
          <p:nvPr>
            <p:ph type="title" idx="4294967295"/>
          </p:nvPr>
        </p:nvSpPr>
        <p:spPr bwMode="auto">
          <a:xfrm>
            <a:off x="685800" y="76200"/>
            <a:ext cx="83820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Two-Sided Significance Test for Comparing Two Population Proportions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5234" name="Rectangle 1"/>
              <p:cNvSpPr>
                <a:spLocks noGrp="1" noChangeArrowheads="1"/>
              </p:cNvSpPr>
              <p:nvPr>
                <p:ph type="body" sz="quarter" idx="4294967295"/>
              </p:nvPr>
            </p:nvSpPr>
            <p:spPr bwMode="auto">
              <a:xfrm>
                <a:off x="617538"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2. Hypotheses:</a:t>
                </a:r>
              </a:p>
              <a:p>
                <a:pPr marL="457200" indent="-457200">
                  <a:lnSpc>
                    <a:spcPct val="90000"/>
                  </a:lnSpc>
                  <a:spcBef>
                    <a:spcPts val="875"/>
                  </a:spcBef>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a:t>
                </a:r>
                <a:r>
                  <a:rPr lang="en-US" altLang="en-US" b="1" i="1" dirty="0"/>
                  <a:t>null</a:t>
                </a:r>
                <a:r>
                  <a:rPr lang="en-US" altLang="en-US" dirty="0"/>
                  <a:t> hypothesis is the hypothesis of </a:t>
                </a:r>
                <a:r>
                  <a:rPr lang="en-US" altLang="en-US" i="1" dirty="0"/>
                  <a:t>no difference</a:t>
                </a:r>
                <a:r>
                  <a:rPr lang="en-US" altLang="en-US" dirty="0"/>
                  <a:t> or </a:t>
                </a:r>
                <a:r>
                  <a:rPr lang="en-US" altLang="en-US" i="1" dirty="0"/>
                  <a:t>no effect</a:t>
                </a:r>
                <a:r>
                  <a:rPr lang="en-US" altLang="en-US" dirty="0"/>
                  <a:t>:</a:t>
                </a:r>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H</a:t>
                </a:r>
                <a:r>
                  <a:rPr lang="en-US" altLang="en-US" baseline="-25000" dirty="0"/>
                  <a:t>0</a:t>
                </a:r>
                <a:r>
                  <a:rPr lang="en-US" altLang="en-US" dirty="0"/>
                  <a:t>: </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that is, </a:t>
                </a:r>
                <a:r>
                  <a:rPr lang="en-US" altLang="en-US" i="1" dirty="0"/>
                  <a:t>p</a:t>
                </a:r>
                <a:r>
                  <a:rPr lang="en-US" altLang="en-US" baseline="-25000" dirty="0"/>
                  <a:t>1</a:t>
                </a:r>
                <a:r>
                  <a:rPr lang="en-US" altLang="en-US" dirty="0"/>
                  <a:t> – </a:t>
                </a:r>
                <a:r>
                  <a:rPr lang="en-US" altLang="en-US" i="1" dirty="0"/>
                  <a:t>p</a:t>
                </a:r>
                <a:r>
                  <a:rPr lang="en-US" altLang="en-US" baseline="-25000" dirty="0"/>
                  <a:t>2</a:t>
                </a:r>
                <a:r>
                  <a:rPr lang="en-US" altLang="en-US" dirty="0"/>
                  <a:t> = 0. </a:t>
                </a:r>
                <a:r>
                  <a:rPr lang="en-US" altLang="en-US" baseline="-25000" dirty="0"/>
                  <a:t> </a:t>
                </a:r>
                <a:r>
                  <a:rPr lang="en-US" altLang="en-US" dirty="0"/>
                  <a:t>  </a:t>
                </a:r>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457200" indent="-457200">
                  <a:lnSpc>
                    <a:spcPct val="90000"/>
                  </a:lnSpc>
                  <a:spcBef>
                    <a:spcPts val="875"/>
                  </a:spcBef>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a:t>
                </a:r>
                <a:r>
                  <a:rPr lang="en-US" altLang="en-US" b="1" i="1" dirty="0"/>
                  <a:t>alternative</a:t>
                </a:r>
                <a:r>
                  <a:rPr lang="en-US" altLang="en-US" dirty="0"/>
                  <a:t> hypothesis is the hypothesis of interest to the investigator.</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H</a:t>
                </a:r>
                <a:r>
                  <a:rPr lang="en-US" altLang="en-US" i="1" baseline="-25000" dirty="0">
                    <a:latin typeface="+mj-lt"/>
                  </a:rPr>
                  <a:t>a</a:t>
                </a:r>
                <a:r>
                  <a:rPr lang="en-US" altLang="en-US" dirty="0"/>
                  <a:t>: </a:t>
                </a:r>
                <a:r>
                  <a:rPr lang="en-US" altLang="en-US" i="1" dirty="0"/>
                  <a:t>p</a:t>
                </a:r>
                <a:r>
                  <a:rPr lang="en-US" altLang="en-US" baseline="-25000" dirty="0"/>
                  <a:t>1</a:t>
                </a:r>
                <a:r>
                  <a:rPr lang="en-US" altLang="en-US" dirty="0"/>
                  <a:t>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a:t>
                </a:r>
                <a:r>
                  <a:rPr lang="en-US" altLang="en-US" i="1" dirty="0"/>
                  <a:t>p</a:t>
                </a:r>
                <a:r>
                  <a:rPr lang="en-US" altLang="en-US" baseline="-25000" dirty="0"/>
                  <a:t>2</a:t>
                </a:r>
                <a:r>
                  <a:rPr lang="en-US" altLang="en-US" dirty="0"/>
                  <a:t> (two-sided test)</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H</a:t>
                </a:r>
                <a:r>
                  <a:rPr lang="en-US" altLang="en-US" i="1" baseline="-25000" dirty="0">
                    <a:latin typeface="+mj-lt"/>
                  </a:rPr>
                  <a:t>a</a:t>
                </a:r>
                <a:r>
                  <a:rPr lang="en-US" altLang="en-US" dirty="0"/>
                  <a:t>: </a:t>
                </a:r>
                <a:r>
                  <a:rPr lang="en-US" altLang="en-US" i="1" dirty="0"/>
                  <a:t>p</a:t>
                </a:r>
                <a:r>
                  <a:rPr lang="en-US" altLang="en-US" baseline="-25000" dirty="0"/>
                  <a:t>1</a:t>
                </a:r>
                <a:r>
                  <a:rPr lang="en-US" altLang="en-US" dirty="0"/>
                  <a:t> </a:t>
                </a:r>
                <a14:m>
                  <m:oMath xmlns:m="http://schemas.openxmlformats.org/officeDocument/2006/math">
                    <m:r>
                      <a:rPr lang="en-US" altLang="en-US" b="0" i="1" smtClean="0">
                        <a:latin typeface="Cambria Math" panose="02040503050406030204" pitchFamily="18" charset="0"/>
                      </a:rPr>
                      <m:t>&gt;</m:t>
                    </m:r>
                  </m:oMath>
                </a14:m>
                <a:r>
                  <a:rPr lang="en-US" altLang="en-US" dirty="0"/>
                  <a:t> </a:t>
                </a:r>
                <a:r>
                  <a:rPr lang="en-US" altLang="en-US" i="1" dirty="0"/>
                  <a:t>p</a:t>
                </a:r>
                <a:r>
                  <a:rPr lang="en-US" altLang="en-US" baseline="-25000" dirty="0"/>
                  <a:t>2</a:t>
                </a:r>
                <a:r>
                  <a:rPr lang="en-US" altLang="en-US" dirty="0"/>
                  <a:t> (one-sided test)</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H</a:t>
                </a:r>
                <a:r>
                  <a:rPr lang="en-US" altLang="en-US" i="1" baseline="-25000" dirty="0">
                    <a:latin typeface="+mj-lt"/>
                  </a:rPr>
                  <a:t>a</a:t>
                </a:r>
                <a:r>
                  <a:rPr lang="en-US" altLang="en-US" dirty="0"/>
                  <a:t>: </a:t>
                </a:r>
                <a:r>
                  <a:rPr lang="en-US" altLang="en-US" i="1" dirty="0"/>
                  <a:t>p</a:t>
                </a:r>
                <a:r>
                  <a:rPr lang="en-US" altLang="en-US" baseline="-25000" dirty="0"/>
                  <a:t>1</a:t>
                </a:r>
                <a:r>
                  <a:rPr lang="en-US" altLang="en-US" dirty="0"/>
                  <a:t> </a:t>
                </a:r>
                <a14:m>
                  <m:oMath xmlns:m="http://schemas.openxmlformats.org/officeDocument/2006/math">
                    <m:r>
                      <a:rPr lang="en-US" altLang="en-US" b="0" i="1" smtClean="0">
                        <a:latin typeface="Cambria Math" panose="02040503050406030204" pitchFamily="18" charset="0"/>
                      </a:rPr>
                      <m:t>&lt;</m:t>
                    </m:r>
                  </m:oMath>
                </a14:m>
                <a:r>
                  <a:rPr lang="en-US" altLang="en-US" dirty="0"/>
                  <a:t> </a:t>
                </a:r>
                <a:r>
                  <a:rPr lang="en-US" altLang="en-US" i="1" dirty="0"/>
                  <a:t>p</a:t>
                </a:r>
                <a:r>
                  <a:rPr lang="en-US" altLang="en-US" baseline="-25000" dirty="0"/>
                  <a:t>2</a:t>
                </a:r>
                <a:r>
                  <a:rPr lang="en-US" altLang="en-US" dirty="0"/>
                  <a:t> (one-sided test)</a:t>
                </a:r>
              </a:p>
            </p:txBody>
          </p:sp>
        </mc:Choice>
        <mc:Fallback>
          <p:sp>
            <p:nvSpPr>
              <p:cNvPr id="95234" name="Rectangle 1"/>
              <p:cNvSpPr>
                <a:spLocks noGrp="1" noRot="1" noChangeAspect="1" noMove="1" noResize="1" noEditPoints="1" noAdjustHandles="1" noChangeArrowheads="1" noChangeShapeType="1" noTextEdit="1"/>
              </p:cNvSpPr>
              <p:nvPr>
                <p:ph type="body" sz="quarter" idx="4294967295"/>
              </p:nvPr>
            </p:nvSpPr>
            <p:spPr bwMode="auto">
              <a:xfrm>
                <a:off x="617538" y="1600200"/>
                <a:ext cx="8229600" cy="4525963"/>
              </a:xfrm>
              <a:prstGeom prst="rect">
                <a:avLst/>
              </a:prstGeom>
              <a:blipFill>
                <a:blip r:embed="rId3"/>
                <a:stretch>
                  <a:fillRect l="-2148" t="-1752" r="-1111"/>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Rectangle 1"/>
          <p:cNvSpPr>
            <a:spLocks noGrp="1" noChangeArrowheads="1"/>
          </p:cNvSpPr>
          <p:nvPr>
            <p:ph type="title" idx="4294967295"/>
          </p:nvPr>
        </p:nvSpPr>
        <p:spPr bwMode="auto">
          <a:xfrm>
            <a:off x="685800" y="76200"/>
            <a:ext cx="83820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Two-Sided Significance Test for Comparing Two Population Proportions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
          <p:cNvSpPr>
            <a:spLocks noGrp="1" noChangeArrowheads="1"/>
          </p:cNvSpPr>
          <p:nvPr>
            <p:ph type="body" sz="quarter" idx="4294967295"/>
          </p:nvPr>
        </p:nvSpPr>
        <p:spPr bwMode="auto">
          <a:xfrm>
            <a:off x="763588"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3. Test Statistic:</a:t>
            </a:r>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lnSpc>
                <a:spcPct val="90000"/>
              </a:lnSpc>
              <a:spcBef>
                <a:spcPts val="875"/>
              </a:spcBef>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lnSpc>
                <a:spcPct val="90000"/>
              </a:lnSpc>
              <a:spcBef>
                <a:spcPts val="875"/>
              </a:spcBef>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a:p>
            <a:pPr marL="0" indent="3175">
              <a:lnSpc>
                <a:spcPct val="90000"/>
              </a:lnSpc>
              <a:spcBef>
                <a:spcPts val="875"/>
              </a:spcBef>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lnSpc>
                <a:spcPct val="90000"/>
              </a:lnSpc>
              <a:spcBef>
                <a:spcPts val="875"/>
              </a:spcBef>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p:txBody>
      </p:sp>
      <p:sp>
        <p:nvSpPr>
          <p:cNvPr id="97283" name="Rectangle 1"/>
          <p:cNvSpPr>
            <a:spLocks noChangeArrowheads="1"/>
          </p:cNvSpPr>
          <p:nvPr/>
        </p:nvSpPr>
        <p:spPr bwMode="auto">
          <a:xfrm>
            <a:off x="685800" y="76200"/>
            <a:ext cx="7927848" cy="1098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330033"/>
                </a:solidFill>
                <a:latin typeface="Arial" panose="020B0604020202020204" pitchFamily="34" charset="0"/>
                <a:ea typeface="+mj-ea"/>
                <a:cs typeface="+mj-cs"/>
              </a:rPr>
              <a:t>Two-Sided Significance Test for Comparing Two Population Proportions</a:t>
            </a:r>
          </a:p>
        </p:txBody>
      </p:sp>
      <p:pic>
        <p:nvPicPr>
          <p:cNvPr id="4" name="Picture 3"/>
          <p:cNvPicPr>
            <a:picLocks noChangeAspect="1"/>
          </p:cNvPicPr>
          <p:nvPr/>
        </p:nvPicPr>
        <p:blipFill>
          <a:blip r:embed="rId3"/>
          <a:stretch>
            <a:fillRect/>
          </a:stretch>
        </p:blipFill>
        <p:spPr>
          <a:xfrm>
            <a:off x="757237" y="2700337"/>
            <a:ext cx="7629525" cy="1457325"/>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1378" name="Rectangle 1"/>
              <p:cNvSpPr>
                <a:spLocks noGrp="1" noChangeArrowheads="1"/>
              </p:cNvSpPr>
              <p:nvPr>
                <p:ph type="body" sz="quarter" idx="4294967295"/>
              </p:nvPr>
            </p:nvSpPr>
            <p:spPr bwMode="auto">
              <a:xfrm>
                <a:off x="617538" y="1600200"/>
                <a:ext cx="7685214" cy="4549140"/>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457200" indent="-457200">
                  <a:buFont typeface="+mj-lt"/>
                  <a:buAutoNum type="arabicPeriod" startAt="4"/>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P-value: </a:t>
                </a:r>
                <a:r>
                  <a:rPr lang="en-US" altLang="en-US" dirty="0"/>
                  <a:t>Two-tail probability from standard normal distribution (Table A) of values even more extreme than observed </a:t>
                </a:r>
                <a:r>
                  <a:rPr lang="en-US" altLang="en-US" i="1" dirty="0"/>
                  <a:t>z</a:t>
                </a:r>
                <a:r>
                  <a:rPr lang="en-US" altLang="en-US" dirty="0"/>
                  <a:t> test statistic presuming the null hypothesis is true.</a:t>
                </a:r>
              </a:p>
              <a:p>
                <a:pPr marL="0" indent="1588">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457200" indent="-457200">
                  <a:buFont typeface="+mj-lt"/>
                  <a:buAutoNum type="arabicPeriod" startAt="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Conclusion:</a:t>
                </a:r>
                <a:r>
                  <a:rPr lang="en-US" altLang="en-US" dirty="0"/>
                  <a:t> Smaller </a:t>
                </a:r>
                <a:r>
                  <a:rPr lang="en-US" altLang="en-US" i="1" dirty="0"/>
                  <a:t>P</a:t>
                </a:r>
                <a:r>
                  <a:rPr lang="en-US" altLang="en-US" dirty="0"/>
                  <a:t>-values give stronger evidence against H</a:t>
                </a:r>
                <a:r>
                  <a:rPr lang="en-US" altLang="en-US" baseline="-25000" dirty="0"/>
                  <a:t>0</a:t>
                </a:r>
                <a:r>
                  <a:rPr lang="en-US" altLang="en-US" dirty="0"/>
                  <a:t> and supporting H</a:t>
                </a:r>
                <a:r>
                  <a:rPr lang="en-US" altLang="en-US" baseline="-25000" dirty="0"/>
                  <a:t>a</a:t>
                </a:r>
                <a:r>
                  <a:rPr lang="en-US" altLang="en-US" dirty="0"/>
                  <a:t>. Interpret the </a:t>
                </a:r>
                <a:r>
                  <a:rPr lang="en-US" altLang="en-US" i="1" dirty="0"/>
                  <a:t>P</a:t>
                </a:r>
                <a:r>
                  <a:rPr lang="en-US" altLang="en-US" dirty="0"/>
                  <a:t>-value in context. If a decision is needed, reject H</a:t>
                </a:r>
                <a:r>
                  <a:rPr lang="en-US" altLang="en-US" baseline="-25000" dirty="0"/>
                  <a:t>0</a:t>
                </a:r>
                <a:r>
                  <a:rPr lang="en-US" altLang="en-US" dirty="0"/>
                  <a:t> if </a:t>
                </a:r>
                <a:r>
                  <a:rPr lang="en-US" altLang="en-US" i="1" dirty="0"/>
                  <a:t>P</a:t>
                </a:r>
                <a:r>
                  <a:rPr lang="en-US" altLang="en-US" dirty="0"/>
                  <a:t>-value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significance level, (such as 0.05).</a:t>
                </a:r>
              </a:p>
            </p:txBody>
          </p:sp>
        </mc:Choice>
        <mc:Fallback>
          <p:sp>
            <p:nvSpPr>
              <p:cNvPr id="101378" name="Rectangle 1"/>
              <p:cNvSpPr>
                <a:spLocks noGrp="1" noRot="1" noChangeAspect="1" noMove="1" noResize="1" noEditPoints="1" noAdjustHandles="1" noChangeArrowheads="1" noChangeShapeType="1" noTextEdit="1"/>
              </p:cNvSpPr>
              <p:nvPr>
                <p:ph type="body" sz="quarter" idx="4294967295"/>
              </p:nvPr>
            </p:nvSpPr>
            <p:spPr bwMode="auto">
              <a:xfrm>
                <a:off x="617538" y="1600200"/>
                <a:ext cx="7685214" cy="4549140"/>
              </a:xfrm>
              <a:prstGeom prst="rect">
                <a:avLst/>
              </a:prstGeom>
              <a:blipFill>
                <a:blip r:embed="rId3"/>
                <a:stretch>
                  <a:fillRect l="-2220" t="-938" r="-3093"/>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1379" name="Rectangle 1"/>
          <p:cNvSpPr>
            <a:spLocks noChangeArrowheads="1"/>
          </p:cNvSpPr>
          <p:nvPr/>
        </p:nvSpPr>
        <p:spPr bwMode="auto">
          <a:xfrm>
            <a:off x="685800" y="76200"/>
            <a:ext cx="838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330033"/>
                </a:solidFill>
                <a:latin typeface="Arial" panose="020B0604020202020204" pitchFamily="34" charset="0"/>
                <a:ea typeface="+mj-ea"/>
                <a:cs typeface="+mj-cs"/>
              </a:rPr>
              <a:t>Two-Sided Significance Test for Comparing Two Population Proportions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sz="quarter" idx="4294967295"/>
          </p:nvPr>
        </p:nvSpPr>
        <p:spPr bwMode="auto">
          <a:xfrm>
            <a:off x="762000" y="1600201"/>
            <a:ext cx="7924800" cy="447141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 study considered whether greater levels of television watching by teenagers were associated with a greater likelihood of aggressive behavior.</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Researchers randomly sampled 707 families in two counties in New York state and made follow-up observations over 17 years.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103427" name="Rectangle 1"/>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Example: TV Watching and Aggressive Behavior</a:t>
            </a:r>
            <a:r>
              <a:rPr lang="en-US" altLang="en-US">
                <a:solidFill>
                  <a:srgbClr val="000000"/>
                </a:solidFill>
              </a:rPr>
              <a:t>  </a:t>
            </a:r>
            <a:endParaRPr lang="en-US" altLang="en-US" b="1">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Box 1"/>
          <p:cNvSpPr txBox="1">
            <a:spLocks noChangeArrowheads="1"/>
          </p:cNvSpPr>
          <p:nvPr/>
        </p:nvSpPr>
        <p:spPr bwMode="auto">
          <a:xfrm>
            <a:off x="1149747" y="5860151"/>
            <a:ext cx="7696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b="1" dirty="0">
                <a:solidFill>
                  <a:schemeClr val="tx1"/>
                </a:solidFill>
                <a:latin typeface="Arial" panose="020B0604020202020204" pitchFamily="34" charset="0"/>
              </a:rPr>
              <a:t>Table 10.3 TV Watching by Teenagers and Later Aggressive Acts</a:t>
            </a:r>
            <a:endParaRPr lang="en-US" altLang="en-US" sz="1600" dirty="0">
              <a:solidFill>
                <a:schemeClr val="tx1"/>
              </a:solidFill>
              <a:latin typeface="Arial" panose="020B0604020202020204" pitchFamily="34" charset="0"/>
            </a:endParaRPr>
          </a:p>
        </p:txBody>
      </p:sp>
      <p:sp>
        <p:nvSpPr>
          <p:cNvPr id="105475"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TV Watching and Aggressive Behavior</a:t>
            </a:r>
            <a:r>
              <a:rPr lang="en-US" altLang="en-US" sz="3200">
                <a:solidFill>
                  <a:srgbClr val="000000"/>
                </a:solidFill>
              </a:rPr>
              <a:t>  </a:t>
            </a:r>
            <a:endParaRPr lang="en-US" altLang="en-US" sz="3200" b="1">
              <a:solidFill>
                <a:srgbClr val="FF0000"/>
              </a:solidFill>
            </a:endParaRPr>
          </a:p>
        </p:txBody>
      </p:sp>
      <p:pic>
        <p:nvPicPr>
          <p:cNvPr id="105476" name="Picture 7" descr="Agresti_3e_Chapter10-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602" y="3351276"/>
            <a:ext cx="7616825"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45820" y="1518439"/>
            <a:ext cx="8001000" cy="1569660"/>
          </a:xfrm>
          <a:prstGeom prst="rect">
            <a:avLst/>
          </a:prstGeom>
        </p:spPr>
        <p:txBody>
          <a:bodyPr wrap="square">
            <a:spAutoFit/>
          </a:bodyPr>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solidFill>
                  <a:schemeClr val="tx1"/>
                </a:solidFill>
                <a:latin typeface="+mn-lt"/>
              </a:rPr>
              <a:t>Table 10.3 shows results about whether a sampled teenager later conducted any aggressive act against another person, according to a self-report by that person or by his or her parent.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Font typeface="Wingdings" pitchFamily="1"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Define Group 1 as those who watched less than 1 hour of TV per day, on the average, as teenagers.</a:t>
            </a:r>
          </a:p>
          <a:p>
            <a:pPr marL="0" indent="0">
              <a:buFont typeface="Wingdings" pitchFamily="1"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dirty="0"/>
          </a:p>
          <a:p>
            <a:pPr marL="0"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Define Group 2 as those who averaged at least 1 hour of TV per day, as teenagers.</a:t>
            </a:r>
          </a:p>
          <a:p>
            <a:pPr marL="0" indent="0">
              <a:lnSpc>
                <a:spcPct val="90000"/>
              </a:lnSpc>
              <a:buFont typeface="Wingdings" pitchFamily="1"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dirty="0"/>
          </a:p>
          <a:p>
            <a:pPr marL="0" indent="0">
              <a:lnSpc>
                <a:spcPct val="90000"/>
              </a:lnSpc>
              <a:buFont typeface="Wingdings" pitchFamily="1"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   </a:t>
            </a:r>
            <a:r>
              <a:rPr lang="en-US" i="1" dirty="0">
                <a:latin typeface="+mj-lt"/>
              </a:rPr>
              <a:t>	p</a:t>
            </a:r>
            <a:r>
              <a:rPr lang="en-US" baseline="-25000" dirty="0"/>
              <a:t>1 </a:t>
            </a:r>
            <a:r>
              <a:rPr lang="en-US" dirty="0"/>
              <a:t>= population proportion committing aggressive acts </a:t>
            </a:r>
          </a:p>
          <a:p>
            <a:pPr marL="0" indent="0">
              <a:lnSpc>
                <a:spcPct val="90000"/>
              </a:lnSpc>
              <a:buFont typeface="Wingdings" pitchFamily="1"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     for the lower level of TV watching.</a:t>
            </a:r>
          </a:p>
          <a:p>
            <a:pPr marL="0" indent="0">
              <a:lnSpc>
                <a:spcPct val="90000"/>
              </a:lnSpc>
              <a:buFont typeface="Wingdings" pitchFamily="1"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dirty="0"/>
          </a:p>
          <a:p>
            <a:pPr marL="0" indent="0">
              <a:lnSpc>
                <a:spcPct val="90000"/>
              </a:lnSpc>
              <a:buFont typeface="Wingdings" pitchFamily="1"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   	</a:t>
            </a:r>
            <a:r>
              <a:rPr lang="en-US" i="1" dirty="0">
                <a:latin typeface="+mj-lt"/>
              </a:rPr>
              <a:t>p</a:t>
            </a:r>
            <a:r>
              <a:rPr lang="en-US" baseline="-25000" dirty="0"/>
              <a:t>2 </a:t>
            </a:r>
            <a:r>
              <a:rPr lang="en-US" dirty="0"/>
              <a:t>= population proportion committing aggressive acts </a:t>
            </a:r>
          </a:p>
          <a:p>
            <a:pPr marL="0" indent="0">
              <a:lnSpc>
                <a:spcPct val="90000"/>
              </a:lnSpc>
              <a:buFont typeface="Wingdings" pitchFamily="1"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dirty="0"/>
              <a:t>     for the higher level of TV watching.</a:t>
            </a:r>
          </a:p>
        </p:txBody>
      </p:sp>
      <p:sp>
        <p:nvSpPr>
          <p:cNvPr id="107523"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TV Watching and Aggressive Behavior</a:t>
            </a:r>
            <a:r>
              <a:rPr lang="en-US" altLang="en-US" sz="3200">
                <a:solidFill>
                  <a:srgbClr val="000000"/>
                </a:solidFill>
              </a:rPr>
              <a:t>  </a:t>
            </a:r>
            <a:endParaRPr lang="en-US" altLang="en-US" sz="3200" b="1">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Test the </a:t>
            </a:r>
            <a:r>
              <a:rPr lang="en-US" altLang="en-US" b="1" dirty="0"/>
              <a:t>Hypotheses</a:t>
            </a:r>
            <a:r>
              <a:rPr lang="en-US" altLang="en-US" dirty="0"/>
              <a:t>:</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using a significance level of 0.05.</a:t>
            </a:r>
          </a:p>
          <a:p>
            <a:pPr marL="0" indent="3175">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i="1" dirty="0"/>
          </a:p>
          <a:p>
            <a:pPr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p:txBody>
      </p:sp>
      <p:sp>
        <p:nvSpPr>
          <p:cNvPr id="109574"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TV Watching and Aggressive Behavior</a:t>
            </a:r>
            <a:r>
              <a:rPr lang="en-US" altLang="en-US" sz="3200">
                <a:solidFill>
                  <a:srgbClr val="000000"/>
                </a:solidFill>
              </a:rPr>
              <a:t>  </a:t>
            </a:r>
            <a:endParaRPr lang="en-US" altLang="en-US" sz="3200" b="1">
              <a:solidFill>
                <a:srgbClr val="FF0000"/>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266515671"/>
              </p:ext>
            </p:extLst>
          </p:nvPr>
        </p:nvGraphicFramePr>
        <p:xfrm>
          <a:off x="1174242" y="2452661"/>
          <a:ext cx="6464300" cy="444500"/>
        </p:xfrm>
        <a:graphic>
          <a:graphicData uri="http://schemas.openxmlformats.org/presentationml/2006/ole">
            <mc:AlternateContent xmlns:mc="http://schemas.openxmlformats.org/markup-compatibility/2006">
              <mc:Choice xmlns:v="urn:schemas-microsoft-com:vml" Requires="v">
                <p:oleObj spid="_x0000_s4100" name="Equation" r:id="rId4" imgW="6464160" imgH="444240" progId="Equation.DSMT4">
                  <p:embed/>
                </p:oleObj>
              </mc:Choice>
              <mc:Fallback>
                <p:oleObj name="Equation" r:id="rId4" imgW="6464160" imgH="444240" progId="Equation.DSMT4">
                  <p:embed/>
                  <p:pic>
                    <p:nvPicPr>
                      <p:cNvPr id="0" name="Picture 3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4242" y="2452661"/>
                        <a:ext cx="64643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229147378"/>
              </p:ext>
            </p:extLst>
          </p:nvPr>
        </p:nvGraphicFramePr>
        <p:xfrm>
          <a:off x="1170014" y="4283964"/>
          <a:ext cx="3213100" cy="889000"/>
        </p:xfrm>
        <a:graphic>
          <a:graphicData uri="http://schemas.openxmlformats.org/presentationml/2006/ole">
            <mc:AlternateContent xmlns:mc="http://schemas.openxmlformats.org/markup-compatibility/2006">
              <mc:Choice xmlns:v="urn:schemas-microsoft-com:vml" Requires="v">
                <p:oleObj spid="_x0000_s4101" name="Equation" r:id="rId6" imgW="3213000" imgH="888840" progId="Equation.DSMT4">
                  <p:embed/>
                </p:oleObj>
              </mc:Choice>
              <mc:Fallback>
                <p:oleObj name="Equation" r:id="rId6" imgW="3213000" imgH="888840" progId="Equation.DSMT4">
                  <p:embed/>
                  <p:pic>
                    <p:nvPicPr>
                      <p:cNvPr id="0" name="Picture 3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0014" y="4283964"/>
                        <a:ext cx="32131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Standard Error:  </a:t>
            </a:r>
          </a:p>
          <a:p>
            <a:pPr marL="0" indent="3175">
              <a:buSzPct val="15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Sz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buSz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Sz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Sz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Test Statistic:</a:t>
            </a:r>
          </a:p>
          <a:p>
            <a:pPr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p:txBody>
      </p:sp>
      <p:sp>
        <p:nvSpPr>
          <p:cNvPr id="109574"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TV Watching and Aggressive Behavior</a:t>
            </a:r>
            <a:r>
              <a:rPr lang="en-US" altLang="en-US" sz="3200">
                <a:solidFill>
                  <a:srgbClr val="000000"/>
                </a:solidFill>
              </a:rPr>
              <a:t>  </a:t>
            </a:r>
            <a:endParaRPr lang="en-US" altLang="en-US" sz="3200" b="1">
              <a:solidFill>
                <a:srgbClr val="FF0000"/>
              </a:solidFill>
            </a:endParaRPr>
          </a:p>
        </p:txBody>
      </p:sp>
      <p:pic>
        <p:nvPicPr>
          <p:cNvPr id="2" name="Picture 1"/>
          <p:cNvPicPr>
            <a:picLocks noChangeAspect="1"/>
          </p:cNvPicPr>
          <p:nvPr/>
        </p:nvPicPr>
        <p:blipFill>
          <a:blip r:embed="rId3"/>
          <a:stretch>
            <a:fillRect/>
          </a:stretch>
        </p:blipFill>
        <p:spPr>
          <a:xfrm>
            <a:off x="457200" y="2385625"/>
            <a:ext cx="8147304" cy="1163901"/>
          </a:xfrm>
          <a:prstGeom prst="rect">
            <a:avLst/>
          </a:prstGeom>
        </p:spPr>
      </p:pic>
      <p:pic>
        <p:nvPicPr>
          <p:cNvPr id="3" name="Picture 2"/>
          <p:cNvPicPr>
            <a:picLocks noChangeAspect="1"/>
          </p:cNvPicPr>
          <p:nvPr/>
        </p:nvPicPr>
        <p:blipFill>
          <a:blip r:embed="rId4"/>
          <a:stretch>
            <a:fillRect/>
          </a:stretch>
        </p:blipFill>
        <p:spPr>
          <a:xfrm>
            <a:off x="781124" y="4672584"/>
            <a:ext cx="7978140" cy="851513"/>
          </a:xfrm>
          <a:prstGeom prst="rect">
            <a:avLst/>
          </a:prstGeom>
        </p:spPr>
      </p:pic>
    </p:spTree>
    <p:extLst>
      <p:ext uri="{BB962C8B-B14F-4D97-AF65-F5344CB8AC3E}">
        <p14:creationId xmlns:p14="http://schemas.microsoft.com/office/powerpoint/2010/main" val="41406122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3666"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ln>
                <a:noFill/>
                <a:miter lim="800000"/>
                <a:headEnd/>
                <a:tailEnd/>
              </a:ln>
            </p:spPr>
            <p:txBody>
              <a:bodyPr lIns="0" rIns="0"/>
              <a:lstStyle/>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Conclusion:</a:t>
                </a:r>
                <a:r>
                  <a:rPr lang="en-US" altLang="en-US" dirty="0"/>
                  <a:t> </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a:p>
                <a:pPr marL="0" indent="31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Since the P-value is less than 0.05, we reject H</a:t>
                </a:r>
                <a:r>
                  <a:rPr lang="en-US" altLang="en-US" baseline="-25000" dirty="0"/>
                  <a:t>0</a:t>
                </a:r>
                <a:r>
                  <a:rPr lang="en-US" altLang="en-US" dirty="0"/>
                  <a:t>.</a:t>
                </a:r>
                <a:endParaRPr lang="en-US" altLang="en-US" baseline="-25000" dirty="0"/>
              </a:p>
              <a:p>
                <a:pPr marL="0" indent="31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aseline="-25000" dirty="0"/>
              </a:p>
              <a:p>
                <a:pPr marL="0" indent="31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We support H</a:t>
                </a:r>
                <a:r>
                  <a:rPr lang="en-US" altLang="en-US" i="1" baseline="-25000" dirty="0">
                    <a:latin typeface="+mj-lt"/>
                  </a:rPr>
                  <a:t>a</a:t>
                </a:r>
                <a:r>
                  <a:rPr lang="en-US" altLang="en-US" dirty="0"/>
                  <a:t>: </a:t>
                </a:r>
                <a:r>
                  <a:rPr lang="en-US" altLang="en-US" i="1" dirty="0">
                    <a:latin typeface="+mj-lt"/>
                  </a:rPr>
                  <a:t>p</a:t>
                </a:r>
                <a:r>
                  <a:rPr lang="en-US" altLang="en-US" baseline="-25000" dirty="0"/>
                  <a:t>1</a:t>
                </a:r>
                <a:r>
                  <a:rPr lang="en-US" altLang="en-US" dirty="0"/>
                  <a:t>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a:t>
                </a:r>
                <a:r>
                  <a:rPr lang="en-US" altLang="en-US" i="1" dirty="0">
                    <a:latin typeface="+mj-lt"/>
                  </a:rPr>
                  <a:t>p</a:t>
                </a:r>
                <a:r>
                  <a:rPr lang="en-US" altLang="en-US" baseline="-25000" dirty="0"/>
                  <a:t>2</a:t>
                </a:r>
                <a:r>
                  <a:rPr lang="en-US" altLang="en-US" dirty="0"/>
                  <a:t>, and conclude that the </a:t>
                </a:r>
              </a:p>
              <a:p>
                <a:pPr marL="0" indent="31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population proportions of aggressive acts differ for the </a:t>
                </a:r>
              </a:p>
              <a:p>
                <a:pPr marL="0" indent="31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two groups.</a:t>
                </a:r>
              </a:p>
              <a:p>
                <a:pPr marL="0" indent="31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The sample values suggest that the population </a:t>
                </a:r>
              </a:p>
              <a:p>
                <a:pPr marL="0" indent="31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proportion is higher for the higher level of TV watching.</a:t>
                </a:r>
              </a:p>
            </p:txBody>
          </p:sp>
        </mc:Choice>
        <mc:Fallback xmlns="">
          <p:sp>
            <p:nvSpPr>
              <p:cNvPr id="113666" name="Rectangle 1"/>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3" cstate="print"/>
                <a:stretch>
                  <a:fillRect l="-2222" t="-1752"/>
                </a:stretch>
              </a:blipFill>
              <a:ln>
                <a:noFill/>
                <a:miter lim="800000"/>
                <a:headEnd/>
                <a:tailEnd/>
              </a:ln>
            </p:spPr>
            <p:txBody>
              <a:bodyPr/>
              <a:lstStyle/>
              <a:p>
                <a:r>
                  <a:rPr lang="en-US">
                    <a:noFill/>
                  </a:rPr>
                  <a:t> </a:t>
                </a:r>
              </a:p>
            </p:txBody>
          </p:sp>
        </mc:Fallback>
      </mc:AlternateContent>
      <p:sp>
        <p:nvSpPr>
          <p:cNvPr id="113667"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TV Watching and Aggressive Behavior</a:t>
            </a:r>
            <a:r>
              <a:rPr lang="en-US" altLang="en-US" sz="3200">
                <a:solidFill>
                  <a:srgbClr val="000000"/>
                </a:solidFill>
              </a:rPr>
              <a:t>  </a:t>
            </a:r>
            <a:endParaRPr lang="en-US" altLang="en-US" sz="3200" b="1">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ln>
            <a:noFill/>
            <a:miter lim="800000"/>
            <a:headEnd/>
            <a:tailEnd/>
          </a:ln>
        </p:spPr>
        <p:txBody>
          <a:bodyPr lIns="0" rIns="0"/>
          <a:lstStyle/>
          <a:p>
            <a:pPr marL="0" indent="0"/>
            <a:r>
              <a:rPr lang="en-US" dirty="0"/>
              <a:t>Two groups are called (statistically) significantly different if a test based on comparing the two population parameters results in a significant result, i.e., a small P-value.</a:t>
            </a:r>
            <a:endParaRPr lang="en-US" altLang="en-US" dirty="0"/>
          </a:p>
        </p:txBody>
      </p:sp>
      <p:sp>
        <p:nvSpPr>
          <p:cNvPr id="113667"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Significant Difference</a:t>
            </a:r>
            <a:endParaRPr lang="en-US" altLang="en-US" sz="3200" b="1" dirty="0">
              <a:solidFill>
                <a:srgbClr val="FF0000"/>
              </a:solidFill>
            </a:endParaRPr>
          </a:p>
        </p:txBody>
      </p:sp>
    </p:spTree>
    <p:extLst>
      <p:ext uri="{BB962C8B-B14F-4D97-AF65-F5344CB8AC3E}">
        <p14:creationId xmlns:p14="http://schemas.microsoft.com/office/powerpoint/2010/main" val="9951492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
          <p:cNvSpPr>
            <a:spLocks noGrp="1" noChangeArrowheads="1"/>
          </p:cNvSpPr>
          <p:nvPr>
            <p:ph type="body" sz="quarter" idx="4294967295"/>
          </p:nvPr>
        </p:nvSpPr>
        <p:spPr bwMode="auto">
          <a:xfrm>
            <a:off x="617220" y="1600200"/>
            <a:ext cx="8229600" cy="4525963"/>
          </a:xfrm>
          <a:prstGeom prst="rect">
            <a:avLst/>
          </a:prstGeom>
          <a:solidFill>
            <a:srgbClr val="FFFFFF"/>
          </a:solidFill>
          <a:ln>
            <a:noFill/>
            <a:miter lim="800000"/>
            <a:headEnd/>
            <a:tailEnd/>
          </a:ln>
        </p:spPr>
        <p:txBody>
          <a:bodyPr lIns="0" rIns="0"/>
          <a:lstStyle/>
          <a:p>
            <a:pPr marL="0" indent="0"/>
            <a:r>
              <a:rPr lang="en-US" b="1" dirty="0"/>
              <a:t>Standard Error of the Difference Between Two Estimates</a:t>
            </a:r>
          </a:p>
          <a:p>
            <a:pPr marL="0" indent="0"/>
            <a:endParaRPr lang="en-US" altLang="en-US" dirty="0"/>
          </a:p>
          <a:p>
            <a:pPr marL="0" indent="0"/>
            <a:r>
              <a:rPr lang="en-US" dirty="0"/>
              <a:t>For two estimates from independent samples, the standard error is</a:t>
            </a:r>
          </a:p>
          <a:p>
            <a:pPr marL="0" indent="0"/>
            <a:endParaRPr lang="en-US" altLang="en-US" dirty="0"/>
          </a:p>
        </p:txBody>
      </p:sp>
      <p:sp>
        <p:nvSpPr>
          <p:cNvPr id="113667"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The Standard Error for Comparing Two Statistics</a:t>
            </a:r>
            <a:endParaRPr lang="en-US" altLang="en-US" sz="3200" b="1" dirty="0">
              <a:solidFill>
                <a:srgbClr val="FF0000"/>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375090416"/>
              </p:ext>
            </p:extLst>
          </p:nvPr>
        </p:nvGraphicFramePr>
        <p:xfrm>
          <a:off x="647700" y="3455988"/>
          <a:ext cx="8153400" cy="584200"/>
        </p:xfrm>
        <a:graphic>
          <a:graphicData uri="http://schemas.openxmlformats.org/presentationml/2006/ole">
            <mc:AlternateContent xmlns:mc="http://schemas.openxmlformats.org/markup-compatibility/2006">
              <mc:Choice xmlns:v="urn:schemas-microsoft-com:vml" Requires="v">
                <p:oleObj spid="_x0000_s5123" name="Equation" r:id="rId4" imgW="8153280" imgH="583920" progId="Equation.DSMT4">
                  <p:embed/>
                </p:oleObj>
              </mc:Choice>
              <mc:Fallback>
                <p:oleObj name="Equation" r:id="rId4" imgW="8153280" imgH="583920" progId="Equation.DSMT4">
                  <p:embed/>
                  <p:pic>
                    <p:nvPicPr>
                      <p:cNvPr id="0" name="Picture 1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 y="3455988"/>
                        <a:ext cx="81534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61355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body" sz="quarter" idx="4294967295"/>
          </p:nvPr>
        </p:nvSpPr>
        <p:spPr bwMode="auto">
          <a:xfrm>
            <a:off x="762000" y="1600201"/>
            <a:ext cx="7540752" cy="4393691"/>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We can compare two groups on a </a:t>
            </a:r>
            <a:r>
              <a:rPr lang="en-US" altLang="en-US" b="1" i="1" dirty="0"/>
              <a:t>quantitative response variable</a:t>
            </a:r>
            <a:r>
              <a:rPr lang="en-US" altLang="en-US" dirty="0"/>
              <a:t> by comparing their </a:t>
            </a:r>
            <a:r>
              <a:rPr lang="en-US" altLang="en-US" i="1" dirty="0"/>
              <a:t>means.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i="1"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What does the difference between the sample means tell us about the difference between the population means?</a:t>
            </a:r>
          </a:p>
        </p:txBody>
      </p:sp>
      <p:sp>
        <p:nvSpPr>
          <p:cNvPr id="117763" name="Rectangle 1"/>
          <p:cNvSpPr>
            <a:spLocks noGrp="1" noChangeArrowheads="1"/>
          </p:cNvSpPr>
          <p:nvPr>
            <p:ph type="title" idx="4294967295"/>
          </p:nvPr>
        </p:nvSpPr>
        <p:spPr bwMode="auto">
          <a:xfrm>
            <a:off x="762000" y="76200"/>
            <a:ext cx="80010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Comparing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sz="quarter" idx="4294967295"/>
          </p:nvPr>
        </p:nvSpPr>
        <p:spPr bwMode="auto">
          <a:xfrm>
            <a:off x="762000" y="1600200"/>
            <a:ext cx="7924800"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Participants randomly split into two groups:</a:t>
            </a:r>
          </a:p>
          <a:p>
            <a:pPr marL="40322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One group read a short generic text about the effectiveness of a drug.</a:t>
            </a:r>
          </a:p>
          <a:p>
            <a:pPr marL="403225">
              <a:lnSpc>
                <a:spcPct val="90000"/>
              </a:lnSpc>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other group read the same text, accompanied by a basic bar graph that mirrored the text.</a:t>
            </a:r>
          </a:p>
          <a:p>
            <a:pPr marL="403225">
              <a:lnSpc>
                <a:spcPct val="90000"/>
              </a:lnSpc>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Participants rated the perceived effectiveness of the drug on a 9-point scale (1- not at all and 9 - very effective).</a:t>
            </a:r>
          </a:p>
        </p:txBody>
      </p:sp>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dirty="0"/>
          </a:p>
          <a:p>
            <a:pPr marL="60325" indent="0" algn="ctr">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dirty="0"/>
              <a:t>Table 10.5 Summary for Ratings on Perceived Effectiveness of Medication</a:t>
            </a:r>
            <a:endParaRPr lang="en-US" altLang="en-US" sz="1600" b="1" dirty="0"/>
          </a:p>
        </p:txBody>
      </p:sp>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352" y="1573358"/>
            <a:ext cx="8083296" cy="2020824"/>
          </a:xfrm>
          <a:prstGeom prst="rect">
            <a:avLst/>
          </a:prstGeom>
        </p:spPr>
      </p:pic>
    </p:spTree>
    <p:extLst>
      <p:ext uri="{BB962C8B-B14F-4D97-AF65-F5344CB8AC3E}">
        <p14:creationId xmlns:p14="http://schemas.microsoft.com/office/powerpoint/2010/main" val="166067605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60325" indent="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9837" y="2418588"/>
            <a:ext cx="4124325" cy="2286000"/>
          </a:xfrm>
          <a:prstGeom prst="rect">
            <a:avLst/>
          </a:prstGeom>
        </p:spPr>
      </p:pic>
      <p:sp>
        <p:nvSpPr>
          <p:cNvPr id="5" name="Rectangle 4"/>
          <p:cNvSpPr/>
          <p:nvPr/>
        </p:nvSpPr>
        <p:spPr>
          <a:xfrm>
            <a:off x="918972" y="4876766"/>
            <a:ext cx="7539228" cy="584775"/>
          </a:xfrm>
          <a:prstGeom prst="rect">
            <a:avLst/>
          </a:prstGeom>
        </p:spPr>
        <p:txBody>
          <a:bodyPr wrap="square">
            <a:spAutoFit/>
          </a:bodyPr>
          <a:lstStyle/>
          <a:p>
            <a:r>
              <a:rPr lang="en-US" sz="1600" b="1" dirty="0">
                <a:solidFill>
                  <a:schemeClr val="tx1"/>
                </a:solidFill>
                <a:latin typeface="HelveticaNeueLTPro-Hv"/>
              </a:rPr>
              <a:t>Figure 10.4 </a:t>
            </a:r>
            <a:r>
              <a:rPr lang="en-US" sz="1600" b="1" dirty="0">
                <a:solidFill>
                  <a:schemeClr val="tx1"/>
                </a:solidFill>
                <a:latin typeface="HelveticaNeueLTPro-Md"/>
              </a:rPr>
              <a:t>Side-by-Side Box Plots Showing the Distribution of Ratings in</a:t>
            </a:r>
          </a:p>
          <a:p>
            <a:r>
              <a:rPr lang="en-US" sz="1600" b="1" dirty="0">
                <a:solidFill>
                  <a:schemeClr val="tx1"/>
                </a:solidFill>
                <a:latin typeface="HelveticaNeueLTPro-Md"/>
              </a:rPr>
              <a:t>the Two Groups. Question </a:t>
            </a:r>
            <a:r>
              <a:rPr lang="en-US" sz="1600" dirty="0">
                <a:solidFill>
                  <a:schemeClr val="tx1"/>
                </a:solidFill>
                <a:latin typeface="HelveticaNeueLTPro-Lt"/>
              </a:rPr>
              <a:t>What other graph would you like to see?</a:t>
            </a:r>
            <a:endParaRPr lang="en-US" sz="1600" dirty="0">
              <a:solidFill>
                <a:schemeClr val="tx1"/>
              </a:solidFill>
            </a:endParaRPr>
          </a:p>
        </p:txBody>
      </p:sp>
    </p:spTree>
    <p:extLst>
      <p:ext uri="{BB962C8B-B14F-4D97-AF65-F5344CB8AC3E}">
        <p14:creationId xmlns:p14="http://schemas.microsoft.com/office/powerpoint/2010/main" val="3926490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sz="quarter" idx="4294967295"/>
          </p:nvPr>
        </p:nvSpPr>
        <p:spPr bwMode="auto">
          <a:xfrm>
            <a:off x="530352" y="1563624"/>
            <a:ext cx="7924800" cy="45491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How can we compare the ratings between the group that saw the text and the graph and the group that just saw the text?</a:t>
            </a:r>
          </a:p>
          <a:p>
            <a:pPr marL="0" indent="0"/>
            <a:endParaRPr lang="en-US" altLang="en-US" dirty="0"/>
          </a:p>
          <a:p>
            <a:pPr marL="0" indent="0"/>
            <a:r>
              <a:rPr lang="en-US" dirty="0"/>
              <a:t>One way to compare the two groups compares the mean ratings by looking at their difference. </a:t>
            </a:r>
          </a:p>
          <a:p>
            <a:pPr>
              <a:buFont typeface="Wingdings" panose="05000000000000000000" pitchFamily="2" charset="2"/>
              <a:buChar char="§"/>
            </a:pPr>
            <a:r>
              <a:rPr lang="en-US" dirty="0"/>
              <a:t>Group 1 is the one that read the text and saw the graph.</a:t>
            </a:r>
          </a:p>
          <a:p>
            <a:pPr>
              <a:buFont typeface="Wingdings" panose="05000000000000000000" pitchFamily="2" charset="2"/>
              <a:buChar char="§"/>
            </a:pPr>
            <a:r>
              <a:rPr lang="en-US" dirty="0"/>
              <a:t>Group 2 is the one that just read the text.</a:t>
            </a:r>
            <a:endParaRPr lang="en-US" altLang="en-US" dirty="0"/>
          </a:p>
        </p:txBody>
      </p:sp>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spTree>
    <p:extLst>
      <p:ext uri="{BB962C8B-B14F-4D97-AF65-F5344CB8AC3E}">
        <p14:creationId xmlns:p14="http://schemas.microsoft.com/office/powerpoint/2010/main" val="38930742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9810" name="Rectangle 2"/>
              <p:cNvSpPr>
                <a:spLocks noGrp="1" noChangeArrowheads="1"/>
              </p:cNvSpPr>
              <p:nvPr>
                <p:ph type="body" sz="quarter" idx="4294967295"/>
              </p:nvPr>
            </p:nvSpPr>
            <p:spPr bwMode="auto">
              <a:xfrm>
                <a:off x="762000" y="1600201"/>
                <a:ext cx="8157972" cy="4471416"/>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dirty="0"/>
                  <a:t>The sample mean rating is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baseline="-25000" smtClean="0">
                        <a:latin typeface="Cambria Math" panose="02040503050406030204" pitchFamily="18" charset="0"/>
                      </a:rPr>
                      <m:t>1</m:t>
                    </m:r>
                    <m:r>
                      <a:rPr lang="en-US" b="0" i="1" smtClean="0">
                        <a:latin typeface="Cambria Math" panose="02040503050406030204" pitchFamily="18" charset="0"/>
                      </a:rPr>
                      <m:t>=</m:t>
                    </m:r>
                  </m:oMath>
                </a14:m>
                <a:r>
                  <a:rPr lang="en-US" altLang="en-US" dirty="0"/>
                  <a:t> </a:t>
                </a:r>
                <a:r>
                  <a:rPr lang="en-US" altLang="en-US" dirty="0">
                    <a:latin typeface="+mj-lt"/>
                  </a:rPr>
                  <a:t>6.83</a:t>
                </a:r>
                <a:r>
                  <a:rPr lang="en-US" altLang="en-US" dirty="0"/>
                  <a:t> in Group 1 and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b="0" i="1" baseline="-25000" smtClean="0">
                        <a:latin typeface="Cambria Math" panose="02040503050406030204" pitchFamily="18" charset="0"/>
                      </a:rPr>
                      <m:t>2</m:t>
                    </m:r>
                    <m:r>
                      <a:rPr lang="en-US" i="1" smtClean="0">
                        <a:latin typeface="Cambria Math" panose="02040503050406030204" pitchFamily="18" charset="0"/>
                      </a:rPr>
                      <m:t>=</m:t>
                    </m:r>
                    <m:r>
                      <m:rPr>
                        <m:nor/>
                      </m:rPr>
                      <a:rPr lang="en-US" b="0" i="0" dirty="0" smtClean="0">
                        <a:latin typeface="+mj-lt"/>
                      </a:rPr>
                      <m:t>6.13</m:t>
                    </m:r>
                    <m:r>
                      <m:rPr>
                        <m:nor/>
                      </m:rPr>
                      <a:rPr lang="en-US" b="0" i="0" dirty="0" smtClean="0"/>
                      <m:t> </m:t>
                    </m:r>
                    <m:r>
                      <m:rPr>
                        <m:nor/>
                      </m:rPr>
                      <a:rPr lang="en-US" b="0" i="0" dirty="0" smtClean="0"/>
                      <m:t>in</m:t>
                    </m:r>
                    <m:r>
                      <m:rPr>
                        <m:nor/>
                      </m:rPr>
                      <a:rPr lang="en-US" b="0" i="0" dirty="0" smtClean="0"/>
                      <m:t> </m:t>
                    </m:r>
                    <m:r>
                      <m:rPr>
                        <m:nor/>
                      </m:rPr>
                      <a:rPr lang="en-US" b="0" i="0" dirty="0" smtClean="0"/>
                      <m:t>Group</m:t>
                    </m:r>
                    <m:r>
                      <m:rPr>
                        <m:nor/>
                      </m:rPr>
                      <a:rPr lang="en-US" b="0" i="0" dirty="0" smtClean="0"/>
                      <m:t> 2, </m:t>
                    </m:r>
                    <m:r>
                      <m:rPr>
                        <m:nor/>
                      </m:rPr>
                      <a:rPr lang="en-US" b="0" i="0" dirty="0" smtClean="0"/>
                      <m:t>resulting</m:t>
                    </m:r>
                    <m:r>
                      <m:rPr>
                        <m:nor/>
                      </m:rPr>
                      <a:rPr lang="en-US" b="0" i="0" dirty="0" smtClean="0"/>
                      <m:t> </m:t>
                    </m:r>
                    <m:r>
                      <m:rPr>
                        <m:nor/>
                      </m:rPr>
                      <a:rPr lang="en-US" b="0" i="0" dirty="0" smtClean="0"/>
                      <m:t>in</m:t>
                    </m:r>
                    <m:r>
                      <m:rPr>
                        <m:nor/>
                      </m:rPr>
                      <a:rPr lang="en-US" b="0" i="0" dirty="0" smtClean="0"/>
                      <m:t> </m:t>
                    </m:r>
                    <m:r>
                      <m:rPr>
                        <m:nor/>
                      </m:rPr>
                      <a:rPr lang="en-US" b="0" i="0" dirty="0" smtClean="0"/>
                      <m:t>a</m:t>
                    </m:r>
                    <m:r>
                      <m:rPr>
                        <m:nor/>
                      </m:rPr>
                      <a:rPr lang="en-US" b="0" i="0" dirty="0" smtClean="0"/>
                      <m:t> </m:t>
                    </m:r>
                    <m:r>
                      <m:rPr>
                        <m:nor/>
                      </m:rPr>
                      <a:rPr lang="en-US" b="0" i="0" dirty="0" smtClean="0"/>
                      <m:t>difference</m:t>
                    </m:r>
                    <m:r>
                      <m:rPr>
                        <m:nor/>
                      </m:rPr>
                      <a:rPr lang="en-US" b="0" i="0" dirty="0" smtClean="0"/>
                      <m:t> </m:t>
                    </m:r>
                    <m:r>
                      <m:rPr>
                        <m:nor/>
                      </m:rPr>
                      <a:rPr lang="en-US" b="0" i="0" dirty="0" smtClean="0"/>
                      <m:t>of</m:t>
                    </m:r>
                    <m:r>
                      <a:rPr lang="en-US" b="0" i="0" dirty="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baseline="-25000">
                        <a:latin typeface="Cambria Math" panose="02040503050406030204" pitchFamily="18" charset="0"/>
                      </a:rPr>
                      <m:t>1</m:t>
                    </m:r>
                    <m:r>
                      <m:rPr>
                        <m:nor/>
                      </m:rPr>
                      <a:rPr lang="en-US" altLang="en-US" dirty="0"/>
                      <m:t>–</m:t>
                    </m:r>
                    <m:r>
                      <a:rPr lang="en-US" altLang="en-US" b="0" i="1" dirty="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b="0" i="1" baseline="-25000" smtClean="0">
                        <a:latin typeface="Cambria Math" panose="02040503050406030204" pitchFamily="18" charset="0"/>
                      </a:rPr>
                      <m:t>2</m:t>
                    </m:r>
                    <m:r>
                      <a:rPr lang="en-US" i="1">
                        <a:latin typeface="Cambria Math" panose="02040503050406030204" pitchFamily="18" charset="0"/>
                      </a:rPr>
                      <m:t>=</m:t>
                    </m:r>
                  </m:oMath>
                </a14:m>
                <a:r>
                  <a:rPr lang="en-US" altLang="en-US" dirty="0"/>
                  <a:t> </a:t>
                </a:r>
                <a:r>
                  <a:rPr lang="en-US" altLang="en-US" dirty="0">
                    <a:latin typeface="+mj-lt"/>
                  </a:rPr>
                  <a:t>6.83 – 6.13 = 0.7</a:t>
                </a:r>
                <a:r>
                  <a:rPr lang="en-US" altLang="en-US" dirty="0"/>
                  <a:t>.</a:t>
                </a:r>
              </a:p>
              <a:p>
                <a:pPr marL="0" indent="0"/>
                <a:endParaRPr lang="en-US" altLang="en-US" dirty="0"/>
              </a:p>
              <a:p>
                <a:pPr marL="0" indent="0"/>
                <a:endParaRPr lang="en-US" altLang="en-US" dirty="0"/>
              </a:p>
              <a:p>
                <a:pPr marL="0" indent="0"/>
                <a:endParaRPr lang="en-US" altLang="en-US" dirty="0"/>
              </a:p>
              <a:p>
                <a:pPr marL="0" indent="0"/>
                <a:endParaRPr lang="en-US" altLang="en-US" dirty="0"/>
              </a:p>
              <a:p>
                <a:pPr marL="0" indent="0"/>
                <a:endParaRPr lang="en-US" altLang="en-US" dirty="0"/>
              </a:p>
              <a:p>
                <a:pPr marL="0" indent="0"/>
                <a:endParaRPr lang="en-US" altLang="en-US" dirty="0"/>
              </a:p>
            </p:txBody>
          </p:sp>
        </mc:Choice>
        <mc:Fallback>
          <p:sp>
            <p:nvSpPr>
              <p:cNvPr id="119810" name="Rectangle 2"/>
              <p:cNvSpPr>
                <a:spLocks noGrp="1" noRot="1" noChangeAspect="1" noMove="1" noResize="1" noEditPoints="1" noAdjustHandles="1" noChangeArrowheads="1" noChangeShapeType="1" noTextEdit="1"/>
              </p:cNvSpPr>
              <p:nvPr>
                <p:ph type="body" sz="quarter" idx="4294967295"/>
              </p:nvPr>
            </p:nvSpPr>
            <p:spPr bwMode="auto">
              <a:xfrm>
                <a:off x="762000" y="1600201"/>
                <a:ext cx="8157972" cy="4471416"/>
              </a:xfrm>
              <a:prstGeom prst="rect">
                <a:avLst/>
              </a:prstGeom>
              <a:blipFill>
                <a:blip r:embed="rId3"/>
                <a:stretch>
                  <a:fillRect l="-2242" t="-1091"/>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2764542"/>
            <a:ext cx="8083296" cy="2020824"/>
          </a:xfrm>
          <a:prstGeom prst="rect">
            <a:avLst/>
          </a:prstGeom>
        </p:spPr>
      </p:pic>
      <p:sp>
        <p:nvSpPr>
          <p:cNvPr id="2" name="Rectangle 1"/>
          <p:cNvSpPr/>
          <p:nvPr/>
        </p:nvSpPr>
        <p:spPr>
          <a:xfrm>
            <a:off x="962406" y="4785366"/>
            <a:ext cx="7072884" cy="313932"/>
          </a:xfrm>
          <a:prstGeom prst="rect">
            <a:avLst/>
          </a:prstGeom>
        </p:spPr>
        <p:txBody>
          <a:bodyPr wrap="square">
            <a:spAutoFit/>
          </a:bodyPr>
          <a:lstStyle/>
          <a:p>
            <a:pPr marL="60325" indent="0" algn="ctr">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dirty="0">
                <a:solidFill>
                  <a:schemeClr val="tx1"/>
                </a:solidFill>
              </a:rPr>
              <a:t>Table 10.5 Summary for Ratings on Perceived Effectiveness of Medication</a:t>
            </a:r>
            <a:endParaRPr lang="en-US" altLang="en-US" sz="1600" b="1" dirty="0">
              <a:solidFill>
                <a:schemeClr val="tx1"/>
              </a:solidFill>
            </a:endParaRPr>
          </a:p>
        </p:txBody>
      </p:sp>
    </p:spTree>
    <p:extLst>
      <p:ext uri="{BB962C8B-B14F-4D97-AF65-F5344CB8AC3E}">
        <p14:creationId xmlns:p14="http://schemas.microsoft.com/office/powerpoint/2010/main" val="25927085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sz="quarter" idx="4294967295"/>
          </p:nvPr>
        </p:nvSpPr>
        <p:spPr bwMode="auto">
          <a:xfrm>
            <a:off x="762000" y="1600201"/>
            <a:ext cx="8157972" cy="447141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In this experiment, the mean rating on the perceived effectiveness of the medication is 0.7 points higher in the group that also saw the graph.</a:t>
            </a:r>
          </a:p>
          <a:p>
            <a:endParaRPr lang="en-US" altLang="en-US" dirty="0"/>
          </a:p>
          <a:p>
            <a:r>
              <a:rPr lang="en-US" dirty="0"/>
              <a:t>This analysis uses descriptive statistics only.</a:t>
            </a:r>
            <a:endParaRPr lang="en-US" altLang="en-US" dirty="0"/>
          </a:p>
        </p:txBody>
      </p:sp>
      <p:sp>
        <p:nvSpPr>
          <p:cNvPr id="119811" name="Rectangle 1"/>
          <p:cNvSpPr>
            <a:spLocks noChangeArrowheads="1"/>
          </p:cNvSpPr>
          <p:nvPr/>
        </p:nvSpPr>
        <p:spPr bwMode="auto">
          <a:xfrm>
            <a:off x="762000" y="459041"/>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rgbClr val="000000"/>
                </a:solidFill>
                <a:latin typeface="Arial" panose="020B0604020202020204" pitchFamily="34" charset="0"/>
              </a:rPr>
              <a:t>Example: A Graph Is Worth A Thousand Words</a:t>
            </a:r>
          </a:p>
        </p:txBody>
      </p:sp>
    </p:spTree>
    <p:extLst>
      <p:ext uri="{BB962C8B-B14F-4D97-AF65-F5344CB8AC3E}">
        <p14:creationId xmlns:p14="http://schemas.microsoft.com/office/powerpoint/2010/main" val="18690354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9810" name="Rectangle 2"/>
              <p:cNvSpPr>
                <a:spLocks noGrp="1" noChangeArrowheads="1"/>
              </p:cNvSpPr>
              <p:nvPr>
                <p:ph type="body" sz="quarter" idx="4294967295"/>
              </p:nvPr>
            </p:nvSpPr>
            <p:spPr bwMode="auto">
              <a:xfrm>
                <a:off x="374904" y="1600200"/>
                <a:ext cx="8545068"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dirty="0"/>
                  <a:t>For two independent random samples of size </a:t>
                </a:r>
                <a:r>
                  <a:rPr lang="en-US" i="1" dirty="0"/>
                  <a:t>n</a:t>
                </a:r>
                <a:r>
                  <a:rPr lang="en-US" baseline="-25000" dirty="0"/>
                  <a:t>1</a:t>
                </a:r>
                <a:r>
                  <a:rPr lang="en-US" dirty="0"/>
                  <a:t> and </a:t>
                </a:r>
                <a:r>
                  <a:rPr lang="en-US" i="1" dirty="0"/>
                  <a:t>n</a:t>
                </a:r>
                <a:r>
                  <a:rPr lang="en-US" baseline="-25000" dirty="0"/>
                  <a:t>2</a:t>
                </a:r>
                <a:r>
                  <a:rPr lang="en-US" dirty="0"/>
                  <a:t> from two groups with population means </a:t>
                </a:r>
                <a14:m>
                  <m:oMath xmlns:m="http://schemas.openxmlformats.org/officeDocument/2006/math">
                    <m:r>
                      <m:rPr>
                        <m:sty m:val="p"/>
                      </m:rPr>
                      <a:rPr lang="en-US" i="0" smtClean="0">
                        <a:latin typeface="Cambria Math" panose="02040503050406030204" pitchFamily="18" charset="0"/>
                        <a:ea typeface="Cambria Math" panose="02040503050406030204" pitchFamily="18" charset="0"/>
                      </a:rPr>
                      <m:t>μ</m:t>
                    </m:r>
                  </m:oMath>
                </a14:m>
                <a:r>
                  <a:rPr lang="en-US" baseline="-25000" dirty="0"/>
                  <a:t>1</a:t>
                </a:r>
                <a:r>
                  <a:rPr lang="en-US" dirty="0"/>
                  <a:t> and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2</a:t>
                </a:r>
                <a:r>
                  <a:rPr lang="en-US" dirty="0"/>
                  <a:t> and population standard deviations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baseline="-25000" dirty="0"/>
                  <a:t>1</a:t>
                </a:r>
                <a:r>
                  <a:rPr lang="en-US" dirty="0"/>
                  <a:t> and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baseline="-25000" dirty="0"/>
                  <a:t>2</a:t>
                </a:r>
                <a:r>
                  <a:rPr lang="en-US" dirty="0"/>
                  <a:t>, the sampling distribution of the difference in the sample means has mean =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1 </a:t>
                </a:r>
                <a:r>
                  <a:rPr lang="en-US" dirty="0"/>
                  <a:t>–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2</a:t>
                </a:r>
                <a:r>
                  <a:rPr lang="en-US" dirty="0"/>
                  <a:t> and</a:t>
                </a:r>
              </a:p>
              <a:p>
                <a:pPr marL="0" indent="0"/>
                <a:endParaRPr lang="en-US" altLang="en-US" dirty="0"/>
              </a:p>
            </p:txBody>
          </p:sp>
        </mc:Choice>
        <mc:Fallback xmlns="">
          <p:sp>
            <p:nvSpPr>
              <p:cNvPr id="119810" name="Rectangle 2"/>
              <p:cNvSpPr>
                <a:spLocks noGrp="1" noRot="1" noChangeAspect="1" noMove="1" noResize="1" noEditPoints="1" noAdjustHandles="1" noChangeArrowheads="1" noChangeShapeType="1" noTextEdit="1"/>
              </p:cNvSpPr>
              <p:nvPr>
                <p:ph type="body" sz="quarter" idx="4294967295"/>
              </p:nvPr>
            </p:nvSpPr>
            <p:spPr bwMode="auto">
              <a:xfrm>
                <a:off x="374904" y="1600200"/>
                <a:ext cx="8545068" cy="4525963"/>
              </a:xfrm>
              <a:prstGeom prst="rect">
                <a:avLst/>
              </a:prstGeom>
              <a:blipFill>
                <a:blip r:embed="rId4" cstate="print"/>
                <a:stretch>
                  <a:fillRect l="-2213" t="-943" r="-357"/>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9811" name="Rectangle 1"/>
          <p:cNvSpPr>
            <a:spLocks noChangeArrowheads="1"/>
          </p:cNvSpPr>
          <p:nvPr/>
        </p:nvSpPr>
        <p:spPr bwMode="auto">
          <a:xfrm>
            <a:off x="199545" y="320040"/>
            <a:ext cx="889578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2800" b="1" dirty="0">
                <a:solidFill>
                  <a:srgbClr val="000000"/>
                </a:solidFill>
                <a:latin typeface="Arial" panose="020B0604020202020204" pitchFamily="34" charset="0"/>
              </a:rPr>
              <a:t>Mean and Standard Deviation of the Sampling Distribution for the Difference of Two Sample Means</a:t>
            </a:r>
          </a:p>
        </p:txBody>
      </p:sp>
      <p:graphicFrame>
        <p:nvGraphicFramePr>
          <p:cNvPr id="2" name="Object 1"/>
          <p:cNvGraphicFramePr>
            <a:graphicFrameLocks noChangeAspect="1"/>
          </p:cNvGraphicFramePr>
          <p:nvPr>
            <p:extLst>
              <p:ext uri="{D42A27DB-BD31-4B8C-83A1-F6EECF244321}">
                <p14:modId xmlns:p14="http://schemas.microsoft.com/office/powerpoint/2010/main" val="4228557875"/>
              </p:ext>
            </p:extLst>
          </p:nvPr>
        </p:nvGraphicFramePr>
        <p:xfrm>
          <a:off x="2162556" y="3506724"/>
          <a:ext cx="4267200" cy="927100"/>
        </p:xfrm>
        <a:graphic>
          <a:graphicData uri="http://schemas.openxmlformats.org/presentationml/2006/ole">
            <mc:AlternateContent xmlns:mc="http://schemas.openxmlformats.org/markup-compatibility/2006">
              <mc:Choice xmlns:v="urn:schemas-microsoft-com:vml" Requires="v">
                <p:oleObj spid="_x0000_s6147" name="Equation" r:id="rId5" imgW="4267080" imgH="927000" progId="Equation.DSMT4">
                  <p:embed/>
                </p:oleObj>
              </mc:Choice>
              <mc:Fallback>
                <p:oleObj name="Equation" r:id="rId5" imgW="4267080" imgH="927000" progId="Equation.DSMT4">
                  <p:embed/>
                  <p:pic>
                    <p:nvPicPr>
                      <p:cNvPr id="0" name="Picture 1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2556" y="3506724"/>
                        <a:ext cx="42672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48749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2098" name="Rectangle 2"/>
              <p:cNvSpPr>
                <a:spLocks noGrp="1" noChangeArrowheads="1"/>
              </p:cNvSpPr>
              <p:nvPr>
                <p:ph type="body" sz="quarter" idx="4294967295"/>
              </p:nvPr>
            </p:nvSpPr>
            <p:spPr bwMode="auto">
              <a:xfrm>
                <a:off x="763588"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a:buFont typeface="Wingdings" panose="05000000000000000000" pitchFamily="2" charset="2"/>
                  <a:buChar char="§"/>
                </a:pPr>
                <a:r>
                  <a:rPr lang="en-US" altLang="en-US" dirty="0"/>
                  <a:t>In practice, we</a:t>
                </a:r>
                <a:r>
                  <a:rPr lang="en-US" dirty="0"/>
                  <a:t> will have to estimate the standard deviation because it depends on the unknown population standard deviations</a:t>
                </a:r>
                <a:br>
                  <a:rPr lang="en-US" dirty="0"/>
                </a:br>
                <a:endParaRPr lang="en-US" altLang="en-US" dirty="0"/>
              </a:p>
              <a:p>
                <a:pPr>
                  <a:spcBef>
                    <a:spcPts val="800"/>
                  </a:spcBef>
                  <a:buFont typeface="Wingdings" panose="05000000000000000000" pitchFamily="2" charset="2"/>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Replacing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r>
                      <a:rPr lang="en-US" altLang="en-US" b="0" i="1" baseline="-25000"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 </m:t>
                    </m:r>
                  </m:oMath>
                </a14:m>
                <a:r>
                  <a:rPr lang="en-US" altLang="en-US" dirty="0">
                    <a:latin typeface="Times New Roman" panose="02020603050405020304" pitchFamily="18" charset="0"/>
                  </a:rPr>
                  <a:t>and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r>
                      <a:rPr lang="en-US" altLang="en-US" b="0" i="1" baseline="-25000" smtClean="0">
                        <a:latin typeface="Cambria Math" panose="02040503050406030204" pitchFamily="18" charset="0"/>
                        <a:ea typeface="Cambria Math" panose="02040503050406030204" pitchFamily="18" charset="0"/>
                      </a:rPr>
                      <m:t>2</m:t>
                    </m:r>
                  </m:oMath>
                </a14:m>
                <a:r>
                  <a:rPr lang="en-US" altLang="en-US" dirty="0">
                    <a:latin typeface="Times New Roman" panose="02020603050405020304" pitchFamily="18" charset="0"/>
                  </a:rPr>
                  <a:t> by the sample standard deviations </a:t>
                </a:r>
                <a:r>
                  <a:rPr lang="en-US" altLang="en-US" i="1" dirty="0">
                    <a:latin typeface="Times New Roman" panose="02020603050405020304" pitchFamily="18" charset="0"/>
                  </a:rPr>
                  <a:t>s</a:t>
                </a:r>
                <a:r>
                  <a:rPr lang="en-US" altLang="en-US" baseline="-25000" dirty="0">
                    <a:latin typeface="Times New Roman" panose="02020603050405020304" pitchFamily="18" charset="0"/>
                  </a:rPr>
                  <a:t>1</a:t>
                </a:r>
                <a:r>
                  <a:rPr lang="en-US" altLang="en-US" dirty="0">
                    <a:latin typeface="Times New Roman" panose="02020603050405020304" pitchFamily="18" charset="0"/>
                  </a:rPr>
                  <a:t> and </a:t>
                </a:r>
                <a:r>
                  <a:rPr lang="en-US" altLang="en-US" i="1" dirty="0">
                    <a:latin typeface="Times New Roman" panose="02020603050405020304" pitchFamily="18" charset="0"/>
                  </a:rPr>
                  <a:t>s</a:t>
                </a:r>
                <a:r>
                  <a:rPr lang="en-US" altLang="en-US" baseline="-25000" dirty="0">
                    <a:latin typeface="Times New Roman" panose="02020603050405020304" pitchFamily="18" charset="0"/>
                  </a:rPr>
                  <a:t>2</a:t>
                </a:r>
                <a:r>
                  <a:rPr lang="en-US" altLang="en-US" dirty="0">
                    <a:latin typeface="Times New Roman" panose="02020603050405020304" pitchFamily="18" charset="0"/>
                  </a:rPr>
                  <a:t>, we get the standard error of the difference</a:t>
                </a:r>
              </a:p>
            </p:txBody>
          </p:sp>
        </mc:Choice>
        <mc:Fallback xmlns="">
          <p:sp>
            <p:nvSpPr>
              <p:cNvPr id="132098" name="Rectangle 2"/>
              <p:cNvSpPr>
                <a:spLocks noGrp="1" noRot="1" noChangeAspect="1" noMove="1" noResize="1" noEditPoints="1" noAdjustHandles="1" noChangeArrowheads="1" noChangeShapeType="1" noTextEdit="1"/>
              </p:cNvSpPr>
              <p:nvPr>
                <p:ph type="body" sz="quarter" idx="4294967295"/>
              </p:nvPr>
            </p:nvSpPr>
            <p:spPr bwMode="auto">
              <a:xfrm>
                <a:off x="763588" y="1600200"/>
                <a:ext cx="8229600" cy="4525963"/>
              </a:xfrm>
              <a:prstGeom prst="rect">
                <a:avLst/>
              </a:prstGeom>
              <a:blipFill>
                <a:blip r:embed="rId4" cstate="print"/>
                <a:stretch>
                  <a:fillRect l="-2074" t="-943" r="-3185"/>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2099" name="Rectangle 1"/>
          <p:cNvSpPr>
            <a:spLocks noGrp="1" noChangeArrowheads="1"/>
          </p:cNvSpPr>
          <p:nvPr>
            <p:ph type="title" idx="4294967295"/>
          </p:nvPr>
        </p:nvSpPr>
        <p:spPr bwMode="auto">
          <a:xfrm>
            <a:off x="762000" y="76200"/>
            <a:ext cx="82296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Standard Error for Comparing Two Means</a:t>
            </a:r>
          </a:p>
        </p:txBody>
      </p:sp>
      <p:graphicFrame>
        <p:nvGraphicFramePr>
          <p:cNvPr id="2" name="Object 1"/>
          <p:cNvGraphicFramePr>
            <a:graphicFrameLocks noChangeAspect="1"/>
          </p:cNvGraphicFramePr>
          <p:nvPr>
            <p:extLst>
              <p:ext uri="{D42A27DB-BD31-4B8C-83A1-F6EECF244321}">
                <p14:modId xmlns:p14="http://schemas.microsoft.com/office/powerpoint/2010/main" val="957611220"/>
              </p:ext>
            </p:extLst>
          </p:nvPr>
        </p:nvGraphicFramePr>
        <p:xfrm>
          <a:off x="1976438" y="4206875"/>
          <a:ext cx="3327400" cy="927100"/>
        </p:xfrm>
        <a:graphic>
          <a:graphicData uri="http://schemas.openxmlformats.org/presentationml/2006/ole">
            <mc:AlternateContent xmlns:mc="http://schemas.openxmlformats.org/markup-compatibility/2006">
              <mc:Choice xmlns:v="urn:schemas-microsoft-com:vml" Requires="v">
                <p:oleObj spid="_x0000_s7171" name="Equation" r:id="rId5" imgW="3327120" imgH="927000" progId="Equation.DSMT4">
                  <p:embed/>
                </p:oleObj>
              </mc:Choice>
              <mc:Fallback>
                <p:oleObj name="Equation" r:id="rId5" imgW="3327120" imgH="927000" progId="Equation.DSMT4">
                  <p:embed/>
                  <p:pic>
                    <p:nvPicPr>
                      <p:cNvPr id="0" name="Picture 18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6438" y="4206875"/>
                        <a:ext cx="33274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274" name="Rectangle 2"/>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92160" tIns="46080" rIns="92160" bIns="46080"/>
              <a:lstStyle/>
              <a:p>
                <a:pPr marL="0" indent="0">
                  <a:lnSpc>
                    <a:spcPct val="95000"/>
                  </a:lnSpc>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US" altLang="en-US" dirty="0"/>
                  <a:t>For two samples with sizes </a:t>
                </a:r>
                <a:r>
                  <a:rPr lang="en-US" altLang="en-US" i="1" dirty="0"/>
                  <a:t>n</a:t>
                </a:r>
                <a:r>
                  <a:rPr lang="en-US" altLang="en-US" baseline="-25000" dirty="0"/>
                  <a:t>1</a:t>
                </a:r>
                <a:r>
                  <a:rPr lang="en-US" altLang="en-US" dirty="0"/>
                  <a:t> and </a:t>
                </a:r>
                <a:r>
                  <a:rPr lang="en-US" altLang="en-US" i="1" dirty="0"/>
                  <a:t>n</a:t>
                </a:r>
                <a:r>
                  <a:rPr lang="en-US" altLang="en-US" baseline="-25000" dirty="0"/>
                  <a:t>2</a:t>
                </a:r>
                <a:r>
                  <a:rPr lang="en-US" altLang="en-US" dirty="0"/>
                  <a:t> and standard deviations </a:t>
                </a:r>
                <a:r>
                  <a:rPr lang="en-US" altLang="en-US" i="1" dirty="0"/>
                  <a:t>s</a:t>
                </a:r>
                <a:r>
                  <a:rPr lang="en-US" altLang="en-US" baseline="-25000" dirty="0"/>
                  <a:t>1</a:t>
                </a:r>
                <a:r>
                  <a:rPr lang="en-US" altLang="en-US" dirty="0"/>
                  <a:t> and </a:t>
                </a:r>
                <a:r>
                  <a:rPr lang="en-US" altLang="en-US" i="1" dirty="0"/>
                  <a:t>s</a:t>
                </a:r>
                <a:r>
                  <a:rPr lang="en-US" altLang="en-US" baseline="-25000" dirty="0"/>
                  <a:t>2</a:t>
                </a:r>
                <a:r>
                  <a:rPr lang="en-US" altLang="en-US" dirty="0"/>
                  <a:t>, a 95% confidence interval for the difference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μ</m:t>
                    </m:r>
                  </m:oMath>
                </a14:m>
                <a:r>
                  <a:rPr lang="en-US" altLang="en-US" baseline="-25000" dirty="0"/>
                  <a:t>1</a:t>
                </a:r>
                <a:r>
                  <a:rPr lang="en-US" altLang="en-US" dirty="0"/>
                  <a:t> –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a:t>
                </a:r>
                <a:r>
                  <a:rPr lang="en-US" altLang="en-US" dirty="0"/>
                  <a:t>) between the population means is</a:t>
                </a:r>
              </a:p>
              <a:p>
                <a:pPr marL="0" indent="0">
                  <a:lnSpc>
                    <a:spcPct val="95000"/>
                  </a:lnSpc>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endParaRPr lang="en-US" altLang="en-US" dirty="0"/>
              </a:p>
              <a:p>
                <a:pPr marL="0" indent="0">
                  <a:lnSpc>
                    <a:spcPct val="95000"/>
                  </a:lnSpc>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endParaRPr lang="en-US" altLang="en-US" dirty="0"/>
              </a:p>
              <a:p>
                <a:pPr marL="0" indent="0">
                  <a:lnSpc>
                    <a:spcPct val="95000"/>
                  </a:lnSpc>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endParaRPr lang="en-US" altLang="en-US" dirty="0"/>
              </a:p>
              <a:p>
                <a:pPr marL="0" indent="0"/>
                <a:r>
                  <a:rPr lang="en-US" dirty="0"/>
                  <a:t>Software provides </a:t>
                </a:r>
                <a:r>
                  <a:rPr lang="en-US" i="1" dirty="0"/>
                  <a:t>t</a:t>
                </a:r>
                <a:r>
                  <a:rPr lang="en-US" baseline="-25000" dirty="0"/>
                  <a:t>.025</a:t>
                </a:r>
                <a:r>
                  <a:rPr lang="en-US" dirty="0"/>
                  <a:t>, the </a:t>
                </a:r>
                <a:r>
                  <a:rPr lang="en-US" i="1" dirty="0"/>
                  <a:t>t</a:t>
                </a:r>
                <a:r>
                  <a:rPr lang="en-US" dirty="0"/>
                  <a:t>-score with right-tail probability 0.025 (total probability = 0.95 between -</a:t>
                </a:r>
                <a:r>
                  <a:rPr lang="en-US" i="1" dirty="0"/>
                  <a:t>t</a:t>
                </a:r>
                <a:r>
                  <a:rPr lang="en-US" baseline="-25000" dirty="0"/>
                  <a:t>.025</a:t>
                </a:r>
                <a:r>
                  <a:rPr lang="en-US" dirty="0"/>
                  <a:t> and </a:t>
                </a:r>
                <a:r>
                  <a:rPr lang="en-US" i="1" dirty="0"/>
                  <a:t>t</a:t>
                </a:r>
                <a:r>
                  <a:rPr lang="en-US" baseline="-25000" dirty="0"/>
                  <a:t>.025</a:t>
                </a:r>
                <a:r>
                  <a:rPr lang="en-US" dirty="0"/>
                  <a:t>).</a:t>
                </a:r>
                <a:endParaRPr lang="en-US" altLang="en-US" dirty="0"/>
              </a:p>
            </p:txBody>
          </p:sp>
        </mc:Choice>
        <mc:Fallback xmlns="">
          <p:sp>
            <p:nvSpPr>
              <p:cNvPr id="54274" name="Rectangle 2"/>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4" cstate="print"/>
                <a:stretch>
                  <a:fillRect l="-1185" t="-1348" r="-222"/>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6083" name="Rectangle 1"/>
          <p:cNvSpPr>
            <a:spLocks noGrp="1" noChangeArrowheads="1"/>
          </p:cNvSpPr>
          <p:nvPr>
            <p:ph type="title" idx="4294967295"/>
          </p:nvPr>
        </p:nvSpPr>
        <p:spPr bwMode="auto">
          <a:xfrm>
            <a:off x="762000" y="381000"/>
            <a:ext cx="8153400" cy="91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3000">
                <a:solidFill>
                  <a:srgbClr val="000000"/>
                </a:solidFill>
              </a:rPr>
              <a:t/>
            </a:r>
            <a:br>
              <a:rPr lang="en-US" sz="3000">
                <a:solidFill>
                  <a:srgbClr val="000000"/>
                </a:solidFill>
              </a:rPr>
            </a:br>
            <a:endParaRPr lang="en-US" sz="3000">
              <a:solidFill>
                <a:srgbClr val="000000"/>
              </a:solidFill>
            </a:endParaRPr>
          </a:p>
        </p:txBody>
      </p:sp>
      <p:sp>
        <p:nvSpPr>
          <p:cNvPr id="54275" name="Rectangle 3"/>
          <p:cNvSpPr>
            <a:spLocks noChangeArrowheads="1"/>
          </p:cNvSpPr>
          <p:nvPr/>
        </p:nvSpPr>
        <p:spPr bwMode="auto">
          <a:xfrm>
            <a:off x="796925" y="3808413"/>
            <a:ext cx="7889875" cy="2516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160" tIns="46080" rIns="92160" bIns="46080"/>
          <a:lstStyle>
            <a:lvl1pPr marL="342900" indent="-342900"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1pPr>
            <a:lvl2pPr indent="-347663"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9pPr>
          </a:lstStyle>
          <a:p>
            <a:pPr marL="0" lvl="1" eaLnBrk="1" hangingPunct="1">
              <a:lnSpc>
                <a:spcPct val="95000"/>
              </a:lnSpc>
              <a:spcBef>
                <a:spcPts val="650"/>
              </a:spcBef>
              <a:buClrTx/>
              <a:buFontTx/>
              <a:buNone/>
            </a:pPr>
            <a:r>
              <a:rPr lang="en-US" altLang="en-US" b="1" dirty="0">
                <a:solidFill>
                  <a:srgbClr val="000000"/>
                </a:solidFill>
                <a:latin typeface="Arial" panose="020B0604020202020204" pitchFamily="34" charset="0"/>
              </a:rPr>
              <a:t>           </a:t>
            </a:r>
            <a:endParaRPr lang="en-US" altLang="en-US" dirty="0">
              <a:solidFill>
                <a:srgbClr val="000000"/>
              </a:solidFill>
              <a:latin typeface="Arial" panose="020B0604020202020204" pitchFamily="34" charset="0"/>
            </a:endParaRPr>
          </a:p>
        </p:txBody>
      </p:sp>
      <p:sp>
        <p:nvSpPr>
          <p:cNvPr id="134150" name="Text Box 5"/>
          <p:cNvSpPr txBox="1">
            <a:spLocks noChangeArrowheads="1"/>
          </p:cNvSpPr>
          <p:nvPr/>
        </p:nvSpPr>
        <p:spPr bwMode="auto">
          <a:xfrm>
            <a:off x="609600" y="76200"/>
            <a:ext cx="83820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r>
              <a:rPr lang="en-US" altLang="en-US" sz="3200" b="1" dirty="0">
                <a:solidFill>
                  <a:srgbClr val="000000"/>
                </a:solidFill>
                <a:latin typeface="Arial" panose="020B0604020202020204" pitchFamily="34" charset="0"/>
              </a:rPr>
              <a:t>Confidence Interval for the Difference Between Population Means</a:t>
            </a:r>
          </a:p>
        </p:txBody>
      </p:sp>
      <p:graphicFrame>
        <p:nvGraphicFramePr>
          <p:cNvPr id="2" name="Object 1"/>
          <p:cNvGraphicFramePr>
            <a:graphicFrameLocks noChangeAspect="1"/>
          </p:cNvGraphicFramePr>
          <p:nvPr>
            <p:extLst>
              <p:ext uri="{D42A27DB-BD31-4B8C-83A1-F6EECF244321}">
                <p14:modId xmlns:p14="http://schemas.microsoft.com/office/powerpoint/2010/main" val="2447154076"/>
              </p:ext>
            </p:extLst>
          </p:nvPr>
        </p:nvGraphicFramePr>
        <p:xfrm>
          <a:off x="2759075" y="2838450"/>
          <a:ext cx="2908300" cy="927100"/>
        </p:xfrm>
        <a:graphic>
          <a:graphicData uri="http://schemas.openxmlformats.org/presentationml/2006/ole">
            <mc:AlternateContent xmlns:mc="http://schemas.openxmlformats.org/markup-compatibility/2006">
              <mc:Choice xmlns:v="urn:schemas-microsoft-com:vml" Requires="v">
                <p:oleObj spid="_x0000_s8195" name="Equation" r:id="rId5" imgW="2908080" imgH="927000" progId="Equation.DSMT4">
                  <p:embed/>
                </p:oleObj>
              </mc:Choice>
              <mc:Fallback>
                <p:oleObj name="Equation" r:id="rId5" imgW="2908080" imgH="927000" progId="Equation.DSMT4">
                  <p:embed/>
                  <p:pic>
                    <p:nvPicPr>
                      <p:cNvPr id="0" name="Picture 2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9075" y="2838450"/>
                        <a:ext cx="29083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sz="quarter" idx="4294967295"/>
          </p:nvPr>
        </p:nvSpPr>
        <p:spPr bwMode="auto">
          <a:xfrm>
            <a:off x="773113" y="14859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lstStyle/>
          <a:p>
            <a:r>
              <a:rPr lang="en-US" dirty="0"/>
              <a:t>This method assumes:</a:t>
            </a:r>
          </a:p>
          <a:p>
            <a:pPr>
              <a:buFont typeface="Wingdings" panose="05000000000000000000" pitchFamily="2" charset="2"/>
              <a:buChar char="§"/>
            </a:pPr>
            <a:r>
              <a:rPr lang="en-US" dirty="0"/>
              <a:t>A quantitative response variable observed in each of two </a:t>
            </a:r>
            <a:r>
              <a:rPr lang="en-US" dirty="0">
                <a:solidFill>
                  <a:schemeClr val="tx1"/>
                </a:solidFill>
              </a:rPr>
              <a:t>groups.</a:t>
            </a:r>
            <a:r>
              <a:rPr lang="en-US" dirty="0"/>
              <a:t/>
            </a:r>
            <a:br>
              <a:rPr lang="en-US" dirty="0"/>
            </a:br>
            <a:endParaRPr lang="en-US" dirty="0"/>
          </a:p>
          <a:p>
            <a:pPr>
              <a:buFont typeface="Wingdings" panose="05000000000000000000" pitchFamily="2" charset="2"/>
              <a:buChar char="§"/>
            </a:pPr>
            <a:r>
              <a:rPr lang="en-US" dirty="0"/>
              <a:t>Independent random samples from the two groups, either from random sampling or a randomized experiment.</a:t>
            </a:r>
            <a:br>
              <a:rPr lang="en-US" dirty="0"/>
            </a:br>
            <a:endParaRPr lang="en-US" dirty="0"/>
          </a:p>
          <a:p>
            <a:pPr>
              <a:buFont typeface="Wingdings" panose="05000000000000000000" pitchFamily="2" charset="2"/>
              <a:buChar char="§"/>
            </a:pPr>
            <a:r>
              <a:rPr lang="en-US" dirty="0"/>
              <a:t>An approximately normal population distribution for each group. (This is mainly important for small sample sizes, and even then the method is robust to violations of this assumption.)</a:t>
            </a:r>
            <a:endParaRPr lang="en-US" altLang="en-US" dirty="0"/>
          </a:p>
        </p:txBody>
      </p:sp>
      <p:sp>
        <p:nvSpPr>
          <p:cNvPr id="46083" name="Rectangle 1"/>
          <p:cNvSpPr>
            <a:spLocks noGrp="1" noChangeArrowheads="1"/>
          </p:cNvSpPr>
          <p:nvPr>
            <p:ph type="title" idx="4294967295"/>
          </p:nvPr>
        </p:nvSpPr>
        <p:spPr bwMode="auto">
          <a:xfrm>
            <a:off x="762000" y="381000"/>
            <a:ext cx="8153400" cy="91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3000">
                <a:solidFill>
                  <a:srgbClr val="000000"/>
                </a:solidFill>
              </a:rPr>
              <a:t/>
            </a:r>
            <a:br>
              <a:rPr lang="en-US" sz="3000">
                <a:solidFill>
                  <a:srgbClr val="000000"/>
                </a:solidFill>
              </a:rPr>
            </a:br>
            <a:endParaRPr lang="en-US" sz="3000">
              <a:solidFill>
                <a:srgbClr val="000000"/>
              </a:solidFill>
            </a:endParaRPr>
          </a:p>
        </p:txBody>
      </p:sp>
      <p:sp>
        <p:nvSpPr>
          <p:cNvPr id="54275" name="Rectangle 3"/>
          <p:cNvSpPr>
            <a:spLocks noChangeArrowheads="1"/>
          </p:cNvSpPr>
          <p:nvPr/>
        </p:nvSpPr>
        <p:spPr bwMode="auto">
          <a:xfrm>
            <a:off x="796925" y="3808413"/>
            <a:ext cx="7889875" cy="2516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160" tIns="46080" rIns="92160" bIns="46080"/>
          <a:lstStyle>
            <a:lvl1pPr marL="342900" indent="-342900"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1pPr>
            <a:lvl2pPr indent="-347663"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576263" algn="l"/>
                <a:tab pos="1023938" algn="l"/>
                <a:tab pos="1473200" algn="l"/>
                <a:tab pos="1922463" algn="l"/>
                <a:tab pos="2371725" algn="l"/>
                <a:tab pos="2820988" algn="l"/>
                <a:tab pos="3270250" algn="l"/>
                <a:tab pos="3719513" algn="l"/>
                <a:tab pos="4168775" algn="l"/>
                <a:tab pos="4618038" algn="l"/>
                <a:tab pos="5067300" algn="l"/>
                <a:tab pos="5516563" algn="l"/>
                <a:tab pos="5965825" algn="l"/>
                <a:tab pos="6415088" algn="l"/>
                <a:tab pos="6864350" algn="l"/>
                <a:tab pos="7313613" algn="l"/>
                <a:tab pos="7762875" algn="l"/>
                <a:tab pos="8212138" algn="l"/>
                <a:tab pos="8661400" algn="l"/>
                <a:tab pos="9110663" algn="l"/>
                <a:tab pos="9559925" algn="l"/>
              </a:tabLst>
              <a:defRPr sz="2400">
                <a:solidFill>
                  <a:schemeClr val="bg1"/>
                </a:solidFill>
                <a:latin typeface="Times New Roman" panose="02020603050405020304" pitchFamily="18" charset="0"/>
                <a:ea typeface="Microsoft YaHei" panose="020B0503020204020204" pitchFamily="34" charset="-122"/>
              </a:defRPr>
            </a:lvl9pPr>
          </a:lstStyle>
          <a:p>
            <a:pPr marL="0" lvl="1" eaLnBrk="1" hangingPunct="1">
              <a:lnSpc>
                <a:spcPct val="95000"/>
              </a:lnSpc>
              <a:spcBef>
                <a:spcPts val="650"/>
              </a:spcBef>
              <a:buClrTx/>
              <a:buFontTx/>
              <a:buNone/>
            </a:pPr>
            <a:r>
              <a:rPr lang="en-US" altLang="en-US" b="1" dirty="0">
                <a:solidFill>
                  <a:srgbClr val="000000"/>
                </a:solidFill>
                <a:latin typeface="Arial" panose="020B0604020202020204" pitchFamily="34" charset="0"/>
              </a:rPr>
              <a:t>           </a:t>
            </a:r>
            <a:endParaRPr lang="en-US" altLang="en-US" dirty="0">
              <a:solidFill>
                <a:srgbClr val="000000"/>
              </a:solidFill>
              <a:latin typeface="Arial" panose="020B0604020202020204" pitchFamily="34" charset="0"/>
            </a:endParaRPr>
          </a:p>
        </p:txBody>
      </p:sp>
      <p:sp>
        <p:nvSpPr>
          <p:cNvPr id="134150" name="Text Box 5"/>
          <p:cNvSpPr txBox="1">
            <a:spLocks noChangeArrowheads="1"/>
          </p:cNvSpPr>
          <p:nvPr/>
        </p:nvSpPr>
        <p:spPr bwMode="auto">
          <a:xfrm>
            <a:off x="609600" y="76200"/>
            <a:ext cx="83820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r>
              <a:rPr lang="en-US" altLang="en-US" sz="3200" b="1" dirty="0">
                <a:solidFill>
                  <a:srgbClr val="000000"/>
                </a:solidFill>
                <a:latin typeface="Arial" panose="020B0604020202020204" pitchFamily="34" charset="0"/>
              </a:rPr>
              <a:t>Confidence Interval for the Difference Between Population Means</a:t>
            </a:r>
          </a:p>
        </p:txBody>
      </p:sp>
    </p:spTree>
    <p:extLst>
      <p:ext uri="{BB962C8B-B14F-4D97-AF65-F5344CB8AC3E}">
        <p14:creationId xmlns:p14="http://schemas.microsoft.com/office/powerpoint/2010/main" val="304131744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542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542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5427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When using software to analyze the data, a 95% confidence interval for the difference between the mean product rating of the effectiveness of a drug between people who read a short description of the drug accompanied by a graph and people who just read the short description but did not see the graph equals [0.03, 1.38].</a:t>
            </a:r>
          </a:p>
          <a:p>
            <a:pPr marL="0" indent="0"/>
            <a:endParaRPr lang="en-US" altLang="en-US" dirty="0"/>
          </a:p>
          <a:p>
            <a:pPr marL="0" indent="0"/>
            <a:r>
              <a:rPr lang="en-US" dirty="0"/>
              <a:t>Is it reasonable to assume an approximate normal population distribution for product effectiveness ratings in the two groups? How does this affect inference?</a:t>
            </a:r>
            <a:endParaRPr lang="en-US" altLang="en-US" dirty="0"/>
          </a:p>
        </p:txBody>
      </p:sp>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sz="quarter" idx="4294967295"/>
          </p:nvPr>
        </p:nvSpPr>
        <p:spPr bwMode="auto">
          <a:xfrm>
            <a:off x="762000" y="1485900"/>
            <a:ext cx="4420743"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sz="2200" dirty="0"/>
              <a:t>The side-by-side box plots shown earlier indicate a right skew for the Text and Graph group and a left skew for the Text </a:t>
            </a:r>
            <a:r>
              <a:rPr lang="en-US" sz="2200" dirty="0">
                <a:solidFill>
                  <a:schemeClr val="tx1"/>
                </a:solidFill>
              </a:rPr>
              <a:t>O</a:t>
            </a:r>
            <a:r>
              <a:rPr lang="en-US" sz="2200" dirty="0"/>
              <a:t>nly group. However, the shape of the histograms doesn’t indicate any dramatic deviation from normality.</a:t>
            </a:r>
            <a:br>
              <a:rPr lang="en-US" sz="2200" dirty="0"/>
            </a:br>
            <a:r>
              <a:rPr lang="en-US" sz="2200" dirty="0"/>
              <a:t/>
            </a:r>
            <a:br>
              <a:rPr lang="en-US" sz="2200" dirty="0"/>
            </a:br>
            <a:r>
              <a:rPr lang="en-US" sz="2200" dirty="0"/>
              <a:t>Also, the sample size is large enough for the central limit theorem to apply. Then the assumption of approximate normality of the population distribution of ratings in each group is less important.</a:t>
            </a:r>
            <a:endParaRPr lang="en-US" altLang="en-US" sz="2200" dirty="0"/>
          </a:p>
        </p:txBody>
      </p:sp>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26964" y="1600200"/>
            <a:ext cx="3265410" cy="4169093"/>
          </a:xfrm>
          <a:prstGeom prst="rect">
            <a:avLst/>
          </a:prstGeom>
        </p:spPr>
      </p:pic>
    </p:spTree>
    <p:extLst>
      <p:ext uri="{BB962C8B-B14F-4D97-AF65-F5344CB8AC3E}">
        <p14:creationId xmlns:p14="http://schemas.microsoft.com/office/powerpoint/2010/main" val="32619391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sz="quarter" idx="4294967295"/>
          </p:nvPr>
        </p:nvSpPr>
        <p:spPr bwMode="auto">
          <a:xfrm>
            <a:off x="695325" y="14859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dirty="0"/>
              <a:t>Show how the confidence interval was obtained and interpret it. The </a:t>
            </a:r>
            <a:r>
              <a:rPr lang="en-US" i="1" dirty="0"/>
              <a:t>df </a:t>
            </a:r>
            <a:r>
              <a:rPr lang="en-US" dirty="0"/>
              <a:t>value for the </a:t>
            </a:r>
            <a:r>
              <a:rPr lang="en-US" i="1" dirty="0"/>
              <a:t>t</a:t>
            </a:r>
            <a:r>
              <a:rPr lang="en-US" dirty="0"/>
              <a:t>-score, not shown in the computer output in Table 10.6, equals </a:t>
            </a:r>
            <a:r>
              <a:rPr lang="en-US" i="1" dirty="0"/>
              <a:t>df </a:t>
            </a:r>
            <a:r>
              <a:rPr lang="en-US" dirty="0"/>
              <a:t>= 57.5. With it, the </a:t>
            </a:r>
            <a:r>
              <a:rPr lang="en-US" i="1" dirty="0"/>
              <a:t>t</a:t>
            </a:r>
            <a:r>
              <a:rPr lang="en-US" dirty="0"/>
              <a:t>-score </a:t>
            </a:r>
            <a:r>
              <a:rPr lang="en-US" i="1" dirty="0"/>
              <a:t>t</a:t>
            </a:r>
            <a:r>
              <a:rPr lang="en-US" baseline="-25000" dirty="0"/>
              <a:t>0.025</a:t>
            </a:r>
            <a:r>
              <a:rPr lang="en-US" dirty="0"/>
              <a:t> = 2.002.</a:t>
            </a:r>
            <a:endParaRPr lang="en-US" altLang="en-US" dirty="0"/>
          </a:p>
        </p:txBody>
      </p:sp>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3936" y="3273552"/>
            <a:ext cx="6404772" cy="2256854"/>
          </a:xfrm>
          <a:prstGeom prst="rect">
            <a:avLst/>
          </a:prstGeom>
        </p:spPr>
      </p:pic>
      <p:sp>
        <p:nvSpPr>
          <p:cNvPr id="7" name="Rectangle 6"/>
          <p:cNvSpPr/>
          <p:nvPr/>
        </p:nvSpPr>
        <p:spPr>
          <a:xfrm>
            <a:off x="1506855" y="5655338"/>
            <a:ext cx="6606540" cy="338554"/>
          </a:xfrm>
          <a:prstGeom prst="rect">
            <a:avLst/>
          </a:prstGeom>
        </p:spPr>
        <p:txBody>
          <a:bodyPr wrap="square">
            <a:spAutoFit/>
          </a:bodyPr>
          <a:lstStyle/>
          <a:p>
            <a:r>
              <a:rPr lang="en-US" sz="1600" b="1" dirty="0">
                <a:solidFill>
                  <a:schemeClr val="tx1"/>
                </a:solidFill>
                <a:latin typeface="HelveticaNeueLTPro-Hv"/>
              </a:rPr>
              <a:t>Table 10.6 </a:t>
            </a:r>
            <a:r>
              <a:rPr lang="en-US" sz="1600" b="1" dirty="0">
                <a:solidFill>
                  <a:schemeClr val="tx1"/>
                </a:solidFill>
                <a:latin typeface="HelveticaNeueLTPro-Md"/>
              </a:rPr>
              <a:t>MINITAB Output for Comparing Two Means</a:t>
            </a:r>
            <a:endParaRPr lang="en-US" sz="1600" b="1" dirty="0">
              <a:solidFill>
                <a:schemeClr val="tx1"/>
              </a:solidFill>
            </a:endParaRPr>
          </a:p>
        </p:txBody>
      </p:sp>
    </p:spTree>
    <p:extLst>
      <p:ext uri="{BB962C8B-B14F-4D97-AF65-F5344CB8AC3E}">
        <p14:creationId xmlns:p14="http://schemas.microsoft.com/office/powerpoint/2010/main" val="31288170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sz="quarter" idx="4294967295"/>
          </p:nvPr>
        </p:nvSpPr>
        <p:spPr bwMode="auto">
          <a:xfrm>
            <a:off x="695325" y="14859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zh-CN" dirty="0" smtClean="0"/>
              <a:t>See Footnote 5 in </a:t>
            </a:r>
            <a:r>
              <a:rPr lang="en-US" altLang="zh-CN" dirty="0" smtClean="0"/>
              <a:t>Chapter 10 for t</a:t>
            </a:r>
            <a:r>
              <a:rPr lang="en-US" dirty="0" smtClean="0"/>
              <a:t>he formula of </a:t>
            </a:r>
            <a:r>
              <a:rPr lang="en-US" i="1" dirty="0" err="1"/>
              <a:t>df</a:t>
            </a:r>
            <a:r>
              <a:rPr lang="en-US" i="1" dirty="0"/>
              <a:t> </a:t>
            </a:r>
            <a:endParaRPr lang="en-US" i="1" dirty="0" smtClean="0"/>
          </a:p>
          <a:p>
            <a:pPr marL="0" indent="0"/>
            <a:endParaRPr lang="en-US" i="1" dirty="0"/>
          </a:p>
        </p:txBody>
      </p:sp>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pic>
        <p:nvPicPr>
          <p:cNvPr id="2" name="Picture 1"/>
          <p:cNvPicPr>
            <a:picLocks noChangeAspect="1"/>
          </p:cNvPicPr>
          <p:nvPr/>
        </p:nvPicPr>
        <p:blipFill>
          <a:blip r:embed="rId3"/>
          <a:stretch>
            <a:fillRect/>
          </a:stretch>
        </p:blipFill>
        <p:spPr>
          <a:xfrm>
            <a:off x="1074420" y="2729484"/>
            <a:ext cx="6793060" cy="1545726"/>
          </a:xfrm>
          <a:prstGeom prst="rect">
            <a:avLst/>
          </a:prstGeom>
        </p:spPr>
      </p:pic>
    </p:spTree>
    <p:extLst>
      <p:ext uri="{BB962C8B-B14F-4D97-AF65-F5344CB8AC3E}">
        <p14:creationId xmlns:p14="http://schemas.microsoft.com/office/powerpoint/2010/main" val="4555276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8242" name="Rectangle 2"/>
              <p:cNvSpPr>
                <a:spLocks noGrp="1" noChangeArrowheads="1"/>
              </p:cNvSpPr>
              <p:nvPr>
                <p:ph type="body" sz="quarter" idx="4294967295"/>
              </p:nvPr>
            </p:nvSpPr>
            <p:spPr bwMode="auto">
              <a:xfrm>
                <a:off x="695325" y="14859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a:buFont typeface="Wingdings" panose="05000000000000000000" pitchFamily="2" charset="2"/>
                  <a:buChar char="§"/>
                </a:pPr>
                <a:r>
                  <a:rPr lang="en-US" dirty="0"/>
                  <a:t> </a:t>
                </a:r>
                <a14:m>
                  <m:oMath xmlns:m="http://schemas.openxmlformats.org/officeDocument/2006/math">
                    <m:r>
                      <m:rPr>
                        <m:sty m:val="p"/>
                      </m:rPr>
                      <a:rPr lang="en-US" i="0" smtClean="0">
                        <a:latin typeface="Cambria Math" panose="02040503050406030204" pitchFamily="18" charset="0"/>
                        <a:ea typeface="Cambria Math" panose="02040503050406030204" pitchFamily="18" charset="0"/>
                      </a:rPr>
                      <m:t>μ</m:t>
                    </m:r>
                  </m:oMath>
                </a14:m>
                <a:r>
                  <a:rPr lang="en-US" baseline="-25000" dirty="0"/>
                  <a:t>1</a:t>
                </a:r>
                <a:r>
                  <a:rPr lang="en-US" dirty="0"/>
                  <a:t> is the mean rating of the population of people who read the text and see the graph. </a:t>
                </a:r>
              </a:p>
              <a:p>
                <a:pPr>
                  <a:buFont typeface="Wingdings" panose="05000000000000000000" pitchFamily="2" charset="2"/>
                  <a:buChar char="§"/>
                </a:pPr>
                <a:r>
                  <a:rPr lang="en-US" dirty="0"/>
                  <a:t>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2</a:t>
                </a:r>
                <a:r>
                  <a:rPr lang="en-US" dirty="0"/>
                  <a:t> is the mean rating of the population of people who just read the text. </a:t>
                </a:r>
              </a:p>
              <a:p>
                <a:pPr marL="0" indent="0"/>
                <a:r>
                  <a:rPr lang="en-US" dirty="0"/>
                  <a:t>The 95% confidence interval for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1</a:t>
                </a:r>
                <a:r>
                  <a:rPr lang="en-US" dirty="0"/>
                  <a:t> –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baseline="-25000" dirty="0"/>
                  <a:t>2</a:t>
                </a:r>
                <a:r>
                  <a:rPr lang="en-US" dirty="0"/>
                  <a:t> is</a:t>
                </a:r>
              </a:p>
              <a:p>
                <a:pPr marL="0" indent="0"/>
                <a:endParaRPr lang="en-US" altLang="en-US" dirty="0"/>
              </a:p>
              <a:p>
                <a:pPr marL="0" indent="0"/>
                <a:endParaRPr lang="en-US" altLang="en-US" dirty="0"/>
              </a:p>
              <a:p>
                <a:pPr marL="0" indent="0"/>
                <a:endParaRPr lang="en-US" altLang="en-US" dirty="0"/>
              </a:p>
            </p:txBody>
          </p:sp>
        </mc:Choice>
        <mc:Fallback xmlns="">
          <p:sp>
            <p:nvSpPr>
              <p:cNvPr id="138242" name="Rectangle 2"/>
              <p:cNvSpPr>
                <a:spLocks noGrp="1" noRot="1" noChangeAspect="1" noMove="1" noResize="1" noEditPoints="1" noAdjustHandles="1" noChangeArrowheads="1" noChangeShapeType="1" noTextEdit="1"/>
              </p:cNvSpPr>
              <p:nvPr>
                <p:ph type="body" sz="quarter" idx="4294967295"/>
              </p:nvPr>
            </p:nvSpPr>
            <p:spPr bwMode="auto">
              <a:xfrm>
                <a:off x="695325" y="1485900"/>
                <a:ext cx="8229600" cy="4525963"/>
              </a:xfrm>
              <a:prstGeom prst="rect">
                <a:avLst/>
              </a:prstGeom>
              <a:blipFill>
                <a:blip r:embed="rId4" cstate="print"/>
                <a:stretch>
                  <a:fillRect l="-2222" t="-943" r="-1704"/>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graphicFrame>
        <p:nvGraphicFramePr>
          <p:cNvPr id="8" name="Object 7"/>
          <p:cNvGraphicFramePr>
            <a:graphicFrameLocks noChangeAspect="1"/>
          </p:cNvGraphicFramePr>
          <p:nvPr>
            <p:extLst>
              <p:ext uri="{D42A27DB-BD31-4B8C-83A1-F6EECF244321}">
                <p14:modId xmlns:p14="http://schemas.microsoft.com/office/powerpoint/2010/main" val="3250528683"/>
              </p:ext>
            </p:extLst>
          </p:nvPr>
        </p:nvGraphicFramePr>
        <p:xfrm>
          <a:off x="1998663" y="3748088"/>
          <a:ext cx="5029200" cy="889000"/>
        </p:xfrm>
        <a:graphic>
          <a:graphicData uri="http://schemas.openxmlformats.org/presentationml/2006/ole">
            <mc:AlternateContent xmlns:mc="http://schemas.openxmlformats.org/markup-compatibility/2006">
              <mc:Choice xmlns:v="urn:schemas-microsoft-com:vml" Requires="v">
                <p:oleObj spid="_x0000_s9219" name="Equation" r:id="rId5" imgW="5029200" imgH="888840" progId="Equation.DSMT4">
                  <p:embed/>
                </p:oleObj>
              </mc:Choice>
              <mc:Fallback>
                <p:oleObj name="Equation" r:id="rId5" imgW="5029200" imgH="888840" progId="Equation.DSMT4">
                  <p:embed/>
                  <p:pic>
                    <p:nvPicPr>
                      <p:cNvPr id="0" name="Picture 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8663" y="3748088"/>
                        <a:ext cx="50292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8165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sz="quarter" idx="4294967295"/>
          </p:nvPr>
        </p:nvSpPr>
        <p:spPr bwMode="auto">
          <a:xfrm>
            <a:off x="695325" y="14859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We can be 95% confident that the difference in the mean ratings between people reading the text and seeing the graph and people just reading the text falls between 0.03 points and 1.38 points.</a:t>
            </a:r>
          </a:p>
          <a:p>
            <a:pPr marL="0" indent="0"/>
            <a:endParaRPr lang="en-US" altLang="en-US" dirty="0"/>
          </a:p>
          <a:p>
            <a:pPr marL="0" indent="0"/>
            <a:r>
              <a:rPr lang="en-US" dirty="0"/>
              <a:t>Since this interval is completely above 0, we can infer that people who read the text and see the graph rate the drug’s effectiveness, on average, by as little as 0.03 points and as much as 1.38 points higher (on a 9-point scale).</a:t>
            </a:r>
            <a:endParaRPr lang="en-US" altLang="en-US" dirty="0"/>
          </a:p>
        </p:txBody>
      </p:sp>
      <p:sp>
        <p:nvSpPr>
          <p:cNvPr id="138243" name="Rectangle 1"/>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Text with Graph</a:t>
            </a:r>
          </a:p>
        </p:txBody>
      </p:sp>
    </p:spTree>
    <p:extLst>
      <p:ext uri="{BB962C8B-B14F-4D97-AF65-F5344CB8AC3E}">
        <p14:creationId xmlns:p14="http://schemas.microsoft.com/office/powerpoint/2010/main" val="9010409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4386" name="Rectangle 2"/>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Check whether 0 falls in the interval. When it does, 0 is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 plausible value for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μ</m:t>
                    </m:r>
                    <m:r>
                      <a:rPr lang="en-US" altLang="en-US" b="0" i="1" baseline="-25000"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m:t>
                    </m:r>
                    <m:r>
                      <m:rPr>
                        <m:sty m:val="p"/>
                      </m:rPr>
                      <a:rPr lang="en-US" altLang="en-US" b="0" i="0" smtClean="0">
                        <a:latin typeface="Cambria Math" panose="02040503050406030204" pitchFamily="18" charset="0"/>
                        <a:ea typeface="Cambria Math" panose="02040503050406030204" pitchFamily="18" charset="0"/>
                      </a:rPr>
                      <m:t>μ</m:t>
                    </m:r>
                    <m:r>
                      <a:rPr lang="en-US" altLang="en-US" b="0" i="1" baseline="-25000" smtClean="0">
                        <a:latin typeface="Cambria Math" panose="02040503050406030204" pitchFamily="18" charset="0"/>
                        <a:ea typeface="Cambria Math" panose="02040503050406030204" pitchFamily="18" charset="0"/>
                      </a:rPr>
                      <m:t>2</m:t>
                    </m:r>
                  </m:oMath>
                </a14:m>
                <a:r>
                  <a:rPr lang="en-US" altLang="en-US" dirty="0"/>
                  <a:t>),  meaning that it is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possible that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m:t>
                    </m:r>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a:t>
                </a:r>
                <a:endParaRPr lang="en-US" altLang="en-US" baseline="-25000" dirty="0"/>
              </a:p>
              <a:p>
                <a:pPr marL="0" indent="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 confidence interval for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i="1">
                        <a:latin typeface="Cambria Math" panose="02040503050406030204" pitchFamily="18" charset="0"/>
                        <a:ea typeface="Cambria Math" panose="02040503050406030204" pitchFamily="18" charset="0"/>
                      </a:rPr>
                      <m:t>−</m:t>
                    </m:r>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 that contains only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positive numbers suggests that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i="1">
                        <a:latin typeface="Cambria Math" panose="02040503050406030204" pitchFamily="18" charset="0"/>
                        <a:ea typeface="Cambria Math" panose="02040503050406030204" pitchFamily="18" charset="0"/>
                      </a:rPr>
                      <m:t>−</m:t>
                    </m:r>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 is positive. We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then infer that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b="0" i="0" baseline="-25000" smtClean="0">
                        <a:latin typeface="Cambria Math" panose="02040503050406030204" pitchFamily="18" charset="0"/>
                        <a:ea typeface="Cambria Math" panose="02040503050406030204" pitchFamily="18" charset="0"/>
                      </a:rPr>
                      <m:t> </m:t>
                    </m:r>
                  </m:oMath>
                </a14:m>
                <a:r>
                  <a:rPr lang="en-US" altLang="en-US" dirty="0"/>
                  <a:t>is larger than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a:t>
                </a:r>
              </a:p>
            </p:txBody>
          </p:sp>
        </mc:Choice>
        <mc:Fallback xmlns="">
          <p:sp>
            <p:nvSpPr>
              <p:cNvPr id="144386" name="Rectangle 2"/>
              <p:cNvSpPr>
                <a:spLocks noGrp="1" noRot="1" noChangeAspect="1" noMove="1" noResize="1" noEditPoints="1" noAdjustHandles="1" noChangeArrowheads="1" noChangeShapeType="1" noTextEdit="1"/>
              </p:cNvSpPr>
              <p:nvPr>
                <p:ph type="body" sz="quarter" idx="4294967295"/>
              </p:nvPr>
            </p:nvSpPr>
            <p:spPr bwMode="auto">
              <a:xfrm>
                <a:off x="695325" y="1600200"/>
                <a:ext cx="8229600" cy="4525963"/>
              </a:xfrm>
              <a:prstGeom prst="rect">
                <a:avLst/>
              </a:prstGeom>
              <a:blipFill>
                <a:blip r:embed="rId3" cstate="print"/>
                <a:stretch>
                  <a:fillRect l="-2074" t="-94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4387" name="Rectangle 1"/>
          <p:cNvSpPr>
            <a:spLocks noGrp="1" noChangeArrowheads="1"/>
          </p:cNvSpPr>
          <p:nvPr>
            <p:ph type="title" idx="4294967295"/>
          </p:nvPr>
        </p:nvSpPr>
        <p:spPr bwMode="auto">
          <a:xfrm>
            <a:off x="685800" y="76200"/>
            <a:ext cx="81534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b="1" dirty="0">
                <a:latin typeface="Arial" panose="020B0604020202020204" pitchFamily="34" charset="0"/>
              </a:rPr>
              <a:t>Interpret a Confidence Interval for a Difference of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6434" name="Rectangle 2"/>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 confidence interval for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i="1">
                        <a:latin typeface="Cambria Math" panose="02040503050406030204" pitchFamily="18" charset="0"/>
                        <a:ea typeface="Cambria Math" panose="02040503050406030204" pitchFamily="18" charset="0"/>
                      </a:rPr>
                      <m:t>−</m:t>
                    </m:r>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 that contains only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negative numbers suggests that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i="1">
                        <a:latin typeface="Cambria Math" panose="02040503050406030204" pitchFamily="18" charset="0"/>
                        <a:ea typeface="Cambria Math" panose="02040503050406030204" pitchFamily="18" charset="0"/>
                      </a:rPr>
                      <m:t>−</m:t>
                    </m:r>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oMath>
                </a14:m>
                <a:r>
                  <a:rPr lang="en-US" altLang="en-US" dirty="0"/>
                  <a:t>) is negative.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We then infer that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1</m:t>
                    </m:r>
                    <m:r>
                      <a:rPr lang="en-US" altLang="en-US" b="0" i="1" baseline="-25000" smtClean="0">
                        <a:latin typeface="Cambria Math" panose="02040503050406030204" pitchFamily="18" charset="0"/>
                        <a:ea typeface="Cambria Math" panose="02040503050406030204" pitchFamily="18" charset="0"/>
                      </a:rPr>
                      <m:t> </m:t>
                    </m:r>
                  </m:oMath>
                </a14:m>
                <a:r>
                  <a:rPr lang="en-US" altLang="en-US" dirty="0"/>
                  <a:t>is smaller than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r>
                      <a:rPr lang="en-US" altLang="en-US" i="1" baseline="-25000">
                        <a:latin typeface="Cambria Math" panose="02040503050406030204" pitchFamily="18" charset="0"/>
                        <a:ea typeface="Cambria Math" panose="02040503050406030204" pitchFamily="18" charset="0"/>
                      </a:rPr>
                      <m:t>2</m:t>
                    </m:r>
                    <m:r>
                      <a:rPr lang="en-US" altLang="en-US" baseline="-25000">
                        <a:latin typeface="Cambria Math" panose="02040503050406030204" pitchFamily="18" charset="0"/>
                        <a:ea typeface="Cambria Math" panose="02040503050406030204" pitchFamily="18" charset="0"/>
                      </a:rPr>
                      <m:t> </m:t>
                    </m:r>
                  </m:oMath>
                </a14:m>
                <a:r>
                  <a:rPr lang="en-US" altLang="en-US" dirty="0"/>
                  <a:t>.</a:t>
                </a:r>
              </a:p>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Which group is labeled ‘1’ and which is labeled ‘2’ is   </a:t>
                </a:r>
              </a:p>
              <a:p>
                <a:pPr marL="0" inden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arbitrary.</a:t>
                </a:r>
              </a:p>
              <a:p>
                <a:pPr marL="0" indent="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mc:Choice>
        <mc:Fallback xmlns="">
          <p:sp>
            <p:nvSpPr>
              <p:cNvPr id="146434" name="Rectangle 2"/>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3" cstate="print"/>
                <a:stretch>
                  <a:fillRect l="-2148" t="-94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6435" name="Rectangle 1"/>
          <p:cNvSpPr>
            <a:spLocks noChangeArrowheads="1"/>
          </p:cNvSpPr>
          <p:nvPr/>
        </p:nvSpPr>
        <p:spPr bwMode="auto">
          <a:xfrm>
            <a:off x="685800" y="762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indent="-225425"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Interpret a Confidence Interval for a Difference of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1. Assumptions</a:t>
            </a:r>
            <a:endParaRPr lang="en-US" altLang="en-US" sz="900" b="1"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 quantitative response variable observed in each of two group</a:t>
            </a:r>
            <a:r>
              <a:rPr lang="en-US" altLang="en-US" dirty="0">
                <a:solidFill>
                  <a:schemeClr val="tx1"/>
                </a:solidFill>
              </a:rPr>
              <a:t>s</a:t>
            </a:r>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Independent random sample</a:t>
            </a:r>
            <a:r>
              <a:rPr lang="en-US" altLang="en-US" dirty="0">
                <a:solidFill>
                  <a:schemeClr val="tx1"/>
                </a:solidFill>
              </a:rPr>
              <a:t>s</a:t>
            </a:r>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Approximately normal population distribution for each grou</a:t>
            </a:r>
            <a:r>
              <a:rPr lang="en-US" altLang="en-US" dirty="0">
                <a:solidFill>
                  <a:schemeClr val="tx1"/>
                </a:solidFill>
              </a:rPr>
              <a:t>p</a:t>
            </a:r>
            <a:r>
              <a:rPr lang="en-US" altLang="en-US" dirty="0"/>
              <a:t> (This is mainly important for small sample sizes, and even then the two-sided test is robust to violations of this assumption).</a:t>
            </a:r>
          </a:p>
          <a:p>
            <a:pPr marL="974725"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148483" name="Rectangle 1"/>
          <p:cNvSpPr>
            <a:spLocks noGrp="1" noChangeArrowheads="1"/>
          </p:cNvSpPr>
          <p:nvPr>
            <p:ph type="title" idx="4294967295"/>
          </p:nvPr>
        </p:nvSpPr>
        <p:spPr bwMode="auto">
          <a:xfrm>
            <a:off x="685800" y="76200"/>
            <a:ext cx="8382000" cy="1173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b="1" dirty="0">
                <a:latin typeface="Arial" panose="020B0604020202020204" pitchFamily="34" charset="0"/>
              </a:rPr>
              <a:t>SUMMARY: Two-Sided Significance Test for Comparing Two Population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0530" name="Rectangle 2"/>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2. Hypotheses</a:t>
                </a:r>
              </a:p>
              <a:p>
                <a:pPr marL="0" indent="3175">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The null hypothesis is the hypothesis of no difference or  </a:t>
                </a:r>
              </a:p>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no effect:  </a:t>
                </a:r>
                <a:br>
                  <a:rPr lang="en-US" altLang="en-US" dirty="0"/>
                </a:br>
                <a:r>
                  <a:rPr lang="en-US" altLang="en-US" dirty="0"/>
                  <a:t>            H</a:t>
                </a:r>
                <a:r>
                  <a:rPr lang="en-US" altLang="en-US" baseline="-25000" dirty="0"/>
                  <a:t>0</a:t>
                </a:r>
                <a:r>
                  <a:rPr lang="en-US" altLang="en-US" dirty="0"/>
                  <a:t>: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μ</m:t>
                    </m:r>
                  </m:oMath>
                </a14:m>
                <a:r>
                  <a:rPr lang="en-US" altLang="en-US" baseline="-25000" dirty="0"/>
                  <a:t>1</a:t>
                </a:r>
                <a:r>
                  <a:rPr lang="en-US" altLang="en-US" dirty="0"/>
                  <a:t> =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a:t>
                </a:r>
                <a:endParaRPr lang="en-US" altLang="en-US"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                </a:t>
                </a:r>
              </a:p>
              <a:p>
                <a:pPr marL="0" indent="3175">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   The alternative hypothesis:</a:t>
                </a:r>
              </a:p>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         	</a:t>
                </a:r>
                <a:r>
                  <a:rPr lang="en-US" altLang="en-US" dirty="0"/>
                  <a:t> H</a:t>
                </a:r>
                <a:r>
                  <a:rPr lang="en-US" altLang="en-US" i="1" baseline="-25000" dirty="0">
                    <a:latin typeface="+mj-lt"/>
                  </a:rPr>
                  <a:t>a</a:t>
                </a:r>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1</a:t>
                </a:r>
                <a:r>
                  <a:rPr lang="en-US" altLang="en-US" dirty="0"/>
                  <a:t> </a:t>
                </a:r>
                <a14:m>
                  <m:oMath xmlns:m="http://schemas.openxmlformats.org/officeDocument/2006/math">
                    <m:r>
                      <a:rPr lang="en-US" altLang="en-US" i="1" dirty="0" smtClean="0">
                        <a:latin typeface="Cambria Math" panose="02040503050406030204" pitchFamily="18" charset="0"/>
                        <a:ea typeface="Cambria Math" panose="02040503050406030204" pitchFamily="18" charset="0"/>
                      </a:rPr>
                      <m:t>≠</m:t>
                    </m:r>
                  </m:oMath>
                </a14:m>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  </a:t>
                </a:r>
                <a:r>
                  <a:rPr lang="en-US" altLang="en-US" dirty="0"/>
                  <a:t>(two-sided test)</a:t>
                </a:r>
              </a:p>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         	</a:t>
                </a:r>
                <a:r>
                  <a:rPr lang="en-US" altLang="en-US" dirty="0"/>
                  <a:t> H</a:t>
                </a:r>
                <a:r>
                  <a:rPr lang="en-US" altLang="en-US" i="1" baseline="-25000" dirty="0">
                    <a:latin typeface="+mj-lt"/>
                  </a:rPr>
                  <a:t>a</a:t>
                </a:r>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1</a:t>
                </a:r>
                <a:r>
                  <a:rPr lang="en-US" altLang="en-US" dirty="0"/>
                  <a:t> </a:t>
                </a:r>
                <a14:m>
                  <m:oMath xmlns:m="http://schemas.openxmlformats.org/officeDocument/2006/math">
                    <m:r>
                      <a:rPr lang="en-US" altLang="en-US" b="0" i="1" dirty="0" smtClean="0">
                        <a:latin typeface="Cambria Math" panose="02040503050406030204" pitchFamily="18" charset="0"/>
                      </a:rPr>
                      <m:t>&gt;</m:t>
                    </m:r>
                  </m:oMath>
                </a14:m>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a:t>
                </a:r>
                <a:r>
                  <a:rPr lang="en-US" altLang="en-US" b="1" dirty="0"/>
                  <a:t> </a:t>
                </a:r>
                <a:r>
                  <a:rPr lang="en-US" altLang="en-US" dirty="0"/>
                  <a:t>(one-sided test)</a:t>
                </a:r>
              </a:p>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         	</a:t>
                </a:r>
                <a:r>
                  <a:rPr lang="en-US" altLang="en-US" dirty="0"/>
                  <a:t> H</a:t>
                </a:r>
                <a:r>
                  <a:rPr lang="en-US" altLang="en-US" i="1" baseline="-25000" dirty="0">
                    <a:latin typeface="+mj-lt"/>
                  </a:rPr>
                  <a:t>a</a:t>
                </a:r>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1</a:t>
                </a:r>
                <a:r>
                  <a:rPr lang="en-US" altLang="en-US" dirty="0"/>
                  <a:t> </a:t>
                </a:r>
                <a14:m>
                  <m:oMath xmlns:m="http://schemas.openxmlformats.org/officeDocument/2006/math">
                    <m:r>
                      <a:rPr lang="en-US" altLang="en-US" b="0" i="1" dirty="0" smtClean="0">
                        <a:latin typeface="Cambria Math" panose="02040503050406030204" pitchFamily="18" charset="0"/>
                      </a:rPr>
                      <m:t>&lt;</m:t>
                    </m:r>
                  </m:oMath>
                </a14:m>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a:t>
                </a:r>
                <a:r>
                  <a:rPr lang="en-US" altLang="en-US" b="1" dirty="0"/>
                  <a:t> </a:t>
                </a:r>
                <a:r>
                  <a:rPr lang="en-US" altLang="en-US" dirty="0"/>
                  <a:t>(one-sided test)</a:t>
                </a:r>
              </a:p>
              <a:p>
                <a:pPr marL="0" indent="3175">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p:txBody>
          </p:sp>
        </mc:Choice>
        <mc:Fallback xmlns="">
          <p:sp>
            <p:nvSpPr>
              <p:cNvPr id="150530" name="Rectangle 2"/>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rotWithShape="0">
                <a:blip r:embed="rId3" cstate="print"/>
                <a:stretch>
                  <a:fillRect l="-2148" t="-943" r="-519"/>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0531" name="Rectangle 1"/>
          <p:cNvSpPr>
            <a:spLocks noChangeArrowheads="1"/>
          </p:cNvSpPr>
          <p:nvPr/>
        </p:nvSpPr>
        <p:spPr bwMode="auto">
          <a:xfrm>
            <a:off x="685800" y="76200"/>
            <a:ext cx="83820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indent="-225425"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SUMMARY: Two-Sided Significance Test for Comparing Two Population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3. Test Statistic</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p:txBody>
      </p:sp>
      <p:sp>
        <p:nvSpPr>
          <p:cNvPr id="152581" name="Rectangle 1"/>
          <p:cNvSpPr>
            <a:spLocks noChangeArrowheads="1"/>
          </p:cNvSpPr>
          <p:nvPr/>
        </p:nvSpPr>
        <p:spPr bwMode="auto">
          <a:xfrm>
            <a:off x="685800" y="76200"/>
            <a:ext cx="83820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indent="-225425"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SUMMARY: Two-Sided Significance Test for Comparing Two Population Means</a:t>
            </a:r>
          </a:p>
        </p:txBody>
      </p:sp>
      <p:graphicFrame>
        <p:nvGraphicFramePr>
          <p:cNvPr id="2" name="Object 1"/>
          <p:cNvGraphicFramePr>
            <a:graphicFrameLocks noChangeAspect="1"/>
          </p:cNvGraphicFramePr>
          <p:nvPr>
            <p:extLst>
              <p:ext uri="{D42A27DB-BD31-4B8C-83A1-F6EECF244321}">
                <p14:modId xmlns:p14="http://schemas.microsoft.com/office/powerpoint/2010/main" val="617185544"/>
              </p:ext>
            </p:extLst>
          </p:nvPr>
        </p:nvGraphicFramePr>
        <p:xfrm>
          <a:off x="1540764" y="2698927"/>
          <a:ext cx="5689600" cy="1155700"/>
        </p:xfrm>
        <a:graphic>
          <a:graphicData uri="http://schemas.openxmlformats.org/presentationml/2006/ole">
            <mc:AlternateContent xmlns:mc="http://schemas.openxmlformats.org/markup-compatibility/2006">
              <mc:Choice xmlns:v="urn:schemas-microsoft-com:vml" Requires="v">
                <p:oleObj spid="_x0000_s10243" name="Equation" r:id="rId4" imgW="5689440" imgH="1155600" progId="Equation.DSMT4">
                  <p:embed/>
                </p:oleObj>
              </mc:Choice>
              <mc:Fallback>
                <p:oleObj name="Equation" r:id="rId4" imgW="5689440" imgH="1155600" progId="Equation.DSMT4">
                  <p:embed/>
                  <p:pic>
                    <p:nvPicPr>
                      <p:cNvPr id="0" name="Picture 1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0764" y="2698927"/>
                        <a:ext cx="56896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626" name="Rectangle 2"/>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4. P-value </a:t>
                </a:r>
              </a:p>
              <a:p>
                <a:pPr marL="571500" lvl="1"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dirty="0"/>
                  <a:t>P</a:t>
                </a:r>
                <a:r>
                  <a:rPr lang="en-US" altLang="en-US" dirty="0"/>
                  <a:t>-value = Two-tail probability from </a:t>
                </a:r>
                <a:r>
                  <a:rPr lang="en-US" altLang="en-US" i="1" dirty="0"/>
                  <a:t>t</a:t>
                </a:r>
                <a:r>
                  <a:rPr lang="en-US" altLang="en-US" dirty="0"/>
                  <a:t> distribution of values even more extreme than observed </a:t>
                </a:r>
                <a:r>
                  <a:rPr lang="en-US" altLang="en-US" i="1" dirty="0"/>
                  <a:t>t</a:t>
                </a:r>
                <a:r>
                  <a:rPr lang="en-US" altLang="en-US" dirty="0"/>
                  <a:t> test statistic, presuming the null hypothesis is true with </a:t>
                </a:r>
                <a:r>
                  <a:rPr lang="en-US" altLang="en-US" i="1" dirty="0"/>
                  <a:t>df</a:t>
                </a:r>
                <a:r>
                  <a:rPr lang="en-US" altLang="en-US" dirty="0"/>
                  <a:t> given by software.</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0" indent="31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5. Conclusion </a:t>
                </a:r>
              </a:p>
              <a:p>
                <a:pPr marL="571500" lvl="1" indent="0">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Smaller </a:t>
                </a:r>
                <a:r>
                  <a:rPr lang="en-US" altLang="en-US" i="1" dirty="0"/>
                  <a:t>P</a:t>
                </a:r>
                <a:r>
                  <a:rPr lang="en-US" altLang="en-US" dirty="0"/>
                  <a:t>-values give stronger evidence against H</a:t>
                </a:r>
                <a:r>
                  <a:rPr lang="en-US" altLang="en-US" baseline="-25000" dirty="0"/>
                  <a:t>0</a:t>
                </a:r>
                <a:r>
                  <a:rPr lang="en-US" altLang="en-US" dirty="0"/>
                  <a:t> and supporting H</a:t>
                </a:r>
                <a:r>
                  <a:rPr lang="en-US" altLang="en-US" i="1" baseline="-25000" dirty="0">
                    <a:latin typeface="+mj-lt"/>
                  </a:rPr>
                  <a:t>a</a:t>
                </a:r>
                <a:r>
                  <a:rPr lang="en-US" altLang="en-US" dirty="0"/>
                  <a:t>. Interpret the </a:t>
                </a:r>
                <a:r>
                  <a:rPr lang="en-US" altLang="en-US" i="1" dirty="0"/>
                  <a:t>P</a:t>
                </a:r>
                <a:r>
                  <a:rPr lang="en-US" altLang="en-US" dirty="0"/>
                  <a:t>-value in context, and if a decision is needed, reject H</a:t>
                </a:r>
                <a:r>
                  <a:rPr lang="en-US" altLang="en-US" baseline="-25000" dirty="0"/>
                  <a:t>0</a:t>
                </a:r>
                <a:r>
                  <a:rPr lang="en-US" altLang="en-US" dirty="0"/>
                  <a:t> if </a:t>
                </a:r>
                <a:r>
                  <a:rPr lang="en-US" altLang="en-US" i="1" dirty="0"/>
                  <a:t>P</a:t>
                </a:r>
                <a:r>
                  <a:rPr lang="en-US" altLang="en-US" dirty="0"/>
                  <a:t>-value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significance level (such as 0.05).</a:t>
                </a:r>
              </a:p>
            </p:txBody>
          </p:sp>
        </mc:Choice>
        <mc:Fallback xmlns="">
          <p:sp>
            <p:nvSpPr>
              <p:cNvPr id="154626" name="Rectangle 2"/>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3" cstate="print"/>
                <a:stretch>
                  <a:fillRect l="-2222" t="-943" r="-3111" b="-1887"/>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4627" name="Rectangle 1"/>
          <p:cNvSpPr>
            <a:spLocks noChangeArrowheads="1"/>
          </p:cNvSpPr>
          <p:nvPr/>
        </p:nvSpPr>
        <p:spPr bwMode="auto">
          <a:xfrm>
            <a:off x="685800" y="76200"/>
            <a:ext cx="83820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indent="-225425"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dirty="0">
                <a:solidFill>
                  <a:schemeClr val="tx1"/>
                </a:solidFill>
                <a:latin typeface="Arial" panose="020B0604020202020204" pitchFamily="34" charset="0"/>
              </a:rPr>
              <a:t>SUMMARY: Two-Sided Significance Test for Comparing Two Population Means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body" sz="quarter" idx="4294967295"/>
          </p:nvPr>
        </p:nvSpPr>
        <p:spPr bwMode="auto">
          <a:xfrm>
            <a:off x="762000" y="1600200"/>
            <a:ext cx="8153400" cy="457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An experiment investigated whether cell phone use impairs drivers’ reaction times, using a sample of students from the University of Utah.</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Experiment:</a:t>
            </a:r>
          </a:p>
          <a:p>
            <a:pPr marL="1089025"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64 college students</a:t>
            </a:r>
          </a:p>
          <a:p>
            <a:pPr marL="1089025"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1089025"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32 were randomly assigned to the cell phone group</a:t>
            </a:r>
          </a:p>
          <a:p>
            <a:pPr marL="1089025"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1089025" lvl="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32 to the control group</a:t>
            </a:r>
          </a:p>
        </p:txBody>
      </p:sp>
      <p:sp>
        <p:nvSpPr>
          <p:cNvPr id="156675" name="Rectangle 1"/>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1"/>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Experiment (continued):</a:t>
            </a:r>
          </a:p>
          <a:p>
            <a:pPr marL="1089025" lvl="1">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Students used a machine that simulated driving situations.</a:t>
            </a:r>
          </a:p>
          <a:p>
            <a:pPr marL="1089025" lvl="1">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At irregular periods a target flashed red or green. </a:t>
            </a:r>
          </a:p>
          <a:p>
            <a:pPr marL="1089025" lvl="1">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Participants were instructed to press a “brake button” as soon as possible when they detected a red light.</a:t>
            </a:r>
          </a:p>
          <a:p>
            <a:pPr marL="1089025" lvl="1">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control group listened to radio or books-on-tape while they performed the simulated driving. The cell phone group carried out a phone conversation about a political issue with someone in a separate room.</a:t>
            </a:r>
          </a:p>
        </p:txBody>
      </p:sp>
      <p:sp>
        <p:nvSpPr>
          <p:cNvPr id="158723"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For each subject, the experiment analyzed their </a:t>
            </a:r>
            <a:r>
              <a:rPr lang="en-US" altLang="en-US" i="1"/>
              <a:t>mean</a:t>
            </a:r>
            <a:r>
              <a:rPr lang="en-US" altLang="en-US"/>
              <a:t> response time over all the trials.</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Averaged over all trials and subjects, the </a:t>
            </a:r>
            <a:r>
              <a:rPr lang="en-US" altLang="en-US" i="1"/>
              <a:t>mean </a:t>
            </a:r>
            <a:r>
              <a:rPr lang="en-US" altLang="en-US"/>
              <a:t>response time for the </a:t>
            </a:r>
            <a:r>
              <a:rPr lang="en-US" altLang="en-US" i="1"/>
              <a:t>cell-phone group</a:t>
            </a:r>
            <a:r>
              <a:rPr lang="en-US" altLang="en-US"/>
              <a:t> was 585.2 milliseconds.</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The </a:t>
            </a:r>
            <a:r>
              <a:rPr lang="en-US" altLang="en-US" i="1"/>
              <a:t>mean</a:t>
            </a:r>
            <a:r>
              <a:rPr lang="en-US" altLang="en-US"/>
              <a:t> response time for the </a:t>
            </a:r>
            <a:r>
              <a:rPr lang="en-US" altLang="en-US" i="1"/>
              <a:t>control group</a:t>
            </a:r>
            <a:r>
              <a:rPr lang="en-US" altLang="en-US"/>
              <a:t> was 533.7 milliseconds.</a:t>
            </a:r>
          </a:p>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160771"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
          <p:cNvSpPr>
            <a:spLocks noGrp="1" noChangeArrowheads="1"/>
          </p:cNvSpPr>
          <p:nvPr>
            <p:ph type="body" sz="quarter" idx="4294967295"/>
          </p:nvPr>
        </p:nvSpPr>
        <p:spPr bwMode="auto">
          <a:xfrm>
            <a:off x="695325" y="1600200"/>
            <a:ext cx="8229600" cy="6159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t>Boxplots of data:</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a:p>
        </p:txBody>
      </p:sp>
      <p:sp>
        <p:nvSpPr>
          <p:cNvPr id="162819" name="TextBox 1"/>
          <p:cNvSpPr txBox="1">
            <a:spLocks noChangeArrowheads="1"/>
          </p:cNvSpPr>
          <p:nvPr/>
        </p:nvSpPr>
        <p:spPr bwMode="auto">
          <a:xfrm>
            <a:off x="946150" y="5562600"/>
            <a:ext cx="78930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b="1">
                <a:solidFill>
                  <a:schemeClr val="tx1"/>
                </a:solidFill>
                <a:latin typeface="Arial" panose="020B0604020202020204" pitchFamily="34" charset="0"/>
              </a:rPr>
              <a:t>Figure 10.6 MINITAB Box Plots of Response Times for Cell Phone Study.</a:t>
            </a:r>
          </a:p>
          <a:p>
            <a:r>
              <a:rPr lang="en-US" altLang="en-US" sz="1600" b="1">
                <a:solidFill>
                  <a:schemeClr val="tx1"/>
                </a:solidFill>
                <a:latin typeface="Arial" panose="020B0604020202020204" pitchFamily="34" charset="0"/>
              </a:rPr>
              <a:t>Question: </a:t>
            </a:r>
            <a:r>
              <a:rPr lang="en-US" altLang="en-US" sz="1600">
                <a:solidFill>
                  <a:schemeClr val="tx1"/>
                </a:solidFill>
                <a:latin typeface="Arial" panose="020B0604020202020204" pitchFamily="34" charset="0"/>
              </a:rPr>
              <a:t>Does either box plot show any irregularities that could affect the analysis?</a:t>
            </a:r>
          </a:p>
        </p:txBody>
      </p:sp>
      <p:sp>
        <p:nvSpPr>
          <p:cNvPr id="162820"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18004" y="2340864"/>
            <a:ext cx="4552950" cy="2524125"/>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Test the hypotheses:</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1400"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500" b="1" dirty="0"/>
              <a:t>              </a:t>
            </a:r>
            <a:r>
              <a:rPr lang="en-US" altLang="en-US" sz="2500" dirty="0"/>
              <a:t> </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500" dirty="0"/>
              <a:t>                    </a:t>
            </a:r>
            <a:r>
              <a:rPr lang="en-US" altLang="en-US" sz="2500" dirty="0">
                <a:solidFill>
                  <a:schemeClr val="tx1"/>
                </a:solidFill>
              </a:rPr>
              <a:t>against</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500" dirty="0"/>
              <a:t>               </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500" dirty="0"/>
          </a:p>
          <a:p>
            <a:pPr marL="0" lvl="1" indent="-2825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300" dirty="0"/>
              <a:t>				using a significance level of </a:t>
            </a:r>
            <a:r>
              <a:rPr lang="en-US" altLang="en-US" sz="2300" dirty="0">
                <a:solidFill>
                  <a:schemeClr val="tx1"/>
                </a:solidFill>
              </a:rPr>
              <a:t>0.05.</a:t>
            </a:r>
          </a:p>
        </p:txBody>
      </p:sp>
      <p:sp>
        <p:nvSpPr>
          <p:cNvPr id="164867"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graphicFrame>
        <p:nvGraphicFramePr>
          <p:cNvPr id="2" name="Object 1"/>
          <p:cNvGraphicFramePr>
            <a:graphicFrameLocks noChangeAspect="1"/>
          </p:cNvGraphicFramePr>
          <p:nvPr>
            <p:extLst>
              <p:ext uri="{D42A27DB-BD31-4B8C-83A1-F6EECF244321}">
                <p14:modId xmlns:p14="http://schemas.microsoft.com/office/powerpoint/2010/main" val="3154732368"/>
              </p:ext>
            </p:extLst>
          </p:nvPr>
        </p:nvGraphicFramePr>
        <p:xfrm>
          <a:off x="1824038" y="2308225"/>
          <a:ext cx="1676400" cy="444500"/>
        </p:xfrm>
        <a:graphic>
          <a:graphicData uri="http://schemas.openxmlformats.org/presentationml/2006/ole">
            <mc:AlternateContent xmlns:mc="http://schemas.openxmlformats.org/markup-compatibility/2006">
              <mc:Choice xmlns:v="urn:schemas-microsoft-com:vml" Requires="v">
                <p:oleObj spid="_x0000_s11268" name="Equation" r:id="rId4" imgW="1676160" imgH="444240" progId="Equation.DSMT4">
                  <p:embed/>
                </p:oleObj>
              </mc:Choice>
              <mc:Fallback>
                <p:oleObj name="Equation" r:id="rId4" imgW="1676160" imgH="444240" progId="Equation.DSMT4">
                  <p:embed/>
                  <p:pic>
                    <p:nvPicPr>
                      <p:cNvPr id="0" name="Picture 2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4038" y="2308225"/>
                        <a:ext cx="16764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381383198"/>
              </p:ext>
            </p:extLst>
          </p:nvPr>
        </p:nvGraphicFramePr>
        <p:xfrm>
          <a:off x="1773238" y="3417888"/>
          <a:ext cx="1854200" cy="444500"/>
        </p:xfrm>
        <a:graphic>
          <a:graphicData uri="http://schemas.openxmlformats.org/presentationml/2006/ole">
            <mc:AlternateContent xmlns:mc="http://schemas.openxmlformats.org/markup-compatibility/2006">
              <mc:Choice xmlns:v="urn:schemas-microsoft-com:vml" Requires="v">
                <p:oleObj spid="_x0000_s11269" name="Equation" r:id="rId6" imgW="1854000" imgH="444240" progId="Equation.DSMT4">
                  <p:embed/>
                </p:oleObj>
              </mc:Choice>
              <mc:Fallback>
                <p:oleObj name="Equation" r:id="rId6" imgW="1854000" imgH="444240" progId="Equation.DSMT4">
                  <p:embed/>
                  <p:pic>
                    <p:nvPicPr>
                      <p:cNvPr id="0" name="Picture 2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3238" y="3417888"/>
                        <a:ext cx="18542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Box 1"/>
          <p:cNvSpPr txBox="1">
            <a:spLocks noChangeArrowheads="1"/>
          </p:cNvSpPr>
          <p:nvPr/>
        </p:nvSpPr>
        <p:spPr bwMode="auto">
          <a:xfrm>
            <a:off x="918210" y="5605272"/>
            <a:ext cx="7696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b="1" dirty="0">
                <a:solidFill>
                  <a:schemeClr val="tx1"/>
                </a:solidFill>
                <a:latin typeface="Arial" panose="020B0604020202020204" pitchFamily="34" charset="0"/>
              </a:rPr>
              <a:t>Table 10.7 MINITAB Output Comparing Mean Response Times for Cell Phone</a:t>
            </a:r>
          </a:p>
          <a:p>
            <a:r>
              <a:rPr lang="en-US" altLang="en-US" sz="1600" b="1" dirty="0">
                <a:solidFill>
                  <a:schemeClr val="tx1"/>
                </a:solidFill>
                <a:latin typeface="Arial" panose="020B0604020202020204" pitchFamily="34" charset="0"/>
              </a:rPr>
              <a:t>and Control Groups</a:t>
            </a:r>
            <a:endParaRPr lang="en-US" altLang="en-US" sz="1600" dirty="0">
              <a:solidFill>
                <a:schemeClr val="tx1"/>
              </a:solidFill>
              <a:latin typeface="Arial" panose="020B0604020202020204" pitchFamily="34" charset="0"/>
            </a:endParaRPr>
          </a:p>
        </p:txBody>
      </p:sp>
      <p:sp>
        <p:nvSpPr>
          <p:cNvPr id="168963"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3040" y="1563624"/>
            <a:ext cx="6606540" cy="3824839"/>
          </a:xfrm>
          <a:prstGeom prst="rect">
            <a:avLst/>
          </a:prstGeom>
        </p:spPr>
      </p:pic>
      <p:sp>
        <p:nvSpPr>
          <p:cNvPr id="7" name="Rectangle 6"/>
          <p:cNvSpPr/>
          <p:nvPr/>
        </p:nvSpPr>
        <p:spPr bwMode="auto">
          <a:xfrm>
            <a:off x="3872484" y="4828032"/>
            <a:ext cx="2331720" cy="388620"/>
          </a:xfrm>
          <a:prstGeom prst="rect">
            <a:avLst/>
          </a:prstGeom>
          <a:solidFill>
            <a:srgbClr val="FFFF00">
              <a:alpha val="30196"/>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endParaRPr kumimoji="0" lang="en-US" sz="2400" b="0" i="0" u="none" strike="noStrike" cap="none" normalizeH="0" baseline="0" dirty="0">
              <a:ln>
                <a:noFill/>
              </a:ln>
              <a:solidFill>
                <a:schemeClr val="bg1"/>
              </a:solidFill>
              <a:effectLst/>
              <a:latin typeface="Times New Roman" pitchFamily="16" charset="0"/>
              <a:ea typeface="Microsoft YaHei"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Conclusion:</a:t>
            </a:r>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a:t>
            </a:r>
            <a:r>
              <a:rPr lang="en-US" altLang="en-US" b="1" dirty="0"/>
              <a:t>P-value</a:t>
            </a:r>
            <a:r>
              <a:rPr lang="en-US" altLang="en-US" dirty="0"/>
              <a:t> is </a:t>
            </a:r>
            <a:r>
              <a:rPr lang="en-US" altLang="en-US" i="1" dirty="0"/>
              <a:t>less</a:t>
            </a:r>
            <a:r>
              <a:rPr lang="en-US" altLang="en-US" dirty="0"/>
              <a:t> than 0.05, so we can </a:t>
            </a:r>
            <a:r>
              <a:rPr lang="en-US" altLang="en-US" b="1" dirty="0"/>
              <a:t>reject </a:t>
            </a:r>
            <a:r>
              <a:rPr lang="en-US" altLang="en-US" dirty="0"/>
              <a:t>H</a:t>
            </a:r>
            <a:r>
              <a:rPr lang="en-US" altLang="en-US" baseline="-25000" dirty="0"/>
              <a:t>0.</a:t>
            </a:r>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baseline="-25000" dirty="0"/>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There is enough evidence to conclude that the population mean response times differ between the cell phone and control groups.</a:t>
            </a:r>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a:t>
            </a:r>
            <a:r>
              <a:rPr lang="en-US" altLang="en-US" i="1" dirty="0"/>
              <a:t>sample means</a:t>
            </a:r>
            <a:r>
              <a:rPr lang="en-US" altLang="en-US" dirty="0"/>
              <a:t> suggest that the population mean is higher for the cell phone group.</a:t>
            </a:r>
          </a:p>
        </p:txBody>
      </p:sp>
      <p:sp>
        <p:nvSpPr>
          <p:cNvPr id="171011"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1"/>
          <p:cNvSpPr>
            <a:spLocks noGrp="1" noChangeArrowheads="1"/>
          </p:cNvSpPr>
          <p:nvPr>
            <p:ph type="body" sz="quarter" idx="4294967295"/>
          </p:nvPr>
        </p:nvSpPr>
        <p:spPr bwMode="auto">
          <a:xfrm>
            <a:off x="914400" y="1600200"/>
            <a:ext cx="79248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What do the box plots tell us?</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There is an extreme </a:t>
            </a:r>
            <a:r>
              <a:rPr lang="en-US" altLang="en-US" i="1" dirty="0"/>
              <a:t>outlier</a:t>
            </a:r>
            <a:r>
              <a:rPr lang="en-US" altLang="en-US" dirty="0"/>
              <a:t> for the cell phone group.</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It is a good idea to make sure the results of the analysis aren’t affected too strongly by that single observation.</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Delete the extreme outlier and redo the analysis.</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mean and standard deviation for the cell phone group now decrease </a:t>
            </a:r>
            <a:r>
              <a:rPr lang="en-US" altLang="en-US" i="1" dirty="0"/>
              <a:t>substantially</a:t>
            </a:r>
            <a:r>
              <a:rPr lang="en-US" altLang="en-US" dirty="0"/>
              <a:t>. However, the </a:t>
            </a:r>
            <a:r>
              <a:rPr lang="en-US" altLang="en-US" i="1" dirty="0"/>
              <a:t>t</a:t>
            </a:r>
            <a:r>
              <a:rPr lang="en-US" altLang="en-US" dirty="0"/>
              <a:t> test statistic is not much different, and the P-value is still small, 0.015, leading to the same conclusion.</a:t>
            </a:r>
          </a:p>
        </p:txBody>
      </p:sp>
      <p:sp>
        <p:nvSpPr>
          <p:cNvPr id="173059"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1"/>
          <p:cNvSpPr>
            <a:spLocks noGrp="1" noChangeArrowheads="1"/>
          </p:cNvSpPr>
          <p:nvPr>
            <p:ph type="body" sz="quarter" idx="4294967295"/>
          </p:nvPr>
        </p:nvSpPr>
        <p:spPr bwMode="auto">
          <a:xfrm>
            <a:off x="914400" y="1600200"/>
            <a:ext cx="7924800" cy="4479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lnSpc>
                <a:spcPct val="90000"/>
              </a:lnSpc>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Insight:  </a:t>
            </a:r>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In practice, you should </a:t>
            </a:r>
            <a:r>
              <a:rPr lang="en-US" altLang="en-US" i="1" dirty="0"/>
              <a:t>not</a:t>
            </a:r>
            <a:r>
              <a:rPr lang="en-US" altLang="en-US" dirty="0"/>
              <a:t> delete outliers from a data set without </a:t>
            </a:r>
            <a:r>
              <a:rPr lang="en-US" altLang="en-US" i="1" dirty="0"/>
              <a:t>sufficient cause</a:t>
            </a:r>
            <a:r>
              <a:rPr lang="en-US" altLang="en-US" dirty="0"/>
              <a:t> (i.e., if it seems the observation was incorrectly recorded).</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It </a:t>
            </a:r>
            <a:r>
              <a:rPr lang="en-US" altLang="en-US" dirty="0">
                <a:solidFill>
                  <a:schemeClr val="tx1"/>
                </a:solidFill>
              </a:rPr>
              <a:t>is,</a:t>
            </a:r>
            <a:r>
              <a:rPr lang="en-US" altLang="en-US" b="1" dirty="0">
                <a:solidFill>
                  <a:srgbClr val="FF0000"/>
                </a:solidFill>
              </a:rPr>
              <a:t> </a:t>
            </a:r>
            <a:r>
              <a:rPr lang="en-US" altLang="en-US" dirty="0"/>
              <a:t>however, a good idea to check for </a:t>
            </a:r>
            <a:r>
              <a:rPr lang="en-US" altLang="en-US" i="1" dirty="0"/>
              <a:t>sensitivity</a:t>
            </a:r>
            <a:r>
              <a:rPr lang="en-US" altLang="en-US" dirty="0"/>
              <a:t> of an analysis to an outlier.</a:t>
            </a:r>
          </a:p>
          <a:p>
            <a:pPr marL="60325"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If the results change much, it means that the inference including the outlier is on shaky ground.</a:t>
            </a:r>
          </a:p>
        </p:txBody>
      </p:sp>
      <p:sp>
        <p:nvSpPr>
          <p:cNvPr id="175107" name="Rectangle 1"/>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sz="3200" b="1">
                <a:solidFill>
                  <a:srgbClr val="000000"/>
                </a:solidFill>
                <a:latin typeface="Arial" panose="020B0604020202020204" pitchFamily="34" charset="0"/>
              </a:rPr>
              <a:t>Example: Cell Phone Use While Driving Impair Reaction Times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body" sz="quarter" idx="4294967295"/>
          </p:nvPr>
        </p:nvSpPr>
        <p:spPr bwMode="auto">
          <a:xfrm>
            <a:off x="762000" y="1485900"/>
            <a:ext cx="8077200" cy="2209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An alternative </a:t>
            </a:r>
            <a:r>
              <a:rPr lang="en-US" altLang="en-US" i="1" dirty="0"/>
              <a:t>t-</a:t>
            </a:r>
            <a:r>
              <a:rPr lang="en-US" altLang="en-US" dirty="0"/>
              <a:t>method can be used when, under the null hypothesis, it is reasonable to expect the </a:t>
            </a:r>
            <a:r>
              <a:rPr lang="en-US" altLang="en-US" i="1" dirty="0"/>
              <a:t>variability</a:t>
            </a:r>
            <a:r>
              <a:rPr lang="en-US" altLang="en-US" dirty="0"/>
              <a:t> as well as the mean to be the same.</a:t>
            </a:r>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400" dirty="0"/>
          </a:p>
          <a:p>
            <a:pPr marL="0" indent="3175">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This method requires the assumption that the population standard deviations be equal.</a:t>
            </a:r>
          </a:p>
        </p:txBody>
      </p:sp>
      <p:sp>
        <p:nvSpPr>
          <p:cNvPr id="68611" name="Rectangle 1"/>
          <p:cNvSpPr>
            <a:spLocks noGrp="1" noChangeArrowheads="1"/>
          </p:cNvSpPr>
          <p:nvPr>
            <p:ph type="title" idx="4294967295"/>
          </p:nvPr>
        </p:nvSpPr>
        <p:spPr bwMode="auto">
          <a:xfrm>
            <a:off x="747713" y="335280"/>
            <a:ext cx="81534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sz="2900" b="1" dirty="0">
                <a:latin typeface="Arial" panose="020B0604020202020204" pitchFamily="34" charset="0"/>
              </a:rPr>
              <a:t>Comparing Means, Assuming Equal Population Standard Deviations</a:t>
            </a:r>
          </a:p>
        </p:txBody>
      </p:sp>
      <p:sp>
        <p:nvSpPr>
          <p:cNvPr id="179204" name="TextBox 1"/>
          <p:cNvSpPr txBox="1">
            <a:spLocks noChangeArrowheads="1"/>
          </p:cNvSpPr>
          <p:nvPr/>
        </p:nvSpPr>
        <p:spPr bwMode="auto">
          <a:xfrm>
            <a:off x="573368" y="4098083"/>
            <a:ext cx="264109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600" b="1" dirty="0">
                <a:solidFill>
                  <a:schemeClr val="tx1"/>
                </a:solidFill>
                <a:latin typeface="Arial" panose="020B0604020202020204" pitchFamily="34" charset="0"/>
              </a:rPr>
              <a:t>Figure 10.7 Two Groups With Equal Population Standard Deviations. Question: </a:t>
            </a:r>
            <a:r>
              <a:rPr lang="en-US" altLang="en-US" sz="1600" dirty="0">
                <a:solidFill>
                  <a:schemeClr val="tx1"/>
                </a:solidFill>
                <a:latin typeface="Arial" panose="020B0604020202020204" pitchFamily="34" charset="0"/>
              </a:rPr>
              <a:t>What would a graph of the sample data look like to make you doubt this assumption?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95244" y="3739896"/>
            <a:ext cx="5955622" cy="2610936"/>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1250" name="Rectangle 2"/>
              <p:cNvSpPr>
                <a:spLocks noGrp="1" noChangeArrowheads="1"/>
              </p:cNvSpPr>
              <p:nvPr>
                <p:ph type="body" sz="quarter" idx="4294967295"/>
              </p:nvPr>
            </p:nvSpPr>
            <p:spPr bwMode="auto">
              <a:xfrm>
                <a:off x="773113"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This alternative method estimates the common value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oMath>
                </a14:m>
                <a:r>
                  <a:rPr lang="en-US" altLang="en-US" dirty="0"/>
                  <a:t> of     </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14:m>
                  <m:oMath xmlns:m="http://schemas.openxmlformats.org/officeDocument/2006/math">
                    <m:r>
                      <a:rPr lang="en-US" altLang="en-US" i="1">
                        <a:latin typeface="Cambria Math" panose="02040503050406030204" pitchFamily="18" charset="0"/>
                        <a:ea typeface="Cambria Math" panose="02040503050406030204" pitchFamily="18" charset="0"/>
                      </a:rPr>
                      <m:t>𝜎</m:t>
                    </m:r>
                  </m:oMath>
                </a14:m>
                <a:r>
                  <a:rPr lang="en-US" altLang="en-US" baseline="-25000" dirty="0"/>
                  <a:t>1</a:t>
                </a:r>
                <a:r>
                  <a:rPr lang="en-US" altLang="en-US" dirty="0"/>
                  <a:t> and </a:t>
                </a:r>
                <a14:m>
                  <m:oMath xmlns:m="http://schemas.openxmlformats.org/officeDocument/2006/math">
                    <m:r>
                      <a:rPr lang="en-US" altLang="en-US" i="1">
                        <a:latin typeface="Cambria Math" panose="02040503050406030204" pitchFamily="18" charset="0"/>
                        <a:ea typeface="Cambria Math" panose="02040503050406030204" pitchFamily="18" charset="0"/>
                      </a:rPr>
                      <m:t>𝜎</m:t>
                    </m:r>
                  </m:oMath>
                </a14:m>
                <a:r>
                  <a:rPr lang="en-US" altLang="en-US" baseline="-25000" dirty="0"/>
                  <a:t>2 </a:t>
                </a:r>
                <a:r>
                  <a:rPr lang="en-US" altLang="en-US" dirty="0"/>
                  <a:t>by:</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r>
                  <a:rPr lang="en-US" dirty="0"/>
                  <a:t>The degrees of freedom for this method are </a:t>
                </a:r>
                <a:r>
                  <a:rPr lang="en-US" i="1" dirty="0">
                    <a:latin typeface="+mj-lt"/>
                  </a:rPr>
                  <a:t>df </a:t>
                </a:r>
                <a:r>
                  <a:rPr lang="en-US" dirty="0">
                    <a:latin typeface="+mj-lt"/>
                  </a:rPr>
                  <a:t>= </a:t>
                </a:r>
                <a:r>
                  <a:rPr lang="en-US" i="1" dirty="0">
                    <a:latin typeface="+mj-lt"/>
                  </a:rPr>
                  <a:t>n</a:t>
                </a:r>
                <a:r>
                  <a:rPr lang="en-US" baseline="-25000" dirty="0">
                    <a:latin typeface="+mj-lt"/>
                  </a:rPr>
                  <a:t>1</a:t>
                </a:r>
                <a:r>
                  <a:rPr lang="en-US" dirty="0">
                    <a:latin typeface="+mj-lt"/>
                  </a:rPr>
                  <a:t> + </a:t>
                </a:r>
                <a:r>
                  <a:rPr lang="en-US" i="1" dirty="0">
                    <a:latin typeface="+mj-lt"/>
                  </a:rPr>
                  <a:t>n</a:t>
                </a:r>
                <a:r>
                  <a:rPr lang="en-US" baseline="-25000" dirty="0">
                    <a:latin typeface="+mj-lt"/>
                  </a:rPr>
                  <a:t>2 </a:t>
                </a:r>
                <a:r>
                  <a:rPr lang="en-US" dirty="0">
                    <a:latin typeface="+mj-lt"/>
                  </a:rPr>
                  <a:t>– 2</a:t>
                </a:r>
                <a:r>
                  <a:rPr lang="en-US" dirty="0"/>
                  <a:t>,</a:t>
                </a:r>
              </a:p>
              <a:p>
                <a:r>
                  <a:rPr lang="en-US" dirty="0"/>
                  <a:t>which appears in the denominator of the formula for </a:t>
                </a:r>
                <a:r>
                  <a:rPr lang="en-US" i="1" dirty="0"/>
                  <a:t>s.</a:t>
                </a:r>
                <a:endParaRPr lang="en-US" altLang="en-US" dirty="0"/>
              </a:p>
              <a:p>
                <a:pPr marL="0" indent="0">
                  <a:spcBef>
                    <a:spcPts val="800"/>
                  </a:spcBef>
                  <a:buFontTx/>
                  <a:buNone/>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buFontTx/>
                  <a:buNone/>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latin typeface="Times New Roman" panose="02020603050405020304" pitchFamily="18" charset="0"/>
                  </a:rPr>
                  <a:t> </a:t>
                </a:r>
              </a:p>
            </p:txBody>
          </p:sp>
        </mc:Choice>
        <mc:Fallback xmlns="">
          <p:sp>
            <p:nvSpPr>
              <p:cNvPr id="181250" name="Rectangle 2"/>
              <p:cNvSpPr>
                <a:spLocks noGrp="1" noRot="1" noChangeAspect="1" noMove="1" noResize="1" noEditPoints="1" noAdjustHandles="1" noChangeArrowheads="1" noChangeShapeType="1" noTextEdit="1"/>
              </p:cNvSpPr>
              <p:nvPr>
                <p:ph type="body" sz="quarter" idx="4294967295"/>
              </p:nvPr>
            </p:nvSpPr>
            <p:spPr bwMode="auto">
              <a:xfrm>
                <a:off x="773113" y="1600200"/>
                <a:ext cx="8229600" cy="4525963"/>
              </a:xfrm>
              <a:prstGeom prst="rect">
                <a:avLst/>
              </a:prstGeom>
              <a:blipFill>
                <a:blip r:embed="rId4" cstate="print"/>
                <a:stretch>
                  <a:fillRect l="-2296" t="-943" r="-1407"/>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81251" name="Rectangle 1"/>
          <p:cNvSpPr>
            <a:spLocks noGrp="1" noChangeArrowheads="1"/>
          </p:cNvSpPr>
          <p:nvPr>
            <p:ph type="title" idx="4294967295"/>
          </p:nvPr>
        </p:nvSpPr>
        <p:spPr bwMode="auto">
          <a:xfrm>
            <a:off x="685800" y="400993"/>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b="1" dirty="0">
                <a:solidFill>
                  <a:srgbClr val="000000"/>
                </a:solidFill>
                <a:latin typeface="Arial" panose="020B0604020202020204" pitchFamily="34" charset="0"/>
              </a:rPr>
              <a:t>  The Pooled Standard Deviation</a:t>
            </a:r>
          </a:p>
        </p:txBody>
      </p:sp>
      <p:graphicFrame>
        <p:nvGraphicFramePr>
          <p:cNvPr id="2" name="Object 1"/>
          <p:cNvGraphicFramePr>
            <a:graphicFrameLocks noChangeAspect="1"/>
          </p:cNvGraphicFramePr>
          <p:nvPr>
            <p:extLst>
              <p:ext uri="{D42A27DB-BD31-4B8C-83A1-F6EECF244321}">
                <p14:modId xmlns:p14="http://schemas.microsoft.com/office/powerpoint/2010/main" val="1660963813"/>
              </p:ext>
            </p:extLst>
          </p:nvPr>
        </p:nvGraphicFramePr>
        <p:xfrm>
          <a:off x="2240280" y="2962656"/>
          <a:ext cx="4064000" cy="1155700"/>
        </p:xfrm>
        <a:graphic>
          <a:graphicData uri="http://schemas.openxmlformats.org/presentationml/2006/ole">
            <mc:AlternateContent xmlns:mc="http://schemas.openxmlformats.org/markup-compatibility/2006">
              <mc:Choice xmlns:v="urn:schemas-microsoft-com:vml" Requires="v">
                <p:oleObj spid="_x0000_s12291" name="Equation" r:id="rId5" imgW="4063680" imgH="1155600" progId="Equation.DSMT4">
                  <p:embed/>
                </p:oleObj>
              </mc:Choice>
              <mc:Fallback>
                <p:oleObj name="Equation" r:id="rId5" imgW="4063680" imgH="1155600" progId="Equation.DSMT4">
                  <p:embed/>
                  <p:pic>
                    <p:nvPicPr>
                      <p:cNvPr id="0" name="Picture 2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0280" y="2962656"/>
                        <a:ext cx="40640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3298" name="Rectangle 2"/>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Using the pooled standard deviation estimate </a:t>
                </a:r>
                <a:r>
                  <a:rPr lang="en-US" altLang="en-US" i="1" dirty="0"/>
                  <a:t>s</a:t>
                </a:r>
                <a:r>
                  <a:rPr lang="en-US" altLang="en-US" dirty="0"/>
                  <a:t> of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𝜎</m:t>
                    </m:r>
                    <m:r>
                      <a:rPr lang="en-US" altLang="en-US" b="0" i="1" baseline="-25000"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𝜎</m:t>
                    </m:r>
                  </m:oMath>
                </a14:m>
                <a:r>
                  <a:rPr lang="en-US" altLang="en-US" baseline="-25000" dirty="0"/>
                  <a:t>2</a:t>
                </a:r>
                <a:r>
                  <a:rPr lang="en-US" altLang="en-US" dirty="0"/>
                  <a:t>, the standard error of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𝑥</m:t>
                        </m:r>
                      </m:e>
                    </m:acc>
                  </m:oMath>
                </a14:m>
                <a:r>
                  <a:rPr lang="en-US" altLang="en-US" baseline="-25000" dirty="0"/>
                  <a:t>1</a:t>
                </a:r>
                <a:r>
                  <a:rPr lang="en-US" altLang="en-US" dirty="0"/>
                  <a:t> –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𝑥</m:t>
                        </m:r>
                      </m:e>
                    </m:acc>
                  </m:oMath>
                </a14:m>
                <a:r>
                  <a:rPr lang="en-US" altLang="en-US" baseline="-25000" dirty="0"/>
                  <a:t>2</a:t>
                </a:r>
                <a:r>
                  <a:rPr lang="en-US" altLang="en-US" dirty="0"/>
                  <a:t>) simplifies to</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latin typeface="Times New Roman" panose="02020603050405020304" pitchFamily="18" charset="0"/>
                  </a:rPr>
                  <a:t> </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p:txBody>
          </p:sp>
        </mc:Choice>
        <mc:Fallback xmlns="">
          <p:sp>
            <p:nvSpPr>
              <p:cNvPr id="183298" name="Rectangle 2"/>
              <p:cNvSpPr>
                <a:spLocks noGrp="1" noRot="1" noChangeAspect="1" noMove="1" noResize="1" noEditPoints="1" noAdjustHandles="1" noChangeArrowheads="1" noChangeShapeType="1" noTextEdit="1"/>
              </p:cNvSpPr>
              <p:nvPr>
                <p:ph type="body" sz="quarter" idx="4294967295"/>
              </p:nvPr>
            </p:nvSpPr>
            <p:spPr bwMode="auto">
              <a:xfrm>
                <a:off x="695325" y="1600200"/>
                <a:ext cx="8229600" cy="4525963"/>
              </a:xfrm>
              <a:prstGeom prst="rect">
                <a:avLst/>
              </a:prstGeom>
              <a:blipFill>
                <a:blip r:embed="rId4" cstate="print"/>
                <a:stretch>
                  <a:fillRect l="-2222" t="-94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0659" name="Rectangle 1"/>
          <p:cNvSpPr>
            <a:spLocks noGrp="1" noChangeArrowheads="1"/>
          </p:cNvSpPr>
          <p:nvPr>
            <p:ph type="title" idx="4294967295"/>
          </p:nvPr>
        </p:nvSpPr>
        <p:spPr bwMode="auto">
          <a:xfrm>
            <a:off x="623888" y="87313"/>
            <a:ext cx="8534400" cy="9715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sz="2400" b="1" dirty="0">
                <a:solidFill>
                  <a:srgbClr val="000000"/>
                </a:solidFill>
                <a:latin typeface="Arial" panose="020B0604020202020204" pitchFamily="34" charset="0"/>
              </a:rPr>
              <a:t>SUMMARY: Comparing Population Means, Assuming Equal Population Standard Deviations</a:t>
            </a:r>
          </a:p>
        </p:txBody>
      </p:sp>
      <p:graphicFrame>
        <p:nvGraphicFramePr>
          <p:cNvPr id="2" name="Object 1"/>
          <p:cNvGraphicFramePr>
            <a:graphicFrameLocks noChangeAspect="1"/>
          </p:cNvGraphicFramePr>
          <p:nvPr>
            <p:extLst>
              <p:ext uri="{D42A27DB-BD31-4B8C-83A1-F6EECF244321}">
                <p14:modId xmlns:p14="http://schemas.microsoft.com/office/powerpoint/2010/main" val="3844711416"/>
              </p:ext>
            </p:extLst>
          </p:nvPr>
        </p:nvGraphicFramePr>
        <p:xfrm>
          <a:off x="5054600" y="3149600"/>
          <a:ext cx="914400" cy="358775"/>
        </p:xfrm>
        <a:graphic>
          <a:graphicData uri="http://schemas.openxmlformats.org/presentationml/2006/ole">
            <mc:AlternateContent xmlns:mc="http://schemas.openxmlformats.org/markup-compatibility/2006">
              <mc:Choice xmlns:v="urn:schemas-microsoft-com:vml" Requires="v">
                <p:oleObj spid="_x0000_s13316" name="Equation" r:id="rId5" imgW="914400" imgH="358560" progId="Equation.DSMT4">
                  <p:embed/>
                </p:oleObj>
              </mc:Choice>
              <mc:Fallback>
                <p:oleObj name="Equation" r:id="rId5" imgW="914400" imgH="358560" progId="Equation.DSMT4">
                  <p:embed/>
                  <p:pic>
                    <p:nvPicPr>
                      <p:cNvPr id="0" name="Picture 3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4600" y="3149600"/>
                        <a:ext cx="914400"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897091635"/>
              </p:ext>
            </p:extLst>
          </p:nvPr>
        </p:nvGraphicFramePr>
        <p:xfrm>
          <a:off x="2084832" y="2571750"/>
          <a:ext cx="4140200" cy="1155700"/>
        </p:xfrm>
        <a:graphic>
          <a:graphicData uri="http://schemas.openxmlformats.org/presentationml/2006/ole">
            <mc:AlternateContent xmlns:mc="http://schemas.openxmlformats.org/markup-compatibility/2006">
              <mc:Choice xmlns:v="urn:schemas-microsoft-com:vml" Requires="v">
                <p:oleObj spid="_x0000_s13317" name="Equation" r:id="rId7" imgW="4140000" imgH="1155600" progId="Equation.DSMT4">
                  <p:embed/>
                </p:oleObj>
              </mc:Choice>
              <mc:Fallback>
                <p:oleObj name="Equation" r:id="rId7" imgW="4140000" imgH="1155600" progId="Equation.DSMT4">
                  <p:embed/>
                  <p:pic>
                    <p:nvPicPr>
                      <p:cNvPr id="0" name="Picture 3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4832" y="2571750"/>
                        <a:ext cx="41402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3298" name="Rectangle 2"/>
              <p:cNvSpPr>
                <a:spLocks noGrp="1" noChangeArrowheads="1"/>
              </p:cNvSpPr>
              <p:nvPr>
                <p:ph type="body" sz="quarter" idx="4294967295"/>
              </p:nvPr>
            </p:nvSpPr>
            <p:spPr bwMode="auto">
              <a:xfrm>
                <a:off x="695325" y="1600200"/>
                <a:ext cx="8229600" cy="4525963"/>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dirty="0"/>
                  <a:t>Otherwise, inference formulas look the same as those that do not assume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baseline="-25000" dirty="0"/>
                  <a:t>1</a:t>
                </a:r>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baseline="-25000" dirty="0"/>
                  <a:t>2</a:t>
                </a:r>
                <a:r>
                  <a:rPr lang="en-US" dirty="0"/>
                  <a:t>:</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p>
              <a:p>
                <a:pPr>
                  <a:spcBef>
                    <a:spcPts val="800"/>
                  </a:spcBef>
                  <a:buFont typeface="Wingdings" panose="05000000000000000000" pitchFamily="2" charset="2"/>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A 95% confidence interval for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μ</m:t>
                    </m:r>
                  </m:oMath>
                </a14:m>
                <a:r>
                  <a:rPr lang="en-US" altLang="en-US" baseline="-25000" dirty="0"/>
                  <a:t>1</a:t>
                </a:r>
                <a:r>
                  <a:rPr lang="en-US" altLang="en-US" dirty="0"/>
                  <a:t> –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a:t>
                </a:r>
                <a:r>
                  <a:rPr lang="en-US" altLang="en-US" dirty="0"/>
                  <a:t>) is (</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𝑥</m:t>
                        </m:r>
                      </m:e>
                    </m:acc>
                  </m:oMath>
                </a14:m>
                <a:r>
                  <a:rPr lang="en-US" altLang="en-US" baseline="-25000" dirty="0"/>
                  <a:t>1</a:t>
                </a:r>
                <a:r>
                  <a:rPr lang="en-US" altLang="en-US" dirty="0"/>
                  <a:t> – </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𝑥</m:t>
                        </m:r>
                      </m:e>
                    </m:acc>
                  </m:oMath>
                </a14:m>
                <a:r>
                  <a:rPr lang="en-US" altLang="en-US" baseline="-25000" dirty="0"/>
                  <a:t>2</a:t>
                </a:r>
                <a:r>
                  <a:rPr lang="en-US" altLang="en-US" dirty="0"/>
                  <a:t>)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a:t>
                </a:r>
                <a:r>
                  <a:rPr lang="en-US" altLang="en-US" i="1" dirty="0"/>
                  <a:t>t</a:t>
                </a:r>
                <a:r>
                  <a:rPr lang="en-US" altLang="en-US" baseline="-25000" dirty="0"/>
                  <a:t>.025</a:t>
                </a:r>
                <a:r>
                  <a:rPr lang="en-US" altLang="en-US" dirty="0"/>
                  <a:t>(</a:t>
                </a:r>
                <a:r>
                  <a:rPr lang="en-US" altLang="en-US" i="1" dirty="0"/>
                  <a:t>se</a:t>
                </a:r>
                <a:r>
                  <a:rPr lang="en-US" altLang="en-US" dirty="0"/>
                  <a:t>).</a:t>
                </a:r>
                <a:br>
                  <a:rPr lang="en-US" altLang="en-US" dirty="0"/>
                </a:br>
                <a:endParaRPr lang="en-US" altLang="en-US" dirty="0"/>
              </a:p>
              <a:p>
                <a:pPr>
                  <a:spcBef>
                    <a:spcPts val="800"/>
                  </a:spcBef>
                  <a:buFont typeface="Wingdings" panose="05000000000000000000" pitchFamily="2" charset="2"/>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t>The test statistic for H</a:t>
                </a:r>
                <a:r>
                  <a:rPr lang="en-US" altLang="en-US" baseline="-25000" dirty="0"/>
                  <a:t>0</a:t>
                </a:r>
                <a:r>
                  <a:rPr lang="en-US" altLang="en-US" dirty="0"/>
                  <a:t>:</a:t>
                </a:r>
                <a:r>
                  <a:rPr lang="en-US" altLang="en-US" dirty="0">
                    <a:ea typeface="Cambria Math" panose="02040503050406030204" pitchFamily="18" charset="0"/>
                  </a:rPr>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1</a:t>
                </a:r>
                <a:r>
                  <a:rPr lang="en-US" altLang="en-US" dirty="0"/>
                  <a:t> </a:t>
                </a:r>
                <a:r>
                  <a:rPr lang="en-US" altLang="en-US" dirty="0">
                    <a:latin typeface="+mj-lt"/>
                  </a:rPr>
                  <a:t>=</a:t>
                </a:r>
                <a:r>
                  <a:rPr lang="en-US" altLang="en-US" dirty="0"/>
                  <a:t> </a:t>
                </a:r>
                <a14:m>
                  <m:oMath xmlns:m="http://schemas.openxmlformats.org/officeDocument/2006/math">
                    <m:r>
                      <m:rPr>
                        <m:sty m:val="p"/>
                      </m:rPr>
                      <a:rPr lang="en-US" altLang="en-US">
                        <a:latin typeface="Cambria Math" panose="02040503050406030204" pitchFamily="18" charset="0"/>
                        <a:ea typeface="Cambria Math" panose="02040503050406030204" pitchFamily="18" charset="0"/>
                      </a:rPr>
                      <m:t>μ</m:t>
                    </m:r>
                  </m:oMath>
                </a14:m>
                <a:r>
                  <a:rPr lang="en-US" altLang="en-US" baseline="-25000" dirty="0"/>
                  <a:t>2 </a:t>
                </a:r>
                <a:r>
                  <a:rPr lang="en-US" altLang="en-US" dirty="0"/>
                  <a:t>is </a:t>
                </a:r>
                <a:r>
                  <a:rPr lang="en-US" altLang="en-US" i="1" dirty="0"/>
                  <a:t>t </a:t>
                </a:r>
                <a:r>
                  <a:rPr lang="en-US" altLang="en-US" dirty="0"/>
                  <a:t>= (</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𝑥</m:t>
                        </m:r>
                      </m:e>
                    </m:acc>
                  </m:oMath>
                </a14:m>
                <a:r>
                  <a:rPr lang="en-US" altLang="en-US" baseline="-25000" dirty="0"/>
                  <a:t>1</a:t>
                </a:r>
                <a:r>
                  <a:rPr lang="en-US" altLang="en-US" dirty="0"/>
                  <a:t> – </a:t>
                </a:r>
                <a14:m>
                  <m:oMath xmlns:m="http://schemas.openxmlformats.org/officeDocument/2006/math">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𝑥</m:t>
                        </m:r>
                      </m:e>
                    </m:acc>
                  </m:oMath>
                </a14:m>
                <a:r>
                  <a:rPr lang="en-US" altLang="en-US" baseline="-25000" dirty="0"/>
                  <a:t>2</a:t>
                </a:r>
                <a:r>
                  <a:rPr lang="en-US" altLang="en-US" dirty="0"/>
                  <a:t>)/</a:t>
                </a:r>
                <a:r>
                  <a:rPr lang="en-US" altLang="en-US" i="1" dirty="0"/>
                  <a:t>se.</a:t>
                </a:r>
                <a:br>
                  <a:rPr lang="en-US" altLang="en-US" i="1" dirty="0"/>
                </a:br>
                <a:endParaRPr lang="en-US" altLang="en-US" dirty="0">
                  <a:latin typeface="Times New Roman" panose="02020603050405020304" pitchFamily="18" charset="0"/>
                </a:endParaRP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US" altLang="en-US" dirty="0">
                    <a:latin typeface="Times New Roman" panose="02020603050405020304" pitchFamily="18" charset="0"/>
                  </a:rPr>
                  <a:t> </a:t>
                </a:r>
              </a:p>
              <a:p>
                <a:pPr marL="0" indent="0">
                  <a:spcBef>
                    <a:spcPts val="800"/>
                  </a:spcBef>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US" altLang="en-US" dirty="0">
                  <a:latin typeface="Times New Roman" panose="02020603050405020304" pitchFamily="18" charset="0"/>
                </a:endParaRPr>
              </a:p>
            </p:txBody>
          </p:sp>
        </mc:Choice>
        <mc:Fallback xmlns="">
          <p:sp>
            <p:nvSpPr>
              <p:cNvPr id="183298" name="Rectangle 2"/>
              <p:cNvSpPr>
                <a:spLocks noGrp="1" noRot="1" noChangeAspect="1" noMove="1" noResize="1" noEditPoints="1" noAdjustHandles="1" noChangeArrowheads="1" noChangeShapeType="1" noTextEdit="1"/>
              </p:cNvSpPr>
              <p:nvPr>
                <p:ph type="body" sz="quarter" idx="4294967295"/>
              </p:nvPr>
            </p:nvSpPr>
            <p:spPr bwMode="auto">
              <a:xfrm>
                <a:off x="695325" y="1600200"/>
                <a:ext cx="8229600" cy="4525963"/>
              </a:xfrm>
              <a:prstGeom prst="rect">
                <a:avLst/>
              </a:prstGeom>
              <a:blipFill>
                <a:blip r:embed="rId3" cstate="print"/>
                <a:stretch>
                  <a:fillRect l="-2222" t="-94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0659" name="Rectangle 1"/>
          <p:cNvSpPr>
            <a:spLocks noGrp="1" noChangeArrowheads="1"/>
          </p:cNvSpPr>
          <p:nvPr>
            <p:ph type="title" idx="4294967295"/>
          </p:nvPr>
        </p:nvSpPr>
        <p:spPr bwMode="auto">
          <a:xfrm>
            <a:off x="623888" y="87313"/>
            <a:ext cx="8534400" cy="9715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pPr indent="-225425">
              <a:buClrTx/>
              <a:buFontTx/>
              <a:buNone/>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pPr>
            <a:r>
              <a:rPr lang="en-US" altLang="en-US" sz="2400" b="1" dirty="0">
                <a:solidFill>
                  <a:srgbClr val="000000"/>
                </a:solidFill>
                <a:latin typeface="Arial" panose="020B0604020202020204" pitchFamily="34" charset="0"/>
              </a:rPr>
              <a:t>SUMMARY: Comparing Population Means, Assuming Equal Population Standard Deviations</a:t>
            </a:r>
          </a:p>
        </p:txBody>
      </p:sp>
    </p:spTree>
    <p:extLst>
      <p:ext uri="{BB962C8B-B14F-4D97-AF65-F5344CB8AC3E}">
        <p14:creationId xmlns:p14="http://schemas.microsoft.com/office/powerpoint/2010/main" val="42831812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7394" name="Rectangle 2"/>
              <p:cNvSpPr>
                <a:spLocks noGrp="1" noChangeArrowheads="1"/>
              </p:cNvSpPr>
              <p:nvPr>
                <p:ph type="body" sz="quarter" idx="4294967295"/>
              </p:nvPr>
            </p:nvSpPr>
            <p:spPr bwMode="auto">
              <a:xfrm>
                <a:off x="1000125" y="1600200"/>
                <a:ext cx="7924800" cy="447992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lvl="1" indent="-282575">
                  <a:lnSpc>
                    <a:spcPct val="90000"/>
                  </a:lnSpc>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These methods assume:</a:t>
                </a:r>
              </a:p>
              <a:p>
                <a:pPr marL="0" lvl="1" indent="-2825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Independent random samples from the two group</a:t>
                </a:r>
                <a:r>
                  <a:rPr lang="en-US" altLang="en-US" dirty="0">
                    <a:solidFill>
                      <a:schemeClr val="tx1"/>
                    </a:solidFill>
                  </a:rPr>
                  <a:t>s</a:t>
                </a:r>
              </a:p>
              <a:p>
                <a:pPr marL="0" lvl="1" indent="-2825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An approximately normal population distribution for each grou</a:t>
                </a:r>
                <a:r>
                  <a:rPr lang="en-US" altLang="en-US" dirty="0">
                    <a:solidFill>
                      <a:schemeClr val="tx1"/>
                    </a:solidFill>
                  </a:rPr>
                  <a:t>p</a:t>
                </a:r>
                <a:r>
                  <a:rPr lang="en-US" altLang="en-US" dirty="0"/>
                  <a:t> (This is mainly important for small sample sizes, and even then, the CI and the two-sided test are usually robust to violations of this assumption).</a:t>
                </a:r>
              </a:p>
              <a:p>
                <a:pPr marL="0" lvl="1" indent="-282575">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342900" lvl="1" indent="-342900">
                  <a:lnSpc>
                    <a:spcPct val="90000"/>
                  </a:lnSpc>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r>
                      <a:rPr lang="en-US" altLang="en-US" b="0" i="1" baseline="-25000"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𝜎</m:t>
                    </m:r>
                    <m:r>
                      <a:rPr lang="en-US" altLang="en-US" b="0" i="1" baseline="-25000" smtClean="0">
                        <a:latin typeface="Cambria Math" panose="02040503050406030204" pitchFamily="18" charset="0"/>
                        <a:ea typeface="Cambria Math" panose="02040503050406030204" pitchFamily="18" charset="0"/>
                      </a:rPr>
                      <m:t>2</m:t>
                    </m:r>
                  </m:oMath>
                </a14:m>
                <a:r>
                  <a:rPr lang="en-US" altLang="en-US" dirty="0"/>
                  <a:t> (In practice, this type of inference is not usually relied on if one sample standard deviation is more than double the other one).</a:t>
                </a:r>
                <a:endParaRPr lang="en-US" altLang="en-US" baseline="-25000" dirty="0"/>
              </a:p>
            </p:txBody>
          </p:sp>
        </mc:Choice>
        <mc:Fallback xmlns="">
          <p:sp>
            <p:nvSpPr>
              <p:cNvPr id="187394" name="Rectangle 2"/>
              <p:cNvSpPr>
                <a:spLocks noGrp="1" noRot="1" noChangeAspect="1" noMove="1" noResize="1" noEditPoints="1" noAdjustHandles="1" noChangeArrowheads="1" noChangeShapeType="1" noTextEdit="1"/>
              </p:cNvSpPr>
              <p:nvPr>
                <p:ph type="body" sz="quarter" idx="4294967295"/>
              </p:nvPr>
            </p:nvSpPr>
            <p:spPr bwMode="auto">
              <a:xfrm>
                <a:off x="1000125" y="1600200"/>
                <a:ext cx="7924800" cy="4479925"/>
              </a:xfrm>
              <a:prstGeom prst="rect">
                <a:avLst/>
              </a:prstGeom>
              <a:blipFill>
                <a:blip r:embed="rId3" cstate="print"/>
                <a:stretch>
                  <a:fillRect l="-2308" t="-1771" r="-1231"/>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87395" name="Rectangle 1"/>
          <p:cNvSpPr>
            <a:spLocks noChangeArrowheads="1"/>
          </p:cNvSpPr>
          <p:nvPr/>
        </p:nvSpPr>
        <p:spPr bwMode="auto">
          <a:xfrm>
            <a:off x="623888" y="358775"/>
            <a:ext cx="8534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indent="-225425"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2057400" algn="l"/>
                <a:tab pos="2505075" algn="l"/>
                <a:tab pos="2954338" algn="l"/>
                <a:tab pos="3403600" algn="l"/>
                <a:tab pos="3852863" algn="l"/>
                <a:tab pos="4302125" algn="l"/>
                <a:tab pos="4751388" algn="l"/>
                <a:tab pos="5200650" algn="l"/>
                <a:tab pos="5649913" algn="l"/>
                <a:tab pos="6099175" algn="l"/>
                <a:tab pos="6548438" algn="l"/>
                <a:tab pos="6997700" algn="l"/>
                <a:tab pos="7446963" algn="l"/>
                <a:tab pos="7896225" algn="l"/>
                <a:tab pos="8345488" algn="l"/>
                <a:tab pos="8794750" algn="l"/>
                <a:tab pos="9244013" algn="l"/>
                <a:tab pos="9693275" algn="l"/>
                <a:tab pos="10142538" algn="l"/>
                <a:tab pos="10591800" algn="l"/>
                <a:tab pos="11041063" algn="l"/>
              </a:tabLst>
              <a:defRPr sz="2400">
                <a:solidFill>
                  <a:schemeClr val="bg1"/>
                </a:solidFill>
                <a:latin typeface="Times New Roman" panose="02020603050405020304" pitchFamily="18" charset="0"/>
                <a:ea typeface="Microsoft YaHei" panose="020B0503020204020204" pitchFamily="34" charset="-122"/>
              </a:defRPr>
            </a:lvl9pPr>
          </a:lstStyle>
          <a:p>
            <a:pPr>
              <a:buClrTx/>
              <a:buFontTx/>
              <a:buNone/>
            </a:pPr>
            <a:r>
              <a:rPr lang="en-US" altLang="en-US" b="1" dirty="0">
                <a:solidFill>
                  <a:srgbClr val="000000"/>
                </a:solidFill>
                <a:latin typeface="Arial" panose="020B0604020202020204" pitchFamily="34" charset="0"/>
              </a:rPr>
              <a:t>SUMMARY: Comparing Population Means, Assuming Equal Population Standard Deviations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_Section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3016</TotalTime>
  <Words>4065</Words>
  <Application>Microsoft Office PowerPoint</Application>
  <PresentationFormat>On-screen Show (4:3)</PresentationFormat>
  <Paragraphs>463</Paragraphs>
  <Slides>67</Slides>
  <Notes>66</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67</vt:i4>
      </vt:variant>
    </vt:vector>
  </HeadingPairs>
  <TitlesOfParts>
    <vt:vector size="82" baseType="lpstr">
      <vt:lpstr>Arial Unicode MS</vt:lpstr>
      <vt:lpstr>HelveticaNeueLTPro-Hv</vt:lpstr>
      <vt:lpstr>HelveticaNeueLTPro-Lt</vt:lpstr>
      <vt:lpstr>HelveticaNeueLTPro-Md</vt:lpstr>
      <vt:lpstr>Microsoft YaHei</vt:lpstr>
      <vt:lpstr>新細明體</vt:lpstr>
      <vt:lpstr>Arial</vt:lpstr>
      <vt:lpstr>Calibri Light</vt:lpstr>
      <vt:lpstr>Cambria Math</vt:lpstr>
      <vt:lpstr>Times New Roman</vt:lpstr>
      <vt:lpstr>Wingdings</vt:lpstr>
      <vt:lpstr>2_Section Theme</vt:lpstr>
      <vt:lpstr>2_Content Theme</vt:lpstr>
      <vt:lpstr>3_Content Theme</vt:lpstr>
      <vt:lpstr>Equation</vt:lpstr>
      <vt:lpstr>Econ 7900 Statistics for Data Science </vt:lpstr>
      <vt:lpstr>Dependent and Independent Samples</vt:lpstr>
      <vt:lpstr>PowerPoint Presentation</vt:lpstr>
      <vt:lpstr>Categorical Response: Comparing Two Proportions</vt:lpstr>
      <vt:lpstr>Example: Aspirin, the Wonder Drug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Confidence Interval for the Difference Between Two Population Proportions</vt:lpstr>
      <vt:lpstr>Example: Comparing Cancer Death Rates for Aspirin and Placebo</vt:lpstr>
      <vt:lpstr>Example: Comparing Cancer Death Rates for Aspirin and Placebo</vt:lpstr>
      <vt:lpstr>Example: Comparing Cancer Death Rates for Aspirin and Placebo</vt:lpstr>
      <vt:lpstr>PowerPoint Presentation</vt:lpstr>
      <vt:lpstr>Two-Sided Significance Test for Comparing Two Population Proportions</vt:lpstr>
      <vt:lpstr>Two-Sided Significance Test for Comparing Two Population Proportions</vt:lpstr>
      <vt:lpstr>PowerPoint Presentation</vt:lpstr>
      <vt:lpstr>PowerPoint Presentation</vt:lpstr>
      <vt:lpstr>Example: TV Watching and Aggressive Behavior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Comparing Means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 Error for Comparing Two Means</vt:lpstr>
      <vt:lpstr> </vt:lpstr>
      <vt:lpstr> </vt:lpstr>
      <vt:lpstr>Example: Text with Graph</vt:lpstr>
      <vt:lpstr>Example: Text with Graph</vt:lpstr>
      <vt:lpstr>Example: Text with Graph</vt:lpstr>
      <vt:lpstr>Example: Text with Graph</vt:lpstr>
      <vt:lpstr>Example: Text with Graph</vt:lpstr>
      <vt:lpstr>Example: Text with Graph</vt:lpstr>
      <vt:lpstr>Interpret a Confidence Interval for a Difference of Means</vt:lpstr>
      <vt:lpstr>PowerPoint Presentation</vt:lpstr>
      <vt:lpstr>SUMMARY: Two-Sided Significance Test for Comparing Two Population Means</vt:lpstr>
      <vt:lpstr>PowerPoint Presentation</vt:lpstr>
      <vt:lpstr>PowerPoint Presentation</vt:lpstr>
      <vt:lpstr>PowerPoint Presentation</vt:lpstr>
      <vt:lpstr>Example: Cell Phone Use While Driving Impair Reaction Times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Comparing Means, Assuming Equal Population Standard Deviations</vt:lpstr>
      <vt:lpstr>  The Pooled Standard Deviation</vt:lpstr>
      <vt:lpstr>SUMMARY: Comparing Population Means, Assuming Equal Population Standard Deviations</vt:lpstr>
      <vt:lpstr>SUMMARY: Comparing Population Means, Assuming Equal Population Standard Deviations</vt:lpstr>
      <vt:lpstr>PowerPoint Presentation</vt:lpstr>
    </vt:vector>
  </TitlesOfParts>
  <Company>©  2017, 2013 and 2009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subject>Statistics The Art and Science of Learning from Data  4th ed</dc:subject>
  <dc:creator>Agresti/Franklin/Klingenberg</dc:creator>
  <cp:lastModifiedBy>Kanghua Cao</cp:lastModifiedBy>
  <cp:revision>400</cp:revision>
  <cp:lastPrinted>2019-11-05T06:45:38Z</cp:lastPrinted>
  <dcterms:created xsi:type="dcterms:W3CDTF">2001-09-30T23:03:25Z</dcterms:created>
  <dcterms:modified xsi:type="dcterms:W3CDTF">2021-10-18T06:31:42Z</dcterms:modified>
</cp:coreProperties>
</file>