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45" r:id="rId1"/>
    <p:sldMasterId id="2147483948" r:id="rId2"/>
  </p:sldMasterIdLst>
  <p:notesMasterIdLst>
    <p:notesMasterId r:id="rId112"/>
  </p:notesMasterIdLst>
  <p:handoutMasterIdLst>
    <p:handoutMasterId r:id="rId113"/>
  </p:handoutMasterIdLst>
  <p:sldIdLst>
    <p:sldId id="340" r:id="rId3"/>
    <p:sldId id="342" r:id="rId4"/>
    <p:sldId id="343" r:id="rId5"/>
    <p:sldId id="344" r:id="rId6"/>
    <p:sldId id="345" r:id="rId7"/>
    <p:sldId id="346" r:id="rId8"/>
    <p:sldId id="347" r:id="rId9"/>
    <p:sldId id="348" r:id="rId10"/>
    <p:sldId id="349" r:id="rId11"/>
    <p:sldId id="350" r:id="rId12"/>
    <p:sldId id="351" r:id="rId13"/>
    <p:sldId id="352" r:id="rId14"/>
    <p:sldId id="353" r:id="rId15"/>
    <p:sldId id="354" r:id="rId16"/>
    <p:sldId id="355" r:id="rId17"/>
    <p:sldId id="356" r:id="rId18"/>
    <p:sldId id="357" r:id="rId19"/>
    <p:sldId id="358" r:id="rId20"/>
    <p:sldId id="359" r:id="rId21"/>
    <p:sldId id="360" r:id="rId22"/>
    <p:sldId id="361" r:id="rId23"/>
    <p:sldId id="260" r:id="rId24"/>
    <p:sldId id="430" r:id="rId25"/>
    <p:sldId id="259" r:id="rId26"/>
    <p:sldId id="261" r:id="rId27"/>
    <p:sldId id="431" r:id="rId28"/>
    <p:sldId id="432" r:id="rId29"/>
    <p:sldId id="434" r:id="rId30"/>
    <p:sldId id="433" r:id="rId31"/>
    <p:sldId id="422" r:id="rId32"/>
    <p:sldId id="290" r:id="rId33"/>
    <p:sldId id="291" r:id="rId34"/>
    <p:sldId id="292" r:id="rId35"/>
    <p:sldId id="293" r:id="rId36"/>
    <p:sldId id="294" r:id="rId37"/>
    <p:sldId id="295" r:id="rId38"/>
    <p:sldId id="296" r:id="rId39"/>
    <p:sldId id="419" r:id="rId40"/>
    <p:sldId id="297" r:id="rId41"/>
    <p:sldId id="298" r:id="rId42"/>
    <p:sldId id="299" r:id="rId43"/>
    <p:sldId id="300" r:id="rId44"/>
    <p:sldId id="420" r:id="rId45"/>
    <p:sldId id="302" r:id="rId46"/>
    <p:sldId id="303" r:id="rId47"/>
    <p:sldId id="304" r:id="rId48"/>
    <p:sldId id="305" r:id="rId49"/>
    <p:sldId id="306" r:id="rId50"/>
    <p:sldId id="307" r:id="rId51"/>
    <p:sldId id="308" r:id="rId52"/>
    <p:sldId id="309" r:id="rId53"/>
    <p:sldId id="310" r:id="rId54"/>
    <p:sldId id="311" r:id="rId55"/>
    <p:sldId id="312" r:id="rId56"/>
    <p:sldId id="423" r:id="rId57"/>
    <p:sldId id="380" r:id="rId58"/>
    <p:sldId id="381" r:id="rId59"/>
    <p:sldId id="382" r:id="rId60"/>
    <p:sldId id="383" r:id="rId61"/>
    <p:sldId id="384" r:id="rId62"/>
    <p:sldId id="385" r:id="rId63"/>
    <p:sldId id="386" r:id="rId64"/>
    <p:sldId id="387" r:id="rId65"/>
    <p:sldId id="388" r:id="rId66"/>
    <p:sldId id="389" r:id="rId67"/>
    <p:sldId id="390" r:id="rId68"/>
    <p:sldId id="391" r:id="rId69"/>
    <p:sldId id="392" r:id="rId70"/>
    <p:sldId id="393" r:id="rId71"/>
    <p:sldId id="426" r:id="rId72"/>
    <p:sldId id="315" r:id="rId73"/>
    <p:sldId id="316" r:id="rId74"/>
    <p:sldId id="317" r:id="rId75"/>
    <p:sldId id="318" r:id="rId76"/>
    <p:sldId id="319" r:id="rId77"/>
    <p:sldId id="320" r:id="rId78"/>
    <p:sldId id="321" r:id="rId79"/>
    <p:sldId id="322" r:id="rId80"/>
    <p:sldId id="323" r:id="rId81"/>
    <p:sldId id="324" r:id="rId82"/>
    <p:sldId id="325" r:id="rId83"/>
    <p:sldId id="326" r:id="rId84"/>
    <p:sldId id="327" r:id="rId85"/>
    <p:sldId id="427" r:id="rId86"/>
    <p:sldId id="402" r:id="rId87"/>
    <p:sldId id="403" r:id="rId88"/>
    <p:sldId id="404" r:id="rId89"/>
    <p:sldId id="405" r:id="rId90"/>
    <p:sldId id="407" r:id="rId91"/>
    <p:sldId id="408" r:id="rId92"/>
    <p:sldId id="409" r:id="rId93"/>
    <p:sldId id="410" r:id="rId94"/>
    <p:sldId id="411" r:id="rId95"/>
    <p:sldId id="415" r:id="rId96"/>
    <p:sldId id="416" r:id="rId97"/>
    <p:sldId id="417" r:id="rId98"/>
    <p:sldId id="418" r:id="rId99"/>
    <p:sldId id="429" r:id="rId100"/>
    <p:sldId id="366" r:id="rId101"/>
    <p:sldId id="367" r:id="rId102"/>
    <p:sldId id="368" r:id="rId103"/>
    <p:sldId id="369" r:id="rId104"/>
    <p:sldId id="370" r:id="rId105"/>
    <p:sldId id="371" r:id="rId106"/>
    <p:sldId id="372" r:id="rId107"/>
    <p:sldId id="373" r:id="rId108"/>
    <p:sldId id="375" r:id="rId109"/>
    <p:sldId id="376" r:id="rId110"/>
    <p:sldId id="377" r:id="rId111"/>
  </p:sldIdLst>
  <p:sldSz cx="9144000" cy="6858000" type="screen4x3"/>
  <p:notesSz cx="7099300" cy="10234613"/>
  <p:custDataLst>
    <p:tags r:id="rId114"/>
  </p:custDataLst>
  <p:defaultTextStyle>
    <a:defPPr>
      <a:defRPr lang="de-DE"/>
    </a:defPPr>
    <a:lvl1pPr algn="l" rtl="0" eaLnBrk="0" fontAlgn="base" hangingPunct="0">
      <a:spcBef>
        <a:spcPct val="0"/>
      </a:spcBef>
      <a:spcAft>
        <a:spcPct val="0"/>
      </a:spcAft>
      <a:defRPr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Tahoma" panose="020B060403050404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m Trim" initials="PT" lastIdx="1" clrIdx="0">
    <p:extLst>
      <p:ext uri="{19B8F6BF-5375-455C-9EA6-DF929625EA0E}">
        <p15:presenceInfo xmlns:p15="http://schemas.microsoft.com/office/powerpoint/2012/main" userId="S-1-5-21-791141741-2800993609-798820751-113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8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ittlere Formatvorlage 2 - Akz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ittlere Formatvorlage 2 - Akz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560" autoAdjust="0"/>
    <p:restoredTop sz="94660"/>
  </p:normalViewPr>
  <p:slideViewPr>
    <p:cSldViewPr>
      <p:cViewPr varScale="1">
        <p:scale>
          <a:sx n="107" d="100"/>
          <a:sy n="107" d="100"/>
        </p:scale>
        <p:origin x="1716" y="10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36004" cy="36004"/>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viewProps" Target="viewProps.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notesMaster" Target="notesMasters/notesMaster1.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handoutMaster" Target="handoutMasters/handoutMaster1.xml"/><Relationship Id="rId118" Type="http://schemas.openxmlformats.org/officeDocument/2006/relationships/theme" Target="theme/theme1.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tags" Target="tags/tag1.xml"/><Relationship Id="rId119"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microsoft.com/office/2016/11/relationships/changesInfo" Target="changesInfos/changesInfo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commentAuthors" Target="commentAuthor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ng Hua CAO" userId="80a060e7-d5a6-4feb-883e-c28f76a39cea" providerId="ADAL" clId="{19951878-C7A3-43CD-9230-DB99AEC5E561}"/>
    <pc:docChg chg="undo custSel addSld delSld modSld sldOrd">
      <pc:chgData name="Kang Hua CAO" userId="80a060e7-d5a6-4feb-883e-c28f76a39cea" providerId="ADAL" clId="{19951878-C7A3-43CD-9230-DB99AEC5E561}" dt="2024-10-31T09:42:46.142" v="227"/>
      <pc:docMkLst>
        <pc:docMk/>
      </pc:docMkLst>
      <pc:sldChg chg="modSp mod">
        <pc:chgData name="Kang Hua CAO" userId="80a060e7-d5a6-4feb-883e-c28f76a39cea" providerId="ADAL" clId="{19951878-C7A3-43CD-9230-DB99AEC5E561}" dt="2024-10-31T09:36:14.024" v="0"/>
        <pc:sldMkLst>
          <pc:docMk/>
          <pc:sldMk cId="1513010432" sldId="260"/>
        </pc:sldMkLst>
      </pc:sldChg>
      <pc:sldChg chg="modSp add mod">
        <pc:chgData name="Kang Hua CAO" userId="80a060e7-d5a6-4feb-883e-c28f76a39cea" providerId="ADAL" clId="{19951878-C7A3-43CD-9230-DB99AEC5E561}" dt="2024-10-31T09:37:18.277" v="86" actId="313"/>
        <pc:sldMkLst>
          <pc:docMk/>
          <pc:sldMk cId="1612768202" sldId="430"/>
        </pc:sldMkLst>
      </pc:sldChg>
      <pc:sldChg chg="new del">
        <pc:chgData name="Kang Hua CAO" userId="80a060e7-d5a6-4feb-883e-c28f76a39cea" providerId="ADAL" clId="{19951878-C7A3-43CD-9230-DB99AEC5E561}" dt="2024-10-31T09:37:34.437" v="88" actId="47"/>
        <pc:sldMkLst>
          <pc:docMk/>
          <pc:sldMk cId="2582216667" sldId="431"/>
        </pc:sldMkLst>
      </pc:sldChg>
      <pc:sldChg chg="modSp add mod ord">
        <pc:chgData name="Kang Hua CAO" userId="80a060e7-d5a6-4feb-883e-c28f76a39cea" providerId="ADAL" clId="{19951878-C7A3-43CD-9230-DB99AEC5E561}" dt="2024-10-31T09:39:21.903" v="107" actId="20577"/>
        <pc:sldMkLst>
          <pc:docMk/>
          <pc:sldMk cId="4034911940" sldId="431"/>
        </pc:sldMkLst>
      </pc:sldChg>
      <pc:sldChg chg="modSp new mod">
        <pc:chgData name="Kang Hua CAO" userId="80a060e7-d5a6-4feb-883e-c28f76a39cea" providerId="ADAL" clId="{19951878-C7A3-43CD-9230-DB99AEC5E561}" dt="2024-10-31T09:41:19.163" v="193" actId="20577"/>
        <pc:sldMkLst>
          <pc:docMk/>
          <pc:sldMk cId="3626041853" sldId="432"/>
        </pc:sldMkLst>
      </pc:sldChg>
      <pc:sldChg chg="modSp add mod">
        <pc:chgData name="Kang Hua CAO" userId="80a060e7-d5a6-4feb-883e-c28f76a39cea" providerId="ADAL" clId="{19951878-C7A3-43CD-9230-DB99AEC5E561}" dt="2024-10-31T09:42:46.142" v="227"/>
        <pc:sldMkLst>
          <pc:docMk/>
          <pc:sldMk cId="3269792172" sldId="433"/>
        </pc:sldMkLst>
      </pc:sldChg>
      <pc:sldChg chg="modSp add mod ord">
        <pc:chgData name="Kang Hua CAO" userId="80a060e7-d5a6-4feb-883e-c28f76a39cea" providerId="ADAL" clId="{19951878-C7A3-43CD-9230-DB99AEC5E561}" dt="2024-10-31T09:42:15.783" v="224"/>
        <pc:sldMkLst>
          <pc:docMk/>
          <pc:sldMk cId="2842137378" sldId="434"/>
        </pc:sldMkLst>
      </pc:sldChg>
    </pc:docChg>
  </pc:docChgLst>
  <pc:docChgLst>
    <pc:chgData name="Kang Hua CAO" userId="80a060e7-d5a6-4feb-883e-c28f76a39cea" providerId="ADAL" clId="{1B3DB634-2975-441A-9F4B-DCEE1C75D426}"/>
    <pc:docChg chg="modSld">
      <pc:chgData name="Kang Hua CAO" userId="80a060e7-d5a6-4feb-883e-c28f76a39cea" providerId="ADAL" clId="{1B3DB634-2975-441A-9F4B-DCEE1C75D426}" dt="2025-10-30T06:38:55.404" v="2" actId="115"/>
      <pc:docMkLst>
        <pc:docMk/>
      </pc:docMkLst>
      <pc:sldChg chg="modSp mod">
        <pc:chgData name="Kang Hua CAO" userId="80a060e7-d5a6-4feb-883e-c28f76a39cea" providerId="ADAL" clId="{1B3DB634-2975-441A-9F4B-DCEE1C75D426}" dt="2025-10-30T06:38:55.404" v="2" actId="115"/>
        <pc:sldMkLst>
          <pc:docMk/>
          <pc:sldMk cId="3269792172" sldId="433"/>
        </pc:sldMkLst>
        <pc:spChg chg="mod">
          <ac:chgData name="Kang Hua CAO" userId="80a060e7-d5a6-4feb-883e-c28f76a39cea" providerId="ADAL" clId="{1B3DB634-2975-441A-9F4B-DCEE1C75D426}" dt="2025-10-30T06:38:55.404" v="2" actId="115"/>
          <ac:spMkLst>
            <pc:docMk/>
            <pc:sldMk cId="3269792172" sldId="433"/>
            <ac:spMk id="3" creationId="{02F0ED27-65B0-1777-22F4-EC1CE4432C7B}"/>
          </ac:spMkLst>
        </pc:spChg>
      </pc:sldChg>
      <pc:sldChg chg="modSp mod">
        <pc:chgData name="Kang Hua CAO" userId="80a060e7-d5a6-4feb-883e-c28f76a39cea" providerId="ADAL" clId="{1B3DB634-2975-441A-9F4B-DCEE1C75D426}" dt="2025-10-30T06:37:15.499" v="0" actId="404"/>
        <pc:sldMkLst>
          <pc:docMk/>
          <pc:sldMk cId="2842137378" sldId="434"/>
        </pc:sldMkLst>
        <pc:spChg chg="mod">
          <ac:chgData name="Kang Hua CAO" userId="80a060e7-d5a6-4feb-883e-c28f76a39cea" providerId="ADAL" clId="{1B3DB634-2975-441A-9F4B-DCEE1C75D426}" dt="2025-10-30T06:37:15.499" v="0" actId="404"/>
          <ac:spMkLst>
            <pc:docMk/>
            <pc:sldMk cId="2842137378" sldId="434"/>
            <ac:spMk id="2" creationId="{4CA8AA5B-91BA-4FC9-8289-A79552E38B8E}"/>
          </ac:spMkLst>
        </pc:spChg>
      </pc:sldChg>
    </pc:docChg>
  </pc:docChgLst>
  <pc:docChgLst>
    <pc:chgData name="Kang Hua CAO" userId="80a060e7-d5a6-4feb-883e-c28f76a39cea" providerId="ADAL" clId="{67F8A201-800D-4BB5-B132-A9BA5B000966}"/>
    <pc:docChg chg="undo redo custSel addSld delSld modSld delMainMaster modMainMaster">
      <pc:chgData name="Kang Hua CAO" userId="80a060e7-d5a6-4feb-883e-c28f76a39cea" providerId="ADAL" clId="{67F8A201-800D-4BB5-B132-A9BA5B000966}" dt="2022-09-28T05:13:16.592" v="146" actId="1076"/>
      <pc:docMkLst>
        <pc:docMk/>
      </pc:docMkLst>
      <pc:sldChg chg="add del">
        <pc:chgData name="Kang Hua CAO" userId="80a060e7-d5a6-4feb-883e-c28f76a39cea" providerId="ADAL" clId="{67F8A201-800D-4BB5-B132-A9BA5B000966}" dt="2022-09-28T04:57:09.622" v="58" actId="47"/>
        <pc:sldMkLst>
          <pc:docMk/>
          <pc:sldMk cId="0" sldId="258"/>
        </pc:sldMkLst>
      </pc:sldChg>
      <pc:sldChg chg="del">
        <pc:chgData name="Kang Hua CAO" userId="80a060e7-d5a6-4feb-883e-c28f76a39cea" providerId="ADAL" clId="{67F8A201-800D-4BB5-B132-A9BA5B000966}" dt="2022-09-28T04:56:05.241" v="7" actId="47"/>
        <pc:sldMkLst>
          <pc:docMk/>
          <pc:sldMk cId="0" sldId="266"/>
        </pc:sldMkLst>
      </pc:sldChg>
      <pc:sldChg chg="del">
        <pc:chgData name="Kang Hua CAO" userId="80a060e7-d5a6-4feb-883e-c28f76a39cea" providerId="ADAL" clId="{67F8A201-800D-4BB5-B132-A9BA5B000966}" dt="2022-09-28T04:56:05.241" v="7" actId="47"/>
        <pc:sldMkLst>
          <pc:docMk/>
          <pc:sldMk cId="0" sldId="267"/>
        </pc:sldMkLst>
      </pc:sldChg>
      <pc:sldChg chg="add del">
        <pc:chgData name="Kang Hua CAO" userId="80a060e7-d5a6-4feb-883e-c28f76a39cea" providerId="ADAL" clId="{67F8A201-800D-4BB5-B132-A9BA5B000966}" dt="2022-09-28T04:57:10.260" v="59" actId="47"/>
        <pc:sldMkLst>
          <pc:docMk/>
          <pc:sldMk cId="0" sldId="287"/>
        </pc:sldMkLst>
      </pc:sldChg>
      <pc:sldChg chg="modSp add del mod">
        <pc:chgData name="Kang Hua CAO" userId="80a060e7-d5a6-4feb-883e-c28f76a39cea" providerId="ADAL" clId="{67F8A201-800D-4BB5-B132-A9BA5B000966}" dt="2022-09-28T04:56:40.380" v="10" actId="27636"/>
        <pc:sldMkLst>
          <pc:docMk/>
          <pc:sldMk cId="0" sldId="290"/>
        </pc:sldMkLst>
      </pc:sldChg>
      <pc:sldChg chg="add del">
        <pc:chgData name="Kang Hua CAO" userId="80a060e7-d5a6-4feb-883e-c28f76a39cea" providerId="ADAL" clId="{67F8A201-800D-4BB5-B132-A9BA5B000966}" dt="2022-09-28T04:56:21.531" v="8"/>
        <pc:sldMkLst>
          <pc:docMk/>
          <pc:sldMk cId="0" sldId="291"/>
        </pc:sldMkLst>
      </pc:sldChg>
      <pc:sldChg chg="modSp add del mod">
        <pc:chgData name="Kang Hua CAO" userId="80a060e7-d5a6-4feb-883e-c28f76a39cea" providerId="ADAL" clId="{67F8A201-800D-4BB5-B132-A9BA5B000966}" dt="2022-09-28T04:56:40.385" v="11" actId="27636"/>
        <pc:sldMkLst>
          <pc:docMk/>
          <pc:sldMk cId="0" sldId="292"/>
        </pc:sldMkLst>
      </pc:sldChg>
      <pc:sldChg chg="add">
        <pc:chgData name="Kang Hua CAO" userId="80a060e7-d5a6-4feb-883e-c28f76a39cea" providerId="ADAL" clId="{67F8A201-800D-4BB5-B132-A9BA5B000966}" dt="2022-09-28T04:56:21.531" v="8"/>
        <pc:sldMkLst>
          <pc:docMk/>
          <pc:sldMk cId="0" sldId="293"/>
        </pc:sldMkLst>
      </pc:sldChg>
      <pc:sldChg chg="add del">
        <pc:chgData name="Kang Hua CAO" userId="80a060e7-d5a6-4feb-883e-c28f76a39cea" providerId="ADAL" clId="{67F8A201-800D-4BB5-B132-A9BA5B000966}" dt="2022-09-28T04:56:21.531" v="8"/>
        <pc:sldMkLst>
          <pc:docMk/>
          <pc:sldMk cId="0" sldId="294"/>
        </pc:sldMkLst>
      </pc:sldChg>
      <pc:sldChg chg="add del">
        <pc:chgData name="Kang Hua CAO" userId="80a060e7-d5a6-4feb-883e-c28f76a39cea" providerId="ADAL" clId="{67F8A201-800D-4BB5-B132-A9BA5B000966}" dt="2022-09-28T04:56:21.531" v="8"/>
        <pc:sldMkLst>
          <pc:docMk/>
          <pc:sldMk cId="0" sldId="295"/>
        </pc:sldMkLst>
      </pc:sldChg>
      <pc:sldChg chg="modSp add del mod">
        <pc:chgData name="Kang Hua CAO" userId="80a060e7-d5a6-4feb-883e-c28f76a39cea" providerId="ADAL" clId="{67F8A201-800D-4BB5-B132-A9BA5B000966}" dt="2022-09-28T04:58:58.424" v="73" actId="255"/>
        <pc:sldMkLst>
          <pc:docMk/>
          <pc:sldMk cId="0" sldId="296"/>
        </pc:sldMkLst>
      </pc:sldChg>
      <pc:sldChg chg="modSp add del mod">
        <pc:chgData name="Kang Hua CAO" userId="80a060e7-d5a6-4feb-883e-c28f76a39cea" providerId="ADAL" clId="{67F8A201-800D-4BB5-B132-A9BA5B000966}" dt="2022-09-28T04:59:29.549" v="76" actId="2696"/>
        <pc:sldMkLst>
          <pc:docMk/>
          <pc:sldMk cId="0" sldId="297"/>
        </pc:sldMkLst>
      </pc:sldChg>
      <pc:sldChg chg="modSp add del mod">
        <pc:chgData name="Kang Hua CAO" userId="80a060e7-d5a6-4feb-883e-c28f76a39cea" providerId="ADAL" clId="{67F8A201-800D-4BB5-B132-A9BA5B000966}" dt="2022-09-28T05:07:06.720" v="80" actId="20577"/>
        <pc:sldMkLst>
          <pc:docMk/>
          <pc:sldMk cId="0" sldId="298"/>
        </pc:sldMkLst>
      </pc:sldChg>
      <pc:sldChg chg="add del">
        <pc:chgData name="Kang Hua CAO" userId="80a060e7-d5a6-4feb-883e-c28f76a39cea" providerId="ADAL" clId="{67F8A201-800D-4BB5-B132-A9BA5B000966}" dt="2022-09-28T04:56:21.531" v="8"/>
        <pc:sldMkLst>
          <pc:docMk/>
          <pc:sldMk cId="0" sldId="299"/>
        </pc:sldMkLst>
      </pc:sldChg>
      <pc:sldChg chg="modSp add del mod">
        <pc:chgData name="Kang Hua CAO" userId="80a060e7-d5a6-4feb-883e-c28f76a39cea" providerId="ADAL" clId="{67F8A201-800D-4BB5-B132-A9BA5B000966}" dt="2022-09-28T04:56:40.426" v="16" actId="27636"/>
        <pc:sldMkLst>
          <pc:docMk/>
          <pc:sldMk cId="0" sldId="300"/>
        </pc:sldMkLst>
      </pc:sldChg>
      <pc:sldChg chg="modSp add del mod">
        <pc:chgData name="Kang Hua CAO" userId="80a060e7-d5a6-4feb-883e-c28f76a39cea" providerId="ADAL" clId="{67F8A201-800D-4BB5-B132-A9BA5B000966}" dt="2022-09-28T05:07:41.510" v="81" actId="404"/>
        <pc:sldMkLst>
          <pc:docMk/>
          <pc:sldMk cId="0" sldId="301"/>
        </pc:sldMkLst>
      </pc:sldChg>
      <pc:sldChg chg="modSp add del mod">
        <pc:chgData name="Kang Hua CAO" userId="80a060e7-d5a6-4feb-883e-c28f76a39cea" providerId="ADAL" clId="{67F8A201-800D-4BB5-B132-A9BA5B000966}" dt="2022-09-28T04:56:40.459" v="22" actId="27636"/>
        <pc:sldMkLst>
          <pc:docMk/>
          <pc:sldMk cId="0" sldId="302"/>
        </pc:sldMkLst>
      </pc:sldChg>
      <pc:sldChg chg="add del">
        <pc:chgData name="Kang Hua CAO" userId="80a060e7-d5a6-4feb-883e-c28f76a39cea" providerId="ADAL" clId="{67F8A201-800D-4BB5-B132-A9BA5B000966}" dt="2022-09-28T04:56:21.531" v="8"/>
        <pc:sldMkLst>
          <pc:docMk/>
          <pc:sldMk cId="0" sldId="303"/>
        </pc:sldMkLst>
      </pc:sldChg>
      <pc:sldChg chg="modSp add del mod">
        <pc:chgData name="Kang Hua CAO" userId="80a060e7-d5a6-4feb-883e-c28f76a39cea" providerId="ADAL" clId="{67F8A201-800D-4BB5-B132-A9BA5B000966}" dt="2022-09-28T05:08:18.843" v="85" actId="404"/>
        <pc:sldMkLst>
          <pc:docMk/>
          <pc:sldMk cId="0" sldId="304"/>
        </pc:sldMkLst>
      </pc:sldChg>
      <pc:sldChg chg="modSp add mod">
        <pc:chgData name="Kang Hua CAO" userId="80a060e7-d5a6-4feb-883e-c28f76a39cea" providerId="ADAL" clId="{67F8A201-800D-4BB5-B132-A9BA5B000966}" dt="2022-09-28T05:08:29.500" v="88" actId="404"/>
        <pc:sldMkLst>
          <pc:docMk/>
          <pc:sldMk cId="0" sldId="305"/>
        </pc:sldMkLst>
      </pc:sldChg>
      <pc:sldChg chg="modSp add del mod">
        <pc:chgData name="Kang Hua CAO" userId="80a060e7-d5a6-4feb-883e-c28f76a39cea" providerId="ADAL" clId="{67F8A201-800D-4BB5-B132-A9BA5B000966}" dt="2022-09-28T05:08:36.142" v="89" actId="404"/>
        <pc:sldMkLst>
          <pc:docMk/>
          <pc:sldMk cId="0" sldId="306"/>
        </pc:sldMkLst>
      </pc:sldChg>
      <pc:sldChg chg="modSp add del mod">
        <pc:chgData name="Kang Hua CAO" userId="80a060e7-d5a6-4feb-883e-c28f76a39cea" providerId="ADAL" clId="{67F8A201-800D-4BB5-B132-A9BA5B000966}" dt="2022-09-28T05:08:55.191" v="90" actId="255"/>
        <pc:sldMkLst>
          <pc:docMk/>
          <pc:sldMk cId="0" sldId="307"/>
        </pc:sldMkLst>
      </pc:sldChg>
      <pc:sldChg chg="add del">
        <pc:chgData name="Kang Hua CAO" userId="80a060e7-d5a6-4feb-883e-c28f76a39cea" providerId="ADAL" clId="{67F8A201-800D-4BB5-B132-A9BA5B000966}" dt="2022-09-28T04:56:21.531" v="8"/>
        <pc:sldMkLst>
          <pc:docMk/>
          <pc:sldMk cId="0" sldId="308"/>
        </pc:sldMkLst>
      </pc:sldChg>
      <pc:sldChg chg="add del">
        <pc:chgData name="Kang Hua CAO" userId="80a060e7-d5a6-4feb-883e-c28f76a39cea" providerId="ADAL" clId="{67F8A201-800D-4BB5-B132-A9BA5B000966}" dt="2022-09-28T04:56:21.531" v="8"/>
        <pc:sldMkLst>
          <pc:docMk/>
          <pc:sldMk cId="0" sldId="309"/>
        </pc:sldMkLst>
      </pc:sldChg>
      <pc:sldChg chg="modSp add mod">
        <pc:chgData name="Kang Hua CAO" userId="80a060e7-d5a6-4feb-883e-c28f76a39cea" providerId="ADAL" clId="{67F8A201-800D-4BB5-B132-A9BA5B000966}" dt="2022-09-28T04:56:40.482" v="26" actId="27636"/>
        <pc:sldMkLst>
          <pc:docMk/>
          <pc:sldMk cId="0" sldId="310"/>
        </pc:sldMkLst>
      </pc:sldChg>
      <pc:sldChg chg="modSp add mod">
        <pc:chgData name="Kang Hua CAO" userId="80a060e7-d5a6-4feb-883e-c28f76a39cea" providerId="ADAL" clId="{67F8A201-800D-4BB5-B132-A9BA5B000966}" dt="2022-09-28T05:09:18.573" v="91" actId="404"/>
        <pc:sldMkLst>
          <pc:docMk/>
          <pc:sldMk cId="0" sldId="311"/>
        </pc:sldMkLst>
      </pc:sldChg>
      <pc:sldChg chg="modSp add del mod">
        <pc:chgData name="Kang Hua CAO" userId="80a060e7-d5a6-4feb-883e-c28f76a39cea" providerId="ADAL" clId="{67F8A201-800D-4BB5-B132-A9BA5B000966}" dt="2022-09-28T05:09:36.305" v="99" actId="20577"/>
        <pc:sldMkLst>
          <pc:docMk/>
          <pc:sldMk cId="0" sldId="312"/>
        </pc:sldMkLst>
      </pc:sldChg>
      <pc:sldChg chg="add del">
        <pc:chgData name="Kang Hua CAO" userId="80a060e7-d5a6-4feb-883e-c28f76a39cea" providerId="ADAL" clId="{67F8A201-800D-4BB5-B132-A9BA5B000966}" dt="2022-09-28T04:56:21.531" v="8"/>
        <pc:sldMkLst>
          <pc:docMk/>
          <pc:sldMk cId="0" sldId="313"/>
        </pc:sldMkLst>
      </pc:sldChg>
      <pc:sldChg chg="del">
        <pc:chgData name="Kang Hua CAO" userId="80a060e7-d5a6-4feb-883e-c28f76a39cea" providerId="ADAL" clId="{67F8A201-800D-4BB5-B132-A9BA5B000966}" dt="2022-09-28T04:56:05.241" v="7" actId="47"/>
        <pc:sldMkLst>
          <pc:docMk/>
          <pc:sldMk cId="0" sldId="314"/>
        </pc:sldMkLst>
      </pc:sldChg>
      <pc:sldChg chg="modSp add del mod">
        <pc:chgData name="Kang Hua CAO" userId="80a060e7-d5a6-4feb-883e-c28f76a39cea" providerId="ADAL" clId="{67F8A201-800D-4BB5-B132-A9BA5B000966}" dt="2022-09-28T04:56:40.642" v="38" actId="27636"/>
        <pc:sldMkLst>
          <pc:docMk/>
          <pc:sldMk cId="0" sldId="315"/>
        </pc:sldMkLst>
      </pc:sldChg>
      <pc:sldChg chg="add del">
        <pc:chgData name="Kang Hua CAO" userId="80a060e7-d5a6-4feb-883e-c28f76a39cea" providerId="ADAL" clId="{67F8A201-800D-4BB5-B132-A9BA5B000966}" dt="2022-09-28T04:56:21.531" v="8"/>
        <pc:sldMkLst>
          <pc:docMk/>
          <pc:sldMk cId="0" sldId="316"/>
        </pc:sldMkLst>
      </pc:sldChg>
      <pc:sldChg chg="add del">
        <pc:chgData name="Kang Hua CAO" userId="80a060e7-d5a6-4feb-883e-c28f76a39cea" providerId="ADAL" clId="{67F8A201-800D-4BB5-B132-A9BA5B000966}" dt="2022-09-28T04:56:21.531" v="8"/>
        <pc:sldMkLst>
          <pc:docMk/>
          <pc:sldMk cId="0" sldId="317"/>
        </pc:sldMkLst>
      </pc:sldChg>
      <pc:sldChg chg="add del">
        <pc:chgData name="Kang Hua CAO" userId="80a060e7-d5a6-4feb-883e-c28f76a39cea" providerId="ADAL" clId="{67F8A201-800D-4BB5-B132-A9BA5B000966}" dt="2022-09-28T04:56:21.531" v="8"/>
        <pc:sldMkLst>
          <pc:docMk/>
          <pc:sldMk cId="0" sldId="318"/>
        </pc:sldMkLst>
      </pc:sldChg>
      <pc:sldChg chg="add del">
        <pc:chgData name="Kang Hua CAO" userId="80a060e7-d5a6-4feb-883e-c28f76a39cea" providerId="ADAL" clId="{67F8A201-800D-4BB5-B132-A9BA5B000966}" dt="2022-09-28T04:56:21.531" v="8"/>
        <pc:sldMkLst>
          <pc:docMk/>
          <pc:sldMk cId="0" sldId="319"/>
        </pc:sldMkLst>
      </pc:sldChg>
      <pc:sldChg chg="add del">
        <pc:chgData name="Kang Hua CAO" userId="80a060e7-d5a6-4feb-883e-c28f76a39cea" providerId="ADAL" clId="{67F8A201-800D-4BB5-B132-A9BA5B000966}" dt="2022-09-28T04:56:21.531" v="8"/>
        <pc:sldMkLst>
          <pc:docMk/>
          <pc:sldMk cId="0" sldId="320"/>
        </pc:sldMkLst>
      </pc:sldChg>
      <pc:sldChg chg="add del">
        <pc:chgData name="Kang Hua CAO" userId="80a060e7-d5a6-4feb-883e-c28f76a39cea" providerId="ADAL" clId="{67F8A201-800D-4BB5-B132-A9BA5B000966}" dt="2022-09-28T04:56:21.531" v="8"/>
        <pc:sldMkLst>
          <pc:docMk/>
          <pc:sldMk cId="0" sldId="321"/>
        </pc:sldMkLst>
      </pc:sldChg>
      <pc:sldChg chg="add del">
        <pc:chgData name="Kang Hua CAO" userId="80a060e7-d5a6-4feb-883e-c28f76a39cea" providerId="ADAL" clId="{67F8A201-800D-4BB5-B132-A9BA5B000966}" dt="2022-09-28T04:56:21.531" v="8"/>
        <pc:sldMkLst>
          <pc:docMk/>
          <pc:sldMk cId="0" sldId="322"/>
        </pc:sldMkLst>
      </pc:sldChg>
      <pc:sldChg chg="add del">
        <pc:chgData name="Kang Hua CAO" userId="80a060e7-d5a6-4feb-883e-c28f76a39cea" providerId="ADAL" clId="{67F8A201-800D-4BB5-B132-A9BA5B000966}" dt="2022-09-28T04:56:21.531" v="8"/>
        <pc:sldMkLst>
          <pc:docMk/>
          <pc:sldMk cId="0" sldId="323"/>
        </pc:sldMkLst>
      </pc:sldChg>
      <pc:sldChg chg="add del">
        <pc:chgData name="Kang Hua CAO" userId="80a060e7-d5a6-4feb-883e-c28f76a39cea" providerId="ADAL" clId="{67F8A201-800D-4BB5-B132-A9BA5B000966}" dt="2022-09-28T04:56:21.531" v="8"/>
        <pc:sldMkLst>
          <pc:docMk/>
          <pc:sldMk cId="0" sldId="324"/>
        </pc:sldMkLst>
      </pc:sldChg>
      <pc:sldChg chg="add del">
        <pc:chgData name="Kang Hua CAO" userId="80a060e7-d5a6-4feb-883e-c28f76a39cea" providerId="ADAL" clId="{67F8A201-800D-4BB5-B132-A9BA5B000966}" dt="2022-09-28T04:56:21.531" v="8"/>
        <pc:sldMkLst>
          <pc:docMk/>
          <pc:sldMk cId="0" sldId="325"/>
        </pc:sldMkLst>
      </pc:sldChg>
      <pc:sldChg chg="add del">
        <pc:chgData name="Kang Hua CAO" userId="80a060e7-d5a6-4feb-883e-c28f76a39cea" providerId="ADAL" clId="{67F8A201-800D-4BB5-B132-A9BA5B000966}" dt="2022-09-28T04:56:21.531" v="8"/>
        <pc:sldMkLst>
          <pc:docMk/>
          <pc:sldMk cId="0" sldId="326"/>
        </pc:sldMkLst>
      </pc:sldChg>
      <pc:sldChg chg="modSp add mod">
        <pc:chgData name="Kang Hua CAO" userId="80a060e7-d5a6-4feb-883e-c28f76a39cea" providerId="ADAL" clId="{67F8A201-800D-4BB5-B132-A9BA5B000966}" dt="2022-09-28T04:56:40.676" v="39" actId="27636"/>
        <pc:sldMkLst>
          <pc:docMk/>
          <pc:sldMk cId="0" sldId="327"/>
        </pc:sldMkLst>
      </pc:sldChg>
      <pc:sldChg chg="del">
        <pc:chgData name="Kang Hua CAO" userId="80a060e7-d5a6-4feb-883e-c28f76a39cea" providerId="ADAL" clId="{67F8A201-800D-4BB5-B132-A9BA5B000966}" dt="2022-09-28T04:56:05.241" v="7" actId="47"/>
        <pc:sldMkLst>
          <pc:docMk/>
          <pc:sldMk cId="3683198627" sldId="327"/>
        </pc:sldMkLst>
      </pc:sldChg>
      <pc:sldChg chg="del">
        <pc:chgData name="Kang Hua CAO" userId="80a060e7-d5a6-4feb-883e-c28f76a39cea" providerId="ADAL" clId="{67F8A201-800D-4BB5-B132-A9BA5B000966}" dt="2022-09-28T04:56:05.241" v="7" actId="47"/>
        <pc:sldMkLst>
          <pc:docMk/>
          <pc:sldMk cId="3086926214" sldId="329"/>
        </pc:sldMkLst>
      </pc:sldChg>
      <pc:sldChg chg="del">
        <pc:chgData name="Kang Hua CAO" userId="80a060e7-d5a6-4feb-883e-c28f76a39cea" providerId="ADAL" clId="{67F8A201-800D-4BB5-B132-A9BA5B000966}" dt="2022-09-28T04:56:05.241" v="7" actId="47"/>
        <pc:sldMkLst>
          <pc:docMk/>
          <pc:sldMk cId="691512731" sldId="330"/>
        </pc:sldMkLst>
      </pc:sldChg>
      <pc:sldChg chg="del">
        <pc:chgData name="Kang Hua CAO" userId="80a060e7-d5a6-4feb-883e-c28f76a39cea" providerId="ADAL" clId="{67F8A201-800D-4BB5-B132-A9BA5B000966}" dt="2022-09-28T04:56:05.241" v="7" actId="47"/>
        <pc:sldMkLst>
          <pc:docMk/>
          <pc:sldMk cId="1640758770" sldId="331"/>
        </pc:sldMkLst>
      </pc:sldChg>
      <pc:sldChg chg="del">
        <pc:chgData name="Kang Hua CAO" userId="80a060e7-d5a6-4feb-883e-c28f76a39cea" providerId="ADAL" clId="{67F8A201-800D-4BB5-B132-A9BA5B000966}" dt="2022-09-28T04:56:05.241" v="7" actId="47"/>
        <pc:sldMkLst>
          <pc:docMk/>
          <pc:sldMk cId="2457501117" sldId="332"/>
        </pc:sldMkLst>
      </pc:sldChg>
      <pc:sldChg chg="del">
        <pc:chgData name="Kang Hua CAO" userId="80a060e7-d5a6-4feb-883e-c28f76a39cea" providerId="ADAL" clId="{67F8A201-800D-4BB5-B132-A9BA5B000966}" dt="2022-09-28T04:56:05.241" v="7" actId="47"/>
        <pc:sldMkLst>
          <pc:docMk/>
          <pc:sldMk cId="1761265778" sldId="335"/>
        </pc:sldMkLst>
      </pc:sldChg>
      <pc:sldChg chg="del">
        <pc:chgData name="Kang Hua CAO" userId="80a060e7-d5a6-4feb-883e-c28f76a39cea" providerId="ADAL" clId="{67F8A201-800D-4BB5-B132-A9BA5B000966}" dt="2022-09-28T04:56:05.241" v="7" actId="47"/>
        <pc:sldMkLst>
          <pc:docMk/>
          <pc:sldMk cId="3497026271" sldId="336"/>
        </pc:sldMkLst>
      </pc:sldChg>
      <pc:sldChg chg="del">
        <pc:chgData name="Kang Hua CAO" userId="80a060e7-d5a6-4feb-883e-c28f76a39cea" providerId="ADAL" clId="{67F8A201-800D-4BB5-B132-A9BA5B000966}" dt="2022-09-28T04:56:05.241" v="7" actId="47"/>
        <pc:sldMkLst>
          <pc:docMk/>
          <pc:sldMk cId="3227450429" sldId="337"/>
        </pc:sldMkLst>
      </pc:sldChg>
      <pc:sldChg chg="del">
        <pc:chgData name="Kang Hua CAO" userId="80a060e7-d5a6-4feb-883e-c28f76a39cea" providerId="ADAL" clId="{67F8A201-800D-4BB5-B132-A9BA5B000966}" dt="2022-09-28T04:56:05.241" v="7" actId="47"/>
        <pc:sldMkLst>
          <pc:docMk/>
          <pc:sldMk cId="3931390164" sldId="338"/>
        </pc:sldMkLst>
      </pc:sldChg>
      <pc:sldChg chg="del">
        <pc:chgData name="Kang Hua CAO" userId="80a060e7-d5a6-4feb-883e-c28f76a39cea" providerId="ADAL" clId="{67F8A201-800D-4BB5-B132-A9BA5B000966}" dt="2022-09-28T04:56:05.241" v="7" actId="47"/>
        <pc:sldMkLst>
          <pc:docMk/>
          <pc:sldMk cId="1761017155" sldId="339"/>
        </pc:sldMkLst>
      </pc:sldChg>
      <pc:sldChg chg="modSp mod">
        <pc:chgData name="Kang Hua CAO" userId="80a060e7-d5a6-4feb-883e-c28f76a39cea" providerId="ADAL" clId="{67F8A201-800D-4BB5-B132-A9BA5B000966}" dt="2022-09-28T04:58:08.112" v="70"/>
        <pc:sldMkLst>
          <pc:docMk/>
          <pc:sldMk cId="4054365749" sldId="340"/>
        </pc:sldMkLst>
      </pc:sldChg>
      <pc:sldChg chg="del">
        <pc:chgData name="Kang Hua CAO" userId="80a060e7-d5a6-4feb-883e-c28f76a39cea" providerId="ADAL" clId="{67F8A201-800D-4BB5-B132-A9BA5B000966}" dt="2022-09-28T04:56:05.241" v="7" actId="47"/>
        <pc:sldMkLst>
          <pc:docMk/>
          <pc:sldMk cId="3128080702" sldId="341"/>
        </pc:sldMkLst>
      </pc:sldChg>
      <pc:sldChg chg="add del">
        <pc:chgData name="Kang Hua CAO" userId="80a060e7-d5a6-4feb-883e-c28f76a39cea" providerId="ADAL" clId="{67F8A201-800D-4BB5-B132-A9BA5B000966}" dt="2022-09-28T04:55:50.912" v="6" actId="2696"/>
        <pc:sldMkLst>
          <pc:docMk/>
          <pc:sldMk cId="1323166860" sldId="362"/>
        </pc:sldMkLst>
      </pc:sldChg>
      <pc:sldChg chg="add">
        <pc:chgData name="Kang Hua CAO" userId="80a060e7-d5a6-4feb-883e-c28f76a39cea" providerId="ADAL" clId="{67F8A201-800D-4BB5-B132-A9BA5B000966}" dt="2022-09-28T04:56:21.531" v="8"/>
        <pc:sldMkLst>
          <pc:docMk/>
          <pc:sldMk cId="0" sldId="365"/>
        </pc:sldMkLst>
      </pc:sldChg>
      <pc:sldChg chg="modSp add mod">
        <pc:chgData name="Kang Hua CAO" userId="80a060e7-d5a6-4feb-883e-c28f76a39cea" providerId="ADAL" clId="{67F8A201-800D-4BB5-B132-A9BA5B000966}" dt="2022-09-28T04:56:40.804" v="54" actId="27636"/>
        <pc:sldMkLst>
          <pc:docMk/>
          <pc:sldMk cId="0" sldId="366"/>
        </pc:sldMkLst>
      </pc:sldChg>
      <pc:sldChg chg="modSp add mod">
        <pc:chgData name="Kang Hua CAO" userId="80a060e7-d5a6-4feb-883e-c28f76a39cea" providerId="ADAL" clId="{67F8A201-800D-4BB5-B132-A9BA5B000966}" dt="2022-09-28T04:56:40.808" v="55" actId="27636"/>
        <pc:sldMkLst>
          <pc:docMk/>
          <pc:sldMk cId="0" sldId="367"/>
        </pc:sldMkLst>
      </pc:sldChg>
      <pc:sldChg chg="add">
        <pc:chgData name="Kang Hua CAO" userId="80a060e7-d5a6-4feb-883e-c28f76a39cea" providerId="ADAL" clId="{67F8A201-800D-4BB5-B132-A9BA5B000966}" dt="2022-09-28T04:56:21.531" v="8"/>
        <pc:sldMkLst>
          <pc:docMk/>
          <pc:sldMk cId="0" sldId="368"/>
        </pc:sldMkLst>
      </pc:sldChg>
      <pc:sldChg chg="add">
        <pc:chgData name="Kang Hua CAO" userId="80a060e7-d5a6-4feb-883e-c28f76a39cea" providerId="ADAL" clId="{67F8A201-800D-4BB5-B132-A9BA5B000966}" dt="2022-09-28T04:56:21.531" v="8"/>
        <pc:sldMkLst>
          <pc:docMk/>
          <pc:sldMk cId="0" sldId="369"/>
        </pc:sldMkLst>
      </pc:sldChg>
      <pc:sldChg chg="add">
        <pc:chgData name="Kang Hua CAO" userId="80a060e7-d5a6-4feb-883e-c28f76a39cea" providerId="ADAL" clId="{67F8A201-800D-4BB5-B132-A9BA5B000966}" dt="2022-09-28T04:56:21.531" v="8"/>
        <pc:sldMkLst>
          <pc:docMk/>
          <pc:sldMk cId="0" sldId="370"/>
        </pc:sldMkLst>
      </pc:sldChg>
      <pc:sldChg chg="add">
        <pc:chgData name="Kang Hua CAO" userId="80a060e7-d5a6-4feb-883e-c28f76a39cea" providerId="ADAL" clId="{67F8A201-800D-4BB5-B132-A9BA5B000966}" dt="2022-09-28T04:56:21.531" v="8"/>
        <pc:sldMkLst>
          <pc:docMk/>
          <pc:sldMk cId="0" sldId="371"/>
        </pc:sldMkLst>
      </pc:sldChg>
      <pc:sldChg chg="add">
        <pc:chgData name="Kang Hua CAO" userId="80a060e7-d5a6-4feb-883e-c28f76a39cea" providerId="ADAL" clId="{67F8A201-800D-4BB5-B132-A9BA5B000966}" dt="2022-09-28T04:56:21.531" v="8"/>
        <pc:sldMkLst>
          <pc:docMk/>
          <pc:sldMk cId="0" sldId="372"/>
        </pc:sldMkLst>
      </pc:sldChg>
      <pc:sldChg chg="add">
        <pc:chgData name="Kang Hua CAO" userId="80a060e7-d5a6-4feb-883e-c28f76a39cea" providerId="ADAL" clId="{67F8A201-800D-4BB5-B132-A9BA5B000966}" dt="2022-09-28T04:56:21.531" v="8"/>
        <pc:sldMkLst>
          <pc:docMk/>
          <pc:sldMk cId="0" sldId="373"/>
        </pc:sldMkLst>
      </pc:sldChg>
      <pc:sldChg chg="add">
        <pc:chgData name="Kang Hua CAO" userId="80a060e7-d5a6-4feb-883e-c28f76a39cea" providerId="ADAL" clId="{67F8A201-800D-4BB5-B132-A9BA5B000966}" dt="2022-09-28T04:56:21.531" v="8"/>
        <pc:sldMkLst>
          <pc:docMk/>
          <pc:sldMk cId="0" sldId="375"/>
        </pc:sldMkLst>
      </pc:sldChg>
      <pc:sldChg chg="modSp add mod">
        <pc:chgData name="Kang Hua CAO" userId="80a060e7-d5a6-4feb-883e-c28f76a39cea" providerId="ADAL" clId="{67F8A201-800D-4BB5-B132-A9BA5B000966}" dt="2022-09-28T04:56:40.822" v="56" actId="27636"/>
        <pc:sldMkLst>
          <pc:docMk/>
          <pc:sldMk cId="0" sldId="376"/>
        </pc:sldMkLst>
      </pc:sldChg>
      <pc:sldChg chg="modSp add mod">
        <pc:chgData name="Kang Hua CAO" userId="80a060e7-d5a6-4feb-883e-c28f76a39cea" providerId="ADAL" clId="{67F8A201-800D-4BB5-B132-A9BA5B000966}" dt="2022-09-28T04:56:40.832" v="57" actId="27636"/>
        <pc:sldMkLst>
          <pc:docMk/>
          <pc:sldMk cId="0" sldId="377"/>
        </pc:sldMkLst>
      </pc:sldChg>
      <pc:sldChg chg="add del setBg">
        <pc:chgData name="Kang Hua CAO" userId="80a060e7-d5a6-4feb-883e-c28f76a39cea" providerId="ADAL" clId="{67F8A201-800D-4BB5-B132-A9BA5B000966}" dt="2022-09-28T05:10:21.470" v="103" actId="47"/>
        <pc:sldMkLst>
          <pc:docMk/>
          <pc:sldMk cId="2155474049" sldId="378"/>
        </pc:sldMkLst>
      </pc:sldChg>
      <pc:sldChg chg="modSp add mod">
        <pc:chgData name="Kang Hua CAO" userId="80a060e7-d5a6-4feb-883e-c28f76a39cea" providerId="ADAL" clId="{67F8A201-800D-4BB5-B132-A9BA5B000966}" dt="2022-09-28T05:09:47.045" v="101" actId="404"/>
        <pc:sldMkLst>
          <pc:docMk/>
          <pc:sldMk cId="329588849" sldId="380"/>
        </pc:sldMkLst>
      </pc:sldChg>
      <pc:sldChg chg="modSp add mod">
        <pc:chgData name="Kang Hua CAO" userId="80a060e7-d5a6-4feb-883e-c28f76a39cea" providerId="ADAL" clId="{67F8A201-800D-4BB5-B132-A9BA5B000966}" dt="2022-09-28T05:11:20.206" v="117" actId="255"/>
        <pc:sldMkLst>
          <pc:docMk/>
          <pc:sldMk cId="2104113668" sldId="381"/>
        </pc:sldMkLst>
      </pc:sldChg>
      <pc:sldChg chg="add">
        <pc:chgData name="Kang Hua CAO" userId="80a060e7-d5a6-4feb-883e-c28f76a39cea" providerId="ADAL" clId="{67F8A201-800D-4BB5-B132-A9BA5B000966}" dt="2022-09-28T04:56:21.531" v="8"/>
        <pc:sldMkLst>
          <pc:docMk/>
          <pc:sldMk cId="2044182318" sldId="382"/>
        </pc:sldMkLst>
      </pc:sldChg>
      <pc:sldChg chg="modSp add mod">
        <pc:chgData name="Kang Hua CAO" userId="80a060e7-d5a6-4feb-883e-c28f76a39cea" providerId="ADAL" clId="{67F8A201-800D-4BB5-B132-A9BA5B000966}" dt="2022-09-28T05:11:44.246" v="119" actId="404"/>
        <pc:sldMkLst>
          <pc:docMk/>
          <pc:sldMk cId="3711244335" sldId="383"/>
        </pc:sldMkLst>
      </pc:sldChg>
      <pc:sldChg chg="add">
        <pc:chgData name="Kang Hua CAO" userId="80a060e7-d5a6-4feb-883e-c28f76a39cea" providerId="ADAL" clId="{67F8A201-800D-4BB5-B132-A9BA5B000966}" dt="2022-09-28T04:56:21.531" v="8"/>
        <pc:sldMkLst>
          <pc:docMk/>
          <pc:sldMk cId="1982925480" sldId="384"/>
        </pc:sldMkLst>
      </pc:sldChg>
      <pc:sldChg chg="modSp add mod">
        <pc:chgData name="Kang Hua CAO" userId="80a060e7-d5a6-4feb-883e-c28f76a39cea" providerId="ADAL" clId="{67F8A201-800D-4BB5-B132-A9BA5B000966}" dt="2022-09-28T05:12:00.406" v="122" actId="5793"/>
        <pc:sldMkLst>
          <pc:docMk/>
          <pc:sldMk cId="3042416848" sldId="385"/>
        </pc:sldMkLst>
      </pc:sldChg>
      <pc:sldChg chg="modSp add mod">
        <pc:chgData name="Kang Hua CAO" userId="80a060e7-d5a6-4feb-883e-c28f76a39cea" providerId="ADAL" clId="{67F8A201-800D-4BB5-B132-A9BA5B000966}" dt="2022-09-28T05:12:19.607" v="124" actId="5793"/>
        <pc:sldMkLst>
          <pc:docMk/>
          <pc:sldMk cId="2358869479" sldId="386"/>
        </pc:sldMkLst>
      </pc:sldChg>
      <pc:sldChg chg="modSp add mod">
        <pc:chgData name="Kang Hua CAO" userId="80a060e7-d5a6-4feb-883e-c28f76a39cea" providerId="ADAL" clId="{67F8A201-800D-4BB5-B132-A9BA5B000966}" dt="2022-09-28T05:12:30.087" v="126" actId="5793"/>
        <pc:sldMkLst>
          <pc:docMk/>
          <pc:sldMk cId="1749654075" sldId="387"/>
        </pc:sldMkLst>
      </pc:sldChg>
      <pc:sldChg chg="modSp add mod">
        <pc:chgData name="Kang Hua CAO" userId="80a060e7-d5a6-4feb-883e-c28f76a39cea" providerId="ADAL" clId="{67F8A201-800D-4BB5-B132-A9BA5B000966}" dt="2022-09-28T04:56:40.608" v="34" actId="27636"/>
        <pc:sldMkLst>
          <pc:docMk/>
          <pc:sldMk cId="670846354" sldId="388"/>
        </pc:sldMkLst>
      </pc:sldChg>
      <pc:sldChg chg="add">
        <pc:chgData name="Kang Hua CAO" userId="80a060e7-d5a6-4feb-883e-c28f76a39cea" providerId="ADAL" clId="{67F8A201-800D-4BB5-B132-A9BA5B000966}" dt="2022-09-28T04:56:21.531" v="8"/>
        <pc:sldMkLst>
          <pc:docMk/>
          <pc:sldMk cId="1526219811" sldId="389"/>
        </pc:sldMkLst>
      </pc:sldChg>
      <pc:sldChg chg="add">
        <pc:chgData name="Kang Hua CAO" userId="80a060e7-d5a6-4feb-883e-c28f76a39cea" providerId="ADAL" clId="{67F8A201-800D-4BB5-B132-A9BA5B000966}" dt="2022-09-28T04:56:21.531" v="8"/>
        <pc:sldMkLst>
          <pc:docMk/>
          <pc:sldMk cId="1830000043" sldId="390"/>
        </pc:sldMkLst>
      </pc:sldChg>
      <pc:sldChg chg="modSp add mod">
        <pc:chgData name="Kang Hua CAO" userId="80a060e7-d5a6-4feb-883e-c28f76a39cea" providerId="ADAL" clId="{67F8A201-800D-4BB5-B132-A9BA5B000966}" dt="2022-09-28T05:13:16.592" v="146" actId="1076"/>
        <pc:sldMkLst>
          <pc:docMk/>
          <pc:sldMk cId="3882221395" sldId="391"/>
        </pc:sldMkLst>
      </pc:sldChg>
      <pc:sldChg chg="modSp add mod">
        <pc:chgData name="Kang Hua CAO" userId="80a060e7-d5a6-4feb-883e-c28f76a39cea" providerId="ADAL" clId="{67F8A201-800D-4BB5-B132-A9BA5B000966}" dt="2022-09-28T04:56:40.635" v="37" actId="27636"/>
        <pc:sldMkLst>
          <pc:docMk/>
          <pc:sldMk cId="427893526" sldId="392"/>
        </pc:sldMkLst>
      </pc:sldChg>
      <pc:sldChg chg="add">
        <pc:chgData name="Kang Hua CAO" userId="80a060e7-d5a6-4feb-883e-c28f76a39cea" providerId="ADAL" clId="{67F8A201-800D-4BB5-B132-A9BA5B000966}" dt="2022-09-28T04:56:21.531" v="8"/>
        <pc:sldMkLst>
          <pc:docMk/>
          <pc:sldMk cId="1799716676" sldId="393"/>
        </pc:sldMkLst>
      </pc:sldChg>
      <pc:sldChg chg="add setBg">
        <pc:chgData name="Kang Hua CAO" userId="80a060e7-d5a6-4feb-883e-c28f76a39cea" providerId="ADAL" clId="{67F8A201-800D-4BB5-B132-A9BA5B000966}" dt="2022-09-28T04:56:21.531" v="8"/>
        <pc:sldMkLst>
          <pc:docMk/>
          <pc:sldMk cId="167538224" sldId="394"/>
        </pc:sldMkLst>
      </pc:sldChg>
      <pc:sldChg chg="modSp add mod">
        <pc:chgData name="Kang Hua CAO" userId="80a060e7-d5a6-4feb-883e-c28f76a39cea" providerId="ADAL" clId="{67F8A201-800D-4BB5-B132-A9BA5B000966}" dt="2022-09-28T04:56:40.682" v="40" actId="27636"/>
        <pc:sldMkLst>
          <pc:docMk/>
          <pc:sldMk cId="3773153751" sldId="395"/>
        </pc:sldMkLst>
      </pc:sldChg>
      <pc:sldChg chg="modSp add mod">
        <pc:chgData name="Kang Hua CAO" userId="80a060e7-d5a6-4feb-883e-c28f76a39cea" providerId="ADAL" clId="{67F8A201-800D-4BB5-B132-A9BA5B000966}" dt="2022-09-28T04:56:40.693" v="41" actId="27636"/>
        <pc:sldMkLst>
          <pc:docMk/>
          <pc:sldMk cId="2353773143" sldId="396"/>
        </pc:sldMkLst>
      </pc:sldChg>
      <pc:sldChg chg="modSp add mod">
        <pc:chgData name="Kang Hua CAO" userId="80a060e7-d5a6-4feb-883e-c28f76a39cea" providerId="ADAL" clId="{67F8A201-800D-4BB5-B132-A9BA5B000966}" dt="2022-09-28T04:56:40.699" v="42" actId="27636"/>
        <pc:sldMkLst>
          <pc:docMk/>
          <pc:sldMk cId="1281817952" sldId="397"/>
        </pc:sldMkLst>
      </pc:sldChg>
      <pc:sldChg chg="add">
        <pc:chgData name="Kang Hua CAO" userId="80a060e7-d5a6-4feb-883e-c28f76a39cea" providerId="ADAL" clId="{67F8A201-800D-4BB5-B132-A9BA5B000966}" dt="2022-09-28T04:56:21.531" v="8"/>
        <pc:sldMkLst>
          <pc:docMk/>
          <pc:sldMk cId="623960647" sldId="398"/>
        </pc:sldMkLst>
      </pc:sldChg>
      <pc:sldChg chg="add">
        <pc:chgData name="Kang Hua CAO" userId="80a060e7-d5a6-4feb-883e-c28f76a39cea" providerId="ADAL" clId="{67F8A201-800D-4BB5-B132-A9BA5B000966}" dt="2022-09-28T04:56:21.531" v="8"/>
        <pc:sldMkLst>
          <pc:docMk/>
          <pc:sldMk cId="2862815035" sldId="399"/>
        </pc:sldMkLst>
      </pc:sldChg>
      <pc:sldChg chg="add">
        <pc:chgData name="Kang Hua CAO" userId="80a060e7-d5a6-4feb-883e-c28f76a39cea" providerId="ADAL" clId="{67F8A201-800D-4BB5-B132-A9BA5B000966}" dt="2022-09-28T04:56:21.531" v="8"/>
        <pc:sldMkLst>
          <pc:docMk/>
          <pc:sldMk cId="212206171" sldId="400"/>
        </pc:sldMkLst>
      </pc:sldChg>
      <pc:sldChg chg="modSp add mod">
        <pc:chgData name="Kang Hua CAO" userId="80a060e7-d5a6-4feb-883e-c28f76a39cea" providerId="ADAL" clId="{67F8A201-800D-4BB5-B132-A9BA5B000966}" dt="2022-09-28T04:56:40.705" v="43" actId="27636"/>
        <pc:sldMkLst>
          <pc:docMk/>
          <pc:sldMk cId="136352372" sldId="401"/>
        </pc:sldMkLst>
      </pc:sldChg>
      <pc:sldChg chg="modSp add mod">
        <pc:chgData name="Kang Hua CAO" userId="80a060e7-d5a6-4feb-883e-c28f76a39cea" providerId="ADAL" clId="{67F8A201-800D-4BB5-B132-A9BA5B000966}" dt="2022-09-28T04:56:40.708" v="44" actId="27636"/>
        <pc:sldMkLst>
          <pc:docMk/>
          <pc:sldMk cId="4103633361" sldId="402"/>
        </pc:sldMkLst>
      </pc:sldChg>
      <pc:sldChg chg="add">
        <pc:chgData name="Kang Hua CAO" userId="80a060e7-d5a6-4feb-883e-c28f76a39cea" providerId="ADAL" clId="{67F8A201-800D-4BB5-B132-A9BA5B000966}" dt="2022-09-28T04:56:21.531" v="8"/>
        <pc:sldMkLst>
          <pc:docMk/>
          <pc:sldMk cId="1135749027" sldId="403"/>
        </pc:sldMkLst>
      </pc:sldChg>
      <pc:sldChg chg="modSp add mod">
        <pc:chgData name="Kang Hua CAO" userId="80a060e7-d5a6-4feb-883e-c28f76a39cea" providerId="ADAL" clId="{67F8A201-800D-4BB5-B132-A9BA5B000966}" dt="2022-09-28T04:56:40.716" v="45" actId="27636"/>
        <pc:sldMkLst>
          <pc:docMk/>
          <pc:sldMk cId="2684011762" sldId="404"/>
        </pc:sldMkLst>
      </pc:sldChg>
      <pc:sldChg chg="add">
        <pc:chgData name="Kang Hua CAO" userId="80a060e7-d5a6-4feb-883e-c28f76a39cea" providerId="ADAL" clId="{67F8A201-800D-4BB5-B132-A9BA5B000966}" dt="2022-09-28T04:56:21.531" v="8"/>
        <pc:sldMkLst>
          <pc:docMk/>
          <pc:sldMk cId="733260905" sldId="405"/>
        </pc:sldMkLst>
      </pc:sldChg>
      <pc:sldChg chg="modSp add mod">
        <pc:chgData name="Kang Hua CAO" userId="80a060e7-d5a6-4feb-883e-c28f76a39cea" providerId="ADAL" clId="{67F8A201-800D-4BB5-B132-A9BA5B000966}" dt="2022-09-28T04:56:40.719" v="46" actId="27636"/>
        <pc:sldMkLst>
          <pc:docMk/>
          <pc:sldMk cId="1335579146" sldId="406"/>
        </pc:sldMkLst>
      </pc:sldChg>
      <pc:sldChg chg="add">
        <pc:chgData name="Kang Hua CAO" userId="80a060e7-d5a6-4feb-883e-c28f76a39cea" providerId="ADAL" clId="{67F8A201-800D-4BB5-B132-A9BA5B000966}" dt="2022-09-28T04:56:21.531" v="8"/>
        <pc:sldMkLst>
          <pc:docMk/>
          <pc:sldMk cId="849135309" sldId="407"/>
        </pc:sldMkLst>
      </pc:sldChg>
      <pc:sldChg chg="modSp add mod">
        <pc:chgData name="Kang Hua CAO" userId="80a060e7-d5a6-4feb-883e-c28f76a39cea" providerId="ADAL" clId="{67F8A201-800D-4BB5-B132-A9BA5B000966}" dt="2022-09-28T04:56:40.729" v="47" actId="27636"/>
        <pc:sldMkLst>
          <pc:docMk/>
          <pc:sldMk cId="1078803874" sldId="408"/>
        </pc:sldMkLst>
      </pc:sldChg>
      <pc:sldChg chg="modSp add mod">
        <pc:chgData name="Kang Hua CAO" userId="80a060e7-d5a6-4feb-883e-c28f76a39cea" providerId="ADAL" clId="{67F8A201-800D-4BB5-B132-A9BA5B000966}" dt="2022-09-28T04:56:40.735" v="48" actId="27636"/>
        <pc:sldMkLst>
          <pc:docMk/>
          <pc:sldMk cId="3261132654" sldId="409"/>
        </pc:sldMkLst>
      </pc:sldChg>
      <pc:sldChg chg="add">
        <pc:chgData name="Kang Hua CAO" userId="80a060e7-d5a6-4feb-883e-c28f76a39cea" providerId="ADAL" clId="{67F8A201-800D-4BB5-B132-A9BA5B000966}" dt="2022-09-28T04:56:21.531" v="8"/>
        <pc:sldMkLst>
          <pc:docMk/>
          <pc:sldMk cId="3085727514" sldId="410"/>
        </pc:sldMkLst>
      </pc:sldChg>
      <pc:sldChg chg="add">
        <pc:chgData name="Kang Hua CAO" userId="80a060e7-d5a6-4feb-883e-c28f76a39cea" providerId="ADAL" clId="{67F8A201-800D-4BB5-B132-A9BA5B000966}" dt="2022-09-28T04:56:21.531" v="8"/>
        <pc:sldMkLst>
          <pc:docMk/>
          <pc:sldMk cId="1306066960" sldId="411"/>
        </pc:sldMkLst>
      </pc:sldChg>
      <pc:sldChg chg="modSp add mod">
        <pc:chgData name="Kang Hua CAO" userId="80a060e7-d5a6-4feb-883e-c28f76a39cea" providerId="ADAL" clId="{67F8A201-800D-4BB5-B132-A9BA5B000966}" dt="2022-09-28T04:56:40.750" v="49" actId="27636"/>
        <pc:sldMkLst>
          <pc:docMk/>
          <pc:sldMk cId="1970115650" sldId="415"/>
        </pc:sldMkLst>
      </pc:sldChg>
      <pc:sldChg chg="modSp add mod">
        <pc:chgData name="Kang Hua CAO" userId="80a060e7-d5a6-4feb-883e-c28f76a39cea" providerId="ADAL" clId="{67F8A201-800D-4BB5-B132-A9BA5B000966}" dt="2022-09-28T04:56:40.753" v="50" actId="27636"/>
        <pc:sldMkLst>
          <pc:docMk/>
          <pc:sldMk cId="1117709612" sldId="416"/>
        </pc:sldMkLst>
      </pc:sldChg>
      <pc:sldChg chg="modSp add mod">
        <pc:chgData name="Kang Hua CAO" userId="80a060e7-d5a6-4feb-883e-c28f76a39cea" providerId="ADAL" clId="{67F8A201-800D-4BB5-B132-A9BA5B000966}" dt="2022-09-28T04:56:40.758" v="51" actId="27636"/>
        <pc:sldMkLst>
          <pc:docMk/>
          <pc:sldMk cId="3827062788" sldId="417"/>
        </pc:sldMkLst>
      </pc:sldChg>
      <pc:sldChg chg="modSp add mod">
        <pc:chgData name="Kang Hua CAO" userId="80a060e7-d5a6-4feb-883e-c28f76a39cea" providerId="ADAL" clId="{67F8A201-800D-4BB5-B132-A9BA5B000966}" dt="2022-09-28T04:56:40.802" v="53" actId="27636"/>
        <pc:sldMkLst>
          <pc:docMk/>
          <pc:sldMk cId="3255080858" sldId="418"/>
        </pc:sldMkLst>
      </pc:sldChg>
      <pc:sldChg chg="modSp add mod">
        <pc:chgData name="Kang Hua CAO" userId="80a060e7-d5a6-4feb-883e-c28f76a39cea" providerId="ADAL" clId="{67F8A201-800D-4BB5-B132-A9BA5B000966}" dt="2022-09-28T04:59:06.862" v="74" actId="1076"/>
        <pc:sldMkLst>
          <pc:docMk/>
          <pc:sldMk cId="329534363" sldId="419"/>
        </pc:sldMkLst>
      </pc:sldChg>
      <pc:sldChg chg="modSp add mod">
        <pc:chgData name="Kang Hua CAO" userId="80a060e7-d5a6-4feb-883e-c28f76a39cea" providerId="ADAL" clId="{67F8A201-800D-4BB5-B132-A9BA5B000966}" dt="2022-09-28T04:56:40.457" v="21" actId="27636"/>
        <pc:sldMkLst>
          <pc:docMk/>
          <pc:sldMk cId="4003123338" sldId="420"/>
        </pc:sldMkLst>
      </pc:sldChg>
      <pc:sldChg chg="modSp add mod">
        <pc:chgData name="Kang Hua CAO" userId="80a060e7-d5a6-4feb-883e-c28f76a39cea" providerId="ADAL" clId="{67F8A201-800D-4BB5-B132-A9BA5B000966}" dt="2022-09-28T05:07:46.206" v="82" actId="404"/>
        <pc:sldMkLst>
          <pc:docMk/>
          <pc:sldMk cId="4073170333" sldId="421"/>
        </pc:sldMkLst>
      </pc:sldChg>
      <pc:sldChg chg="modSp new mod">
        <pc:chgData name="Kang Hua CAO" userId="80a060e7-d5a6-4feb-883e-c28f76a39cea" providerId="ADAL" clId="{67F8A201-800D-4BB5-B132-A9BA5B000966}" dt="2022-09-28T04:57:49.678" v="69" actId="403"/>
        <pc:sldMkLst>
          <pc:docMk/>
          <pc:sldMk cId="1490433849" sldId="422"/>
        </pc:sldMkLst>
      </pc:sldChg>
      <pc:sldChg chg="addSp delSp modSp new mod modClrScheme chgLayout">
        <pc:chgData name="Kang Hua CAO" userId="80a060e7-d5a6-4feb-883e-c28f76a39cea" providerId="ADAL" clId="{67F8A201-800D-4BB5-B132-A9BA5B000966}" dt="2022-09-28T05:10:44.904" v="116" actId="14100"/>
        <pc:sldMkLst>
          <pc:docMk/>
          <pc:sldMk cId="3401018681" sldId="423"/>
        </pc:sldMkLst>
      </pc:sldChg>
      <pc:sldChg chg="new del">
        <pc:chgData name="Kang Hua CAO" userId="80a060e7-d5a6-4feb-883e-c28f76a39cea" providerId="ADAL" clId="{67F8A201-800D-4BB5-B132-A9BA5B000966}" dt="2022-09-28T05:10:22.113" v="104" actId="47"/>
        <pc:sldMkLst>
          <pc:docMk/>
          <pc:sldMk cId="4022639368" sldId="423"/>
        </pc:sldMkLst>
      </pc:sldChg>
      <pc:sldMasterChg chg="del delSldLayout">
        <pc:chgData name="Kang Hua CAO" userId="80a060e7-d5a6-4feb-883e-c28f76a39cea" providerId="ADAL" clId="{67F8A201-800D-4BB5-B132-A9BA5B000966}" dt="2022-09-28T04:56:05.241" v="7" actId="47"/>
        <pc:sldMasterMkLst>
          <pc:docMk/>
          <pc:sldMasterMk cId="0" sldId="2147483716"/>
        </pc:sldMasterMkLst>
        <pc:sldLayoutChg chg="del">
          <pc:chgData name="Kang Hua CAO" userId="80a060e7-d5a6-4feb-883e-c28f76a39cea" providerId="ADAL" clId="{67F8A201-800D-4BB5-B132-A9BA5B000966}" dt="2022-09-28T04:56:05.241" v="7" actId="47"/>
          <pc:sldLayoutMkLst>
            <pc:docMk/>
            <pc:sldMasterMk cId="0" sldId="2147483716"/>
            <pc:sldLayoutMk cId="1483082174" sldId="2147483934"/>
          </pc:sldLayoutMkLst>
        </pc:sldLayoutChg>
        <pc:sldLayoutChg chg="del">
          <pc:chgData name="Kang Hua CAO" userId="80a060e7-d5a6-4feb-883e-c28f76a39cea" providerId="ADAL" clId="{67F8A201-800D-4BB5-B132-A9BA5B000966}" dt="2022-09-28T04:56:05.241" v="7" actId="47"/>
          <pc:sldLayoutMkLst>
            <pc:docMk/>
            <pc:sldMasterMk cId="0" sldId="2147483716"/>
            <pc:sldLayoutMk cId="1693468002" sldId="2147483935"/>
          </pc:sldLayoutMkLst>
        </pc:sldLayoutChg>
        <pc:sldLayoutChg chg="del">
          <pc:chgData name="Kang Hua CAO" userId="80a060e7-d5a6-4feb-883e-c28f76a39cea" providerId="ADAL" clId="{67F8A201-800D-4BB5-B132-A9BA5B000966}" dt="2022-09-28T04:56:05.241" v="7" actId="47"/>
          <pc:sldLayoutMkLst>
            <pc:docMk/>
            <pc:sldMasterMk cId="0" sldId="2147483716"/>
            <pc:sldLayoutMk cId="4278002753" sldId="2147483936"/>
          </pc:sldLayoutMkLst>
        </pc:sldLayoutChg>
        <pc:sldLayoutChg chg="del">
          <pc:chgData name="Kang Hua CAO" userId="80a060e7-d5a6-4feb-883e-c28f76a39cea" providerId="ADAL" clId="{67F8A201-800D-4BB5-B132-A9BA5B000966}" dt="2022-09-28T04:56:05.241" v="7" actId="47"/>
          <pc:sldLayoutMkLst>
            <pc:docMk/>
            <pc:sldMasterMk cId="0" sldId="2147483716"/>
            <pc:sldLayoutMk cId="3342191225" sldId="2147483937"/>
          </pc:sldLayoutMkLst>
        </pc:sldLayoutChg>
        <pc:sldLayoutChg chg="del">
          <pc:chgData name="Kang Hua CAO" userId="80a060e7-d5a6-4feb-883e-c28f76a39cea" providerId="ADAL" clId="{67F8A201-800D-4BB5-B132-A9BA5B000966}" dt="2022-09-28T04:56:05.241" v="7" actId="47"/>
          <pc:sldLayoutMkLst>
            <pc:docMk/>
            <pc:sldMasterMk cId="0" sldId="2147483716"/>
            <pc:sldLayoutMk cId="190622066" sldId="2147483938"/>
          </pc:sldLayoutMkLst>
        </pc:sldLayoutChg>
        <pc:sldLayoutChg chg="del">
          <pc:chgData name="Kang Hua CAO" userId="80a060e7-d5a6-4feb-883e-c28f76a39cea" providerId="ADAL" clId="{67F8A201-800D-4BB5-B132-A9BA5B000966}" dt="2022-09-28T04:56:05.241" v="7" actId="47"/>
          <pc:sldLayoutMkLst>
            <pc:docMk/>
            <pc:sldMasterMk cId="0" sldId="2147483716"/>
            <pc:sldLayoutMk cId="3838986981" sldId="2147483939"/>
          </pc:sldLayoutMkLst>
        </pc:sldLayoutChg>
        <pc:sldLayoutChg chg="del">
          <pc:chgData name="Kang Hua CAO" userId="80a060e7-d5a6-4feb-883e-c28f76a39cea" providerId="ADAL" clId="{67F8A201-800D-4BB5-B132-A9BA5B000966}" dt="2022-09-28T04:56:05.241" v="7" actId="47"/>
          <pc:sldLayoutMkLst>
            <pc:docMk/>
            <pc:sldMasterMk cId="0" sldId="2147483716"/>
            <pc:sldLayoutMk cId="3404849306" sldId="2147483940"/>
          </pc:sldLayoutMkLst>
        </pc:sldLayoutChg>
        <pc:sldLayoutChg chg="del">
          <pc:chgData name="Kang Hua CAO" userId="80a060e7-d5a6-4feb-883e-c28f76a39cea" providerId="ADAL" clId="{67F8A201-800D-4BB5-B132-A9BA5B000966}" dt="2022-09-28T04:56:05.241" v="7" actId="47"/>
          <pc:sldLayoutMkLst>
            <pc:docMk/>
            <pc:sldMasterMk cId="0" sldId="2147483716"/>
            <pc:sldLayoutMk cId="2872215102" sldId="2147483941"/>
          </pc:sldLayoutMkLst>
        </pc:sldLayoutChg>
        <pc:sldLayoutChg chg="del">
          <pc:chgData name="Kang Hua CAO" userId="80a060e7-d5a6-4feb-883e-c28f76a39cea" providerId="ADAL" clId="{67F8A201-800D-4BB5-B132-A9BA5B000966}" dt="2022-09-28T04:56:05.241" v="7" actId="47"/>
          <pc:sldLayoutMkLst>
            <pc:docMk/>
            <pc:sldMasterMk cId="0" sldId="2147483716"/>
            <pc:sldLayoutMk cId="3107479530" sldId="2147483942"/>
          </pc:sldLayoutMkLst>
        </pc:sldLayoutChg>
        <pc:sldLayoutChg chg="del">
          <pc:chgData name="Kang Hua CAO" userId="80a060e7-d5a6-4feb-883e-c28f76a39cea" providerId="ADAL" clId="{67F8A201-800D-4BB5-B132-A9BA5B000966}" dt="2022-09-28T04:56:05.241" v="7" actId="47"/>
          <pc:sldLayoutMkLst>
            <pc:docMk/>
            <pc:sldMasterMk cId="0" sldId="2147483716"/>
            <pc:sldLayoutMk cId="1988962557" sldId="2147483943"/>
          </pc:sldLayoutMkLst>
        </pc:sldLayoutChg>
        <pc:sldLayoutChg chg="del">
          <pc:chgData name="Kang Hua CAO" userId="80a060e7-d5a6-4feb-883e-c28f76a39cea" providerId="ADAL" clId="{67F8A201-800D-4BB5-B132-A9BA5B000966}" dt="2022-09-28T04:56:05.241" v="7" actId="47"/>
          <pc:sldLayoutMkLst>
            <pc:docMk/>
            <pc:sldMasterMk cId="0" sldId="2147483716"/>
            <pc:sldLayoutMk cId="534420467" sldId="2147483944"/>
          </pc:sldLayoutMkLst>
        </pc:sldLayoutChg>
      </pc:sldMasterChg>
      <pc:sldMasterChg chg="modSldLayout">
        <pc:chgData name="Kang Hua CAO" userId="80a060e7-d5a6-4feb-883e-c28f76a39cea" providerId="ADAL" clId="{67F8A201-800D-4BB5-B132-A9BA5B000966}" dt="2022-09-28T05:08:06.965" v="83" actId="21"/>
        <pc:sldMasterMkLst>
          <pc:docMk/>
          <pc:sldMasterMk cId="4010973712" sldId="2147483948"/>
        </pc:sldMasterMkLst>
        <pc:sldLayoutChg chg="delSp">
          <pc:chgData name="Kang Hua CAO" userId="80a060e7-d5a6-4feb-883e-c28f76a39cea" providerId="ADAL" clId="{67F8A201-800D-4BB5-B132-A9BA5B000966}" dt="2022-09-28T05:08:06.965" v="83" actId="21"/>
          <pc:sldLayoutMkLst>
            <pc:docMk/>
            <pc:sldMasterMk cId="4010973712" sldId="2147483948"/>
            <pc:sldLayoutMk cId="2738432746" sldId="2147483961"/>
          </pc:sldLayoutMkLst>
        </pc:sldLayoutChg>
      </pc:sldMasterChg>
    </pc:docChg>
  </pc:docChgLst>
  <pc:docChgLst>
    <pc:chgData name="Kang Hua CAO" userId="80a060e7-d5a6-4feb-883e-c28f76a39cea" providerId="ADAL" clId="{67866CBA-BDBA-404C-8BC8-EE8691CB303C}"/>
    <pc:docChg chg="custSel addSld delSld modSld sldOrd">
      <pc:chgData name="Kang Hua CAO" userId="80a060e7-d5a6-4feb-883e-c28f76a39cea" providerId="ADAL" clId="{67866CBA-BDBA-404C-8BC8-EE8691CB303C}" dt="2022-11-01T08:29:08.597" v="763" actId="114"/>
      <pc:docMkLst>
        <pc:docMk/>
      </pc:docMkLst>
      <pc:sldChg chg="modSp mod">
        <pc:chgData name="Kang Hua CAO" userId="80a060e7-d5a6-4feb-883e-c28f76a39cea" providerId="ADAL" clId="{67866CBA-BDBA-404C-8BC8-EE8691CB303C}" dt="2022-10-25T09:10:03.679" v="508" actId="404"/>
        <pc:sldMkLst>
          <pc:docMk/>
          <pc:sldMk cId="3287100824" sldId="259"/>
        </pc:sldMkLst>
      </pc:sldChg>
      <pc:sldChg chg="modSp mod">
        <pc:chgData name="Kang Hua CAO" userId="80a060e7-d5a6-4feb-883e-c28f76a39cea" providerId="ADAL" clId="{67866CBA-BDBA-404C-8BC8-EE8691CB303C}" dt="2022-10-25T09:07:08.038" v="475" actId="20577"/>
        <pc:sldMkLst>
          <pc:docMk/>
          <pc:sldMk cId="1513010432" sldId="260"/>
        </pc:sldMkLst>
      </pc:sldChg>
      <pc:sldChg chg="modSp mod">
        <pc:chgData name="Kang Hua CAO" userId="80a060e7-d5a6-4feb-883e-c28f76a39cea" providerId="ADAL" clId="{67866CBA-BDBA-404C-8BC8-EE8691CB303C}" dt="2022-10-25T09:10:08.164" v="510" actId="27636"/>
        <pc:sldMkLst>
          <pc:docMk/>
          <pc:sldMk cId="1248423973" sldId="261"/>
        </pc:sldMkLst>
      </pc:sldChg>
      <pc:sldChg chg="modSp add mod">
        <pc:chgData name="Kang Hua CAO" userId="80a060e7-d5a6-4feb-883e-c28f76a39cea" providerId="ADAL" clId="{67866CBA-BDBA-404C-8BC8-EE8691CB303C}" dt="2022-10-25T09:08:59.832" v="482" actId="27636"/>
        <pc:sldMkLst>
          <pc:docMk/>
          <pc:sldMk cId="2029144056" sldId="264"/>
        </pc:sldMkLst>
      </pc:sldChg>
      <pc:sldChg chg="del">
        <pc:chgData name="Kang Hua CAO" userId="80a060e7-d5a6-4feb-883e-c28f76a39cea" providerId="ADAL" clId="{67866CBA-BDBA-404C-8BC8-EE8691CB303C}" dt="2022-10-25T08:57:47.773" v="260" actId="47"/>
        <pc:sldMkLst>
          <pc:docMk/>
          <pc:sldMk cId="843292380" sldId="271"/>
        </pc:sldMkLst>
      </pc:sldChg>
      <pc:sldChg chg="modSp mod">
        <pc:chgData name="Kang Hua CAO" userId="80a060e7-d5a6-4feb-883e-c28f76a39cea" providerId="ADAL" clId="{67866CBA-BDBA-404C-8BC8-EE8691CB303C}" dt="2022-10-25T08:44:11.414" v="158" actId="255"/>
        <pc:sldMkLst>
          <pc:docMk/>
          <pc:sldMk cId="0" sldId="293"/>
        </pc:sldMkLst>
      </pc:sldChg>
      <pc:sldChg chg="modSp mod">
        <pc:chgData name="Kang Hua CAO" userId="80a060e7-d5a6-4feb-883e-c28f76a39cea" providerId="ADAL" clId="{67866CBA-BDBA-404C-8BC8-EE8691CB303C}" dt="2022-10-25T08:44:19.440" v="159" actId="255"/>
        <pc:sldMkLst>
          <pc:docMk/>
          <pc:sldMk cId="0" sldId="294"/>
        </pc:sldMkLst>
      </pc:sldChg>
      <pc:sldChg chg="modSp mod">
        <pc:chgData name="Kang Hua CAO" userId="80a060e7-d5a6-4feb-883e-c28f76a39cea" providerId="ADAL" clId="{67866CBA-BDBA-404C-8BC8-EE8691CB303C}" dt="2022-10-25T08:45:22.069" v="176" actId="404"/>
        <pc:sldMkLst>
          <pc:docMk/>
          <pc:sldMk cId="0" sldId="297"/>
        </pc:sldMkLst>
      </pc:sldChg>
      <pc:sldChg chg="modSp mod">
        <pc:chgData name="Kang Hua CAO" userId="80a060e7-d5a6-4feb-883e-c28f76a39cea" providerId="ADAL" clId="{67866CBA-BDBA-404C-8BC8-EE8691CB303C}" dt="2022-10-25T08:46:38.188" v="205" actId="255"/>
        <pc:sldMkLst>
          <pc:docMk/>
          <pc:sldMk cId="0" sldId="298"/>
        </pc:sldMkLst>
      </pc:sldChg>
      <pc:sldChg chg="modSp mod">
        <pc:chgData name="Kang Hua CAO" userId="80a060e7-d5a6-4feb-883e-c28f76a39cea" providerId="ADAL" clId="{67866CBA-BDBA-404C-8BC8-EE8691CB303C}" dt="2022-10-25T08:46:45.248" v="207" actId="20577"/>
        <pc:sldMkLst>
          <pc:docMk/>
          <pc:sldMk cId="0" sldId="299"/>
        </pc:sldMkLst>
      </pc:sldChg>
      <pc:sldChg chg="modSp mod">
        <pc:chgData name="Kang Hua CAO" userId="80a060e7-d5a6-4feb-883e-c28f76a39cea" providerId="ADAL" clId="{67866CBA-BDBA-404C-8BC8-EE8691CB303C}" dt="2022-10-25T08:47:07.502" v="212" actId="1076"/>
        <pc:sldMkLst>
          <pc:docMk/>
          <pc:sldMk cId="0" sldId="300"/>
        </pc:sldMkLst>
      </pc:sldChg>
      <pc:sldChg chg="modSp del mod">
        <pc:chgData name="Kang Hua CAO" userId="80a060e7-d5a6-4feb-883e-c28f76a39cea" providerId="ADAL" clId="{67866CBA-BDBA-404C-8BC8-EE8691CB303C}" dt="2022-10-25T08:47:38.538" v="216" actId="2696"/>
        <pc:sldMkLst>
          <pc:docMk/>
          <pc:sldMk cId="0" sldId="301"/>
        </pc:sldMkLst>
      </pc:sldChg>
      <pc:sldChg chg="modSp mod">
        <pc:chgData name="Kang Hua CAO" userId="80a060e7-d5a6-4feb-883e-c28f76a39cea" providerId="ADAL" clId="{67866CBA-BDBA-404C-8BC8-EE8691CB303C}" dt="2022-10-25T08:48:08.505" v="229" actId="20577"/>
        <pc:sldMkLst>
          <pc:docMk/>
          <pc:sldMk cId="0" sldId="302"/>
        </pc:sldMkLst>
      </pc:sldChg>
      <pc:sldChg chg="modSp mod">
        <pc:chgData name="Kang Hua CAO" userId="80a060e7-d5a6-4feb-883e-c28f76a39cea" providerId="ADAL" clId="{67866CBA-BDBA-404C-8BC8-EE8691CB303C}" dt="2022-10-25T08:48:17.936" v="231" actId="5793"/>
        <pc:sldMkLst>
          <pc:docMk/>
          <pc:sldMk cId="0" sldId="303"/>
        </pc:sldMkLst>
      </pc:sldChg>
      <pc:sldChg chg="modSp mod">
        <pc:chgData name="Kang Hua CAO" userId="80a060e7-d5a6-4feb-883e-c28f76a39cea" providerId="ADAL" clId="{67866CBA-BDBA-404C-8BC8-EE8691CB303C}" dt="2022-10-25T08:48:33.479" v="233" actId="255"/>
        <pc:sldMkLst>
          <pc:docMk/>
          <pc:sldMk cId="0" sldId="304"/>
        </pc:sldMkLst>
      </pc:sldChg>
      <pc:sldChg chg="modSp mod">
        <pc:chgData name="Kang Hua CAO" userId="80a060e7-d5a6-4feb-883e-c28f76a39cea" providerId="ADAL" clId="{67866CBA-BDBA-404C-8BC8-EE8691CB303C}" dt="2022-10-25T08:48:43.165" v="235" actId="5793"/>
        <pc:sldMkLst>
          <pc:docMk/>
          <pc:sldMk cId="0" sldId="305"/>
        </pc:sldMkLst>
      </pc:sldChg>
      <pc:sldChg chg="modSp mod">
        <pc:chgData name="Kang Hua CAO" userId="80a060e7-d5a6-4feb-883e-c28f76a39cea" providerId="ADAL" clId="{67866CBA-BDBA-404C-8BC8-EE8691CB303C}" dt="2022-11-01T08:14:30.840" v="755" actId="114"/>
        <pc:sldMkLst>
          <pc:docMk/>
          <pc:sldMk cId="0" sldId="306"/>
        </pc:sldMkLst>
      </pc:sldChg>
      <pc:sldChg chg="modSp mod">
        <pc:chgData name="Kang Hua CAO" userId="80a060e7-d5a6-4feb-883e-c28f76a39cea" providerId="ADAL" clId="{67866CBA-BDBA-404C-8BC8-EE8691CB303C}" dt="2022-11-01T08:14:50.405" v="757" actId="5793"/>
        <pc:sldMkLst>
          <pc:docMk/>
          <pc:sldMk cId="0" sldId="307"/>
        </pc:sldMkLst>
      </pc:sldChg>
      <pc:sldChg chg="modSp mod">
        <pc:chgData name="Kang Hua CAO" userId="80a060e7-d5a6-4feb-883e-c28f76a39cea" providerId="ADAL" clId="{67866CBA-BDBA-404C-8BC8-EE8691CB303C}" dt="2022-11-01T08:15:01.677" v="759" actId="5793"/>
        <pc:sldMkLst>
          <pc:docMk/>
          <pc:sldMk cId="0" sldId="308"/>
        </pc:sldMkLst>
      </pc:sldChg>
      <pc:sldChg chg="modSp mod">
        <pc:chgData name="Kang Hua CAO" userId="80a060e7-d5a6-4feb-883e-c28f76a39cea" providerId="ADAL" clId="{67866CBA-BDBA-404C-8BC8-EE8691CB303C}" dt="2022-11-01T08:15:12.133" v="760" actId="5793"/>
        <pc:sldMkLst>
          <pc:docMk/>
          <pc:sldMk cId="0" sldId="310"/>
        </pc:sldMkLst>
      </pc:sldChg>
      <pc:sldChg chg="modSp mod">
        <pc:chgData name="Kang Hua CAO" userId="80a060e7-d5a6-4feb-883e-c28f76a39cea" providerId="ADAL" clId="{67866CBA-BDBA-404C-8BC8-EE8691CB303C}" dt="2022-10-25T08:50:28.610" v="250" actId="27636"/>
        <pc:sldMkLst>
          <pc:docMk/>
          <pc:sldMk cId="0" sldId="311"/>
        </pc:sldMkLst>
      </pc:sldChg>
      <pc:sldChg chg="modSp del mod">
        <pc:chgData name="Kang Hua CAO" userId="80a060e7-d5a6-4feb-883e-c28f76a39cea" providerId="ADAL" clId="{67866CBA-BDBA-404C-8BC8-EE8691CB303C}" dt="2022-10-25T08:39:27.174" v="107" actId="2696"/>
        <pc:sldMkLst>
          <pc:docMk/>
          <pc:sldMk cId="0" sldId="313"/>
        </pc:sldMkLst>
      </pc:sldChg>
      <pc:sldChg chg="modSp mod">
        <pc:chgData name="Kang Hua CAO" userId="80a060e7-d5a6-4feb-883e-c28f76a39cea" providerId="ADAL" clId="{67866CBA-BDBA-404C-8BC8-EE8691CB303C}" dt="2022-10-25T09:23:14.613" v="641" actId="20577"/>
        <pc:sldMkLst>
          <pc:docMk/>
          <pc:sldMk cId="0" sldId="315"/>
        </pc:sldMkLst>
      </pc:sldChg>
      <pc:sldChg chg="modSp mod">
        <pc:chgData name="Kang Hua CAO" userId="80a060e7-d5a6-4feb-883e-c28f76a39cea" providerId="ADAL" clId="{67866CBA-BDBA-404C-8BC8-EE8691CB303C}" dt="2022-10-25T08:38:00.817" v="87" actId="5793"/>
        <pc:sldMkLst>
          <pc:docMk/>
          <pc:sldMk cId="0" sldId="316"/>
        </pc:sldMkLst>
      </pc:sldChg>
      <pc:sldChg chg="modSp mod">
        <pc:chgData name="Kang Hua CAO" userId="80a060e7-d5a6-4feb-883e-c28f76a39cea" providerId="ADAL" clId="{67866CBA-BDBA-404C-8BC8-EE8691CB303C}" dt="2022-10-25T08:38:06.915" v="88" actId="1076"/>
        <pc:sldMkLst>
          <pc:docMk/>
          <pc:sldMk cId="0" sldId="317"/>
        </pc:sldMkLst>
      </pc:sldChg>
      <pc:sldChg chg="modSp mod">
        <pc:chgData name="Kang Hua CAO" userId="80a060e7-d5a6-4feb-883e-c28f76a39cea" providerId="ADAL" clId="{67866CBA-BDBA-404C-8BC8-EE8691CB303C}" dt="2022-10-25T08:38:15.513" v="89" actId="5793"/>
        <pc:sldMkLst>
          <pc:docMk/>
          <pc:sldMk cId="0" sldId="318"/>
        </pc:sldMkLst>
      </pc:sldChg>
      <pc:sldChg chg="modSp mod">
        <pc:chgData name="Kang Hua CAO" userId="80a060e7-d5a6-4feb-883e-c28f76a39cea" providerId="ADAL" clId="{67866CBA-BDBA-404C-8BC8-EE8691CB303C}" dt="2022-10-25T08:38:31.234" v="91" actId="5793"/>
        <pc:sldMkLst>
          <pc:docMk/>
          <pc:sldMk cId="0" sldId="319"/>
        </pc:sldMkLst>
      </pc:sldChg>
      <pc:sldChg chg="modSp mod">
        <pc:chgData name="Kang Hua CAO" userId="80a060e7-d5a6-4feb-883e-c28f76a39cea" providerId="ADAL" clId="{67866CBA-BDBA-404C-8BC8-EE8691CB303C}" dt="2022-10-25T09:23:44.258" v="642" actId="5793"/>
        <pc:sldMkLst>
          <pc:docMk/>
          <pc:sldMk cId="0" sldId="320"/>
        </pc:sldMkLst>
      </pc:sldChg>
      <pc:sldChg chg="modSp mod">
        <pc:chgData name="Kang Hua CAO" userId="80a060e7-d5a6-4feb-883e-c28f76a39cea" providerId="ADAL" clId="{67866CBA-BDBA-404C-8BC8-EE8691CB303C}" dt="2022-10-25T09:23:52.070" v="645" actId="20577"/>
        <pc:sldMkLst>
          <pc:docMk/>
          <pc:sldMk cId="0" sldId="321"/>
        </pc:sldMkLst>
      </pc:sldChg>
      <pc:sldChg chg="modSp mod">
        <pc:chgData name="Kang Hua CAO" userId="80a060e7-d5a6-4feb-883e-c28f76a39cea" providerId="ADAL" clId="{67866CBA-BDBA-404C-8BC8-EE8691CB303C}" dt="2022-10-25T09:24:01.955" v="648" actId="5793"/>
        <pc:sldMkLst>
          <pc:docMk/>
          <pc:sldMk cId="0" sldId="322"/>
        </pc:sldMkLst>
      </pc:sldChg>
      <pc:sldChg chg="modSp mod">
        <pc:chgData name="Kang Hua CAO" userId="80a060e7-d5a6-4feb-883e-c28f76a39cea" providerId="ADAL" clId="{67866CBA-BDBA-404C-8BC8-EE8691CB303C}" dt="2022-10-25T09:24:11.283" v="650" actId="5793"/>
        <pc:sldMkLst>
          <pc:docMk/>
          <pc:sldMk cId="0" sldId="323"/>
        </pc:sldMkLst>
      </pc:sldChg>
      <pc:sldChg chg="modSp mod">
        <pc:chgData name="Kang Hua CAO" userId="80a060e7-d5a6-4feb-883e-c28f76a39cea" providerId="ADAL" clId="{67866CBA-BDBA-404C-8BC8-EE8691CB303C}" dt="2022-10-25T09:24:19.452" v="652" actId="20577"/>
        <pc:sldMkLst>
          <pc:docMk/>
          <pc:sldMk cId="0" sldId="324"/>
        </pc:sldMkLst>
      </pc:sldChg>
      <pc:sldChg chg="modSp mod">
        <pc:chgData name="Kang Hua CAO" userId="80a060e7-d5a6-4feb-883e-c28f76a39cea" providerId="ADAL" clId="{67866CBA-BDBA-404C-8BC8-EE8691CB303C}" dt="2022-10-25T09:25:09.177" v="654" actId="404"/>
        <pc:sldMkLst>
          <pc:docMk/>
          <pc:sldMk cId="0" sldId="327"/>
        </pc:sldMkLst>
      </pc:sldChg>
      <pc:sldChg chg="modSp mod">
        <pc:chgData name="Kang Hua CAO" userId="80a060e7-d5a6-4feb-883e-c28f76a39cea" providerId="ADAL" clId="{67866CBA-BDBA-404C-8BC8-EE8691CB303C}" dt="2022-10-25T08:30:41.636" v="0" actId="20577"/>
        <pc:sldMkLst>
          <pc:docMk/>
          <pc:sldMk cId="4054365749" sldId="340"/>
        </pc:sldMkLst>
      </pc:sldChg>
      <pc:sldChg chg="modSp mod">
        <pc:chgData name="Kang Hua CAO" userId="80a060e7-d5a6-4feb-883e-c28f76a39cea" providerId="ADAL" clId="{67866CBA-BDBA-404C-8BC8-EE8691CB303C}" dt="2022-10-25T08:31:21.723" v="12" actId="5793"/>
        <pc:sldMkLst>
          <pc:docMk/>
          <pc:sldMk cId="219485751" sldId="342"/>
        </pc:sldMkLst>
      </pc:sldChg>
      <pc:sldChg chg="modSp del mod">
        <pc:chgData name="Kang Hua CAO" userId="80a060e7-d5a6-4feb-883e-c28f76a39cea" providerId="ADAL" clId="{67866CBA-BDBA-404C-8BC8-EE8691CB303C}" dt="2022-10-25T09:36:05.734" v="733" actId="47"/>
        <pc:sldMkLst>
          <pc:docMk/>
          <pc:sldMk cId="0" sldId="365"/>
        </pc:sldMkLst>
      </pc:sldChg>
      <pc:sldChg chg="modSp mod">
        <pc:chgData name="Kang Hua CAO" userId="80a060e7-d5a6-4feb-883e-c28f76a39cea" providerId="ADAL" clId="{67866CBA-BDBA-404C-8BC8-EE8691CB303C}" dt="2022-10-25T09:36:45.436" v="739" actId="20577"/>
        <pc:sldMkLst>
          <pc:docMk/>
          <pc:sldMk cId="0" sldId="375"/>
        </pc:sldMkLst>
      </pc:sldChg>
      <pc:sldChg chg="modSp mod">
        <pc:chgData name="Kang Hua CAO" userId="80a060e7-d5a6-4feb-883e-c28f76a39cea" providerId="ADAL" clId="{67866CBA-BDBA-404C-8BC8-EE8691CB303C}" dt="2022-10-25T09:36:51.807" v="741" actId="404"/>
        <pc:sldMkLst>
          <pc:docMk/>
          <pc:sldMk cId="0" sldId="376"/>
        </pc:sldMkLst>
      </pc:sldChg>
      <pc:sldChg chg="modSp mod">
        <pc:chgData name="Kang Hua CAO" userId="80a060e7-d5a6-4feb-883e-c28f76a39cea" providerId="ADAL" clId="{67866CBA-BDBA-404C-8BC8-EE8691CB303C}" dt="2022-10-25T09:37:06.595" v="750" actId="5793"/>
        <pc:sldMkLst>
          <pc:docMk/>
          <pc:sldMk cId="0" sldId="377"/>
        </pc:sldMkLst>
      </pc:sldChg>
      <pc:sldChg chg="modSp mod">
        <pc:chgData name="Kang Hua CAO" userId="80a060e7-d5a6-4feb-883e-c28f76a39cea" providerId="ADAL" clId="{67866CBA-BDBA-404C-8BC8-EE8691CB303C}" dt="2022-11-01T08:19:38.157" v="761" actId="114"/>
        <pc:sldMkLst>
          <pc:docMk/>
          <pc:sldMk cId="329588849" sldId="380"/>
        </pc:sldMkLst>
      </pc:sldChg>
      <pc:sldChg chg="modSp mod">
        <pc:chgData name="Kang Hua CAO" userId="80a060e7-d5a6-4feb-883e-c28f76a39cea" providerId="ADAL" clId="{67866CBA-BDBA-404C-8BC8-EE8691CB303C}" dt="2022-10-25T09:18:28.422" v="514" actId="404"/>
        <pc:sldMkLst>
          <pc:docMk/>
          <pc:sldMk cId="2104113668" sldId="381"/>
        </pc:sldMkLst>
      </pc:sldChg>
      <pc:sldChg chg="modSp mod">
        <pc:chgData name="Kang Hua CAO" userId="80a060e7-d5a6-4feb-883e-c28f76a39cea" providerId="ADAL" clId="{67866CBA-BDBA-404C-8BC8-EE8691CB303C}" dt="2022-10-25T09:18:39.932" v="516" actId="5793"/>
        <pc:sldMkLst>
          <pc:docMk/>
          <pc:sldMk cId="2044182318" sldId="382"/>
        </pc:sldMkLst>
      </pc:sldChg>
      <pc:sldChg chg="modSp mod">
        <pc:chgData name="Kang Hua CAO" userId="80a060e7-d5a6-4feb-883e-c28f76a39cea" providerId="ADAL" clId="{67866CBA-BDBA-404C-8BC8-EE8691CB303C}" dt="2022-10-25T09:18:54.953" v="519" actId="5793"/>
        <pc:sldMkLst>
          <pc:docMk/>
          <pc:sldMk cId="3711244335" sldId="383"/>
        </pc:sldMkLst>
      </pc:sldChg>
      <pc:sldChg chg="modSp">
        <pc:chgData name="Kang Hua CAO" userId="80a060e7-d5a6-4feb-883e-c28f76a39cea" providerId="ADAL" clId="{67866CBA-BDBA-404C-8BC8-EE8691CB303C}" dt="2022-11-01T08:20:15.411" v="762" actId="114"/>
        <pc:sldMkLst>
          <pc:docMk/>
          <pc:sldMk cId="3042416848" sldId="385"/>
        </pc:sldMkLst>
      </pc:sldChg>
      <pc:sldChg chg="modSp">
        <pc:chgData name="Kang Hua CAO" userId="80a060e7-d5a6-4feb-883e-c28f76a39cea" providerId="ADAL" clId="{67866CBA-BDBA-404C-8BC8-EE8691CB303C}" dt="2022-10-25T09:20:03.104" v="520" actId="5793"/>
        <pc:sldMkLst>
          <pc:docMk/>
          <pc:sldMk cId="1749654075" sldId="387"/>
        </pc:sldMkLst>
      </pc:sldChg>
      <pc:sldChg chg="modSp mod">
        <pc:chgData name="Kang Hua CAO" userId="80a060e7-d5a6-4feb-883e-c28f76a39cea" providerId="ADAL" clId="{67866CBA-BDBA-404C-8BC8-EE8691CB303C}" dt="2022-10-25T09:21:13.782" v="614" actId="1076"/>
        <pc:sldMkLst>
          <pc:docMk/>
          <pc:sldMk cId="1526219811" sldId="389"/>
        </pc:sldMkLst>
      </pc:sldChg>
      <pc:sldChg chg="modSp mod">
        <pc:chgData name="Kang Hua CAO" userId="80a060e7-d5a6-4feb-883e-c28f76a39cea" providerId="ADAL" clId="{67866CBA-BDBA-404C-8BC8-EE8691CB303C}" dt="2022-10-25T09:21:35.142" v="632" actId="20577"/>
        <pc:sldMkLst>
          <pc:docMk/>
          <pc:sldMk cId="1830000043" sldId="390"/>
        </pc:sldMkLst>
      </pc:sldChg>
      <pc:sldChg chg="modSp mod">
        <pc:chgData name="Kang Hua CAO" userId="80a060e7-d5a6-4feb-883e-c28f76a39cea" providerId="ADAL" clId="{67866CBA-BDBA-404C-8BC8-EE8691CB303C}" dt="2022-10-25T08:37:24.085" v="84" actId="20577"/>
        <pc:sldMkLst>
          <pc:docMk/>
          <pc:sldMk cId="427893526" sldId="392"/>
        </pc:sldMkLst>
      </pc:sldChg>
      <pc:sldChg chg="modSp mod">
        <pc:chgData name="Kang Hua CAO" userId="80a060e7-d5a6-4feb-883e-c28f76a39cea" providerId="ADAL" clId="{67866CBA-BDBA-404C-8BC8-EE8691CB303C}" dt="2022-10-25T08:37:32.614" v="85" actId="5793"/>
        <pc:sldMkLst>
          <pc:docMk/>
          <pc:sldMk cId="1799716676" sldId="393"/>
        </pc:sldMkLst>
      </pc:sldChg>
      <pc:sldChg chg="modSp del mod">
        <pc:chgData name="Kang Hua CAO" userId="80a060e7-d5a6-4feb-883e-c28f76a39cea" providerId="ADAL" clId="{67866CBA-BDBA-404C-8BC8-EE8691CB303C}" dt="2022-10-25T09:25:54.396" v="667" actId="2696"/>
        <pc:sldMkLst>
          <pc:docMk/>
          <pc:sldMk cId="167538224" sldId="394"/>
        </pc:sldMkLst>
      </pc:sldChg>
      <pc:sldChg chg="modSp del mod">
        <pc:chgData name="Kang Hua CAO" userId="80a060e7-d5a6-4feb-883e-c28f76a39cea" providerId="ADAL" clId="{67866CBA-BDBA-404C-8BC8-EE8691CB303C}" dt="2022-10-25T09:27:17.051" v="673" actId="47"/>
        <pc:sldMkLst>
          <pc:docMk/>
          <pc:sldMk cId="3773153751" sldId="395"/>
        </pc:sldMkLst>
      </pc:sldChg>
      <pc:sldChg chg="modSp del mod">
        <pc:chgData name="Kang Hua CAO" userId="80a060e7-d5a6-4feb-883e-c28f76a39cea" providerId="ADAL" clId="{67866CBA-BDBA-404C-8BC8-EE8691CB303C}" dt="2022-10-25T09:27:18.069" v="674" actId="47"/>
        <pc:sldMkLst>
          <pc:docMk/>
          <pc:sldMk cId="2353773143" sldId="396"/>
        </pc:sldMkLst>
      </pc:sldChg>
      <pc:sldChg chg="del">
        <pc:chgData name="Kang Hua CAO" userId="80a060e7-d5a6-4feb-883e-c28f76a39cea" providerId="ADAL" clId="{67866CBA-BDBA-404C-8BC8-EE8691CB303C}" dt="2022-10-25T09:27:19.400" v="675" actId="47"/>
        <pc:sldMkLst>
          <pc:docMk/>
          <pc:sldMk cId="1281817952" sldId="397"/>
        </pc:sldMkLst>
      </pc:sldChg>
      <pc:sldChg chg="del">
        <pc:chgData name="Kang Hua CAO" userId="80a060e7-d5a6-4feb-883e-c28f76a39cea" providerId="ADAL" clId="{67866CBA-BDBA-404C-8BC8-EE8691CB303C}" dt="2022-10-25T09:27:20.528" v="676" actId="47"/>
        <pc:sldMkLst>
          <pc:docMk/>
          <pc:sldMk cId="623960647" sldId="398"/>
        </pc:sldMkLst>
      </pc:sldChg>
      <pc:sldChg chg="del">
        <pc:chgData name="Kang Hua CAO" userId="80a060e7-d5a6-4feb-883e-c28f76a39cea" providerId="ADAL" clId="{67866CBA-BDBA-404C-8BC8-EE8691CB303C}" dt="2022-10-25T09:27:21.330" v="677" actId="47"/>
        <pc:sldMkLst>
          <pc:docMk/>
          <pc:sldMk cId="2862815035" sldId="399"/>
        </pc:sldMkLst>
      </pc:sldChg>
      <pc:sldChg chg="del">
        <pc:chgData name="Kang Hua CAO" userId="80a060e7-d5a6-4feb-883e-c28f76a39cea" providerId="ADAL" clId="{67866CBA-BDBA-404C-8BC8-EE8691CB303C}" dt="2022-10-25T09:27:23.058" v="678" actId="47"/>
        <pc:sldMkLst>
          <pc:docMk/>
          <pc:sldMk cId="212206171" sldId="400"/>
        </pc:sldMkLst>
      </pc:sldChg>
      <pc:sldChg chg="del">
        <pc:chgData name="Kang Hua CAO" userId="80a060e7-d5a6-4feb-883e-c28f76a39cea" providerId="ADAL" clId="{67866CBA-BDBA-404C-8BC8-EE8691CB303C}" dt="2022-10-25T09:27:25.501" v="679" actId="47"/>
        <pc:sldMkLst>
          <pc:docMk/>
          <pc:sldMk cId="136352372" sldId="401"/>
        </pc:sldMkLst>
      </pc:sldChg>
      <pc:sldChg chg="modSp mod">
        <pc:chgData name="Kang Hua CAO" userId="80a060e7-d5a6-4feb-883e-c28f76a39cea" providerId="ADAL" clId="{67866CBA-BDBA-404C-8BC8-EE8691CB303C}" dt="2022-10-25T09:27:57.864" v="691" actId="404"/>
        <pc:sldMkLst>
          <pc:docMk/>
          <pc:sldMk cId="4103633361" sldId="402"/>
        </pc:sldMkLst>
      </pc:sldChg>
      <pc:sldChg chg="modSp mod">
        <pc:chgData name="Kang Hua CAO" userId="80a060e7-d5a6-4feb-883e-c28f76a39cea" providerId="ADAL" clId="{67866CBA-BDBA-404C-8BC8-EE8691CB303C}" dt="2022-10-25T09:28:28.539" v="702" actId="255"/>
        <pc:sldMkLst>
          <pc:docMk/>
          <pc:sldMk cId="1135749027" sldId="403"/>
        </pc:sldMkLst>
      </pc:sldChg>
      <pc:sldChg chg="modSp mod">
        <pc:chgData name="Kang Hua CAO" userId="80a060e7-d5a6-4feb-883e-c28f76a39cea" providerId="ADAL" clId="{67866CBA-BDBA-404C-8BC8-EE8691CB303C}" dt="2022-10-25T09:28:42.383" v="704" actId="5793"/>
        <pc:sldMkLst>
          <pc:docMk/>
          <pc:sldMk cId="2684011762" sldId="404"/>
        </pc:sldMkLst>
      </pc:sldChg>
      <pc:sldChg chg="modSp mod">
        <pc:chgData name="Kang Hua CAO" userId="80a060e7-d5a6-4feb-883e-c28f76a39cea" providerId="ADAL" clId="{67866CBA-BDBA-404C-8BC8-EE8691CB303C}" dt="2022-10-25T09:28:49.278" v="706" actId="5793"/>
        <pc:sldMkLst>
          <pc:docMk/>
          <pc:sldMk cId="733260905" sldId="405"/>
        </pc:sldMkLst>
      </pc:sldChg>
      <pc:sldChg chg="modSp del mod">
        <pc:chgData name="Kang Hua CAO" userId="80a060e7-d5a6-4feb-883e-c28f76a39cea" providerId="ADAL" clId="{67866CBA-BDBA-404C-8BC8-EE8691CB303C}" dt="2022-10-25T09:29:05.681" v="707" actId="47"/>
        <pc:sldMkLst>
          <pc:docMk/>
          <pc:sldMk cId="1335579146" sldId="406"/>
        </pc:sldMkLst>
      </pc:sldChg>
      <pc:sldChg chg="addSp delSp modSp mod">
        <pc:chgData name="Kang Hua CAO" userId="80a060e7-d5a6-4feb-883e-c28f76a39cea" providerId="ADAL" clId="{67866CBA-BDBA-404C-8BC8-EE8691CB303C}" dt="2022-11-01T08:29:08.597" v="763" actId="114"/>
        <pc:sldMkLst>
          <pc:docMk/>
          <pc:sldMk cId="849135309" sldId="407"/>
        </pc:sldMkLst>
      </pc:sldChg>
      <pc:sldChg chg="modSp mod">
        <pc:chgData name="Kang Hua CAO" userId="80a060e7-d5a6-4feb-883e-c28f76a39cea" providerId="ADAL" clId="{67866CBA-BDBA-404C-8BC8-EE8691CB303C}" dt="2022-10-25T08:40:26.415" v="114" actId="1076"/>
        <pc:sldMkLst>
          <pc:docMk/>
          <pc:sldMk cId="3261132654" sldId="409"/>
        </pc:sldMkLst>
      </pc:sldChg>
      <pc:sldChg chg="modSp mod">
        <pc:chgData name="Kang Hua CAO" userId="80a060e7-d5a6-4feb-883e-c28f76a39cea" providerId="ADAL" clId="{67866CBA-BDBA-404C-8BC8-EE8691CB303C}" dt="2022-10-25T09:31:45.718" v="709" actId="1076"/>
        <pc:sldMkLst>
          <pc:docMk/>
          <pc:sldMk cId="3085727514" sldId="410"/>
        </pc:sldMkLst>
      </pc:sldChg>
      <pc:sldChg chg="modSp mod">
        <pc:chgData name="Kang Hua CAO" userId="80a060e7-d5a6-4feb-883e-c28f76a39cea" providerId="ADAL" clId="{67866CBA-BDBA-404C-8BC8-EE8691CB303C}" dt="2022-10-25T08:40:46.727" v="116" actId="1076"/>
        <pc:sldMkLst>
          <pc:docMk/>
          <pc:sldMk cId="1306066960" sldId="411"/>
        </pc:sldMkLst>
      </pc:sldChg>
      <pc:sldChg chg="addSp delSp modSp mod">
        <pc:chgData name="Kang Hua CAO" userId="80a060e7-d5a6-4feb-883e-c28f76a39cea" providerId="ADAL" clId="{67866CBA-BDBA-404C-8BC8-EE8691CB303C}" dt="2022-10-25T08:41:14.015" v="128" actId="404"/>
        <pc:sldMkLst>
          <pc:docMk/>
          <pc:sldMk cId="1970115650" sldId="415"/>
        </pc:sldMkLst>
      </pc:sldChg>
      <pc:sldChg chg="modSp mod">
        <pc:chgData name="Kang Hua CAO" userId="80a060e7-d5a6-4feb-883e-c28f76a39cea" providerId="ADAL" clId="{67866CBA-BDBA-404C-8BC8-EE8691CB303C}" dt="2022-10-25T09:32:35.411" v="715" actId="20577"/>
        <pc:sldMkLst>
          <pc:docMk/>
          <pc:sldMk cId="1117709612" sldId="416"/>
        </pc:sldMkLst>
      </pc:sldChg>
      <pc:sldChg chg="modSp mod">
        <pc:chgData name="Kang Hua CAO" userId="80a060e7-d5a6-4feb-883e-c28f76a39cea" providerId="ADAL" clId="{67866CBA-BDBA-404C-8BC8-EE8691CB303C}" dt="2022-10-25T09:33:07.839" v="718" actId="5793"/>
        <pc:sldMkLst>
          <pc:docMk/>
          <pc:sldMk cId="3827062788" sldId="417"/>
        </pc:sldMkLst>
      </pc:sldChg>
      <pc:sldChg chg="modSp mod">
        <pc:chgData name="Kang Hua CAO" userId="80a060e7-d5a6-4feb-883e-c28f76a39cea" providerId="ADAL" clId="{67866CBA-BDBA-404C-8BC8-EE8691CB303C}" dt="2022-10-25T09:34:02.112" v="720" actId="404"/>
        <pc:sldMkLst>
          <pc:docMk/>
          <pc:sldMk cId="3255080858" sldId="418"/>
        </pc:sldMkLst>
      </pc:sldChg>
      <pc:sldChg chg="modSp mod">
        <pc:chgData name="Kang Hua CAO" userId="80a060e7-d5a6-4feb-883e-c28f76a39cea" providerId="ADAL" clId="{67866CBA-BDBA-404C-8BC8-EE8691CB303C}" dt="2022-10-25T08:45:14.713" v="175" actId="20577"/>
        <pc:sldMkLst>
          <pc:docMk/>
          <pc:sldMk cId="329534363" sldId="419"/>
        </pc:sldMkLst>
      </pc:sldChg>
      <pc:sldChg chg="modSp mod">
        <pc:chgData name="Kang Hua CAO" userId="80a060e7-d5a6-4feb-883e-c28f76a39cea" providerId="ADAL" clId="{67866CBA-BDBA-404C-8BC8-EE8691CB303C}" dt="2022-10-25T08:47:54.505" v="222" actId="1076"/>
        <pc:sldMkLst>
          <pc:docMk/>
          <pc:sldMk cId="4003123338" sldId="420"/>
        </pc:sldMkLst>
      </pc:sldChg>
      <pc:sldChg chg="del">
        <pc:chgData name="Kang Hua CAO" userId="80a060e7-d5a6-4feb-883e-c28f76a39cea" providerId="ADAL" clId="{67866CBA-BDBA-404C-8BC8-EE8691CB303C}" dt="2022-10-25T08:47:43.364" v="218" actId="2696"/>
        <pc:sldMkLst>
          <pc:docMk/>
          <pc:sldMk cId="4073170333" sldId="421"/>
        </pc:sldMkLst>
      </pc:sldChg>
      <pc:sldChg chg="delSp mod">
        <pc:chgData name="Kang Hua CAO" userId="80a060e7-d5a6-4feb-883e-c28f76a39cea" providerId="ADAL" clId="{67866CBA-BDBA-404C-8BC8-EE8691CB303C}" dt="2022-10-25T08:52:03.415" v="251" actId="21"/>
        <pc:sldMkLst>
          <pc:docMk/>
          <pc:sldMk cId="1490433849" sldId="422"/>
        </pc:sldMkLst>
      </pc:sldChg>
      <pc:sldChg chg="modSp add mod">
        <pc:chgData name="Kang Hua CAO" userId="80a060e7-d5a6-4feb-883e-c28f76a39cea" providerId="ADAL" clId="{67866CBA-BDBA-404C-8BC8-EE8691CB303C}" dt="2022-10-25T09:09:52.537" v="507" actId="403"/>
        <pc:sldMkLst>
          <pc:docMk/>
          <pc:sldMk cId="536341559" sldId="424"/>
        </pc:sldMkLst>
      </pc:sldChg>
      <pc:sldChg chg="new del">
        <pc:chgData name="Kang Hua CAO" userId="80a060e7-d5a6-4feb-883e-c28f76a39cea" providerId="ADAL" clId="{67866CBA-BDBA-404C-8BC8-EE8691CB303C}" dt="2022-10-25T08:39:30.664" v="108" actId="2696"/>
        <pc:sldMkLst>
          <pc:docMk/>
          <pc:sldMk cId="3008336057" sldId="425"/>
        </pc:sldMkLst>
      </pc:sldChg>
      <pc:sldChg chg="delSp modSp new mod ord">
        <pc:chgData name="Kang Hua CAO" userId="80a060e7-d5a6-4feb-883e-c28f76a39cea" providerId="ADAL" clId="{67866CBA-BDBA-404C-8BC8-EE8691CB303C}" dt="2022-10-25T08:39:35.241" v="109" actId="21"/>
        <pc:sldMkLst>
          <pc:docMk/>
          <pc:sldMk cId="248389101" sldId="426"/>
        </pc:sldMkLst>
      </pc:sldChg>
      <pc:sldChg chg="delSp modSp new mod ord">
        <pc:chgData name="Kang Hua CAO" userId="80a060e7-d5a6-4feb-883e-c28f76a39cea" providerId="ADAL" clId="{67866CBA-BDBA-404C-8BC8-EE8691CB303C}" dt="2022-10-25T09:25:50.496" v="666" actId="21"/>
        <pc:sldMkLst>
          <pc:docMk/>
          <pc:sldMk cId="2505379644" sldId="427"/>
        </pc:sldMkLst>
      </pc:sldChg>
      <pc:sldChg chg="add del">
        <pc:chgData name="Kang Hua CAO" userId="80a060e7-d5a6-4feb-883e-c28f76a39cea" providerId="ADAL" clId="{67866CBA-BDBA-404C-8BC8-EE8691CB303C}" dt="2022-10-25T08:47:45.321" v="219" actId="2696"/>
        <pc:sldMkLst>
          <pc:docMk/>
          <pc:sldMk cId="3074226227" sldId="427"/>
        </pc:sldMkLst>
      </pc:sldChg>
      <pc:sldChg chg="new del">
        <pc:chgData name="Kang Hua CAO" userId="80a060e7-d5a6-4feb-883e-c28f76a39cea" providerId="ADAL" clId="{67866CBA-BDBA-404C-8BC8-EE8691CB303C}" dt="2022-10-25T09:36:06.476" v="734" actId="47"/>
        <pc:sldMkLst>
          <pc:docMk/>
          <pc:sldMk cId="1475343032" sldId="428"/>
        </pc:sldMkLst>
      </pc:sldChg>
      <pc:sldChg chg="delSp modSp new mod ord">
        <pc:chgData name="Kang Hua CAO" userId="80a060e7-d5a6-4feb-883e-c28f76a39cea" providerId="ADAL" clId="{67866CBA-BDBA-404C-8BC8-EE8691CB303C}" dt="2022-10-25T09:36:04.257" v="732" actId="21"/>
        <pc:sldMkLst>
          <pc:docMk/>
          <pc:sldMk cId="3076820078" sldId="429"/>
        </pc:sldMkLst>
      </pc:sldChg>
      <pc:sldMasterChg chg="delSldLayout">
        <pc:chgData name="Kang Hua CAO" userId="80a060e7-d5a6-4feb-883e-c28f76a39cea" providerId="ADAL" clId="{67866CBA-BDBA-404C-8BC8-EE8691CB303C}" dt="2022-10-25T09:36:06.476" v="734" actId="47"/>
        <pc:sldMasterMkLst>
          <pc:docMk/>
          <pc:sldMasterMk cId="4010973712" sldId="2147483948"/>
        </pc:sldMasterMkLst>
        <pc:sldLayoutChg chg="del">
          <pc:chgData name="Kang Hua CAO" userId="80a060e7-d5a6-4feb-883e-c28f76a39cea" providerId="ADAL" clId="{67866CBA-BDBA-404C-8BC8-EE8691CB303C}" dt="2022-10-25T09:36:06.476" v="734" actId="47"/>
          <pc:sldLayoutMkLst>
            <pc:docMk/>
            <pc:sldMasterMk cId="4010973712" sldId="2147483948"/>
            <pc:sldLayoutMk cId="262477625" sldId="2147483960"/>
          </pc:sldLayoutMkLst>
        </pc:sldLayoutChg>
      </pc:sldMasterChg>
    </pc:docChg>
  </pc:docChgLst>
  <pc:docChgLst>
    <pc:chgData name="Kang Hua CAO" userId="80a060e7-d5a6-4feb-883e-c28f76a39cea" providerId="ADAL" clId="{95C6A30F-A16D-4886-98FA-E6923620F69C}"/>
    <pc:docChg chg="delSld">
      <pc:chgData name="Kang Hua CAO" userId="80a060e7-d5a6-4feb-883e-c28f76a39cea" providerId="ADAL" clId="{95C6A30F-A16D-4886-98FA-E6923620F69C}" dt="2023-11-03T06:15:24.756" v="1" actId="47"/>
      <pc:docMkLst>
        <pc:docMk/>
      </pc:docMkLst>
      <pc:sldChg chg="del">
        <pc:chgData name="Kang Hua CAO" userId="80a060e7-d5a6-4feb-883e-c28f76a39cea" providerId="ADAL" clId="{95C6A30F-A16D-4886-98FA-E6923620F69C}" dt="2023-11-03T06:15:24.756" v="1" actId="47"/>
        <pc:sldMkLst>
          <pc:docMk/>
          <pc:sldMk cId="2029144056" sldId="264"/>
        </pc:sldMkLst>
      </pc:sldChg>
      <pc:sldChg chg="del">
        <pc:chgData name="Kang Hua CAO" userId="80a060e7-d5a6-4feb-883e-c28f76a39cea" providerId="ADAL" clId="{95C6A30F-A16D-4886-98FA-E6923620F69C}" dt="2023-11-03T06:14:32.156" v="0" actId="47"/>
        <pc:sldMkLst>
          <pc:docMk/>
          <pc:sldMk cId="536341559" sldId="424"/>
        </pc:sldMkLst>
      </pc:sldChg>
    </pc:docChg>
  </pc:docChgLst>
  <pc:docChgLst>
    <pc:chgData name="Kang Hua CAO" userId="80a060e7-d5a6-4feb-883e-c28f76a39cea" providerId="ADAL" clId="{26AA1C54-3726-4C81-92E6-BFA7F8F829A9}"/>
    <pc:docChg chg="modSld">
      <pc:chgData name="Kang Hua CAO" userId="80a060e7-d5a6-4feb-883e-c28f76a39cea" providerId="ADAL" clId="{26AA1C54-3726-4C81-92E6-BFA7F8F829A9}" dt="2022-11-08T20:19:05.557" v="6" actId="20577"/>
      <pc:docMkLst>
        <pc:docMk/>
      </pc:docMkLst>
      <pc:sldChg chg="modSp">
        <pc:chgData name="Kang Hua CAO" userId="80a060e7-d5a6-4feb-883e-c28f76a39cea" providerId="ADAL" clId="{26AA1C54-3726-4C81-92E6-BFA7F8F829A9}" dt="2022-11-08T20:19:05.557" v="6" actId="20577"/>
        <pc:sldMkLst>
          <pc:docMk/>
          <pc:sldMk cId="0" sldId="32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1895E754-C7D9-4368-A874-65599D608016}"/>
              </a:ext>
            </a:extLst>
          </p:cNvPr>
          <p:cNvSpPr>
            <a:spLocks noGrp="1"/>
          </p:cNvSpPr>
          <p:nvPr>
            <p:ph type="hdr" sz="quarter"/>
          </p:nvPr>
        </p:nvSpPr>
        <p:spPr>
          <a:xfrm>
            <a:off x="0" y="0"/>
            <a:ext cx="3076575" cy="511175"/>
          </a:xfrm>
          <a:prstGeom prst="rect">
            <a:avLst/>
          </a:prstGeom>
        </p:spPr>
        <p:txBody>
          <a:bodyPr vert="horz" wrap="square" lIns="95070" tIns="47535" rIns="95070" bIns="47535" numCol="1" anchor="t" anchorCtr="0" compatLnSpc="1">
            <a:prstTxWarp prst="textNoShape">
              <a:avLst/>
            </a:prstTxWarp>
          </a:bodyPr>
          <a:lstStyle>
            <a:lvl1pPr eaLnBrk="1" hangingPunct="1">
              <a:defRPr sz="1200">
                <a:cs typeface="Arial" charset="0"/>
              </a:defRPr>
            </a:lvl1pPr>
          </a:lstStyle>
          <a:p>
            <a:pPr>
              <a:defRPr/>
            </a:pPr>
            <a:endParaRPr lang="en-US" altLang="en-US" dirty="0"/>
          </a:p>
        </p:txBody>
      </p:sp>
      <p:sp>
        <p:nvSpPr>
          <p:cNvPr id="3" name="Datumsplatzhalter 2">
            <a:extLst>
              <a:ext uri="{FF2B5EF4-FFF2-40B4-BE49-F238E27FC236}">
                <a16:creationId xmlns:a16="http://schemas.microsoft.com/office/drawing/2014/main" id="{88991F13-627C-48DC-A784-C2C03EF82A74}"/>
              </a:ext>
            </a:extLst>
          </p:cNvPr>
          <p:cNvSpPr>
            <a:spLocks noGrp="1"/>
          </p:cNvSpPr>
          <p:nvPr>
            <p:ph type="dt" sz="quarter" idx="1"/>
          </p:nvPr>
        </p:nvSpPr>
        <p:spPr>
          <a:xfrm>
            <a:off x="4021138" y="0"/>
            <a:ext cx="3076575" cy="511175"/>
          </a:xfrm>
          <a:prstGeom prst="rect">
            <a:avLst/>
          </a:prstGeom>
        </p:spPr>
        <p:txBody>
          <a:bodyPr vert="horz" wrap="square" lIns="95070" tIns="47535" rIns="95070" bIns="47535" numCol="1" anchor="t" anchorCtr="0" compatLnSpc="1">
            <a:prstTxWarp prst="textNoShape">
              <a:avLst/>
            </a:prstTxWarp>
          </a:bodyPr>
          <a:lstStyle>
            <a:lvl1pPr algn="r" eaLnBrk="1" hangingPunct="1">
              <a:defRPr sz="1200">
                <a:cs typeface="Arial" charset="0"/>
              </a:defRPr>
            </a:lvl1pPr>
          </a:lstStyle>
          <a:p>
            <a:pPr>
              <a:defRPr/>
            </a:pPr>
            <a:fld id="{5995D871-F732-4E13-B3C5-950F2BE07ACD}" type="datetimeFigureOut">
              <a:rPr lang="de-DE" altLang="en-US"/>
              <a:pPr>
                <a:defRPr/>
              </a:pPr>
              <a:t>30.10.2025</a:t>
            </a:fld>
            <a:endParaRPr lang="de-DE" altLang="en-US"/>
          </a:p>
        </p:txBody>
      </p:sp>
      <p:sp>
        <p:nvSpPr>
          <p:cNvPr id="4" name="Fußzeilenplatzhalter 3">
            <a:extLst>
              <a:ext uri="{FF2B5EF4-FFF2-40B4-BE49-F238E27FC236}">
                <a16:creationId xmlns:a16="http://schemas.microsoft.com/office/drawing/2014/main" id="{67B10FE2-CAC7-42C5-B4FC-2036E34FD239}"/>
              </a:ext>
            </a:extLst>
          </p:cNvPr>
          <p:cNvSpPr>
            <a:spLocks noGrp="1"/>
          </p:cNvSpPr>
          <p:nvPr>
            <p:ph type="ftr" sz="quarter" idx="2"/>
          </p:nvPr>
        </p:nvSpPr>
        <p:spPr>
          <a:xfrm>
            <a:off x="0" y="9721850"/>
            <a:ext cx="3076575" cy="511175"/>
          </a:xfrm>
          <a:prstGeom prst="rect">
            <a:avLst/>
          </a:prstGeom>
        </p:spPr>
        <p:txBody>
          <a:bodyPr vert="horz" wrap="square" lIns="95070" tIns="47535" rIns="95070" bIns="47535" numCol="1" anchor="b" anchorCtr="0" compatLnSpc="1">
            <a:prstTxWarp prst="textNoShape">
              <a:avLst/>
            </a:prstTxWarp>
          </a:bodyPr>
          <a:lstStyle>
            <a:lvl1pPr eaLnBrk="1" hangingPunct="1">
              <a:defRPr sz="1200">
                <a:cs typeface="Arial" charset="0"/>
              </a:defRPr>
            </a:lvl1pPr>
          </a:lstStyle>
          <a:p>
            <a:pPr>
              <a:defRPr/>
            </a:pPr>
            <a:endParaRPr lang="en-US" altLang="en-US" dirty="0"/>
          </a:p>
        </p:txBody>
      </p:sp>
      <p:sp>
        <p:nvSpPr>
          <p:cNvPr id="5" name="Foliennummernplatzhalter 4">
            <a:extLst>
              <a:ext uri="{FF2B5EF4-FFF2-40B4-BE49-F238E27FC236}">
                <a16:creationId xmlns:a16="http://schemas.microsoft.com/office/drawing/2014/main" id="{D110E63B-7C97-4986-AF0E-9FF16D209E86}"/>
              </a:ext>
            </a:extLst>
          </p:cNvPr>
          <p:cNvSpPr>
            <a:spLocks noGrp="1"/>
          </p:cNvSpPr>
          <p:nvPr>
            <p:ph type="sldNum" sz="quarter" idx="3"/>
          </p:nvPr>
        </p:nvSpPr>
        <p:spPr>
          <a:xfrm>
            <a:off x="4021138" y="9721850"/>
            <a:ext cx="3076575" cy="511175"/>
          </a:xfrm>
          <a:prstGeom prst="rect">
            <a:avLst/>
          </a:prstGeom>
        </p:spPr>
        <p:txBody>
          <a:bodyPr vert="horz" wrap="square" lIns="95070" tIns="47535" rIns="95070" bIns="47535" numCol="1" anchor="b" anchorCtr="0" compatLnSpc="1">
            <a:prstTxWarp prst="textNoShape">
              <a:avLst/>
            </a:prstTxWarp>
          </a:bodyPr>
          <a:lstStyle>
            <a:lvl1pPr algn="r" eaLnBrk="1" hangingPunct="1">
              <a:defRPr sz="1200" smtClean="0"/>
            </a:lvl1pPr>
          </a:lstStyle>
          <a:p>
            <a:pPr>
              <a:defRPr/>
            </a:pPr>
            <a:fld id="{11870FC8-4768-479C-A52B-13040E2ED620}" type="slidenum">
              <a:rPr lang="de-DE" altLang="en-US"/>
              <a:pPr>
                <a:defRPr/>
              </a:pPr>
              <a:t>‹#›</a:t>
            </a:fld>
            <a:endParaRPr lang="de-DE" altLang="en-US"/>
          </a:p>
        </p:txBody>
      </p:sp>
    </p:spTree>
    <p:extLst>
      <p:ext uri="{BB962C8B-B14F-4D97-AF65-F5344CB8AC3E}">
        <p14:creationId xmlns:p14="http://schemas.microsoft.com/office/powerpoint/2010/main" val="69703432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BDE03E7C-D5A3-4CB5-A4E7-14EDDAEE16A6}"/>
              </a:ext>
            </a:extLst>
          </p:cNvPr>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5070" tIns="47535" rIns="95070" bIns="47535" numCol="1" anchor="t" anchorCtr="0" compatLnSpc="1">
            <a:prstTxWarp prst="textNoShape">
              <a:avLst/>
            </a:prstTxWarp>
          </a:bodyPr>
          <a:lstStyle>
            <a:lvl1pPr eaLnBrk="1" hangingPunct="1">
              <a:defRPr sz="1200">
                <a:latin typeface="Arial" charset="0"/>
                <a:cs typeface="Arial" charset="0"/>
              </a:defRPr>
            </a:lvl1pPr>
          </a:lstStyle>
          <a:p>
            <a:pPr>
              <a:defRPr/>
            </a:pPr>
            <a:endParaRPr lang="en-US" altLang="en-US" dirty="0"/>
          </a:p>
        </p:txBody>
      </p:sp>
      <p:sp>
        <p:nvSpPr>
          <p:cNvPr id="4099" name="Rectangle 3">
            <a:extLst>
              <a:ext uri="{FF2B5EF4-FFF2-40B4-BE49-F238E27FC236}">
                <a16:creationId xmlns:a16="http://schemas.microsoft.com/office/drawing/2014/main" id="{CE9BAF1B-FCCA-4710-AE98-A1E91E87BC0B}"/>
              </a:ext>
            </a:extLst>
          </p:cNvPr>
          <p:cNvSpPr>
            <a:spLocks noGrp="1" noChangeArrowheads="1"/>
          </p:cNvSpPr>
          <p:nvPr>
            <p:ph type="dt" idx="1"/>
          </p:nvPr>
        </p:nvSpPr>
        <p:spPr bwMode="auto">
          <a:xfrm>
            <a:off x="4021138" y="0"/>
            <a:ext cx="3076575" cy="511175"/>
          </a:xfrm>
          <a:prstGeom prst="rect">
            <a:avLst/>
          </a:prstGeom>
          <a:noFill/>
          <a:ln w="9525">
            <a:noFill/>
            <a:miter lim="800000"/>
            <a:headEnd/>
            <a:tailEnd/>
          </a:ln>
          <a:effectLst/>
        </p:spPr>
        <p:txBody>
          <a:bodyPr vert="horz" wrap="square" lIns="95070" tIns="47535" rIns="95070" bIns="47535" numCol="1" anchor="t" anchorCtr="0" compatLnSpc="1">
            <a:prstTxWarp prst="textNoShape">
              <a:avLst/>
            </a:prstTxWarp>
          </a:bodyPr>
          <a:lstStyle>
            <a:lvl1pPr algn="r" eaLnBrk="1" hangingPunct="1">
              <a:defRPr sz="1200">
                <a:latin typeface="Arial" charset="0"/>
                <a:cs typeface="Arial" charset="0"/>
              </a:defRPr>
            </a:lvl1pPr>
          </a:lstStyle>
          <a:p>
            <a:pPr>
              <a:defRPr/>
            </a:pPr>
            <a:endParaRPr lang="en-US" altLang="en-US" dirty="0"/>
          </a:p>
        </p:txBody>
      </p:sp>
      <p:sp>
        <p:nvSpPr>
          <p:cNvPr id="3076" name="Rectangle 4"/>
          <p:cNvSpPr>
            <a:spLocks noGrp="1" noRot="1" noChangeAspect="1" noChangeArrowheads="1" noTextEdit="1"/>
          </p:cNvSpPr>
          <p:nvPr>
            <p:ph type="sldImg" idx="2"/>
          </p:nvPr>
        </p:nvSpPr>
        <p:spPr bwMode="auto">
          <a:xfrm>
            <a:off x="992188" y="768350"/>
            <a:ext cx="5114925"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83DCD023-87E3-4513-B34A-CE8587BE112F}"/>
              </a:ext>
            </a:extLst>
          </p:cNvPr>
          <p:cNvSpPr>
            <a:spLocks noGrp="1" noChangeArrowheads="1"/>
          </p:cNvSpPr>
          <p:nvPr>
            <p:ph type="body" sz="quarter" idx="3"/>
          </p:nvPr>
        </p:nvSpPr>
        <p:spPr bwMode="auto">
          <a:xfrm>
            <a:off x="709613" y="4862513"/>
            <a:ext cx="5680075" cy="4605337"/>
          </a:xfrm>
          <a:prstGeom prst="rect">
            <a:avLst/>
          </a:prstGeom>
          <a:noFill/>
          <a:ln w="9525">
            <a:noFill/>
            <a:miter lim="800000"/>
            <a:headEnd/>
            <a:tailEnd/>
          </a:ln>
          <a:effectLst/>
        </p:spPr>
        <p:txBody>
          <a:bodyPr vert="horz" wrap="square" lIns="95070" tIns="47535" rIns="95070" bIns="47535" numCol="1" anchor="t" anchorCtr="0" compatLnSpc="1">
            <a:prstTxWarp prst="textNoShape">
              <a:avLst/>
            </a:prstTxWarp>
          </a:bodyPr>
          <a:lstStyle/>
          <a:p>
            <a:pPr lvl="0"/>
            <a:r>
              <a:rPr lang="de-DE" noProof="0"/>
              <a:t>Textmasterformate durch Klicken bearbeiten</a:t>
            </a:r>
          </a:p>
          <a:p>
            <a:pPr lvl="1"/>
            <a:r>
              <a:rPr lang="de-DE" noProof="0"/>
              <a:t>Zweite Ebene</a:t>
            </a:r>
          </a:p>
          <a:p>
            <a:pPr lvl="2"/>
            <a:r>
              <a:rPr lang="de-DE" noProof="0"/>
              <a:t>Dritte Ebene</a:t>
            </a:r>
          </a:p>
          <a:p>
            <a:pPr lvl="3"/>
            <a:r>
              <a:rPr lang="de-DE" noProof="0"/>
              <a:t>Vierte Ebene</a:t>
            </a:r>
          </a:p>
          <a:p>
            <a:pPr lvl="4"/>
            <a:r>
              <a:rPr lang="de-DE" noProof="0"/>
              <a:t>Fünfte Ebene</a:t>
            </a:r>
          </a:p>
        </p:txBody>
      </p:sp>
      <p:sp>
        <p:nvSpPr>
          <p:cNvPr id="4102" name="Rectangle 6">
            <a:extLst>
              <a:ext uri="{FF2B5EF4-FFF2-40B4-BE49-F238E27FC236}">
                <a16:creationId xmlns:a16="http://schemas.microsoft.com/office/drawing/2014/main" id="{2C0915A6-61F4-444A-B087-C38EA6E4F78B}"/>
              </a:ext>
            </a:extLst>
          </p:cNvPr>
          <p:cNvSpPr>
            <a:spLocks noGrp="1" noChangeArrowheads="1"/>
          </p:cNvSpPr>
          <p:nvPr>
            <p:ph type="ftr" sz="quarter" idx="4"/>
          </p:nvPr>
        </p:nvSpPr>
        <p:spPr bwMode="auto">
          <a:xfrm>
            <a:off x="0" y="9721850"/>
            <a:ext cx="3076575" cy="511175"/>
          </a:xfrm>
          <a:prstGeom prst="rect">
            <a:avLst/>
          </a:prstGeom>
          <a:noFill/>
          <a:ln w="9525">
            <a:noFill/>
            <a:miter lim="800000"/>
            <a:headEnd/>
            <a:tailEnd/>
          </a:ln>
          <a:effectLst/>
        </p:spPr>
        <p:txBody>
          <a:bodyPr vert="horz" wrap="square" lIns="95070" tIns="47535" rIns="95070" bIns="47535" numCol="1" anchor="b" anchorCtr="0" compatLnSpc="1">
            <a:prstTxWarp prst="textNoShape">
              <a:avLst/>
            </a:prstTxWarp>
          </a:bodyPr>
          <a:lstStyle>
            <a:lvl1pPr eaLnBrk="1" hangingPunct="1">
              <a:defRPr sz="1200">
                <a:latin typeface="Arial" charset="0"/>
                <a:cs typeface="Arial" charset="0"/>
              </a:defRPr>
            </a:lvl1pPr>
          </a:lstStyle>
          <a:p>
            <a:pPr>
              <a:defRPr/>
            </a:pPr>
            <a:endParaRPr lang="en-US" altLang="en-US" dirty="0"/>
          </a:p>
        </p:txBody>
      </p:sp>
      <p:sp>
        <p:nvSpPr>
          <p:cNvPr id="4103" name="Rectangle 7">
            <a:extLst>
              <a:ext uri="{FF2B5EF4-FFF2-40B4-BE49-F238E27FC236}">
                <a16:creationId xmlns:a16="http://schemas.microsoft.com/office/drawing/2014/main" id="{4CD94086-A707-43B3-9E7D-6DDE3AD9859D}"/>
              </a:ext>
            </a:extLst>
          </p:cNvPr>
          <p:cNvSpPr>
            <a:spLocks noGrp="1" noChangeArrowheads="1"/>
          </p:cNvSpPr>
          <p:nvPr>
            <p:ph type="sldNum" sz="quarter" idx="5"/>
          </p:nvPr>
        </p:nvSpPr>
        <p:spPr bwMode="auto">
          <a:xfrm>
            <a:off x="4021138" y="9721850"/>
            <a:ext cx="3076575" cy="511175"/>
          </a:xfrm>
          <a:prstGeom prst="rect">
            <a:avLst/>
          </a:prstGeom>
          <a:noFill/>
          <a:ln w="9525">
            <a:noFill/>
            <a:miter lim="800000"/>
            <a:headEnd/>
            <a:tailEnd/>
          </a:ln>
          <a:effectLst/>
        </p:spPr>
        <p:txBody>
          <a:bodyPr vert="horz" wrap="square" lIns="95070" tIns="47535" rIns="95070" bIns="47535" numCol="1" anchor="b" anchorCtr="0" compatLnSpc="1">
            <a:prstTxWarp prst="textNoShape">
              <a:avLst/>
            </a:prstTxWarp>
          </a:bodyPr>
          <a:lstStyle>
            <a:lvl1pPr algn="r" eaLnBrk="1" hangingPunct="1">
              <a:defRPr sz="1200" smtClean="0">
                <a:latin typeface="Arial" panose="020B0604020202020204" pitchFamily="34" charset="0"/>
              </a:defRPr>
            </a:lvl1pPr>
          </a:lstStyle>
          <a:p>
            <a:pPr>
              <a:defRPr/>
            </a:pPr>
            <a:fld id="{41C680E3-C43A-493C-BD0C-70DB7EB35EE2}" type="slidenum">
              <a:rPr lang="de-DE" altLang="en-US"/>
              <a:pPr>
                <a:defRPr/>
              </a:pPr>
              <a:t>‹#›</a:t>
            </a:fld>
            <a:endParaRPr lang="de-DE" altLang="en-US"/>
          </a:p>
        </p:txBody>
      </p:sp>
    </p:spTree>
    <p:extLst>
      <p:ext uri="{BB962C8B-B14F-4D97-AF65-F5344CB8AC3E}">
        <p14:creationId xmlns:p14="http://schemas.microsoft.com/office/powerpoint/2010/main" val="34773024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0CB938A-9EC6-4501-B254-37F6D3DE63CD}" type="slidenum">
              <a:rPr lang="en-US" smtClean="0"/>
              <a:t>22</a:t>
            </a:fld>
            <a:endParaRPr lang="en-US"/>
          </a:p>
        </p:txBody>
      </p:sp>
    </p:spTree>
    <p:extLst>
      <p:ext uri="{BB962C8B-B14F-4D97-AF65-F5344CB8AC3E}">
        <p14:creationId xmlns:p14="http://schemas.microsoft.com/office/powerpoint/2010/main" val="6963966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73353-74D9-5E99-CD4D-387613EBA6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9F1BA5-8411-C994-08F9-DED403FEBF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79C752-E6F7-8CCC-C795-D46204B6D5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5FBBB3-11F1-D483-6752-DAF4D609CAE6}"/>
              </a:ext>
            </a:extLst>
          </p:cNvPr>
          <p:cNvSpPr>
            <a:spLocks noGrp="1"/>
          </p:cNvSpPr>
          <p:nvPr>
            <p:ph type="sldNum" sz="quarter" idx="5"/>
          </p:nvPr>
        </p:nvSpPr>
        <p:spPr/>
        <p:txBody>
          <a:bodyPr/>
          <a:lstStyle/>
          <a:p>
            <a:fld id="{30CB938A-9EC6-4501-B254-37F6D3DE63CD}" type="slidenum">
              <a:rPr lang="en-US" smtClean="0"/>
              <a:t>23</a:t>
            </a:fld>
            <a:endParaRPr lang="en-US"/>
          </a:p>
        </p:txBody>
      </p:sp>
    </p:spTree>
    <p:extLst>
      <p:ext uri="{BB962C8B-B14F-4D97-AF65-F5344CB8AC3E}">
        <p14:creationId xmlns:p14="http://schemas.microsoft.com/office/powerpoint/2010/main" val="6400481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0CB938A-9EC6-4501-B254-37F6D3DE63CD}" type="slidenum">
              <a:rPr lang="en-US" smtClean="0"/>
              <a:t>25</a:t>
            </a:fld>
            <a:endParaRPr lang="en-US"/>
          </a:p>
        </p:txBody>
      </p:sp>
    </p:spTree>
    <p:extLst>
      <p:ext uri="{BB962C8B-B14F-4D97-AF65-F5344CB8AC3E}">
        <p14:creationId xmlns:p14="http://schemas.microsoft.com/office/powerpoint/2010/main" val="23945748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2EE4E-625B-CDD3-DE65-B8E40DAB02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866CD4-DAA8-E7C6-87A0-186A1FF09D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B1FD30-375A-3D59-EC88-66FBB5BBC7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F7D597-6B6B-5AAC-CF63-5E73B4DBDA0E}"/>
              </a:ext>
            </a:extLst>
          </p:cNvPr>
          <p:cNvSpPr>
            <a:spLocks noGrp="1"/>
          </p:cNvSpPr>
          <p:nvPr>
            <p:ph type="sldNum" sz="quarter" idx="5"/>
          </p:nvPr>
        </p:nvSpPr>
        <p:spPr/>
        <p:txBody>
          <a:bodyPr/>
          <a:lstStyle/>
          <a:p>
            <a:fld id="{30CB938A-9EC6-4501-B254-37F6D3DE63CD}" type="slidenum">
              <a:rPr lang="en-US" smtClean="0"/>
              <a:t>26</a:t>
            </a:fld>
            <a:endParaRPr lang="en-US"/>
          </a:p>
        </p:txBody>
      </p:sp>
    </p:spTree>
    <p:extLst>
      <p:ext uri="{BB962C8B-B14F-4D97-AF65-F5344CB8AC3E}">
        <p14:creationId xmlns:p14="http://schemas.microsoft.com/office/powerpoint/2010/main" val="2243638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2688" y="696913"/>
            <a:ext cx="4637087" cy="347821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fld id="{B14EE0BB-CCF4-4416-82FB-5ACF0759AEF4}" type="slidenum">
              <a:rPr lang="en-US" altLang="en-US" smtClean="0"/>
              <a:pPr/>
              <a:t>34</a:t>
            </a:fld>
            <a:endParaRPr lang="en-US" altLang="en-US"/>
          </a:p>
        </p:txBody>
      </p:sp>
    </p:spTree>
    <p:extLst>
      <p:ext uri="{BB962C8B-B14F-4D97-AF65-F5344CB8AC3E}">
        <p14:creationId xmlns:p14="http://schemas.microsoft.com/office/powerpoint/2010/main" val="34634906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2688" y="696913"/>
            <a:ext cx="4637087" cy="347821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fld id="{B14EE0BB-CCF4-4416-82FB-5ACF0759AEF4}" type="slidenum">
              <a:rPr lang="en-US" altLang="en-US" smtClean="0"/>
              <a:pPr/>
              <a:t>42</a:t>
            </a:fld>
            <a:endParaRPr lang="en-US" altLang="en-US"/>
          </a:p>
        </p:txBody>
      </p:sp>
    </p:spTree>
    <p:extLst>
      <p:ext uri="{BB962C8B-B14F-4D97-AF65-F5344CB8AC3E}">
        <p14:creationId xmlns:p14="http://schemas.microsoft.com/office/powerpoint/2010/main" val="24108118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2688" y="696913"/>
            <a:ext cx="4637087" cy="347821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fld id="{B14EE0BB-CCF4-4416-82FB-5ACF0759AEF4}" type="slidenum">
              <a:rPr lang="en-US" altLang="en-US" smtClean="0"/>
              <a:pPr/>
              <a:t>45</a:t>
            </a:fld>
            <a:endParaRPr lang="en-US" altLang="en-US"/>
          </a:p>
        </p:txBody>
      </p:sp>
    </p:spTree>
    <p:extLst>
      <p:ext uri="{BB962C8B-B14F-4D97-AF65-F5344CB8AC3E}">
        <p14:creationId xmlns:p14="http://schemas.microsoft.com/office/powerpoint/2010/main" val="22111437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2688" y="696913"/>
            <a:ext cx="4637087" cy="347821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fld id="{B14EE0BB-CCF4-4416-82FB-5ACF0759AEF4}" type="slidenum">
              <a:rPr lang="en-US" altLang="en-US" smtClean="0"/>
              <a:pPr/>
              <a:t>50</a:t>
            </a:fld>
            <a:endParaRPr lang="en-US" altLang="en-US"/>
          </a:p>
        </p:txBody>
      </p:sp>
    </p:spTree>
    <p:extLst>
      <p:ext uri="{BB962C8B-B14F-4D97-AF65-F5344CB8AC3E}">
        <p14:creationId xmlns:p14="http://schemas.microsoft.com/office/powerpoint/2010/main" val="4582495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2688" y="696913"/>
            <a:ext cx="4637087" cy="347821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fld id="{B14EE0BB-CCF4-4416-82FB-5ACF0759AEF4}" type="slidenum">
              <a:rPr lang="en-US" altLang="en-US" smtClean="0"/>
              <a:pPr/>
              <a:t>67</a:t>
            </a:fld>
            <a:endParaRPr lang="en-US" altLang="en-US"/>
          </a:p>
        </p:txBody>
      </p:sp>
    </p:spTree>
    <p:extLst>
      <p:ext uri="{BB962C8B-B14F-4D97-AF65-F5344CB8AC3E}">
        <p14:creationId xmlns:p14="http://schemas.microsoft.com/office/powerpoint/2010/main" val="7645047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2688" y="696913"/>
            <a:ext cx="4637087" cy="347821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fld id="{B14EE0BB-CCF4-4416-82FB-5ACF0759AEF4}" type="slidenum">
              <a:rPr lang="en-US" altLang="en-US" smtClean="0"/>
              <a:pPr/>
              <a:t>69</a:t>
            </a:fld>
            <a:endParaRPr lang="en-US" altLang="en-US"/>
          </a:p>
        </p:txBody>
      </p:sp>
    </p:spTree>
    <p:extLst>
      <p:ext uri="{BB962C8B-B14F-4D97-AF65-F5344CB8AC3E}">
        <p14:creationId xmlns:p14="http://schemas.microsoft.com/office/powerpoint/2010/main" val="7640878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2688" y="696913"/>
            <a:ext cx="4637087" cy="347821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fld id="{B14EE0BB-CCF4-4416-82FB-5ACF0759AEF4}" type="slidenum">
              <a:rPr lang="en-US" altLang="en-US" smtClean="0"/>
              <a:pPr/>
              <a:t>82</a:t>
            </a:fld>
            <a:endParaRPr lang="en-US" altLang="en-US"/>
          </a:p>
        </p:txBody>
      </p:sp>
    </p:spTree>
    <p:extLst>
      <p:ext uri="{BB962C8B-B14F-4D97-AF65-F5344CB8AC3E}">
        <p14:creationId xmlns:p14="http://schemas.microsoft.com/office/powerpoint/2010/main" val="19622750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2688" y="696913"/>
            <a:ext cx="4637087" cy="347821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fld id="{B14EE0BB-CCF4-4416-82FB-5ACF0759AEF4}" type="slidenum">
              <a:rPr lang="en-US" altLang="en-US" smtClean="0"/>
              <a:pPr/>
              <a:t>83</a:t>
            </a:fld>
            <a:endParaRPr lang="en-US" altLang="en-US"/>
          </a:p>
        </p:txBody>
      </p:sp>
    </p:spTree>
    <p:extLst>
      <p:ext uri="{BB962C8B-B14F-4D97-AF65-F5344CB8AC3E}">
        <p14:creationId xmlns:p14="http://schemas.microsoft.com/office/powerpoint/2010/main" val="30795047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2688" y="696913"/>
            <a:ext cx="4637087" cy="347821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fld id="{B14EE0BB-CCF4-4416-82FB-5ACF0759AEF4}" type="slidenum">
              <a:rPr lang="en-US" altLang="en-US" smtClean="0"/>
              <a:pPr/>
              <a:t>85</a:t>
            </a:fld>
            <a:endParaRPr lang="en-US" altLang="en-US"/>
          </a:p>
        </p:txBody>
      </p:sp>
    </p:spTree>
    <p:extLst>
      <p:ext uri="{BB962C8B-B14F-4D97-AF65-F5344CB8AC3E}">
        <p14:creationId xmlns:p14="http://schemas.microsoft.com/office/powerpoint/2010/main" val="8838748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2688" y="696913"/>
            <a:ext cx="4637087" cy="347821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fld id="{B14EE0BB-CCF4-4416-82FB-5ACF0759AEF4}" type="slidenum">
              <a:rPr lang="en-US" altLang="en-US" smtClean="0"/>
              <a:pPr/>
              <a:t>90</a:t>
            </a:fld>
            <a:endParaRPr lang="en-US" altLang="en-US"/>
          </a:p>
        </p:txBody>
      </p:sp>
    </p:spTree>
    <p:extLst>
      <p:ext uri="{BB962C8B-B14F-4D97-AF65-F5344CB8AC3E}">
        <p14:creationId xmlns:p14="http://schemas.microsoft.com/office/powerpoint/2010/main" val="22204535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2688" y="696913"/>
            <a:ext cx="4637087" cy="347821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fld id="{B14EE0BB-CCF4-4416-82FB-5ACF0759AEF4}" type="slidenum">
              <a:rPr lang="en-US" altLang="en-US" smtClean="0"/>
              <a:pPr/>
              <a:t>92</a:t>
            </a:fld>
            <a:endParaRPr lang="en-US" altLang="en-US"/>
          </a:p>
        </p:txBody>
      </p:sp>
    </p:spTree>
    <p:extLst>
      <p:ext uri="{BB962C8B-B14F-4D97-AF65-F5344CB8AC3E}">
        <p14:creationId xmlns:p14="http://schemas.microsoft.com/office/powerpoint/2010/main" val="14764613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2688" y="696913"/>
            <a:ext cx="4637087" cy="347821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fld id="{B14EE0BB-CCF4-4416-82FB-5ACF0759AEF4}" type="slidenum">
              <a:rPr lang="en-US" altLang="en-US" smtClean="0"/>
              <a:pPr/>
              <a:t>93</a:t>
            </a:fld>
            <a:endParaRPr lang="en-US" altLang="en-US"/>
          </a:p>
        </p:txBody>
      </p:sp>
    </p:spTree>
    <p:extLst>
      <p:ext uri="{BB962C8B-B14F-4D97-AF65-F5344CB8AC3E}">
        <p14:creationId xmlns:p14="http://schemas.microsoft.com/office/powerpoint/2010/main" val="6588425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2688" y="696913"/>
            <a:ext cx="4637087" cy="347821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fld id="{B14EE0BB-CCF4-4416-82FB-5ACF0759AEF4}" type="slidenum">
              <a:rPr lang="en-US" altLang="en-US" smtClean="0"/>
              <a:pPr/>
              <a:t>95</a:t>
            </a:fld>
            <a:endParaRPr lang="en-US" altLang="en-US"/>
          </a:p>
        </p:txBody>
      </p:sp>
    </p:spTree>
    <p:extLst>
      <p:ext uri="{BB962C8B-B14F-4D97-AF65-F5344CB8AC3E}">
        <p14:creationId xmlns:p14="http://schemas.microsoft.com/office/powerpoint/2010/main" val="22026111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2688" y="696913"/>
            <a:ext cx="4637087" cy="347821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fld id="{B14EE0BB-CCF4-4416-82FB-5ACF0759AEF4}" type="slidenum">
              <a:rPr lang="en-US" altLang="en-US" smtClean="0"/>
              <a:pPr/>
              <a:t>109</a:t>
            </a:fld>
            <a:endParaRPr lang="en-US" altLang="en-US"/>
          </a:p>
        </p:txBody>
      </p:sp>
    </p:spTree>
    <p:extLst>
      <p:ext uri="{BB962C8B-B14F-4D97-AF65-F5344CB8AC3E}">
        <p14:creationId xmlns:p14="http://schemas.microsoft.com/office/powerpoint/2010/main" val="17219905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pic>
        <p:nvPicPr>
          <p:cNvPr id="5" name="Picture 1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8238" y="6400800"/>
            <a:ext cx="1536700" cy="4572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910815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HK"/>
              <a:t>Click to edit Master subtitle style</a:t>
            </a:r>
            <a:endParaRPr lang="zh-HK" altLang="en-US"/>
          </a:p>
        </p:txBody>
      </p:sp>
    </p:spTree>
    <p:extLst>
      <p:ext uri="{BB962C8B-B14F-4D97-AF65-F5344CB8AC3E}">
        <p14:creationId xmlns:p14="http://schemas.microsoft.com/office/powerpoint/2010/main" val="26834717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F45BD99-74DB-45E1-AE35-A40E21B55FD3}" type="datetimeFigureOut">
              <a:rPr lang="en-US" smtClean="0"/>
              <a:t>10/30/2025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5457FC7-7A24-4157-A58A-AF7F2C3DE783}" type="slidenum">
              <a:rPr lang="en-US" smtClean="0"/>
              <a:t>‹#›</a:t>
            </a:fld>
            <a:endParaRPr lang="en-US" dirty="0"/>
          </a:p>
        </p:txBody>
      </p:sp>
    </p:spTree>
    <p:extLst>
      <p:ext uri="{BB962C8B-B14F-4D97-AF65-F5344CB8AC3E}">
        <p14:creationId xmlns:p14="http://schemas.microsoft.com/office/powerpoint/2010/main" val="709482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45BD99-74DB-45E1-AE35-A40E21B55FD3}" type="datetimeFigureOut">
              <a:rPr lang="en-US" smtClean="0"/>
              <a:t>10/30/2025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5457FC7-7A24-4157-A58A-AF7F2C3DE783}" type="slidenum">
              <a:rPr lang="en-US" smtClean="0"/>
              <a:t>‹#›</a:t>
            </a:fld>
            <a:endParaRPr lang="en-US" dirty="0"/>
          </a:p>
        </p:txBody>
      </p:sp>
    </p:spTree>
    <p:extLst>
      <p:ext uri="{BB962C8B-B14F-4D97-AF65-F5344CB8AC3E}">
        <p14:creationId xmlns:p14="http://schemas.microsoft.com/office/powerpoint/2010/main" val="9309715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F45BD99-74DB-45E1-AE35-A40E21B55FD3}" type="datetimeFigureOut">
              <a:rPr lang="en-US" smtClean="0"/>
              <a:t>10/30/2025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5457FC7-7A24-4157-A58A-AF7F2C3DE783}" type="slidenum">
              <a:rPr lang="en-US" smtClean="0"/>
              <a:t>‹#›</a:t>
            </a:fld>
            <a:endParaRPr lang="en-US" dirty="0"/>
          </a:p>
        </p:txBody>
      </p:sp>
    </p:spTree>
    <p:extLst>
      <p:ext uri="{BB962C8B-B14F-4D97-AF65-F5344CB8AC3E}">
        <p14:creationId xmlns:p14="http://schemas.microsoft.com/office/powerpoint/2010/main" val="40629658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F45BD99-74DB-45E1-AE35-A40E21B55FD3}" type="datetimeFigureOut">
              <a:rPr lang="en-US" smtClean="0"/>
              <a:t>10/30/2025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5457FC7-7A24-4157-A58A-AF7F2C3DE783}" type="slidenum">
              <a:rPr lang="en-US" smtClean="0"/>
              <a:t>‹#›</a:t>
            </a:fld>
            <a:endParaRPr lang="en-US" dirty="0"/>
          </a:p>
        </p:txBody>
      </p:sp>
    </p:spTree>
    <p:extLst>
      <p:ext uri="{BB962C8B-B14F-4D97-AF65-F5344CB8AC3E}">
        <p14:creationId xmlns:p14="http://schemas.microsoft.com/office/powerpoint/2010/main" val="27761463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F45BD99-74DB-45E1-AE35-A40E21B55FD3}" type="datetimeFigureOut">
              <a:rPr lang="en-US" smtClean="0"/>
              <a:t>10/30/2025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5457FC7-7A24-4157-A58A-AF7F2C3DE783}" type="slidenum">
              <a:rPr lang="en-US" smtClean="0"/>
              <a:t>‹#›</a:t>
            </a:fld>
            <a:endParaRPr lang="en-US" dirty="0"/>
          </a:p>
        </p:txBody>
      </p:sp>
    </p:spTree>
    <p:extLst>
      <p:ext uri="{BB962C8B-B14F-4D97-AF65-F5344CB8AC3E}">
        <p14:creationId xmlns:p14="http://schemas.microsoft.com/office/powerpoint/2010/main" val="14564803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F45BD99-74DB-45E1-AE35-A40E21B55FD3}" type="datetimeFigureOut">
              <a:rPr lang="en-US" smtClean="0"/>
              <a:t>10/30/2025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5457FC7-7A24-4157-A58A-AF7F2C3DE783}" type="slidenum">
              <a:rPr lang="en-US" smtClean="0"/>
              <a:t>‹#›</a:t>
            </a:fld>
            <a:endParaRPr lang="en-US" dirty="0"/>
          </a:p>
        </p:txBody>
      </p:sp>
    </p:spTree>
    <p:extLst>
      <p:ext uri="{BB962C8B-B14F-4D97-AF65-F5344CB8AC3E}">
        <p14:creationId xmlns:p14="http://schemas.microsoft.com/office/powerpoint/2010/main" val="4069245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45BD99-74DB-45E1-AE35-A40E21B55FD3}" type="datetimeFigureOut">
              <a:rPr lang="en-US" smtClean="0"/>
              <a:t>10/30/2025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05457FC7-7A24-4157-A58A-AF7F2C3DE783}" type="slidenum">
              <a:rPr lang="en-US" smtClean="0"/>
              <a:t>‹#›</a:t>
            </a:fld>
            <a:endParaRPr lang="en-US" dirty="0"/>
          </a:p>
        </p:txBody>
      </p:sp>
    </p:spTree>
    <p:extLst>
      <p:ext uri="{BB962C8B-B14F-4D97-AF65-F5344CB8AC3E}">
        <p14:creationId xmlns:p14="http://schemas.microsoft.com/office/powerpoint/2010/main" val="3166483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F45BD99-74DB-45E1-AE35-A40E21B55FD3}" type="datetimeFigureOut">
              <a:rPr lang="en-US" smtClean="0"/>
              <a:t>10/30/2025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5457FC7-7A24-4157-A58A-AF7F2C3DE783}" type="slidenum">
              <a:rPr lang="en-US" smtClean="0"/>
              <a:t>‹#›</a:t>
            </a:fld>
            <a:endParaRPr lang="en-US" dirty="0"/>
          </a:p>
        </p:txBody>
      </p:sp>
    </p:spTree>
    <p:extLst>
      <p:ext uri="{BB962C8B-B14F-4D97-AF65-F5344CB8AC3E}">
        <p14:creationId xmlns:p14="http://schemas.microsoft.com/office/powerpoint/2010/main" val="42504224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F45BD99-74DB-45E1-AE35-A40E21B55FD3}" type="datetimeFigureOut">
              <a:rPr lang="en-US" smtClean="0"/>
              <a:t>10/30/2025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5457FC7-7A24-4157-A58A-AF7F2C3DE783}" type="slidenum">
              <a:rPr lang="en-US" smtClean="0"/>
              <a:t>‹#›</a:t>
            </a:fld>
            <a:endParaRPr lang="en-US" dirty="0"/>
          </a:p>
        </p:txBody>
      </p:sp>
    </p:spTree>
    <p:extLst>
      <p:ext uri="{BB962C8B-B14F-4D97-AF65-F5344CB8AC3E}">
        <p14:creationId xmlns:p14="http://schemas.microsoft.com/office/powerpoint/2010/main" val="42502372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45BD99-74DB-45E1-AE35-A40E21B55FD3}" type="datetimeFigureOut">
              <a:rPr lang="en-US" smtClean="0"/>
              <a:t>10/30/2025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5457FC7-7A24-4157-A58A-AF7F2C3DE783}" type="slidenum">
              <a:rPr lang="en-US" smtClean="0"/>
              <a:t>‹#›</a:t>
            </a:fld>
            <a:endParaRPr lang="en-US" dirty="0"/>
          </a:p>
        </p:txBody>
      </p:sp>
    </p:spTree>
    <p:extLst>
      <p:ext uri="{BB962C8B-B14F-4D97-AF65-F5344CB8AC3E}">
        <p14:creationId xmlns:p14="http://schemas.microsoft.com/office/powerpoint/2010/main" val="30422343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45BD99-74DB-45E1-AE35-A40E21B55FD3}" type="datetimeFigureOut">
              <a:rPr lang="en-US" smtClean="0"/>
              <a:t>10/30/2025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5457FC7-7A24-4157-A58A-AF7F2C3DE783}" type="slidenum">
              <a:rPr lang="en-US" smtClean="0"/>
              <a:t>‹#›</a:t>
            </a:fld>
            <a:endParaRPr lang="en-US" dirty="0"/>
          </a:p>
        </p:txBody>
      </p:sp>
    </p:spTree>
    <p:extLst>
      <p:ext uri="{BB962C8B-B14F-4D97-AF65-F5344CB8AC3E}">
        <p14:creationId xmlns:p14="http://schemas.microsoft.com/office/powerpoint/2010/main" val="28669673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5" name="Picture 1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8238" y="6400800"/>
            <a:ext cx="1536700" cy="4572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6" name="Picture 1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488238" y="6400800"/>
            <a:ext cx="1536700" cy="4572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 name="Text Box 11"/>
          <p:cNvSpPr txBox="1">
            <a:spLocks noChangeArrowheads="1"/>
          </p:cNvSpPr>
          <p:nvPr userDrawn="1"/>
        </p:nvSpPr>
        <p:spPr bwMode="auto">
          <a:xfrm>
            <a:off x="92075" y="6537325"/>
            <a:ext cx="904875" cy="254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ClrTx/>
              <a:buFontTx/>
              <a:buNone/>
            </a:pPr>
            <a:r>
              <a:rPr lang="en-US" altLang="en-US" sz="1400">
                <a:solidFill>
                  <a:srgbClr val="FFFFFF"/>
                </a:solidFill>
                <a:latin typeface="Arial" panose="020B0604020202020204" pitchFamily="34" charset="0"/>
              </a:rPr>
              <a:t> 12-</a:t>
            </a:r>
            <a:fld id="{8A2B5854-564B-45EB-AEEC-B3A0D8C73D01}" type="slidenum">
              <a:rPr lang="en-US" altLang="en-US" sz="1400">
                <a:solidFill>
                  <a:srgbClr val="FFFFFF"/>
                </a:solidFill>
                <a:latin typeface="Arial" panose="020B0604020202020204" pitchFamily="34" charset="0"/>
              </a:rPr>
              <a:pPr eaLnBrk="1" hangingPunct="1">
                <a:buClrTx/>
                <a:buFontTx/>
                <a:buNone/>
              </a:pPr>
              <a:t>‹#›</a:t>
            </a:fld>
            <a:endParaRPr lang="en-US" altLang="en-US" sz="1400">
              <a:solidFill>
                <a:srgbClr val="FFFFFF"/>
              </a:solidFill>
              <a:latin typeface="Arial" panose="020B0604020202020204" pitchFamily="34" charset="0"/>
            </a:endParaRPr>
          </a:p>
        </p:txBody>
      </p:sp>
      <p:sp>
        <p:nvSpPr>
          <p:cNvPr id="10" name="Text Box 10"/>
          <p:cNvSpPr txBox="1">
            <a:spLocks noChangeArrowheads="1"/>
          </p:cNvSpPr>
          <p:nvPr userDrawn="1"/>
        </p:nvSpPr>
        <p:spPr bwMode="auto">
          <a:xfrm>
            <a:off x="2495550" y="6392863"/>
            <a:ext cx="4287838"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ctr" eaLnBrk="1" hangingPunct="1">
              <a:buClrTx/>
              <a:buFontTx/>
              <a:buNone/>
            </a:pPr>
            <a:endParaRPr lang="en-US" altLang="en-US" sz="1000" b="0" dirty="0">
              <a:solidFill>
                <a:srgbClr val="000000"/>
              </a:solidFill>
              <a:latin typeface="Arial" panose="020B0604020202020204" pitchFamily="34" charset="0"/>
            </a:endParaRPr>
          </a:p>
          <a:p>
            <a:pPr algn="ctr" eaLnBrk="1" hangingPunct="1">
              <a:buClrTx/>
              <a:buFontTx/>
              <a:buNone/>
            </a:pPr>
            <a:r>
              <a:rPr lang="en-US" altLang="en-US" sz="1000" b="0" dirty="0">
                <a:solidFill>
                  <a:srgbClr val="FFFFFF"/>
                </a:solidFill>
                <a:latin typeface="Arial" panose="020B0604020202020204" pitchFamily="34" charset="0"/>
              </a:rPr>
              <a:t>Copyright © 2017,  Pearson Education, Ltd. All Rights Reserved</a:t>
            </a:r>
          </a:p>
        </p:txBody>
      </p:sp>
      <p:sp>
        <p:nvSpPr>
          <p:cNvPr id="3" name="Text Placeholder 2"/>
          <p:cNvSpPr>
            <a:spLocks noGrp="1"/>
          </p:cNvSpPr>
          <p:nvPr>
            <p:ph type="body" sz="quarter" idx="10"/>
          </p:nvPr>
        </p:nvSpPr>
        <p:spPr>
          <a:xfrm>
            <a:off x="762000" y="1600200"/>
            <a:ext cx="7924800" cy="4480560"/>
          </a:xfrm>
          <a:prstGeom prst="rect">
            <a:avLst/>
          </a:prstGeom>
        </p:spPr>
        <p:txBody>
          <a:bodyPr lIns="0" rIns="0">
            <a:normAutofit/>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itle Placeholder 1"/>
          <p:cNvSpPr>
            <a:spLocks noGrp="1"/>
          </p:cNvSpPr>
          <p:nvPr>
            <p:ph type="title"/>
          </p:nvPr>
        </p:nvSpPr>
        <p:spPr>
          <a:xfrm>
            <a:off x="762000" y="274638"/>
            <a:ext cx="7924800" cy="1143000"/>
          </a:xfrm>
          <a:prstGeom prst="rect">
            <a:avLst/>
          </a:prstGeom>
        </p:spPr>
        <p:txBody>
          <a:bodyPr vert="horz" lIns="0" tIns="45720" rIns="0" bIns="45720" rtlCol="0" anchor="b" anchorCtr="0">
            <a:normAutofit/>
          </a:bodyPr>
          <a:lstStyle/>
          <a:p>
            <a:r>
              <a:rPr lang="en-US" dirty="0"/>
              <a:t>Click to edit Master title style</a:t>
            </a:r>
          </a:p>
        </p:txBody>
      </p:sp>
    </p:spTree>
    <p:extLst>
      <p:ext uri="{BB962C8B-B14F-4D97-AF65-F5344CB8AC3E}">
        <p14:creationId xmlns:p14="http://schemas.microsoft.com/office/powerpoint/2010/main" val="273843274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96063"/>
      </p:ext>
    </p:extLst>
  </p:cSld>
  <p:clrMap bg1="lt1" tx1="dk1" bg2="lt2" tx2="dk2" accent1="accent1" accent2="accent2" accent3="accent3" accent4="accent4" accent5="accent5" accent6="accent6" hlink="hlink" folHlink="folHlink"/>
  <p:sldLayoutIdLst>
    <p:sldLayoutId id="2147483946" r:id="rId1"/>
    <p:sldLayoutId id="2147483947" r:id="rId2"/>
  </p:sldLayoutIdLst>
  <p:txStyles>
    <p:titleStyle>
      <a:lvl1pPr algn="l" defTabSz="449263" rtl="0" eaLnBrk="0" fontAlgn="base" hangingPunct="0">
        <a:spcBef>
          <a:spcPct val="0"/>
        </a:spcBef>
        <a:spcAft>
          <a:spcPct val="0"/>
        </a:spcAft>
        <a:buClr>
          <a:srgbClr val="000000"/>
        </a:buClr>
        <a:buSzPct val="100000"/>
        <a:buFont typeface="Times New Roman" panose="02020603050405020304" pitchFamily="18" charset="0"/>
        <a:defRPr sz="3200">
          <a:solidFill>
            <a:srgbClr val="330033"/>
          </a:solidFill>
          <a:latin typeface="+mj-lt"/>
          <a:ea typeface="+mj-ea"/>
          <a:cs typeface="+mj-cs"/>
        </a:defRPr>
      </a:lvl1pPr>
      <a:lvl2pPr algn="l" defTabSz="449263" rtl="0" eaLnBrk="0" fontAlgn="base" hangingPunct="0">
        <a:spcBef>
          <a:spcPct val="0"/>
        </a:spcBef>
        <a:spcAft>
          <a:spcPct val="0"/>
        </a:spcAft>
        <a:buClr>
          <a:srgbClr val="000000"/>
        </a:buClr>
        <a:buSzPct val="100000"/>
        <a:buFont typeface="Times New Roman" panose="02020603050405020304" pitchFamily="18" charset="0"/>
        <a:defRPr sz="3200">
          <a:solidFill>
            <a:srgbClr val="330033"/>
          </a:solidFill>
          <a:latin typeface="Times New Roman" pitchFamily="16" charset="0"/>
          <a:cs typeface="Arial" charset="0"/>
        </a:defRPr>
      </a:lvl2pPr>
      <a:lvl3pPr algn="l" defTabSz="449263" rtl="0" eaLnBrk="0" fontAlgn="base" hangingPunct="0">
        <a:spcBef>
          <a:spcPct val="0"/>
        </a:spcBef>
        <a:spcAft>
          <a:spcPct val="0"/>
        </a:spcAft>
        <a:buClr>
          <a:srgbClr val="000000"/>
        </a:buClr>
        <a:buSzPct val="100000"/>
        <a:buFont typeface="Times New Roman" panose="02020603050405020304" pitchFamily="18" charset="0"/>
        <a:defRPr sz="3200">
          <a:solidFill>
            <a:srgbClr val="330033"/>
          </a:solidFill>
          <a:latin typeface="Times New Roman" pitchFamily="16" charset="0"/>
          <a:cs typeface="Arial" charset="0"/>
        </a:defRPr>
      </a:lvl3pPr>
      <a:lvl4pPr algn="l" defTabSz="449263" rtl="0" eaLnBrk="0" fontAlgn="base" hangingPunct="0">
        <a:spcBef>
          <a:spcPct val="0"/>
        </a:spcBef>
        <a:spcAft>
          <a:spcPct val="0"/>
        </a:spcAft>
        <a:buClr>
          <a:srgbClr val="000000"/>
        </a:buClr>
        <a:buSzPct val="100000"/>
        <a:buFont typeface="Times New Roman" panose="02020603050405020304" pitchFamily="18" charset="0"/>
        <a:defRPr sz="3200">
          <a:solidFill>
            <a:srgbClr val="330033"/>
          </a:solidFill>
          <a:latin typeface="Times New Roman" pitchFamily="16" charset="0"/>
          <a:cs typeface="Arial" charset="0"/>
        </a:defRPr>
      </a:lvl4pPr>
      <a:lvl5pPr algn="l" defTabSz="449263" rtl="0" eaLnBrk="0" fontAlgn="base" hangingPunct="0">
        <a:spcBef>
          <a:spcPct val="0"/>
        </a:spcBef>
        <a:spcAft>
          <a:spcPct val="0"/>
        </a:spcAft>
        <a:buClr>
          <a:srgbClr val="000000"/>
        </a:buClr>
        <a:buSzPct val="100000"/>
        <a:buFont typeface="Times New Roman" panose="02020603050405020304" pitchFamily="18" charset="0"/>
        <a:defRPr sz="3200">
          <a:solidFill>
            <a:srgbClr val="330033"/>
          </a:solidFill>
          <a:latin typeface="Times New Roman" pitchFamily="16" charset="0"/>
          <a:cs typeface="Arial" charset="0"/>
        </a:defRPr>
      </a:lvl5pPr>
      <a:lvl6pPr marL="2514600" indent="-228600" algn="l" defTabSz="449263" rtl="0" fontAlgn="base">
        <a:spcBef>
          <a:spcPct val="0"/>
        </a:spcBef>
        <a:spcAft>
          <a:spcPct val="0"/>
        </a:spcAft>
        <a:buClr>
          <a:srgbClr val="000000"/>
        </a:buClr>
        <a:buSzPct val="100000"/>
        <a:buFont typeface="Times New Roman" pitchFamily="16" charset="0"/>
        <a:defRPr sz="4200">
          <a:solidFill>
            <a:srgbClr val="330033"/>
          </a:solidFill>
          <a:latin typeface="Times New Roman" pitchFamily="16" charset="0"/>
          <a:cs typeface="Arial" charset="0"/>
        </a:defRPr>
      </a:lvl6pPr>
      <a:lvl7pPr marL="2971800" indent="-228600" algn="l" defTabSz="449263" rtl="0" fontAlgn="base">
        <a:spcBef>
          <a:spcPct val="0"/>
        </a:spcBef>
        <a:spcAft>
          <a:spcPct val="0"/>
        </a:spcAft>
        <a:buClr>
          <a:srgbClr val="000000"/>
        </a:buClr>
        <a:buSzPct val="100000"/>
        <a:buFont typeface="Times New Roman" pitchFamily="16" charset="0"/>
        <a:defRPr sz="4200">
          <a:solidFill>
            <a:srgbClr val="330033"/>
          </a:solidFill>
          <a:latin typeface="Times New Roman" pitchFamily="16" charset="0"/>
          <a:cs typeface="Arial" charset="0"/>
        </a:defRPr>
      </a:lvl7pPr>
      <a:lvl8pPr marL="3429000" indent="-228600" algn="l" defTabSz="449263" rtl="0" fontAlgn="base">
        <a:spcBef>
          <a:spcPct val="0"/>
        </a:spcBef>
        <a:spcAft>
          <a:spcPct val="0"/>
        </a:spcAft>
        <a:buClr>
          <a:srgbClr val="000000"/>
        </a:buClr>
        <a:buSzPct val="100000"/>
        <a:buFont typeface="Times New Roman" pitchFamily="16" charset="0"/>
        <a:defRPr sz="4200">
          <a:solidFill>
            <a:srgbClr val="330033"/>
          </a:solidFill>
          <a:latin typeface="Times New Roman" pitchFamily="16" charset="0"/>
          <a:cs typeface="Arial" charset="0"/>
        </a:defRPr>
      </a:lvl8pPr>
      <a:lvl9pPr marL="3886200" indent="-228600" algn="l" defTabSz="449263" rtl="0" fontAlgn="base">
        <a:spcBef>
          <a:spcPct val="0"/>
        </a:spcBef>
        <a:spcAft>
          <a:spcPct val="0"/>
        </a:spcAft>
        <a:buClr>
          <a:srgbClr val="000000"/>
        </a:buClr>
        <a:buSzPct val="100000"/>
        <a:buFont typeface="Times New Roman" pitchFamily="16" charset="0"/>
        <a:defRPr sz="4200">
          <a:solidFill>
            <a:srgbClr val="330033"/>
          </a:solidFill>
          <a:latin typeface="Times New Roman" pitchFamily="16" charset="0"/>
          <a:cs typeface="Arial" charset="0"/>
        </a:defRPr>
      </a:lvl9pPr>
    </p:titleStyle>
    <p:bodyStyle>
      <a:lvl1pPr marL="342900" indent="-342900" algn="l" defTabSz="449263" rtl="0" eaLnBrk="0" fontAlgn="base" hangingPunct="0">
        <a:spcBef>
          <a:spcPts val="700"/>
        </a:spcBef>
        <a:spcAft>
          <a:spcPct val="0"/>
        </a:spcAft>
        <a:buSzPct val="100000"/>
        <a:buFont typeface="Wingdings" panose="05000000000000000000" pitchFamily="2" charset="2"/>
        <a:defRPr sz="2400">
          <a:solidFill>
            <a:srgbClr val="000000"/>
          </a:solidFill>
          <a:latin typeface="+mn-lt"/>
          <a:ea typeface="+mn-ea"/>
          <a:cs typeface="+mn-cs"/>
        </a:defRPr>
      </a:lvl1pPr>
      <a:lvl2pPr marL="914400" indent="-457200" algn="l" defTabSz="449263" rtl="0" eaLnBrk="0" fontAlgn="base" hangingPunct="0">
        <a:spcBef>
          <a:spcPts val="650"/>
        </a:spcBef>
        <a:spcAft>
          <a:spcPct val="0"/>
        </a:spcAft>
        <a:buSzPct val="100000"/>
        <a:buFont typeface="Wingdings" panose="05000000000000000000" pitchFamily="2" charset="2"/>
        <a:buChar char="§"/>
        <a:defRPr sz="2400">
          <a:solidFill>
            <a:srgbClr val="000000"/>
          </a:solidFill>
          <a:latin typeface="+mn-lt"/>
          <a:cs typeface="+mn-cs"/>
        </a:defRPr>
      </a:lvl2pPr>
      <a:lvl3pPr marL="1257300" indent="-342900" algn="l" defTabSz="449263" rtl="0" eaLnBrk="0" fontAlgn="base" hangingPunct="0">
        <a:spcBef>
          <a:spcPts val="575"/>
        </a:spcBef>
        <a:spcAft>
          <a:spcPct val="0"/>
        </a:spcAft>
        <a:buSzPct val="100000"/>
        <a:buFont typeface="Wingdings" panose="05000000000000000000" pitchFamily="2" charset="2"/>
        <a:buChar char="§"/>
        <a:defRPr sz="2400">
          <a:solidFill>
            <a:srgbClr val="000000"/>
          </a:solidFill>
          <a:latin typeface="+mn-lt"/>
          <a:cs typeface="+mn-cs"/>
        </a:defRPr>
      </a:lvl3pPr>
      <a:lvl4pPr marL="1714500" indent="-342900" algn="l" defTabSz="449263" rtl="0" eaLnBrk="0" fontAlgn="base" hangingPunct="0">
        <a:spcBef>
          <a:spcPts val="500"/>
        </a:spcBef>
        <a:spcAft>
          <a:spcPct val="0"/>
        </a:spcAft>
        <a:buSzPct val="100000"/>
        <a:buFont typeface="Wingdings" panose="05000000000000000000" pitchFamily="2" charset="2"/>
        <a:buChar char="§"/>
        <a:defRPr sz="2400">
          <a:solidFill>
            <a:srgbClr val="000000"/>
          </a:solidFill>
          <a:latin typeface="+mn-lt"/>
          <a:cs typeface="+mn-cs"/>
        </a:defRPr>
      </a:lvl4pPr>
      <a:lvl5pPr marL="2171700" indent="-342900" algn="l" defTabSz="449263" rtl="0" eaLnBrk="0" fontAlgn="base" hangingPunct="0">
        <a:spcBef>
          <a:spcPts val="500"/>
        </a:spcBef>
        <a:spcAft>
          <a:spcPct val="0"/>
        </a:spcAft>
        <a:buSzPct val="100000"/>
        <a:buFont typeface="Wingdings" panose="05000000000000000000" pitchFamily="2" charset="2"/>
        <a:buChar char="§"/>
        <a:defRPr sz="2400">
          <a:solidFill>
            <a:srgbClr val="000000"/>
          </a:solidFill>
          <a:latin typeface="+mn-lt"/>
          <a:cs typeface="+mn-cs"/>
        </a:defRPr>
      </a:lvl5pPr>
      <a:lvl6pPr marL="2514600" indent="-228600" algn="l" defTabSz="449263" rtl="0" fontAlgn="base">
        <a:spcBef>
          <a:spcPts val="500"/>
        </a:spcBef>
        <a:spcAft>
          <a:spcPct val="0"/>
        </a:spcAft>
        <a:buClr>
          <a:srgbClr val="000000"/>
        </a:buClr>
        <a:buSzPct val="100000"/>
        <a:buFont typeface="Times New Roman" pitchFamily="16" charset="0"/>
        <a:defRPr sz="2000">
          <a:solidFill>
            <a:srgbClr val="000000"/>
          </a:solidFill>
          <a:latin typeface="+mn-lt"/>
          <a:cs typeface="+mn-cs"/>
        </a:defRPr>
      </a:lvl6pPr>
      <a:lvl7pPr marL="2971800" indent="-228600" algn="l" defTabSz="449263" rtl="0" fontAlgn="base">
        <a:spcBef>
          <a:spcPts val="500"/>
        </a:spcBef>
        <a:spcAft>
          <a:spcPct val="0"/>
        </a:spcAft>
        <a:buClr>
          <a:srgbClr val="000000"/>
        </a:buClr>
        <a:buSzPct val="100000"/>
        <a:buFont typeface="Times New Roman" pitchFamily="16" charset="0"/>
        <a:defRPr sz="2000">
          <a:solidFill>
            <a:srgbClr val="000000"/>
          </a:solidFill>
          <a:latin typeface="+mn-lt"/>
          <a:cs typeface="+mn-cs"/>
        </a:defRPr>
      </a:lvl7pPr>
      <a:lvl8pPr marL="3429000" indent="-228600" algn="l" defTabSz="449263" rtl="0" fontAlgn="base">
        <a:spcBef>
          <a:spcPts val="500"/>
        </a:spcBef>
        <a:spcAft>
          <a:spcPct val="0"/>
        </a:spcAft>
        <a:buClr>
          <a:srgbClr val="000000"/>
        </a:buClr>
        <a:buSzPct val="100000"/>
        <a:buFont typeface="Times New Roman" pitchFamily="16" charset="0"/>
        <a:defRPr sz="2000">
          <a:solidFill>
            <a:srgbClr val="000000"/>
          </a:solidFill>
          <a:latin typeface="+mn-lt"/>
          <a:cs typeface="+mn-cs"/>
        </a:defRPr>
      </a:lvl8pPr>
      <a:lvl9pPr marL="3886200" indent="-228600" algn="l" defTabSz="449263" rtl="0" fontAlgn="base">
        <a:spcBef>
          <a:spcPts val="500"/>
        </a:spcBef>
        <a:spcAft>
          <a:spcPct val="0"/>
        </a:spcAft>
        <a:buClr>
          <a:srgbClr val="000000"/>
        </a:buClr>
        <a:buSzPct val="100000"/>
        <a:buFont typeface="Times New Roman" pitchFamily="16" charset="0"/>
        <a:defRPr sz="2000">
          <a:solidFill>
            <a:srgbClr val="000000"/>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45BD99-74DB-45E1-AE35-A40E21B55FD3}" type="datetimeFigureOut">
              <a:rPr lang="en-US" smtClean="0"/>
              <a:t>10/30/2025</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457FC7-7A24-4157-A58A-AF7F2C3DE783}" type="slidenum">
              <a:rPr lang="en-US" smtClean="0"/>
              <a:t>‹#›</a:t>
            </a:fld>
            <a:endParaRPr lang="en-US" dirty="0"/>
          </a:p>
        </p:txBody>
      </p:sp>
    </p:spTree>
    <p:extLst>
      <p:ext uri="{BB962C8B-B14F-4D97-AF65-F5344CB8AC3E}">
        <p14:creationId xmlns:p14="http://schemas.microsoft.com/office/powerpoint/2010/main" val="4010973712"/>
      </p:ext>
    </p:extLst>
  </p:cSld>
  <p:clrMap bg1="lt1" tx1="dk1" bg2="lt2" tx2="dk2" accent1="accent1" accent2="accent2" accent3="accent3" accent4="accent4" accent5="accent5" accent6="accent6" hlink="hlink" folHlink="folHlink"/>
  <p:sldLayoutIdLst>
    <p:sldLayoutId id="2147483949" r:id="rId1"/>
    <p:sldLayoutId id="2147483950" r:id="rId2"/>
    <p:sldLayoutId id="2147483951" r:id="rId3"/>
    <p:sldLayoutId id="2147483952" r:id="rId4"/>
    <p:sldLayoutId id="2147483953" r:id="rId5"/>
    <p:sldLayoutId id="2147483954" r:id="rId6"/>
    <p:sldLayoutId id="2147483955" r:id="rId7"/>
    <p:sldLayoutId id="2147483956" r:id="rId8"/>
    <p:sldLayoutId id="2147483957" r:id="rId9"/>
    <p:sldLayoutId id="2147483958" r:id="rId10"/>
    <p:sldLayoutId id="2147483959" r:id="rId11"/>
    <p:sldLayoutId id="214748396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hyperlink" Target="https://www.tylervigen.com/spurious-correlations" TargetMode="Externa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4.png"/><Relationship Id="rId1" Type="http://schemas.openxmlformats.org/officeDocument/2006/relationships/slideLayout" Target="../slideLayouts/slideLayout14.xml"/><Relationship Id="rId4" Type="http://schemas.openxmlformats.org/officeDocument/2006/relationships/image" Target="../media/image14.wmf"/></Relationships>
</file>

<file path=ppt/slides/_rels/slide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0.png"/><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7.xml"/><Relationship Id="rId1" Type="http://schemas.openxmlformats.org/officeDocument/2006/relationships/slideLayout" Target="../slideLayouts/slideLayout14.xml"/><Relationship Id="rId4" Type="http://schemas.openxmlformats.org/officeDocument/2006/relationships/image" Target="../media/image20.wmf"/></Relationships>
</file>

<file path=ppt/slides/_rels/slide46.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3.bin"/><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90.png"/><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40.png"/><Relationship Id="rId1" Type="http://schemas.openxmlformats.org/officeDocument/2006/relationships/slideLayout" Target="../slideLayouts/slideLayout14.xml"/></Relationships>
</file>

<file path=ppt/slides/_rels/slide6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4.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image" Target="../media/image32.png"/><Relationship Id="rId1" Type="http://schemas.openxmlformats.org/officeDocument/2006/relationships/slideLayout" Target="../slideLayouts/slideLayout14.xml"/><Relationship Id="rId4" Type="http://schemas.openxmlformats.org/officeDocument/2006/relationships/image" Target="../media/image28.wmf"/></Relationships>
</file>

<file path=ppt/slides/_rels/slide6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4.xml"/></Relationships>
</file>

<file path=ppt/slides/_rels/slide6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9.png"/><Relationship Id="rId1" Type="http://schemas.openxmlformats.org/officeDocument/2006/relationships/slideLayout" Target="../slideLayouts/slideLayout14.xml"/></Relationships>
</file>

<file path=ppt/slides/_rels/slide6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4.xml"/></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image" Target="../media/image36.png"/><Relationship Id="rId1" Type="http://schemas.openxmlformats.org/officeDocument/2006/relationships/slideLayout" Target="../slideLayouts/slideLayout14.xml"/><Relationship Id="rId4" Type="http://schemas.openxmlformats.org/officeDocument/2006/relationships/image" Target="../media/image34.wmf"/></Relationships>
</file>

<file path=ppt/slides/_rels/slide6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9.xml"/><Relationship Id="rId1" Type="http://schemas.openxmlformats.org/officeDocument/2006/relationships/slideLayout" Target="../slideLayouts/slideLayout14.xml"/><Relationship Id="rId5" Type="http://schemas.openxmlformats.org/officeDocument/2006/relationships/image" Target="../media/image35.wmf"/><Relationship Id="rId4" Type="http://schemas.openxmlformats.org/officeDocument/2006/relationships/oleObject" Target="../embeddings/oleObject6.bin"/></Relationships>
</file>

<file path=ppt/slides/_rels/slide68.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oleObject" Target="../embeddings/oleObject7.bin"/><Relationship Id="rId1" Type="http://schemas.openxmlformats.org/officeDocument/2006/relationships/slideLayout" Target="../slideLayouts/slideLayout1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2.x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oleObject" Target="../embeddings/oleObject8.bin"/><Relationship Id="rId1" Type="http://schemas.openxmlformats.org/officeDocument/2006/relationships/slideLayout" Target="../slideLayouts/slideLayout14.xml"/></Relationships>
</file>

<file path=ppt/slides/_rels/slide73.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oleObject" Target="../embeddings/oleObject9.bin"/><Relationship Id="rId1" Type="http://schemas.openxmlformats.org/officeDocument/2006/relationships/slideLayout" Target="../slideLayouts/slideLayout14.xml"/></Relationships>
</file>

<file path=ppt/slides/_rels/slide74.x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oleObject" Target="../embeddings/oleObject10.bin"/><Relationship Id="rId1" Type="http://schemas.openxmlformats.org/officeDocument/2006/relationships/slideLayout" Target="../slideLayouts/slideLayout14.xml"/></Relationships>
</file>

<file path=ppt/slides/_rels/slide7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4.xml"/></Relationships>
</file>

<file path=ppt/slides/_rels/slide7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4.xml"/></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image" Target="../media/image45.png"/><Relationship Id="rId1" Type="http://schemas.openxmlformats.org/officeDocument/2006/relationships/slideLayout" Target="../slideLayouts/slideLayout14.xml"/><Relationship Id="rId4" Type="http://schemas.openxmlformats.org/officeDocument/2006/relationships/image" Target="../media/image40.wmf"/></Relationships>
</file>

<file path=ppt/slides/_rels/slide78.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oleObject" Target="../embeddings/oleObject12.bin"/><Relationship Id="rId1" Type="http://schemas.openxmlformats.org/officeDocument/2006/relationships/slideLayout" Target="../slideLayouts/slideLayout1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0.x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oleObject" Target="../embeddings/oleObject13.bin"/><Relationship Id="rId1" Type="http://schemas.openxmlformats.org/officeDocument/2006/relationships/slideLayout" Target="../slideLayouts/slideLayout1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4.xml"/></Relationships>
</file>

<file path=ppt/slides/_rels/slide88.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oleObject" Target="../embeddings/oleObject14.bin"/><Relationship Id="rId1" Type="http://schemas.openxmlformats.org/officeDocument/2006/relationships/slideLayout" Target="../slideLayouts/slideLayout14.xml"/></Relationships>
</file>

<file path=ppt/slides/_rels/slide89.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image" Target="../media/image460.png"/><Relationship Id="rId1" Type="http://schemas.openxmlformats.org/officeDocument/2006/relationships/slideLayout" Target="../slideLayouts/slideLayout14.xml"/><Relationship Id="rId6" Type="http://schemas.openxmlformats.org/officeDocument/2006/relationships/image" Target="../media/image53.png"/><Relationship Id="rId4" Type="http://schemas.openxmlformats.org/officeDocument/2006/relationships/image" Target="../media/image44.wmf"/></Relationships>
</file>

<file path=ppt/slides/_rels/slide9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91.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oleObject" Target="../embeddings/oleObject16.bin"/><Relationship Id="rId1" Type="http://schemas.openxmlformats.org/officeDocument/2006/relationships/slideLayout" Target="../slideLayouts/slideLayout14.xml"/></Relationships>
</file>

<file path=ppt/slides/_rels/slide9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5.xml"/><Relationship Id="rId1" Type="http://schemas.openxmlformats.org/officeDocument/2006/relationships/slideLayout" Target="../slideLayouts/slideLayout14.xml"/><Relationship Id="rId5" Type="http://schemas.openxmlformats.org/officeDocument/2006/relationships/image" Target="../media/image46.wmf"/><Relationship Id="rId4" Type="http://schemas.openxmlformats.org/officeDocument/2006/relationships/oleObject" Target="../embeddings/oleObject17.bin"/></Relationships>
</file>

<file path=ppt/slides/_rels/slide93.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notesSlide" Target="../notesSlides/notesSlide16.xml"/><Relationship Id="rId1" Type="http://schemas.openxmlformats.org/officeDocument/2006/relationships/slideLayout" Target="../slideLayouts/slideLayout14.xml"/><Relationship Id="rId4" Type="http://schemas.openxmlformats.org/officeDocument/2006/relationships/image" Target="../media/image47.wmf"/></Relationships>
</file>

<file path=ppt/slides/_rels/slide9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48.png"/><Relationship Id="rId1" Type="http://schemas.openxmlformats.org/officeDocument/2006/relationships/slideLayout" Target="../slideLayouts/slideLayout14.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4.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4.xml"/></Relationships>
</file>

<file path=ppt/slides/_rels/slide101.xml.rels><?xml version="1.0" encoding="UTF-8" standalone="yes"?>
<Relationships xmlns="http://schemas.openxmlformats.org/package/2006/relationships"><Relationship Id="rId3" Type="http://schemas.openxmlformats.org/officeDocument/2006/relationships/image" Target="../media/image67.png"/><Relationship Id="rId1" Type="http://schemas.openxmlformats.org/officeDocument/2006/relationships/slideLayout" Target="../slideLayouts/slideLayout14.xml"/><Relationship Id="rId5" Type="http://schemas.openxmlformats.org/officeDocument/2006/relationships/image" Target="../media/image49.wmf"/><Relationship Id="rId4" Type="http://schemas.openxmlformats.org/officeDocument/2006/relationships/oleObject" Target="../embeddings/oleObject19.bin"/></Relationships>
</file>

<file path=ppt/slides/_rels/slide102.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4.xml"/></Relationships>
</file>

<file path=ppt/slides/_rels/slide103.xml.rels><?xml version="1.0" encoding="UTF-8" standalone="yes"?>
<Relationships xmlns="http://schemas.openxmlformats.org/package/2006/relationships"><Relationship Id="rId7" Type="http://schemas.openxmlformats.org/officeDocument/2006/relationships/image" Target="../media/image51.wmf"/><Relationship Id="rId2" Type="http://schemas.openxmlformats.org/officeDocument/2006/relationships/image" Target="../media/image50.png"/><Relationship Id="rId1" Type="http://schemas.openxmlformats.org/officeDocument/2006/relationships/slideLayout" Target="../slideLayouts/slideLayout14.xml"/><Relationship Id="rId6" Type="http://schemas.openxmlformats.org/officeDocument/2006/relationships/oleObject" Target="../embeddings/oleObject20.bin"/><Relationship Id="rId5" Type="http://schemas.openxmlformats.org/officeDocument/2006/relationships/image" Target="../media/image72.png"/><Relationship Id="rId4" Type="http://schemas.openxmlformats.org/officeDocument/2006/relationships/image" Target="../media/image71.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4.xml"/></Relationships>
</file>

<file path=ppt/slides/_rels/slide10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4.xml"/></Relationships>
</file>

<file path=ppt/slides/_rels/slide107.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4.xml"/></Relationships>
</file>

<file path=ppt/slides/_rels/slide108.x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oleObject" Target="../embeddings/oleObject21.bin"/><Relationship Id="rId1" Type="http://schemas.openxmlformats.org/officeDocument/2006/relationships/slideLayout" Target="../slideLayouts/slideLayout14.xml"/></Relationships>
</file>

<file path=ppt/slides/_rels/slide109.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Subtitle 2"/>
          <p:cNvSpPr>
            <a:spLocks noGrp="1"/>
          </p:cNvSpPr>
          <p:nvPr>
            <p:ph type="subTitle" idx="1"/>
          </p:nvPr>
        </p:nvSpPr>
        <p:spPr bwMode="auto">
          <a:xfrm>
            <a:off x="1403350" y="3213100"/>
            <a:ext cx="7021078" cy="302418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HK" b="1" dirty="0">
                <a:solidFill>
                  <a:srgbClr val="898989"/>
                </a:solidFill>
                <a:ea typeface="新細明體" pitchFamily="18" charset="-120"/>
              </a:rPr>
              <a:t>Instructor: </a:t>
            </a:r>
            <a:r>
              <a:rPr lang="en-US" altLang="zh-HK" dirty="0">
                <a:solidFill>
                  <a:srgbClr val="898989"/>
                </a:solidFill>
                <a:ea typeface="新細明體" pitchFamily="18" charset="-120"/>
              </a:rPr>
              <a:t>CAO Kang Hua 曹康華</a:t>
            </a:r>
          </a:p>
          <a:p>
            <a:pPr eaLnBrk="1" hangingPunct="1"/>
            <a:endParaRPr lang="en-US" altLang="zh-TW" dirty="0">
              <a:solidFill>
                <a:srgbClr val="898989"/>
              </a:solidFill>
              <a:ea typeface="新細明體" pitchFamily="18" charset="-120"/>
            </a:endParaRPr>
          </a:p>
          <a:p>
            <a:pPr algn="l" eaLnBrk="1" hangingPunct="1"/>
            <a:r>
              <a:rPr lang="en-US" altLang="zh-TW" dirty="0">
                <a:solidFill>
                  <a:srgbClr val="898989"/>
                </a:solidFill>
                <a:ea typeface="新細明體" pitchFamily="18" charset="-120"/>
              </a:rPr>
              <a:t>Lecture 6</a:t>
            </a:r>
          </a:p>
          <a:p>
            <a:pPr algn="l" eaLnBrk="1" hangingPunct="1"/>
            <a:endParaRPr lang="en-US" altLang="zh-TW" dirty="0">
              <a:solidFill>
                <a:srgbClr val="898989"/>
              </a:solidFill>
              <a:ea typeface="新細明體" pitchFamily="18" charset="-120"/>
            </a:endParaRPr>
          </a:p>
          <a:p>
            <a:pPr algn="l" eaLnBrk="1" hangingPunct="1">
              <a:buFont typeface="Arial" panose="020B0604020202020204" pitchFamily="34" charset="0"/>
              <a:buChar char="•"/>
            </a:pPr>
            <a:r>
              <a:rPr lang="en-US" altLang="en-US" dirty="0">
                <a:solidFill>
                  <a:srgbClr val="898989"/>
                </a:solidFill>
              </a:rPr>
              <a:t> The Nature of Economic Data</a:t>
            </a:r>
          </a:p>
          <a:p>
            <a:pPr algn="l" eaLnBrk="1" hangingPunct="1">
              <a:buFont typeface="Arial" panose="020B0604020202020204" pitchFamily="34" charset="0"/>
              <a:buChar char="•"/>
            </a:pPr>
            <a:r>
              <a:rPr lang="en-US" altLang="en-US" dirty="0">
                <a:solidFill>
                  <a:srgbClr val="898989"/>
                </a:solidFill>
              </a:rPr>
              <a:t> Analyzing the Association Between Quantitative Variables: Regression Analysis</a:t>
            </a:r>
          </a:p>
          <a:p>
            <a:pPr algn="l" eaLnBrk="1" hangingPunct="1">
              <a:buFont typeface="Arial" panose="020B0604020202020204" pitchFamily="34" charset="0"/>
              <a:buChar char="•"/>
            </a:pPr>
            <a:endParaRPr lang="en-US" altLang="en-US" dirty="0">
              <a:solidFill>
                <a:srgbClr val="898989"/>
              </a:solidFill>
            </a:endParaRPr>
          </a:p>
          <a:p>
            <a:pPr algn="l" eaLnBrk="1" hangingPunct="1">
              <a:buFont typeface="Arial" panose="020B0604020202020204" pitchFamily="34" charset="0"/>
              <a:buChar char="•"/>
            </a:pPr>
            <a:endParaRPr lang="en-US" altLang="en-US" dirty="0">
              <a:solidFill>
                <a:srgbClr val="898989"/>
              </a:solidFill>
            </a:endParaRPr>
          </a:p>
        </p:txBody>
      </p:sp>
      <p:sp>
        <p:nvSpPr>
          <p:cNvPr id="3074" name="Title 1"/>
          <p:cNvSpPr>
            <a:spLocks noGrp="1"/>
          </p:cNvSpPr>
          <p:nvPr>
            <p:ph type="ctrTitle" idx="4294967295"/>
          </p:nvPr>
        </p:nvSpPr>
        <p:spPr bwMode="auto">
          <a:xfrm>
            <a:off x="717550" y="1097280"/>
            <a:ext cx="7772400" cy="14700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eaLnBrk="1" hangingPunct="1"/>
            <a:r>
              <a:rPr lang="en-US" altLang="zh-HK" sz="4400" dirty="0">
                <a:solidFill>
                  <a:schemeClr val="tx1"/>
                </a:solidFill>
                <a:latin typeface="Calibri Light" panose="020F0302020204030204" pitchFamily="34" charset="0"/>
                <a:ea typeface="新細明體" pitchFamily="18" charset="-120"/>
                <a:cs typeface="Calibri Light" panose="020F0302020204030204" pitchFamily="34" charset="0"/>
              </a:rPr>
              <a:t>Econ 7900</a:t>
            </a:r>
            <a:br>
              <a:rPr lang="en-US" altLang="zh-HK" sz="4400" dirty="0">
                <a:solidFill>
                  <a:schemeClr val="tx1"/>
                </a:solidFill>
                <a:latin typeface="Calibri Light" panose="020F0302020204030204" pitchFamily="34" charset="0"/>
                <a:ea typeface="新細明體" pitchFamily="18" charset="-120"/>
                <a:cs typeface="Calibri Light" panose="020F0302020204030204" pitchFamily="34" charset="0"/>
              </a:rPr>
            </a:br>
            <a:r>
              <a:rPr lang="en-US" altLang="zh-HK" sz="4400" dirty="0">
                <a:solidFill>
                  <a:schemeClr val="tx1"/>
                </a:solidFill>
                <a:latin typeface="Calibri Light" panose="020F0302020204030204" pitchFamily="34" charset="0"/>
                <a:ea typeface="新細明體" pitchFamily="18" charset="-120"/>
                <a:cs typeface="Calibri Light" panose="020F0302020204030204" pitchFamily="34" charset="0"/>
              </a:rPr>
              <a:t>Statistics for Data Science </a:t>
            </a:r>
            <a:endParaRPr lang="zh-HK" altLang="en-US" sz="4400" dirty="0">
              <a:solidFill>
                <a:schemeClr val="tx1"/>
              </a:solidFill>
              <a:latin typeface="Calibri Light" panose="020F0302020204030204" pitchFamily="34" charset="0"/>
              <a:ea typeface="新細明體" pitchFamily="18" charset="-120"/>
              <a:cs typeface="Calibri Light" panose="020F0302020204030204" pitchFamily="34" charset="0"/>
            </a:endParaRPr>
          </a:p>
        </p:txBody>
      </p:sp>
    </p:spTree>
    <p:extLst>
      <p:ext uri="{BB962C8B-B14F-4D97-AF65-F5344CB8AC3E}">
        <p14:creationId xmlns:p14="http://schemas.microsoft.com/office/powerpoint/2010/main" val="40543657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Nature of Economic Data</a:t>
            </a:r>
          </a:p>
        </p:txBody>
      </p:sp>
      <p:sp>
        <p:nvSpPr>
          <p:cNvPr id="3" name="Content Placeholder 2"/>
          <p:cNvSpPr>
            <a:spLocks noGrp="1"/>
          </p:cNvSpPr>
          <p:nvPr>
            <p:ph idx="1"/>
          </p:nvPr>
        </p:nvSpPr>
        <p:spPr/>
        <p:txBody>
          <a:bodyPr>
            <a:normAutofit lnSpcReduction="10000"/>
          </a:bodyPr>
          <a:lstStyle/>
          <a:p>
            <a:r>
              <a:rPr lang="en-US" sz="2400" dirty="0"/>
              <a:t>Econometrics = use of statistical methods to analyze economic data </a:t>
            </a:r>
          </a:p>
          <a:p>
            <a:pPr marL="0" indent="0">
              <a:buNone/>
            </a:pPr>
            <a:endParaRPr lang="en-US" sz="2400" dirty="0"/>
          </a:p>
          <a:p>
            <a:r>
              <a:rPr lang="en-US" sz="2400" dirty="0"/>
              <a:t>Econometricians typically analyze nonexperimental  data </a:t>
            </a:r>
          </a:p>
          <a:p>
            <a:endParaRPr lang="en-US" sz="2400" dirty="0"/>
          </a:p>
          <a:p>
            <a:r>
              <a:rPr lang="en-US" sz="2400" dirty="0"/>
              <a:t>Typical goals of econometric analysis </a:t>
            </a:r>
          </a:p>
          <a:p>
            <a:pPr lvl="1"/>
            <a:r>
              <a:rPr lang="en-US" dirty="0"/>
              <a:t>Estimating relationships between economic variables </a:t>
            </a:r>
          </a:p>
          <a:p>
            <a:pPr lvl="1"/>
            <a:r>
              <a:rPr lang="en-US" dirty="0"/>
              <a:t>Testing economic theories and hypotheses </a:t>
            </a:r>
          </a:p>
          <a:p>
            <a:pPr lvl="1"/>
            <a:r>
              <a:rPr lang="en-US" dirty="0"/>
              <a:t>Forecasting economic variables </a:t>
            </a:r>
          </a:p>
          <a:p>
            <a:pPr lvl="1"/>
            <a:r>
              <a:rPr lang="en-US" dirty="0"/>
              <a:t>Evaluating and implementing government and business policy </a:t>
            </a:r>
          </a:p>
        </p:txBody>
      </p:sp>
    </p:spTree>
    <p:extLst>
      <p:ext uri="{BB962C8B-B14F-4D97-AF65-F5344CB8AC3E}">
        <p14:creationId xmlns:p14="http://schemas.microsoft.com/office/powerpoint/2010/main" val="2194857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Steps in Econometric Analysis </a:t>
            </a:r>
          </a:p>
        </p:txBody>
      </p:sp>
      <p:sp>
        <p:nvSpPr>
          <p:cNvPr id="3" name="Content Placeholder 2"/>
          <p:cNvSpPr>
            <a:spLocks noGrp="1"/>
          </p:cNvSpPr>
          <p:nvPr>
            <p:ph idx="1"/>
          </p:nvPr>
        </p:nvSpPr>
        <p:spPr/>
        <p:txBody>
          <a:bodyPr>
            <a:normAutofit/>
          </a:bodyPr>
          <a:lstStyle/>
          <a:p>
            <a:r>
              <a:rPr lang="en-US" sz="2400" dirty="0"/>
              <a:t>Steps in econometric analysis </a:t>
            </a:r>
          </a:p>
          <a:p>
            <a:pPr lvl="1"/>
            <a:r>
              <a:rPr lang="en-US" dirty="0"/>
              <a:t>1) Economic model (this step is often skipped) </a:t>
            </a:r>
          </a:p>
          <a:p>
            <a:pPr lvl="1"/>
            <a:r>
              <a:rPr lang="en-US" dirty="0"/>
              <a:t>2) Econometric model </a:t>
            </a:r>
          </a:p>
          <a:p>
            <a:endParaRPr lang="en-US" sz="2400" dirty="0"/>
          </a:p>
          <a:p>
            <a:r>
              <a:rPr lang="en-US" sz="2400" dirty="0"/>
              <a:t>Economic models </a:t>
            </a:r>
          </a:p>
          <a:p>
            <a:pPr lvl="1"/>
            <a:r>
              <a:rPr lang="en-US" dirty="0"/>
              <a:t>Maybe micro- or macromodels </a:t>
            </a:r>
          </a:p>
          <a:p>
            <a:pPr lvl="1"/>
            <a:r>
              <a:rPr lang="en-US" dirty="0"/>
              <a:t>Often use optimizing behaviour, equilibrium modeling, … </a:t>
            </a:r>
          </a:p>
          <a:p>
            <a:pPr lvl="1"/>
            <a:r>
              <a:rPr lang="en-US" dirty="0"/>
              <a:t>Establish relationships between economic variables </a:t>
            </a:r>
          </a:p>
          <a:p>
            <a:pPr lvl="1"/>
            <a:r>
              <a:rPr lang="en-US" dirty="0"/>
              <a:t>Examples: demand equations, pricing equations, … </a:t>
            </a:r>
          </a:p>
        </p:txBody>
      </p:sp>
    </p:spTree>
    <p:extLst>
      <p:ext uri="{BB962C8B-B14F-4D97-AF65-F5344CB8AC3E}">
        <p14:creationId xmlns:p14="http://schemas.microsoft.com/office/powerpoint/2010/main" val="5807048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Economic model Example 1 </a:t>
            </a:r>
          </a:p>
        </p:txBody>
      </p:sp>
      <p:sp>
        <p:nvSpPr>
          <p:cNvPr id="3" name="Content Placeholder 2"/>
          <p:cNvSpPr>
            <a:spLocks noGrp="1"/>
          </p:cNvSpPr>
          <p:nvPr>
            <p:ph idx="1"/>
          </p:nvPr>
        </p:nvSpPr>
        <p:spPr>
          <a:xfrm>
            <a:off x="628650" y="1825625"/>
            <a:ext cx="7886700" cy="4601054"/>
          </a:xfrm>
        </p:spPr>
        <p:txBody>
          <a:bodyPr>
            <a:normAutofit lnSpcReduction="10000"/>
          </a:bodyPr>
          <a:lstStyle/>
          <a:p>
            <a:r>
              <a:rPr lang="en-US" sz="2400" dirty="0"/>
              <a:t>Economic model of crime (Becker (1968))</a:t>
            </a:r>
          </a:p>
          <a:p>
            <a:pPr lvl="1"/>
            <a:r>
              <a:rPr lang="en-US" dirty="0"/>
              <a:t>Derives equation for criminal activity based on utility maximization</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dirty="0"/>
              <a:t>Functional form of relationship not specified </a:t>
            </a:r>
          </a:p>
          <a:p>
            <a:pPr lvl="1"/>
            <a:r>
              <a:rPr lang="en-US" dirty="0"/>
              <a:t>Equation could have been postulated without economic modeling  </a:t>
            </a:r>
          </a:p>
          <a:p>
            <a:endParaRPr lang="en-US" sz="2400" dirty="0"/>
          </a:p>
        </p:txBody>
      </p:sp>
      <p:pic>
        <p:nvPicPr>
          <p:cNvPr id="4" name="Picture 3"/>
          <p:cNvPicPr>
            <a:picLocks noChangeAspect="1"/>
          </p:cNvPicPr>
          <p:nvPr/>
        </p:nvPicPr>
        <p:blipFill>
          <a:blip r:embed="rId2"/>
          <a:stretch>
            <a:fillRect/>
          </a:stretch>
        </p:blipFill>
        <p:spPr>
          <a:xfrm>
            <a:off x="1243047" y="2941607"/>
            <a:ext cx="6829332" cy="1885650"/>
          </a:xfrm>
          <a:prstGeom prst="rect">
            <a:avLst/>
          </a:prstGeom>
        </p:spPr>
      </p:pic>
    </p:spTree>
    <p:extLst>
      <p:ext uri="{BB962C8B-B14F-4D97-AF65-F5344CB8AC3E}">
        <p14:creationId xmlns:p14="http://schemas.microsoft.com/office/powerpoint/2010/main" val="9773705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Economic model Example 2</a:t>
            </a:r>
          </a:p>
        </p:txBody>
      </p:sp>
      <p:sp>
        <p:nvSpPr>
          <p:cNvPr id="3" name="Content Placeholder 2"/>
          <p:cNvSpPr>
            <a:spLocks noGrp="1"/>
          </p:cNvSpPr>
          <p:nvPr>
            <p:ph idx="1"/>
          </p:nvPr>
        </p:nvSpPr>
        <p:spPr>
          <a:xfrm>
            <a:off x="628650" y="1825625"/>
            <a:ext cx="7886700" cy="4808088"/>
          </a:xfrm>
        </p:spPr>
        <p:txBody>
          <a:bodyPr>
            <a:normAutofit lnSpcReduction="10000"/>
          </a:bodyPr>
          <a:lstStyle/>
          <a:p>
            <a:r>
              <a:rPr lang="en-US" sz="2400" dirty="0"/>
              <a:t>Model of job training and worker productivity </a:t>
            </a:r>
          </a:p>
          <a:p>
            <a:pPr lvl="1"/>
            <a:r>
              <a:rPr lang="en-US" dirty="0"/>
              <a:t>What is effect of additional training on worker productivity? </a:t>
            </a:r>
          </a:p>
          <a:p>
            <a:pPr lvl="1"/>
            <a:r>
              <a:rPr lang="en-US" dirty="0"/>
              <a:t>Formal economic theory not really needed to derive equation: </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dirty="0"/>
              <a:t>Other factors may be relevant, but these are the most important (?) </a:t>
            </a:r>
          </a:p>
        </p:txBody>
      </p:sp>
      <p:pic>
        <p:nvPicPr>
          <p:cNvPr id="5" name="Picture 4"/>
          <p:cNvPicPr>
            <a:picLocks noChangeAspect="1"/>
          </p:cNvPicPr>
          <p:nvPr/>
        </p:nvPicPr>
        <p:blipFill>
          <a:blip r:embed="rId2"/>
          <a:stretch>
            <a:fillRect/>
          </a:stretch>
        </p:blipFill>
        <p:spPr>
          <a:xfrm>
            <a:off x="1837427" y="3625155"/>
            <a:ext cx="5678515" cy="1827001"/>
          </a:xfrm>
          <a:prstGeom prst="rect">
            <a:avLst/>
          </a:prstGeom>
        </p:spPr>
      </p:pic>
    </p:spTree>
    <p:extLst>
      <p:ext uri="{BB962C8B-B14F-4D97-AF65-F5344CB8AC3E}">
        <p14:creationId xmlns:p14="http://schemas.microsoft.com/office/powerpoint/2010/main" val="3540495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Econometric model Example 1</a:t>
            </a:r>
          </a:p>
        </p:txBody>
      </p:sp>
      <p:sp>
        <p:nvSpPr>
          <p:cNvPr id="3" name="Content Placeholder 2"/>
          <p:cNvSpPr>
            <a:spLocks noGrp="1"/>
          </p:cNvSpPr>
          <p:nvPr>
            <p:ph idx="1"/>
          </p:nvPr>
        </p:nvSpPr>
        <p:spPr/>
        <p:txBody>
          <a:bodyPr>
            <a:normAutofit/>
          </a:bodyPr>
          <a:lstStyle/>
          <a:p>
            <a:r>
              <a:rPr lang="en-US" sz="2400" dirty="0"/>
              <a:t>Econometric model of criminal activity </a:t>
            </a:r>
          </a:p>
          <a:p>
            <a:pPr lvl="1"/>
            <a:r>
              <a:rPr lang="en-US" dirty="0"/>
              <a:t>The functional form has to be specified </a:t>
            </a:r>
          </a:p>
          <a:p>
            <a:pPr lvl="1"/>
            <a:r>
              <a:rPr lang="en-US" dirty="0"/>
              <a:t>Variables may have to be approximated by other quantities </a:t>
            </a:r>
          </a:p>
        </p:txBody>
      </p:sp>
      <p:pic>
        <p:nvPicPr>
          <p:cNvPr id="4" name="Picture 3"/>
          <p:cNvPicPr>
            <a:picLocks noChangeAspect="1"/>
          </p:cNvPicPr>
          <p:nvPr/>
        </p:nvPicPr>
        <p:blipFill>
          <a:blip r:embed="rId2"/>
          <a:stretch>
            <a:fillRect/>
          </a:stretch>
        </p:blipFill>
        <p:spPr>
          <a:xfrm>
            <a:off x="1095553" y="3663285"/>
            <a:ext cx="6571402" cy="2340699"/>
          </a:xfrm>
          <a:prstGeom prst="rect">
            <a:avLst/>
          </a:prstGeom>
        </p:spPr>
      </p:pic>
    </p:spTree>
    <p:extLst>
      <p:ext uri="{BB962C8B-B14F-4D97-AF65-F5344CB8AC3E}">
        <p14:creationId xmlns:p14="http://schemas.microsoft.com/office/powerpoint/2010/main" val="38148970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Econometric model Example 2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sz="2400" dirty="0"/>
                  <a:t>Econometric model of job training and worker productivity </a:t>
                </a:r>
              </a:p>
              <a:p>
                <a:endParaRPr lang="en-US" sz="2400" dirty="0"/>
              </a:p>
              <a:p>
                <a:endParaRPr lang="en-US" sz="2400" dirty="0"/>
              </a:p>
              <a:p>
                <a:endParaRPr lang="en-US" sz="2400" dirty="0"/>
              </a:p>
              <a:p>
                <a:endParaRPr lang="en-US" sz="2400" dirty="0"/>
              </a:p>
              <a:p>
                <a:r>
                  <a:rPr lang="en-US" sz="2400" dirty="0"/>
                  <a:t>Most of econometrics deals with the specification of the error  u</a:t>
                </a:r>
              </a:p>
              <a:p>
                <a:r>
                  <a:rPr lang="en-US" sz="2400" dirty="0"/>
                  <a:t>Econometric models may be used for hypothesis testing </a:t>
                </a:r>
              </a:p>
              <a:p>
                <a:r>
                  <a:rPr lang="en-US" sz="2400" dirty="0"/>
                  <a:t>For example, the parameter </a:t>
                </a:r>
                <a14:m>
                  <m:oMath xmlns:m="http://schemas.openxmlformats.org/officeDocument/2006/math">
                    <m:sSub>
                      <m:sSubPr>
                        <m:ctrlPr>
                          <a:rPr lang="en-US" sz="1800" i="1" smtClean="0">
                            <a:latin typeface="Cambria Math" panose="02040503050406030204" pitchFamily="18" charset="0"/>
                          </a:rPr>
                        </m:ctrlPr>
                      </m:sSubPr>
                      <m:e>
                        <m:r>
                          <a:rPr lang="en-US" sz="1800" i="1" smtClean="0">
                            <a:latin typeface="Cambria Math" panose="02040503050406030204" pitchFamily="18" charset="0"/>
                            <a:ea typeface="Cambria Math" panose="02040503050406030204" pitchFamily="18" charset="0"/>
                          </a:rPr>
                          <m:t>𝛽</m:t>
                        </m:r>
                      </m:e>
                      <m:sub>
                        <m:r>
                          <a:rPr lang="en-US" sz="1800" b="0" i="1" smtClean="0">
                            <a:latin typeface="Cambria Math" panose="02040503050406030204" pitchFamily="18" charset="0"/>
                          </a:rPr>
                          <m:t>3</m:t>
                        </m:r>
                      </m:sub>
                    </m:sSub>
                  </m:oMath>
                </a14:m>
                <a:r>
                  <a:rPr lang="en-US" sz="2400" dirty="0"/>
                  <a:t> represents effect of training on wage </a:t>
                </a:r>
              </a:p>
              <a:p>
                <a:pPr lvl="1"/>
                <a:r>
                  <a:rPr lang="en-US" dirty="0"/>
                  <a:t>How large is this effect? Is it different from zero?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05" t="-2661" b="-1261"/>
                </a:stretch>
              </a:blipFill>
            </p:spPr>
            <p:txBody>
              <a:bodyPr/>
              <a:lstStyle/>
              <a:p>
                <a:r>
                  <a:rPr lang="en-US">
                    <a:noFill/>
                  </a:rPr>
                  <a:t> </a:t>
                </a:r>
              </a:p>
            </p:txBody>
          </p:sp>
        </mc:Fallback>
      </mc:AlternateContent>
      <p:pic>
        <p:nvPicPr>
          <p:cNvPr id="4" name="Picture 3"/>
          <p:cNvPicPr>
            <a:picLocks noChangeAspect="1"/>
          </p:cNvPicPr>
          <p:nvPr/>
        </p:nvPicPr>
        <p:blipFill>
          <a:blip r:embed="rId3"/>
          <a:stretch>
            <a:fillRect/>
          </a:stretch>
        </p:blipFill>
        <p:spPr>
          <a:xfrm>
            <a:off x="1025833" y="2329132"/>
            <a:ext cx="7092334" cy="1506620"/>
          </a:xfrm>
          <a:prstGeom prst="rect">
            <a:avLst/>
          </a:prstGeom>
        </p:spPr>
      </p:pic>
    </p:spTree>
    <p:extLst>
      <p:ext uri="{BB962C8B-B14F-4D97-AF65-F5344CB8AC3E}">
        <p14:creationId xmlns:p14="http://schemas.microsoft.com/office/powerpoint/2010/main" val="27221060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Economic Data</a:t>
            </a:r>
          </a:p>
        </p:txBody>
      </p:sp>
      <p:sp>
        <p:nvSpPr>
          <p:cNvPr id="3" name="Content Placeholder 2"/>
          <p:cNvSpPr>
            <a:spLocks noGrp="1"/>
          </p:cNvSpPr>
          <p:nvPr>
            <p:ph idx="1"/>
          </p:nvPr>
        </p:nvSpPr>
        <p:spPr/>
        <p:txBody>
          <a:bodyPr>
            <a:normAutofit/>
          </a:bodyPr>
          <a:lstStyle/>
          <a:p>
            <a:r>
              <a:rPr lang="en-US" sz="2400" dirty="0"/>
              <a:t>Econometric analysis requires data </a:t>
            </a:r>
          </a:p>
          <a:p>
            <a:r>
              <a:rPr lang="en-US" sz="2400" dirty="0"/>
              <a:t>Different kinds of economic data sets </a:t>
            </a:r>
          </a:p>
          <a:p>
            <a:pPr lvl="1"/>
            <a:r>
              <a:rPr lang="en-US" dirty="0"/>
              <a:t>Cross-sectional data </a:t>
            </a:r>
          </a:p>
          <a:p>
            <a:pPr lvl="1"/>
            <a:r>
              <a:rPr lang="en-US" dirty="0"/>
              <a:t>Time series data </a:t>
            </a:r>
          </a:p>
          <a:p>
            <a:pPr lvl="1"/>
            <a:r>
              <a:rPr lang="en-US" dirty="0"/>
              <a:t>Pooled cross sections </a:t>
            </a:r>
          </a:p>
          <a:p>
            <a:pPr lvl="1"/>
            <a:r>
              <a:rPr lang="en-US" dirty="0"/>
              <a:t>Panel/Longitudinal data </a:t>
            </a:r>
          </a:p>
          <a:p>
            <a:r>
              <a:rPr lang="en-US" sz="2400" dirty="0"/>
              <a:t>Econometric methods depend on the nature of the data used </a:t>
            </a:r>
          </a:p>
          <a:p>
            <a:pPr lvl="1"/>
            <a:r>
              <a:rPr lang="en-US" dirty="0"/>
              <a:t>Use of inappropriate methods may lead to misleading results </a:t>
            </a:r>
          </a:p>
        </p:txBody>
      </p:sp>
    </p:spTree>
    <p:extLst>
      <p:ext uri="{BB962C8B-B14F-4D97-AF65-F5344CB8AC3E}">
        <p14:creationId xmlns:p14="http://schemas.microsoft.com/office/powerpoint/2010/main" val="25504001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Cross-sectional Data </a:t>
            </a:r>
          </a:p>
        </p:txBody>
      </p:sp>
      <p:sp>
        <p:nvSpPr>
          <p:cNvPr id="3" name="Content Placeholder 2"/>
          <p:cNvSpPr>
            <a:spLocks noGrp="1"/>
          </p:cNvSpPr>
          <p:nvPr>
            <p:ph idx="1"/>
          </p:nvPr>
        </p:nvSpPr>
        <p:spPr>
          <a:xfrm>
            <a:off x="517585" y="1825625"/>
            <a:ext cx="8272732" cy="4351338"/>
          </a:xfrm>
        </p:spPr>
        <p:txBody>
          <a:bodyPr>
            <a:noAutofit/>
          </a:bodyPr>
          <a:lstStyle/>
          <a:p>
            <a:r>
              <a:rPr lang="en-US" sz="2200" dirty="0"/>
              <a:t>Cross-sectional data sets </a:t>
            </a:r>
          </a:p>
          <a:p>
            <a:pPr lvl="1"/>
            <a:r>
              <a:rPr lang="en-US" sz="2200" dirty="0"/>
              <a:t>Sample of individuals, households, firms, cities, states, countries,   or other units of interest at a given point of time/in a given period </a:t>
            </a:r>
          </a:p>
          <a:p>
            <a:pPr lvl="1"/>
            <a:r>
              <a:rPr lang="en-US" sz="2200" dirty="0"/>
              <a:t>Cross-sectional observations are more or less independent </a:t>
            </a:r>
          </a:p>
          <a:p>
            <a:pPr lvl="1"/>
            <a:r>
              <a:rPr lang="en-US" sz="2200" dirty="0"/>
              <a:t>For example, pure random sampling from a population </a:t>
            </a:r>
          </a:p>
          <a:p>
            <a:pPr lvl="1"/>
            <a:r>
              <a:rPr lang="en-US" sz="2200" dirty="0"/>
              <a:t>Sometimes pure random sampling is violated, e.g. units refuse to respond in surveys, or if sampling is characterized by clustering </a:t>
            </a:r>
          </a:p>
          <a:p>
            <a:pPr lvl="1"/>
            <a:r>
              <a:rPr lang="en-US" sz="2200" dirty="0"/>
              <a:t>Cross-sectional data typically encountered in applied microeconomics </a:t>
            </a:r>
          </a:p>
        </p:txBody>
      </p:sp>
    </p:spTree>
    <p:extLst>
      <p:ext uri="{BB962C8B-B14F-4D97-AF65-F5344CB8AC3E}">
        <p14:creationId xmlns:p14="http://schemas.microsoft.com/office/powerpoint/2010/main" val="18476860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Cross-sectional Data </a:t>
            </a:r>
          </a:p>
        </p:txBody>
      </p:sp>
      <p:pic>
        <p:nvPicPr>
          <p:cNvPr id="4" name="Content Placeholder 3"/>
          <p:cNvPicPr>
            <a:picLocks noGrp="1" noChangeAspect="1"/>
          </p:cNvPicPr>
          <p:nvPr>
            <p:ph idx="1"/>
          </p:nvPr>
        </p:nvPicPr>
        <p:blipFill>
          <a:blip r:embed="rId2"/>
          <a:stretch>
            <a:fillRect/>
          </a:stretch>
        </p:blipFill>
        <p:spPr>
          <a:xfrm>
            <a:off x="844311" y="1946525"/>
            <a:ext cx="7886700" cy="4230307"/>
          </a:xfrm>
          <a:prstGeom prst="rect">
            <a:avLst/>
          </a:prstGeom>
        </p:spPr>
      </p:pic>
    </p:spTree>
    <p:extLst>
      <p:ext uri="{BB962C8B-B14F-4D97-AF65-F5344CB8AC3E}">
        <p14:creationId xmlns:p14="http://schemas.microsoft.com/office/powerpoint/2010/main" val="22425594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Cross-sectional Data 2</a:t>
            </a:r>
          </a:p>
        </p:txBody>
      </p:sp>
      <p:pic>
        <p:nvPicPr>
          <p:cNvPr id="4" name="Content Placeholder 3"/>
          <p:cNvPicPr>
            <a:picLocks noGrp="1" noChangeAspect="1"/>
          </p:cNvPicPr>
          <p:nvPr>
            <p:ph idx="1"/>
          </p:nvPr>
        </p:nvPicPr>
        <p:blipFill>
          <a:blip r:embed="rId2"/>
          <a:stretch>
            <a:fillRect/>
          </a:stretch>
        </p:blipFill>
        <p:spPr>
          <a:xfrm>
            <a:off x="628650" y="2043838"/>
            <a:ext cx="7886700" cy="3914912"/>
          </a:xfrm>
          <a:prstGeom prst="rect">
            <a:avLst/>
          </a:prstGeom>
        </p:spPr>
      </p:pic>
    </p:spTree>
    <p:extLst>
      <p:ext uri="{BB962C8B-B14F-4D97-AF65-F5344CB8AC3E}">
        <p14:creationId xmlns:p14="http://schemas.microsoft.com/office/powerpoint/2010/main" val="21753071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Time Series Data </a:t>
            </a:r>
          </a:p>
        </p:txBody>
      </p:sp>
      <p:sp>
        <p:nvSpPr>
          <p:cNvPr id="3" name="Content Placeholder 2"/>
          <p:cNvSpPr>
            <a:spLocks noGrp="1"/>
          </p:cNvSpPr>
          <p:nvPr>
            <p:ph idx="1"/>
          </p:nvPr>
        </p:nvSpPr>
        <p:spPr/>
        <p:txBody>
          <a:bodyPr>
            <a:normAutofit/>
          </a:bodyPr>
          <a:lstStyle/>
          <a:p>
            <a:r>
              <a:rPr lang="en-US" sz="2200" dirty="0"/>
              <a:t>Time series data </a:t>
            </a:r>
          </a:p>
          <a:p>
            <a:pPr lvl="1"/>
            <a:r>
              <a:rPr lang="en-US" sz="2200" dirty="0"/>
              <a:t>Observations of a variable or several variables over time </a:t>
            </a:r>
          </a:p>
          <a:p>
            <a:pPr lvl="1"/>
            <a:r>
              <a:rPr lang="en-US" sz="2200" dirty="0"/>
              <a:t>For example, stock prices, money supply, consumer price index,  gross domestic product, annual homicide rates, automobile sales, … </a:t>
            </a:r>
          </a:p>
          <a:p>
            <a:pPr lvl="1"/>
            <a:r>
              <a:rPr lang="en-US" sz="2200" dirty="0"/>
              <a:t>Time series observations are typically serially correlated </a:t>
            </a:r>
          </a:p>
          <a:p>
            <a:pPr lvl="1"/>
            <a:r>
              <a:rPr lang="en-US" sz="2200" dirty="0"/>
              <a:t>Ordering of observations conveys important information </a:t>
            </a:r>
          </a:p>
          <a:p>
            <a:pPr lvl="1"/>
            <a:r>
              <a:rPr lang="en-US" sz="2200" dirty="0"/>
              <a:t>Data frequency: daily, weekly, monthly, quarterly, annually, … </a:t>
            </a:r>
          </a:p>
          <a:p>
            <a:pPr lvl="1"/>
            <a:r>
              <a:rPr lang="en-US" sz="2200" dirty="0"/>
              <a:t>Typical features of time series: trends and seasonality </a:t>
            </a:r>
          </a:p>
          <a:p>
            <a:pPr lvl="1"/>
            <a:r>
              <a:rPr lang="en-US" sz="2200" dirty="0"/>
              <a:t>Typical applications: applied macroeconomics and finance </a:t>
            </a:r>
          </a:p>
        </p:txBody>
      </p:sp>
    </p:spTree>
    <p:extLst>
      <p:ext uri="{BB962C8B-B14F-4D97-AF65-F5344CB8AC3E}">
        <p14:creationId xmlns:p14="http://schemas.microsoft.com/office/powerpoint/2010/main" val="1126153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Time Series Data </a:t>
            </a:r>
          </a:p>
        </p:txBody>
      </p:sp>
      <p:pic>
        <p:nvPicPr>
          <p:cNvPr id="4" name="Content Placeholder 3"/>
          <p:cNvPicPr>
            <a:picLocks noGrp="1" noChangeAspect="1"/>
          </p:cNvPicPr>
          <p:nvPr>
            <p:ph idx="1"/>
          </p:nvPr>
        </p:nvPicPr>
        <p:blipFill>
          <a:blip r:embed="rId2"/>
          <a:stretch>
            <a:fillRect/>
          </a:stretch>
        </p:blipFill>
        <p:spPr>
          <a:xfrm>
            <a:off x="714914" y="2080771"/>
            <a:ext cx="7886700" cy="3841045"/>
          </a:xfrm>
          <a:prstGeom prst="rect">
            <a:avLst/>
          </a:prstGeom>
        </p:spPr>
      </p:pic>
    </p:spTree>
    <p:extLst>
      <p:ext uri="{BB962C8B-B14F-4D97-AF65-F5344CB8AC3E}">
        <p14:creationId xmlns:p14="http://schemas.microsoft.com/office/powerpoint/2010/main" val="14890415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Pooled Cross Sections Data </a:t>
            </a:r>
          </a:p>
        </p:txBody>
      </p:sp>
      <p:sp>
        <p:nvSpPr>
          <p:cNvPr id="3" name="Content Placeholder 2"/>
          <p:cNvSpPr>
            <a:spLocks noGrp="1"/>
          </p:cNvSpPr>
          <p:nvPr>
            <p:ph idx="1"/>
          </p:nvPr>
        </p:nvSpPr>
        <p:spPr/>
        <p:txBody>
          <a:bodyPr>
            <a:normAutofit/>
          </a:bodyPr>
          <a:lstStyle/>
          <a:p>
            <a:r>
              <a:rPr lang="en-US" sz="2200" dirty="0"/>
              <a:t>Pooled cross sections </a:t>
            </a:r>
          </a:p>
          <a:p>
            <a:pPr lvl="1"/>
            <a:r>
              <a:rPr lang="en-US" sz="2200" dirty="0"/>
              <a:t>Two or more cross sections are combined in one data set </a:t>
            </a:r>
          </a:p>
          <a:p>
            <a:pPr lvl="1"/>
            <a:r>
              <a:rPr lang="en-US" sz="2200" dirty="0"/>
              <a:t>Cross sections are drawn independently of each other </a:t>
            </a:r>
          </a:p>
          <a:p>
            <a:pPr lvl="1"/>
            <a:r>
              <a:rPr lang="en-US" sz="2200" dirty="0"/>
              <a:t>Pooled cross sections often used to evaluate policy changes </a:t>
            </a:r>
          </a:p>
          <a:p>
            <a:pPr lvl="1"/>
            <a:r>
              <a:rPr lang="en-US" sz="2200" dirty="0"/>
              <a:t>Example: </a:t>
            </a:r>
          </a:p>
          <a:p>
            <a:pPr lvl="2"/>
            <a:r>
              <a:rPr lang="en-US" sz="2200" dirty="0"/>
              <a:t>Evaluate effect of change in property taxes on house prices </a:t>
            </a:r>
          </a:p>
          <a:p>
            <a:pPr lvl="2"/>
            <a:r>
              <a:rPr lang="en-US" sz="2200" dirty="0"/>
              <a:t>Random sample of house prices for the year 1993 </a:t>
            </a:r>
          </a:p>
          <a:p>
            <a:pPr lvl="2"/>
            <a:r>
              <a:rPr lang="en-US" sz="2200" dirty="0"/>
              <a:t>A new random sample of house prices for the year 1995 </a:t>
            </a:r>
          </a:p>
          <a:p>
            <a:pPr lvl="2"/>
            <a:r>
              <a:rPr lang="en-US" sz="2200" dirty="0"/>
              <a:t>Compare before/after (1993: before reform, 1995: after reform) </a:t>
            </a:r>
          </a:p>
        </p:txBody>
      </p:sp>
    </p:spTree>
    <p:extLst>
      <p:ext uri="{BB962C8B-B14F-4D97-AF65-F5344CB8AC3E}">
        <p14:creationId xmlns:p14="http://schemas.microsoft.com/office/powerpoint/2010/main" val="1680456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Pooled Cross Sections </a:t>
            </a:r>
            <a:br>
              <a:rPr lang="en-US" dirty="0"/>
            </a:br>
            <a:r>
              <a:rPr lang="en-US" dirty="0"/>
              <a:t>Data </a:t>
            </a:r>
          </a:p>
        </p:txBody>
      </p:sp>
      <p:pic>
        <p:nvPicPr>
          <p:cNvPr id="4" name="Content Placeholder 3"/>
          <p:cNvPicPr>
            <a:picLocks noGrp="1" noChangeAspect="1"/>
          </p:cNvPicPr>
          <p:nvPr>
            <p:ph idx="1"/>
          </p:nvPr>
        </p:nvPicPr>
        <p:blipFill>
          <a:blip r:embed="rId2"/>
          <a:stretch>
            <a:fillRect/>
          </a:stretch>
        </p:blipFill>
        <p:spPr>
          <a:xfrm>
            <a:off x="628650" y="2000326"/>
            <a:ext cx="7886700" cy="4001936"/>
          </a:xfrm>
          <a:prstGeom prst="rect">
            <a:avLst/>
          </a:prstGeom>
        </p:spPr>
      </p:pic>
    </p:spTree>
    <p:extLst>
      <p:ext uri="{BB962C8B-B14F-4D97-AF65-F5344CB8AC3E}">
        <p14:creationId xmlns:p14="http://schemas.microsoft.com/office/powerpoint/2010/main" val="14836558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Panel Data </a:t>
            </a:r>
          </a:p>
        </p:txBody>
      </p:sp>
      <p:sp>
        <p:nvSpPr>
          <p:cNvPr id="3" name="Content Placeholder 2"/>
          <p:cNvSpPr>
            <a:spLocks noGrp="1"/>
          </p:cNvSpPr>
          <p:nvPr>
            <p:ph idx="1"/>
          </p:nvPr>
        </p:nvSpPr>
        <p:spPr/>
        <p:txBody>
          <a:bodyPr>
            <a:normAutofit/>
          </a:bodyPr>
          <a:lstStyle/>
          <a:p>
            <a:r>
              <a:rPr lang="en-US" sz="2200" dirty="0"/>
              <a:t>Panel or longitudinal data </a:t>
            </a:r>
          </a:p>
          <a:p>
            <a:pPr lvl="1"/>
            <a:r>
              <a:rPr lang="en-US" sz="2200" dirty="0"/>
              <a:t>The same cross-sectional units are followed over time </a:t>
            </a:r>
          </a:p>
          <a:p>
            <a:pPr lvl="1"/>
            <a:r>
              <a:rPr lang="en-US" sz="2200" dirty="0"/>
              <a:t>Panel data have a cross-sectional and a time series dimension </a:t>
            </a:r>
          </a:p>
          <a:p>
            <a:pPr lvl="1"/>
            <a:r>
              <a:rPr lang="en-US" sz="2200" dirty="0"/>
              <a:t>Panel data can be used to account for time-invariant unobservables </a:t>
            </a:r>
          </a:p>
          <a:p>
            <a:pPr lvl="1"/>
            <a:r>
              <a:rPr lang="en-US" sz="2200" dirty="0"/>
              <a:t>Panel data can be used to model lagged responses </a:t>
            </a:r>
          </a:p>
          <a:p>
            <a:pPr lvl="1"/>
            <a:r>
              <a:rPr lang="en-US" sz="2200" dirty="0"/>
              <a:t>Example: </a:t>
            </a:r>
          </a:p>
          <a:p>
            <a:pPr lvl="2"/>
            <a:r>
              <a:rPr lang="en-US" sz="2200" dirty="0"/>
              <a:t>City crime statistics; each city is observed in two years </a:t>
            </a:r>
          </a:p>
          <a:p>
            <a:pPr lvl="2"/>
            <a:r>
              <a:rPr lang="en-US" sz="2200" dirty="0"/>
              <a:t>Time-invariant unobserved city characteristics may be modeled </a:t>
            </a:r>
          </a:p>
          <a:p>
            <a:pPr lvl="2"/>
            <a:r>
              <a:rPr lang="en-US" sz="2200" dirty="0"/>
              <a:t>Effect of police on crime rates may exhibit time lag </a:t>
            </a:r>
          </a:p>
        </p:txBody>
      </p:sp>
    </p:spTree>
    <p:extLst>
      <p:ext uri="{BB962C8B-B14F-4D97-AF65-F5344CB8AC3E}">
        <p14:creationId xmlns:p14="http://schemas.microsoft.com/office/powerpoint/2010/main" val="20646771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Panel Data</a:t>
            </a:r>
          </a:p>
        </p:txBody>
      </p:sp>
      <p:pic>
        <p:nvPicPr>
          <p:cNvPr id="4" name="Content Placeholder 3"/>
          <p:cNvPicPr>
            <a:picLocks noGrp="1" noChangeAspect="1"/>
          </p:cNvPicPr>
          <p:nvPr>
            <p:ph idx="1"/>
          </p:nvPr>
        </p:nvPicPr>
        <p:blipFill>
          <a:blip r:embed="rId2"/>
          <a:stretch>
            <a:fillRect/>
          </a:stretch>
        </p:blipFill>
        <p:spPr>
          <a:xfrm>
            <a:off x="628650" y="1987866"/>
            <a:ext cx="7886700" cy="4026855"/>
          </a:xfrm>
          <a:prstGeom prst="rect">
            <a:avLst/>
          </a:prstGeom>
        </p:spPr>
      </p:pic>
    </p:spTree>
    <p:extLst>
      <p:ext uri="{BB962C8B-B14F-4D97-AF65-F5344CB8AC3E}">
        <p14:creationId xmlns:p14="http://schemas.microsoft.com/office/powerpoint/2010/main" val="9216754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Causality and Ceteris Paribus</a:t>
            </a:r>
          </a:p>
        </p:txBody>
      </p:sp>
      <p:sp>
        <p:nvSpPr>
          <p:cNvPr id="3" name="Content Placeholder 2"/>
          <p:cNvSpPr>
            <a:spLocks noGrp="1"/>
          </p:cNvSpPr>
          <p:nvPr>
            <p:ph idx="1"/>
          </p:nvPr>
        </p:nvSpPr>
        <p:spPr/>
        <p:txBody>
          <a:bodyPr>
            <a:normAutofit lnSpcReduction="10000"/>
          </a:bodyPr>
          <a:lstStyle/>
          <a:p>
            <a:r>
              <a:rPr lang="en-US" sz="2400" dirty="0"/>
              <a:t>Causality and the notion of ceteris paribus </a:t>
            </a:r>
          </a:p>
          <a:p>
            <a:endParaRPr lang="en-US" sz="2400" dirty="0"/>
          </a:p>
          <a:p>
            <a:endParaRPr lang="en-US" sz="2400" dirty="0"/>
          </a:p>
          <a:p>
            <a:endParaRPr lang="en-US" sz="2400" dirty="0"/>
          </a:p>
          <a:p>
            <a:endParaRPr lang="en-US" sz="2400" dirty="0"/>
          </a:p>
          <a:p>
            <a:endParaRPr lang="en-US" sz="2400" dirty="0"/>
          </a:p>
          <a:p>
            <a:r>
              <a:rPr lang="en-US" sz="2400" dirty="0"/>
              <a:t>Most economic questions are ceteris paribus questions </a:t>
            </a:r>
          </a:p>
          <a:p>
            <a:r>
              <a:rPr lang="en-US" sz="2400" dirty="0"/>
              <a:t>It is important to define which causal effect one is interested in </a:t>
            </a:r>
          </a:p>
          <a:p>
            <a:r>
              <a:rPr lang="en-US" sz="2400" dirty="0"/>
              <a:t>It is useful to describe how an experiment would have to be  designed to infer the causal effect in question</a:t>
            </a:r>
          </a:p>
        </p:txBody>
      </p:sp>
      <p:pic>
        <p:nvPicPr>
          <p:cNvPr id="4" name="Picture 3"/>
          <p:cNvPicPr>
            <a:picLocks noChangeAspect="1"/>
          </p:cNvPicPr>
          <p:nvPr/>
        </p:nvPicPr>
        <p:blipFill>
          <a:blip r:embed="rId2"/>
          <a:stretch>
            <a:fillRect/>
          </a:stretch>
        </p:blipFill>
        <p:spPr>
          <a:xfrm>
            <a:off x="1213724" y="2441597"/>
            <a:ext cx="6578530" cy="1681508"/>
          </a:xfrm>
          <a:prstGeom prst="rect">
            <a:avLst/>
          </a:prstGeom>
        </p:spPr>
      </p:pic>
    </p:spTree>
    <p:extLst>
      <p:ext uri="{BB962C8B-B14F-4D97-AF65-F5344CB8AC3E}">
        <p14:creationId xmlns:p14="http://schemas.microsoft.com/office/powerpoint/2010/main" val="32239593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Causality 1 </a:t>
            </a:r>
          </a:p>
        </p:txBody>
      </p:sp>
      <p:sp>
        <p:nvSpPr>
          <p:cNvPr id="3" name="Content Placeholder 2"/>
          <p:cNvSpPr>
            <a:spLocks noGrp="1"/>
          </p:cNvSpPr>
          <p:nvPr>
            <p:ph idx="1"/>
          </p:nvPr>
        </p:nvSpPr>
        <p:spPr/>
        <p:txBody>
          <a:bodyPr>
            <a:normAutofit/>
          </a:bodyPr>
          <a:lstStyle/>
          <a:p>
            <a:r>
              <a:rPr lang="en-US" sz="2200" dirty="0"/>
              <a:t>Causal effect of fertilizer on crop yield </a:t>
            </a:r>
          </a:p>
          <a:p>
            <a:pPr lvl="1"/>
            <a:r>
              <a:rPr lang="en-US" sz="2200" dirty="0"/>
              <a:t>"By how much will the production of soybeans increase if one increases the amount of fertilizer applied to the ground" </a:t>
            </a:r>
          </a:p>
          <a:p>
            <a:pPr lvl="1"/>
            <a:r>
              <a:rPr lang="en-US" sz="2200" dirty="0"/>
              <a:t>Implicit assumption: all other factors that influence crop yield such  as quality of land, rainfall, presence of parasites etc. are held fixed </a:t>
            </a:r>
          </a:p>
          <a:p>
            <a:r>
              <a:rPr lang="en-US" sz="2200" dirty="0"/>
              <a:t>Experiment: </a:t>
            </a:r>
          </a:p>
          <a:p>
            <a:pPr lvl="1"/>
            <a:r>
              <a:rPr lang="en-US" sz="2200" dirty="0"/>
              <a:t>Choose several one-acre plots of land; randomly assign different amounts of fertilizer to the different plots; compare yields </a:t>
            </a:r>
          </a:p>
          <a:p>
            <a:pPr lvl="1"/>
            <a:r>
              <a:rPr lang="en-US" sz="2200" dirty="0"/>
              <a:t>Experiment works because amount of fertilizer applied is unrelated to other factors influencing crop yields </a:t>
            </a:r>
          </a:p>
        </p:txBody>
      </p:sp>
    </p:spTree>
    <p:extLst>
      <p:ext uri="{BB962C8B-B14F-4D97-AF65-F5344CB8AC3E}">
        <p14:creationId xmlns:p14="http://schemas.microsoft.com/office/powerpoint/2010/main" val="38334467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Causality 2 </a:t>
            </a:r>
          </a:p>
        </p:txBody>
      </p:sp>
      <p:sp>
        <p:nvSpPr>
          <p:cNvPr id="3" name="Content Placeholder 2"/>
          <p:cNvSpPr>
            <a:spLocks noGrp="1"/>
          </p:cNvSpPr>
          <p:nvPr>
            <p:ph idx="1"/>
          </p:nvPr>
        </p:nvSpPr>
        <p:spPr/>
        <p:txBody>
          <a:bodyPr>
            <a:noAutofit/>
          </a:bodyPr>
          <a:lstStyle/>
          <a:p>
            <a:r>
              <a:rPr lang="en-US" sz="2200" dirty="0"/>
              <a:t>Measuring the return to education </a:t>
            </a:r>
          </a:p>
          <a:p>
            <a:pPr lvl="1"/>
            <a:r>
              <a:rPr lang="en-US" sz="2200" dirty="0"/>
              <a:t>"If a person is chosen from the population and given another      year of education, by how much will his or her wage increase? " </a:t>
            </a:r>
          </a:p>
          <a:p>
            <a:pPr lvl="1"/>
            <a:r>
              <a:rPr lang="en-US" sz="2200" dirty="0"/>
              <a:t>Implicit assumption: all other factors that influence wages such as experience, family background, intelligence etc. are held fixed </a:t>
            </a:r>
          </a:p>
          <a:p>
            <a:r>
              <a:rPr lang="en-US" sz="2200" dirty="0"/>
              <a:t>Experiment: </a:t>
            </a:r>
          </a:p>
          <a:p>
            <a:pPr lvl="1"/>
            <a:r>
              <a:rPr lang="en-US" sz="2200" dirty="0"/>
              <a:t>Choose a group of people; randomly assign different amounts of education to them (infeasible!); compare wage outcomes </a:t>
            </a:r>
          </a:p>
          <a:p>
            <a:pPr lvl="1"/>
            <a:r>
              <a:rPr lang="en-US" sz="2200" dirty="0"/>
              <a:t>Problem without random assignment: amount of education is related to other factors that influence wages (e.g.</a:t>
            </a:r>
            <a:r>
              <a:rPr lang="zh-CN" altLang="en-US" sz="2200" dirty="0"/>
              <a:t>，</a:t>
            </a:r>
            <a:r>
              <a:rPr lang="en-US" sz="2200" dirty="0"/>
              <a:t>intelligence) </a:t>
            </a:r>
          </a:p>
        </p:txBody>
      </p:sp>
    </p:spTree>
    <p:extLst>
      <p:ext uri="{BB962C8B-B14F-4D97-AF65-F5344CB8AC3E}">
        <p14:creationId xmlns:p14="http://schemas.microsoft.com/office/powerpoint/2010/main" val="28771233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Causality 3</a:t>
            </a:r>
          </a:p>
        </p:txBody>
      </p:sp>
      <p:sp>
        <p:nvSpPr>
          <p:cNvPr id="3" name="Content Placeholder 2"/>
          <p:cNvSpPr>
            <a:spLocks noGrp="1"/>
          </p:cNvSpPr>
          <p:nvPr>
            <p:ph idx="1"/>
          </p:nvPr>
        </p:nvSpPr>
        <p:spPr/>
        <p:txBody>
          <a:bodyPr>
            <a:noAutofit/>
          </a:bodyPr>
          <a:lstStyle/>
          <a:p>
            <a:r>
              <a:rPr lang="en-US" sz="2200" dirty="0"/>
              <a:t>Effect of law enforcement on city crime level </a:t>
            </a:r>
          </a:p>
          <a:p>
            <a:pPr lvl="1"/>
            <a:r>
              <a:rPr lang="en-US" sz="2200" dirty="0"/>
              <a:t>"If a city is randomly chosen and given ten additional police officers, by how much would its crime rate fall? " </a:t>
            </a:r>
          </a:p>
          <a:p>
            <a:pPr lvl="1"/>
            <a:r>
              <a:rPr lang="en-US" sz="2200" dirty="0"/>
              <a:t>Alternatively: "If two cities are the same in all respects, except that city A has ten more police officers, by how much would the two cities crime rates differ? " </a:t>
            </a:r>
          </a:p>
          <a:p>
            <a:r>
              <a:rPr lang="en-US" sz="2200" dirty="0"/>
              <a:t>Experiment: </a:t>
            </a:r>
          </a:p>
          <a:p>
            <a:pPr lvl="1"/>
            <a:r>
              <a:rPr lang="en-US" sz="2200" dirty="0"/>
              <a:t>Randomly assign number of police officers to a large number of cities </a:t>
            </a:r>
          </a:p>
          <a:p>
            <a:pPr lvl="1"/>
            <a:r>
              <a:rPr lang="en-US" sz="2200" dirty="0"/>
              <a:t>In reality, number of police officers will be determined by crime rate (simultaneous determination of crime and number of police) </a:t>
            </a:r>
          </a:p>
        </p:txBody>
      </p:sp>
    </p:spTree>
    <p:extLst>
      <p:ext uri="{BB962C8B-B14F-4D97-AF65-F5344CB8AC3E}">
        <p14:creationId xmlns:p14="http://schemas.microsoft.com/office/powerpoint/2010/main" val="42632322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Group Project (20%)</a:t>
            </a:r>
          </a:p>
        </p:txBody>
      </p:sp>
      <p:sp>
        <p:nvSpPr>
          <p:cNvPr id="3" name="Content Placeholder 2"/>
          <p:cNvSpPr>
            <a:spLocks noGrp="1"/>
          </p:cNvSpPr>
          <p:nvPr>
            <p:ph idx="1"/>
          </p:nvPr>
        </p:nvSpPr>
        <p:spPr/>
        <p:txBody>
          <a:bodyPr>
            <a:noAutofit/>
          </a:bodyPr>
          <a:lstStyle/>
          <a:p>
            <a:r>
              <a:rPr lang="en-US" sz="2000" dirty="0"/>
              <a:t>Form a team with 3 members; sign up in the link from Moodle. </a:t>
            </a:r>
          </a:p>
          <a:p>
            <a:endParaRPr lang="en-US" sz="2000" dirty="0"/>
          </a:p>
          <a:p>
            <a:r>
              <a:rPr lang="en-US" sz="2000" dirty="0"/>
              <a:t>Each team will develop a statistical project that answers a research question using statistical techniques. </a:t>
            </a:r>
          </a:p>
          <a:p>
            <a:endParaRPr lang="en-US" sz="2000" dirty="0"/>
          </a:p>
          <a:p>
            <a:r>
              <a:rPr lang="en-US" sz="2000" dirty="0"/>
              <a:t>The focus of this project is to collect data from various sources and construct the final data set that are suitable for further analysis. </a:t>
            </a:r>
          </a:p>
          <a:p>
            <a:endParaRPr lang="en-US" sz="2000" dirty="0"/>
          </a:p>
          <a:p>
            <a:r>
              <a:rPr lang="en-US" sz="2000" dirty="0"/>
              <a:t>The team will first make a ~15-minute classroom presentation during the last two lectures (individual 10%) and then submit the presentation slides as a summary report (team 10%). </a:t>
            </a:r>
          </a:p>
          <a:p>
            <a:endParaRPr lang="en-US" sz="2000" dirty="0"/>
          </a:p>
          <a:p>
            <a:r>
              <a:rPr lang="en-US" sz="2000" dirty="0"/>
              <a:t>Peer Evaluation Form in Moodle (1%)</a:t>
            </a:r>
          </a:p>
        </p:txBody>
      </p:sp>
    </p:spTree>
    <p:extLst>
      <p:ext uri="{BB962C8B-B14F-4D97-AF65-F5344CB8AC3E}">
        <p14:creationId xmlns:p14="http://schemas.microsoft.com/office/powerpoint/2010/main" val="15130104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6CBCC-F558-537A-BE59-98A702F156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031020-9B50-8185-9B45-4CF6CE496467}"/>
              </a:ext>
            </a:extLst>
          </p:cNvPr>
          <p:cNvSpPr>
            <a:spLocks noGrp="1"/>
          </p:cNvSpPr>
          <p:nvPr>
            <p:ph type="title"/>
          </p:nvPr>
        </p:nvSpPr>
        <p:spPr/>
        <p:txBody>
          <a:bodyPr/>
          <a:lstStyle/>
          <a:p>
            <a:r>
              <a:rPr lang="en-US" dirty="0"/>
              <a:t>Group Project (20%)</a:t>
            </a:r>
          </a:p>
        </p:txBody>
      </p:sp>
      <p:sp>
        <p:nvSpPr>
          <p:cNvPr id="3" name="Content Placeholder 2">
            <a:extLst>
              <a:ext uri="{FF2B5EF4-FFF2-40B4-BE49-F238E27FC236}">
                <a16:creationId xmlns:a16="http://schemas.microsoft.com/office/drawing/2014/main" id="{A5EDBA71-51A2-C69B-169A-ACEE361E71DD}"/>
              </a:ext>
            </a:extLst>
          </p:cNvPr>
          <p:cNvSpPr>
            <a:spLocks noGrp="1"/>
          </p:cNvSpPr>
          <p:nvPr>
            <p:ph idx="1"/>
          </p:nvPr>
        </p:nvSpPr>
        <p:spPr/>
        <p:txBody>
          <a:bodyPr>
            <a:noAutofit/>
          </a:bodyPr>
          <a:lstStyle/>
          <a:p>
            <a:r>
              <a:rPr lang="en-US" sz="2000" dirty="0"/>
              <a:t>Practice your skills in handling data sets</a:t>
            </a:r>
          </a:p>
          <a:p>
            <a:endParaRPr lang="en-US" sz="2000" dirty="0"/>
          </a:p>
          <a:p>
            <a:r>
              <a:rPr lang="en-US" sz="2000" dirty="0"/>
              <a:t>Combine differences sources into one dataset</a:t>
            </a:r>
          </a:p>
          <a:p>
            <a:endParaRPr lang="en-US" sz="2000" dirty="0"/>
          </a:p>
          <a:p>
            <a:r>
              <a:rPr lang="en-US" sz="2000" dirty="0"/>
              <a:t>See the data collection exercise as an example. </a:t>
            </a:r>
          </a:p>
          <a:p>
            <a:endParaRPr lang="en-US" sz="2000" dirty="0"/>
          </a:p>
          <a:p>
            <a:r>
              <a:rPr lang="en-US" altLang="zh-CN" sz="2000" dirty="0"/>
              <a:t>No need to perform statistical analysis (i.e., running regressions)</a:t>
            </a:r>
            <a:endParaRPr lang="en-US" sz="2000" dirty="0"/>
          </a:p>
        </p:txBody>
      </p:sp>
    </p:spTree>
    <p:extLst>
      <p:ext uri="{BB962C8B-B14F-4D97-AF65-F5344CB8AC3E}">
        <p14:creationId xmlns:p14="http://schemas.microsoft.com/office/powerpoint/2010/main" val="16127682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HK" sz="3200" dirty="0"/>
              <a:t>Grading – Individual Presentation Skills (10%)</a:t>
            </a:r>
            <a:endParaRPr lang="zh-HK" altLang="en-US" sz="3200" dirty="0"/>
          </a:p>
        </p:txBody>
      </p:sp>
      <p:sp>
        <p:nvSpPr>
          <p:cNvPr id="3" name="Content Placeholder 2"/>
          <p:cNvSpPr>
            <a:spLocks noGrp="1"/>
          </p:cNvSpPr>
          <p:nvPr>
            <p:ph idx="1"/>
          </p:nvPr>
        </p:nvSpPr>
        <p:spPr/>
        <p:txBody>
          <a:bodyPr>
            <a:normAutofit/>
          </a:bodyPr>
          <a:lstStyle/>
          <a:p>
            <a:r>
              <a:rPr lang="en-US" sz="2000" dirty="0"/>
              <a:t>Did the speaker talk loudly and clearly enough to be understood?</a:t>
            </a:r>
          </a:p>
          <a:p>
            <a:r>
              <a:rPr lang="en-US" sz="2000" dirty="0"/>
              <a:t>Did the speaker use appropriate scientific language?</a:t>
            </a:r>
          </a:p>
          <a:p>
            <a:r>
              <a:rPr lang="en-US" sz="2000" dirty="0"/>
              <a:t>Was correct grammar used in the oral presentation?</a:t>
            </a:r>
          </a:p>
          <a:p>
            <a:r>
              <a:rPr lang="en-US" sz="2000" dirty="0"/>
              <a:t>Did the speaker use eye contact, gestures, and voice inflections to maintain the audience?</a:t>
            </a:r>
          </a:p>
          <a:p>
            <a:r>
              <a:rPr lang="en-US" sz="2000" dirty="0"/>
              <a:t>Was the speaker able to present the material without excessive dependence on notes? </a:t>
            </a:r>
          </a:p>
          <a:p>
            <a:r>
              <a:rPr lang="en-US" sz="2000" dirty="0"/>
              <a:t>Did the speaker stay within the time limit? </a:t>
            </a:r>
          </a:p>
          <a:p>
            <a:r>
              <a:rPr lang="en-US" sz="2000" dirty="0"/>
              <a:t>Did the speaker appear to understand the material?</a:t>
            </a:r>
          </a:p>
          <a:p>
            <a:r>
              <a:rPr lang="en-US" sz="2000" b="1" u="sng" dirty="0"/>
              <a:t>Peer evaluation</a:t>
            </a:r>
          </a:p>
        </p:txBody>
      </p:sp>
    </p:spTree>
    <p:extLst>
      <p:ext uri="{BB962C8B-B14F-4D97-AF65-F5344CB8AC3E}">
        <p14:creationId xmlns:p14="http://schemas.microsoft.com/office/powerpoint/2010/main" val="32871008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HK" sz="3200" dirty="0"/>
              <a:t>Grading – Team Presentation Content (team </a:t>
            </a:r>
            <a:r>
              <a:rPr lang="en-US" altLang="zh-CN" sz="3200" dirty="0"/>
              <a:t>10</a:t>
            </a:r>
            <a:r>
              <a:rPr lang="en-US" altLang="zh-HK" sz="3200" dirty="0"/>
              <a:t>%)</a:t>
            </a:r>
            <a:endParaRPr lang="zh-HK" altLang="en-US" sz="3200" dirty="0"/>
          </a:p>
        </p:txBody>
      </p:sp>
      <p:sp>
        <p:nvSpPr>
          <p:cNvPr id="3" name="Content Placeholder 2"/>
          <p:cNvSpPr>
            <a:spLocks noGrp="1"/>
          </p:cNvSpPr>
          <p:nvPr>
            <p:ph idx="1"/>
          </p:nvPr>
        </p:nvSpPr>
        <p:spPr/>
        <p:txBody>
          <a:bodyPr>
            <a:normAutofit/>
          </a:bodyPr>
          <a:lstStyle/>
          <a:p>
            <a:r>
              <a:rPr lang="en-US" sz="2000" dirty="0"/>
              <a:t>Did the introduction provide sufficient background for the audience to understand the topic? </a:t>
            </a:r>
          </a:p>
          <a:p>
            <a:r>
              <a:rPr lang="en-US" sz="2000" dirty="0"/>
              <a:t>Did the presentation enhance the audience’s understanding of the topic?</a:t>
            </a:r>
          </a:p>
          <a:p>
            <a:r>
              <a:rPr lang="en-US" sz="2000" dirty="0"/>
              <a:t>Was the subject matter developed in a logical order? </a:t>
            </a:r>
          </a:p>
          <a:p>
            <a:r>
              <a:rPr lang="en-US" sz="2000" dirty="0"/>
              <a:t>Given the time constraints, was the topic developed sufficiently? </a:t>
            </a:r>
          </a:p>
          <a:p>
            <a:r>
              <a:rPr lang="en-US" sz="2000" dirty="0"/>
              <a:t>Did the summary or conclusion emphasize the significance of the information? </a:t>
            </a:r>
          </a:p>
          <a:p>
            <a:r>
              <a:rPr lang="en-US" sz="2000" dirty="0"/>
              <a:t>Were the visual aids easily read and appropriate for the information presented?</a:t>
            </a:r>
          </a:p>
          <a:p>
            <a:r>
              <a:rPr lang="en-US" sz="2000" dirty="0"/>
              <a:t>Were the participants’ questions answered satisfactorily?</a:t>
            </a:r>
          </a:p>
        </p:txBody>
      </p:sp>
    </p:spTree>
    <p:extLst>
      <p:ext uri="{BB962C8B-B14F-4D97-AF65-F5344CB8AC3E}">
        <p14:creationId xmlns:p14="http://schemas.microsoft.com/office/powerpoint/2010/main" val="12484239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198D6-DA35-0A2F-52CD-D207AAAAEF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35F034-535D-C0BB-EDAD-B3EF9617588B}"/>
              </a:ext>
            </a:extLst>
          </p:cNvPr>
          <p:cNvSpPr>
            <a:spLocks noGrp="1"/>
          </p:cNvSpPr>
          <p:nvPr>
            <p:ph type="title"/>
          </p:nvPr>
        </p:nvSpPr>
        <p:spPr/>
        <p:txBody>
          <a:bodyPr>
            <a:noAutofit/>
          </a:bodyPr>
          <a:lstStyle/>
          <a:p>
            <a:r>
              <a:rPr lang="en-US" sz="3200" dirty="0"/>
              <a:t>What should you include in the final report?</a:t>
            </a:r>
          </a:p>
        </p:txBody>
      </p:sp>
      <p:sp>
        <p:nvSpPr>
          <p:cNvPr id="3" name="Content Placeholder 2">
            <a:extLst>
              <a:ext uri="{FF2B5EF4-FFF2-40B4-BE49-F238E27FC236}">
                <a16:creationId xmlns:a16="http://schemas.microsoft.com/office/drawing/2014/main" id="{3F8A1D06-E6A5-3AF7-512E-211C6DE36F49}"/>
              </a:ext>
            </a:extLst>
          </p:cNvPr>
          <p:cNvSpPr>
            <a:spLocks noGrp="1"/>
          </p:cNvSpPr>
          <p:nvPr>
            <p:ph idx="1"/>
          </p:nvPr>
        </p:nvSpPr>
        <p:spPr/>
        <p:txBody>
          <a:bodyPr>
            <a:noAutofit/>
          </a:bodyPr>
          <a:lstStyle/>
          <a:p>
            <a:pPr marL="457200" indent="-457200">
              <a:buFont typeface="+mj-lt"/>
              <a:buAutoNum type="arabicPeriod"/>
            </a:pPr>
            <a:r>
              <a:rPr lang="en-US" sz="2000" dirty="0"/>
              <a:t>The research question that you are interested in answering.</a:t>
            </a:r>
          </a:p>
          <a:p>
            <a:pPr marL="457200" indent="-457200">
              <a:buFont typeface="+mj-lt"/>
              <a:buAutoNum type="arabicPeriod"/>
            </a:pPr>
            <a:endParaRPr lang="en-US" sz="2000" dirty="0"/>
          </a:p>
          <a:p>
            <a:pPr marL="457200" indent="-457200">
              <a:buFont typeface="+mj-lt"/>
              <a:buAutoNum type="arabicPeriod"/>
            </a:pPr>
            <a:r>
              <a:rPr lang="en-US" sz="2000" dirty="0"/>
              <a:t>Background information</a:t>
            </a:r>
          </a:p>
          <a:p>
            <a:pPr marL="457200" indent="-457200">
              <a:buFont typeface="+mj-lt"/>
              <a:buAutoNum type="arabicPeriod"/>
            </a:pPr>
            <a:endParaRPr lang="en-US" sz="2000" dirty="0"/>
          </a:p>
          <a:p>
            <a:pPr marL="457200" indent="-457200">
              <a:buFont typeface="+mj-lt"/>
              <a:buAutoNum type="arabicPeriod"/>
            </a:pPr>
            <a:r>
              <a:rPr lang="en-US" sz="2000" dirty="0"/>
              <a:t>The statistical methods and techniques that will be used to analyze the data</a:t>
            </a:r>
          </a:p>
          <a:p>
            <a:pPr marL="457200" indent="-457200">
              <a:buFont typeface="+mj-lt"/>
              <a:buAutoNum type="arabicPeriod"/>
            </a:pPr>
            <a:endParaRPr lang="en-US" sz="2000" dirty="0"/>
          </a:p>
          <a:p>
            <a:pPr marL="457200" indent="-457200">
              <a:buFont typeface="+mj-lt"/>
              <a:buAutoNum type="arabicPeriod"/>
            </a:pPr>
            <a:r>
              <a:rPr lang="en-US" sz="2000" dirty="0"/>
              <a:t>Data source and collection process</a:t>
            </a:r>
          </a:p>
          <a:p>
            <a:pPr marL="457200" indent="-457200">
              <a:buFont typeface="+mj-lt"/>
              <a:buAutoNum type="arabicPeriod"/>
            </a:pPr>
            <a:endParaRPr lang="en-US" sz="2000" dirty="0"/>
          </a:p>
          <a:p>
            <a:pPr marL="457200" indent="-457200">
              <a:buFont typeface="+mj-lt"/>
              <a:buAutoNum type="arabicPeriod"/>
            </a:pPr>
            <a:r>
              <a:rPr lang="en-US" sz="2000" dirty="0"/>
              <a:t>Justification for using specific data and method in relation to the research question. </a:t>
            </a:r>
          </a:p>
        </p:txBody>
      </p:sp>
    </p:spTree>
    <p:extLst>
      <p:ext uri="{BB962C8B-B14F-4D97-AF65-F5344CB8AC3E}">
        <p14:creationId xmlns:p14="http://schemas.microsoft.com/office/powerpoint/2010/main" val="40349119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1CC18-0CC8-F5A2-2D62-AF26DEFDBE20}"/>
              </a:ext>
            </a:extLst>
          </p:cNvPr>
          <p:cNvSpPr>
            <a:spLocks noGrp="1"/>
          </p:cNvSpPr>
          <p:nvPr>
            <p:ph type="title"/>
          </p:nvPr>
        </p:nvSpPr>
        <p:spPr/>
        <p:txBody>
          <a:bodyPr>
            <a:normAutofit/>
          </a:bodyPr>
          <a:lstStyle/>
          <a:p>
            <a:r>
              <a:rPr lang="en-US" sz="4000" dirty="0"/>
              <a:t>Past email conversation with the students</a:t>
            </a:r>
          </a:p>
        </p:txBody>
      </p:sp>
      <p:sp>
        <p:nvSpPr>
          <p:cNvPr id="3" name="Content Placeholder 2">
            <a:extLst>
              <a:ext uri="{FF2B5EF4-FFF2-40B4-BE49-F238E27FC236}">
                <a16:creationId xmlns:a16="http://schemas.microsoft.com/office/drawing/2014/main" id="{F4A26DC3-631B-9CF3-BB71-2EC1C7974AD9}"/>
              </a:ext>
            </a:extLst>
          </p:cNvPr>
          <p:cNvSpPr>
            <a:spLocks noGrp="1"/>
          </p:cNvSpPr>
          <p:nvPr>
            <p:ph idx="1"/>
          </p:nvPr>
        </p:nvSpPr>
        <p:spPr/>
        <p:txBody>
          <a:bodyPr>
            <a:normAutofit lnSpcReduction="10000"/>
          </a:bodyPr>
          <a:lstStyle/>
          <a:p>
            <a:pPr marL="0" indent="0">
              <a:buNone/>
            </a:pPr>
            <a:r>
              <a:rPr lang="en-US" sz="2000" dirty="0"/>
              <a:t>Q: </a:t>
            </a:r>
            <a:r>
              <a:rPr lang="en-US" altLang="zh-CN" sz="2000" dirty="0"/>
              <a:t>Would this topic […] be appropriate?</a:t>
            </a:r>
          </a:p>
          <a:p>
            <a:pPr marL="0" indent="0">
              <a:buNone/>
            </a:pPr>
            <a:endParaRPr lang="en-US" sz="2000" dirty="0"/>
          </a:p>
          <a:p>
            <a:pPr marL="0" indent="0">
              <a:buNone/>
            </a:pPr>
            <a:r>
              <a:rPr lang="en-US" sz="2000" dirty="0"/>
              <a:t>Answer: A complete topic is not one or two sentences like the answer to what is your hobby. It will include the full plan to carry out the research. Think about these questions: </a:t>
            </a:r>
          </a:p>
          <a:p>
            <a:endParaRPr lang="en-US" sz="2000" dirty="0"/>
          </a:p>
          <a:p>
            <a:r>
              <a:rPr lang="en-US" sz="2000" dirty="0"/>
              <a:t>What is your research question? The topic needs to begin with a question. </a:t>
            </a:r>
          </a:p>
          <a:p>
            <a:r>
              <a:rPr lang="en-US" sz="2000" dirty="0"/>
              <a:t>What are the potential answers and what are the evidence and arguments to justify your answers. </a:t>
            </a:r>
          </a:p>
          <a:p>
            <a:r>
              <a:rPr lang="en-US" sz="2000" dirty="0"/>
              <a:t>This is a data quantitative project, so you need data to support the answers. Simply speaking, what is your y variable and what are the x variables? Are the all data available?</a:t>
            </a:r>
          </a:p>
          <a:p>
            <a:endParaRPr lang="en-US" sz="2000" dirty="0"/>
          </a:p>
        </p:txBody>
      </p:sp>
    </p:spTree>
    <p:extLst>
      <p:ext uri="{BB962C8B-B14F-4D97-AF65-F5344CB8AC3E}">
        <p14:creationId xmlns:p14="http://schemas.microsoft.com/office/powerpoint/2010/main" val="36260418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8AA5B-91BA-4FC9-8289-A79552E38B8E}"/>
              </a:ext>
            </a:extLst>
          </p:cNvPr>
          <p:cNvSpPr>
            <a:spLocks noGrp="1"/>
          </p:cNvSpPr>
          <p:nvPr>
            <p:ph type="title"/>
          </p:nvPr>
        </p:nvSpPr>
        <p:spPr/>
        <p:txBody>
          <a:bodyPr>
            <a:normAutofit/>
          </a:bodyPr>
          <a:lstStyle/>
          <a:p>
            <a:r>
              <a:rPr lang="en-US" sz="4000" dirty="0"/>
              <a:t>Past email conversation with the students</a:t>
            </a:r>
          </a:p>
        </p:txBody>
      </p:sp>
      <p:sp>
        <p:nvSpPr>
          <p:cNvPr id="3" name="Content Placeholder 2">
            <a:extLst>
              <a:ext uri="{FF2B5EF4-FFF2-40B4-BE49-F238E27FC236}">
                <a16:creationId xmlns:a16="http://schemas.microsoft.com/office/drawing/2014/main" id="{C6F61909-6486-4B07-8573-A86792F18707}"/>
              </a:ext>
            </a:extLst>
          </p:cNvPr>
          <p:cNvSpPr>
            <a:spLocks noGrp="1"/>
          </p:cNvSpPr>
          <p:nvPr>
            <p:ph idx="1"/>
          </p:nvPr>
        </p:nvSpPr>
        <p:spPr/>
        <p:txBody>
          <a:bodyPr>
            <a:normAutofit/>
          </a:bodyPr>
          <a:lstStyle/>
          <a:p>
            <a:pPr marL="0" indent="0">
              <a:buNone/>
            </a:pPr>
            <a:r>
              <a:rPr lang="en-US" sz="2000" dirty="0"/>
              <a:t>Comments from a student:</a:t>
            </a:r>
          </a:p>
          <a:p>
            <a:r>
              <a:rPr lang="en-US" sz="2000" dirty="0"/>
              <a:t>“I think we cannot conclude whether or not some thing is related to others before we carry out a research.”</a:t>
            </a:r>
          </a:p>
          <a:p>
            <a:r>
              <a:rPr lang="en-US" sz="2000" dirty="0"/>
              <a:t>“This assumption may be true or false, I can only tell by putting the figures into a model and determine by the resulting p-value.”</a:t>
            </a:r>
          </a:p>
          <a:p>
            <a:pPr marL="0" indent="0">
              <a:buNone/>
            </a:pPr>
            <a:endParaRPr lang="en-US" sz="2000" dirty="0"/>
          </a:p>
          <a:p>
            <a:pPr marL="0" indent="0">
              <a:buNone/>
            </a:pPr>
            <a:r>
              <a:rPr lang="en-US" sz="2000" dirty="0"/>
              <a:t>What do you think?</a:t>
            </a:r>
          </a:p>
          <a:p>
            <a:endParaRPr lang="en-US" sz="2000" dirty="0"/>
          </a:p>
        </p:txBody>
      </p:sp>
    </p:spTree>
    <p:extLst>
      <p:ext uri="{BB962C8B-B14F-4D97-AF65-F5344CB8AC3E}">
        <p14:creationId xmlns:p14="http://schemas.microsoft.com/office/powerpoint/2010/main" val="28421373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34DB0-D417-8326-C6EE-2C5410E057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A0F272-6DE0-630D-0EDD-F20FE4685119}"/>
              </a:ext>
            </a:extLst>
          </p:cNvPr>
          <p:cNvSpPr>
            <a:spLocks noGrp="1"/>
          </p:cNvSpPr>
          <p:nvPr>
            <p:ph type="title"/>
          </p:nvPr>
        </p:nvSpPr>
        <p:spPr/>
        <p:txBody>
          <a:bodyPr>
            <a:normAutofit/>
          </a:bodyPr>
          <a:lstStyle/>
          <a:p>
            <a:r>
              <a:rPr lang="en-US" sz="4000" dirty="0"/>
              <a:t>What is a scientific method?</a:t>
            </a:r>
          </a:p>
        </p:txBody>
      </p:sp>
      <p:sp>
        <p:nvSpPr>
          <p:cNvPr id="3" name="Content Placeholder 2">
            <a:extLst>
              <a:ext uri="{FF2B5EF4-FFF2-40B4-BE49-F238E27FC236}">
                <a16:creationId xmlns:a16="http://schemas.microsoft.com/office/drawing/2014/main" id="{02F0ED27-65B0-1777-22F4-EC1CE4432C7B}"/>
              </a:ext>
            </a:extLst>
          </p:cNvPr>
          <p:cNvSpPr>
            <a:spLocks noGrp="1"/>
          </p:cNvSpPr>
          <p:nvPr>
            <p:ph idx="1"/>
          </p:nvPr>
        </p:nvSpPr>
        <p:spPr/>
        <p:txBody>
          <a:bodyPr>
            <a:normAutofit/>
          </a:bodyPr>
          <a:lstStyle/>
          <a:p>
            <a:pPr marL="0" indent="0">
              <a:buNone/>
            </a:pPr>
            <a:r>
              <a:rPr lang="en-US" sz="2000" dirty="0"/>
              <a:t>From Wiki</a:t>
            </a:r>
          </a:p>
          <a:p>
            <a:r>
              <a:rPr lang="en-US" sz="2000" dirty="0"/>
              <a:t>“The process of the scientific method involves </a:t>
            </a:r>
            <a:r>
              <a:rPr lang="en-US" sz="2000" u="sng" dirty="0"/>
              <a:t>making conjectures </a:t>
            </a:r>
            <a:r>
              <a:rPr lang="en-US" sz="2000" dirty="0"/>
              <a:t>(hypotheses), </a:t>
            </a:r>
            <a:r>
              <a:rPr lang="en-US" sz="2000" u="sng" dirty="0"/>
              <a:t>deriving predictions from them as logical consequences</a:t>
            </a:r>
            <a:r>
              <a:rPr lang="en-US" sz="2000" dirty="0"/>
              <a:t>, and then </a:t>
            </a:r>
            <a:r>
              <a:rPr lang="en-US" sz="2000" u="sng" dirty="0"/>
              <a:t>carrying out experiments or empirical observations based on those predictions</a:t>
            </a:r>
            <a:r>
              <a:rPr lang="en-US" sz="2000" dirty="0"/>
              <a:t>”</a:t>
            </a:r>
          </a:p>
          <a:p>
            <a:endParaRPr lang="en-US" sz="2000" dirty="0"/>
          </a:p>
          <a:p>
            <a:r>
              <a:rPr lang="en-US" sz="2000" dirty="0"/>
              <a:t>If we ignore the thinking process, we may just identify a </a:t>
            </a:r>
            <a:r>
              <a:rPr lang="en-US" sz="2000" dirty="0">
                <a:hlinkClick r:id="rId2"/>
              </a:rPr>
              <a:t>spurious correlation</a:t>
            </a:r>
            <a:r>
              <a:rPr lang="en-US" sz="2000" dirty="0"/>
              <a:t>.</a:t>
            </a:r>
          </a:p>
          <a:p>
            <a:endParaRPr lang="en-US" sz="2000" dirty="0"/>
          </a:p>
          <a:p>
            <a:r>
              <a:rPr lang="en-US" sz="2000" dirty="0"/>
              <a:t>“Essentially, all models are wrong, but some are useful“ by George Box</a:t>
            </a:r>
          </a:p>
          <a:p>
            <a:endParaRPr lang="en-US" sz="2000" dirty="0"/>
          </a:p>
        </p:txBody>
      </p:sp>
    </p:spTree>
    <p:extLst>
      <p:ext uri="{BB962C8B-B14F-4D97-AF65-F5344CB8AC3E}">
        <p14:creationId xmlns:p14="http://schemas.microsoft.com/office/powerpoint/2010/main" val="32697921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898495-DEA3-7079-27AB-2B666852A3F1}"/>
              </a:ext>
            </a:extLst>
          </p:cNvPr>
          <p:cNvSpPr>
            <a:spLocks noGrp="1"/>
          </p:cNvSpPr>
          <p:nvPr>
            <p:ph idx="1"/>
          </p:nvPr>
        </p:nvSpPr>
        <p:spPr/>
        <p:txBody>
          <a:bodyPr/>
          <a:lstStyle/>
          <a:p>
            <a:pPr marL="0" indent="0" algn="ctr">
              <a:buNone/>
            </a:pPr>
            <a:r>
              <a:rPr lang="en-US" sz="4800" dirty="0"/>
              <a:t>Modeling How Two Variables Are Related</a:t>
            </a:r>
          </a:p>
          <a:p>
            <a:pPr marL="0" indent="0">
              <a:buNone/>
            </a:pPr>
            <a:endParaRPr lang="en-US" dirty="0"/>
          </a:p>
        </p:txBody>
      </p:sp>
    </p:spTree>
    <p:extLst>
      <p:ext uri="{BB962C8B-B14F-4D97-AF65-F5344CB8AC3E}">
        <p14:creationId xmlns:p14="http://schemas.microsoft.com/office/powerpoint/2010/main" val="14904338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idx="4294967295"/>
          </p:nvPr>
        </p:nvSpPr>
        <p:spPr bwMode="auto">
          <a:xfrm>
            <a:off x="747713" y="223838"/>
            <a:ext cx="8077200" cy="685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normAutofit fontScale="90000"/>
          </a:bodyPr>
          <a:lstStyle/>
          <a:p>
            <a:r>
              <a:rPr lang="en-US" altLang="en-US" b="1" dirty="0">
                <a:latin typeface="Arial" panose="020B0604020202020204" pitchFamily="34" charset="0"/>
              </a:rPr>
              <a:t>Regression Analysis</a:t>
            </a:r>
          </a:p>
        </p:txBody>
      </p:sp>
      <p:sp>
        <p:nvSpPr>
          <p:cNvPr id="55299" name="Rectangle 3"/>
          <p:cNvSpPr>
            <a:spLocks noGrp="1" noChangeArrowheads="1"/>
          </p:cNvSpPr>
          <p:nvPr>
            <p:ph type="body" idx="4294967295"/>
          </p:nvPr>
        </p:nvSpPr>
        <p:spPr bwMode="auto">
          <a:xfrm>
            <a:off x="763524" y="1563624"/>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a:r>
              <a:rPr lang="en-US" altLang="en-US" dirty="0"/>
              <a:t>The first step of a </a:t>
            </a:r>
            <a:r>
              <a:rPr lang="en-US" altLang="en-US" dirty="0">
                <a:solidFill>
                  <a:schemeClr val="tx2"/>
                </a:solidFill>
              </a:rPr>
              <a:t>regression analysis</a:t>
            </a:r>
            <a:r>
              <a:rPr lang="en-US" altLang="en-US" dirty="0"/>
              <a:t> is to identify the response and explanatory variables.</a:t>
            </a:r>
          </a:p>
          <a:p>
            <a:pPr marL="0"/>
            <a:endParaRPr lang="en-US" altLang="en-US" dirty="0"/>
          </a:p>
          <a:p>
            <a:pPr lvl="1"/>
            <a:r>
              <a:rPr lang="en-US" altLang="en-US" dirty="0"/>
              <a:t>We use </a:t>
            </a:r>
            <a:r>
              <a:rPr lang="en-US" altLang="en-US" i="1" dirty="0">
                <a:solidFill>
                  <a:schemeClr val="tx2"/>
                </a:solidFill>
                <a:latin typeface="+mj-lt"/>
              </a:rPr>
              <a:t>y</a:t>
            </a:r>
            <a:r>
              <a:rPr lang="en-US" altLang="en-US" dirty="0"/>
              <a:t> to denote the </a:t>
            </a:r>
            <a:r>
              <a:rPr lang="en-US" altLang="en-US" dirty="0">
                <a:solidFill>
                  <a:schemeClr val="tx2"/>
                </a:solidFill>
              </a:rPr>
              <a:t>response variable.</a:t>
            </a:r>
          </a:p>
          <a:p>
            <a:pPr lvl="1"/>
            <a:endParaRPr lang="en-US" altLang="en-US" dirty="0">
              <a:solidFill>
                <a:schemeClr val="tx2"/>
              </a:solidFill>
            </a:endParaRPr>
          </a:p>
          <a:p>
            <a:pPr lvl="1"/>
            <a:r>
              <a:rPr lang="en-US" altLang="en-US" dirty="0"/>
              <a:t>We use </a:t>
            </a:r>
            <a:r>
              <a:rPr lang="en-US" altLang="en-US" i="1" dirty="0">
                <a:solidFill>
                  <a:schemeClr val="tx2"/>
                </a:solidFill>
                <a:latin typeface="+mj-lt"/>
              </a:rPr>
              <a:t>x</a:t>
            </a:r>
            <a:r>
              <a:rPr lang="en-US" altLang="en-US" dirty="0"/>
              <a:t> to denote the </a:t>
            </a:r>
            <a:r>
              <a:rPr lang="en-US" altLang="en-US" dirty="0">
                <a:solidFill>
                  <a:schemeClr val="tx2"/>
                </a:solidFill>
              </a:rPr>
              <a:t>explanatory variable.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idx="4294967295"/>
          </p:nvPr>
        </p:nvSpPr>
        <p:spPr bwMode="auto">
          <a:xfrm>
            <a:off x="762000" y="165100"/>
            <a:ext cx="8153400" cy="71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The Scatterplot</a:t>
            </a:r>
          </a:p>
        </p:txBody>
      </p:sp>
      <p:sp>
        <p:nvSpPr>
          <p:cNvPr id="56323" name="Rectangle 3"/>
          <p:cNvSpPr>
            <a:spLocks noGrp="1" noChangeArrowheads="1"/>
          </p:cNvSpPr>
          <p:nvPr>
            <p:ph type="body" idx="4294967295"/>
          </p:nvPr>
        </p:nvSpPr>
        <p:spPr bwMode="auto">
          <a:xfrm>
            <a:off x="735605" y="1563624"/>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a:r>
              <a:rPr lang="en-US" altLang="en-US" dirty="0"/>
              <a:t>The first step in answering the question of association is to look at the data.</a:t>
            </a:r>
          </a:p>
          <a:p>
            <a:pPr marL="114300" lvl="1" indent="0">
              <a:buFont typeface="Wingdings" panose="05000000000000000000" pitchFamily="2" charset="2"/>
              <a:buNone/>
            </a:pPr>
            <a:endParaRPr lang="en-US" altLang="en-US" dirty="0"/>
          </a:p>
          <a:p>
            <a:pPr marL="114300" lvl="1" indent="0">
              <a:buFont typeface="Wingdings" panose="05000000000000000000" pitchFamily="2" charset="2"/>
              <a:buNone/>
            </a:pPr>
            <a:r>
              <a:rPr lang="en-US" altLang="en-US" dirty="0"/>
              <a:t>A </a:t>
            </a:r>
            <a:r>
              <a:rPr lang="en-US" altLang="en-US" b="1" dirty="0"/>
              <a:t>scatterplot</a:t>
            </a:r>
            <a:r>
              <a:rPr lang="en-US" altLang="en-US" dirty="0"/>
              <a:t> is a graphical display of the relationship between the response variable (</a:t>
            </a:r>
            <a:r>
              <a:rPr lang="en-US" altLang="en-US" i="1" dirty="0">
                <a:latin typeface="+mj-lt"/>
              </a:rPr>
              <a:t>y</a:t>
            </a:r>
            <a:r>
              <a:rPr lang="en-US" altLang="en-US" dirty="0"/>
              <a:t>) and the explanatory variable (</a:t>
            </a:r>
            <a:r>
              <a:rPr lang="en-US" altLang="en-US" i="1" dirty="0">
                <a:latin typeface="+mj-lt"/>
              </a:rPr>
              <a:t>x</a:t>
            </a:r>
            <a:r>
              <a:rPr lang="en-US" altLang="en-US" dirty="0"/>
              <a: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idx="4294967295"/>
          </p:nvPr>
        </p:nvSpPr>
        <p:spPr bwMode="auto">
          <a:xfrm>
            <a:off x="762000" y="320675"/>
            <a:ext cx="8077200" cy="5635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normAutofit fontScale="90000"/>
          </a:bodyPr>
          <a:lstStyle/>
          <a:p>
            <a:r>
              <a:rPr lang="en-US" altLang="en-US" b="1">
                <a:latin typeface="Arial" panose="020B0604020202020204" pitchFamily="34" charset="0"/>
              </a:rPr>
              <a:t>Example: The Strength Study</a:t>
            </a:r>
          </a:p>
        </p:txBody>
      </p:sp>
      <p:sp>
        <p:nvSpPr>
          <p:cNvPr id="57347" name="Rectangle 3"/>
          <p:cNvSpPr>
            <a:spLocks noGrp="1" noChangeArrowheads="1"/>
          </p:cNvSpPr>
          <p:nvPr>
            <p:ph type="body" idx="4294967295"/>
          </p:nvPr>
        </p:nvSpPr>
        <p:spPr bwMode="auto">
          <a:xfrm>
            <a:off x="704850" y="1563624"/>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a:r>
              <a:rPr lang="en-US" altLang="en-US" dirty="0"/>
              <a:t>An experiment was designed to measure the strength of female athletes.</a:t>
            </a:r>
          </a:p>
          <a:p>
            <a:pPr marL="0"/>
            <a:endParaRPr lang="en-US" altLang="en-US" dirty="0"/>
          </a:p>
          <a:p>
            <a:pPr marL="0"/>
            <a:r>
              <a:rPr lang="en-US" altLang="en-US" dirty="0"/>
              <a:t>The goal of the experiment was to determine if there is an association between the maximum number of pounds that each individual athlete could bench press and the number of 60-pound bench presses that athlete could do.</a:t>
            </a:r>
          </a:p>
          <a:p>
            <a:pPr marL="0"/>
            <a:endParaRPr lang="en-US"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3"/>
          <p:cNvSpPr>
            <a:spLocks noGrp="1" noChangeArrowheads="1"/>
          </p:cNvSpPr>
          <p:nvPr>
            <p:ph type="body" idx="4294967295"/>
          </p:nvPr>
        </p:nvSpPr>
        <p:spPr bwMode="auto">
          <a:xfrm>
            <a:off x="730232" y="1563624"/>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r>
              <a:rPr lang="en-US" altLang="en-US" dirty="0"/>
              <a:t>57 high school female athletes participated in the study.</a:t>
            </a:r>
          </a:p>
          <a:p>
            <a:endParaRPr lang="en-US" altLang="en-US" dirty="0"/>
          </a:p>
          <a:p>
            <a:r>
              <a:rPr lang="en-US" altLang="en-US" dirty="0"/>
              <a:t>The data consisted of the following variables:</a:t>
            </a:r>
          </a:p>
          <a:p>
            <a:pPr lvl="1"/>
            <a:r>
              <a:rPr lang="en-US" altLang="en-US" sz="2800" i="1" dirty="0">
                <a:latin typeface="+mj-lt"/>
              </a:rPr>
              <a:t>x</a:t>
            </a:r>
            <a:r>
              <a:rPr lang="en-US" altLang="en-US" sz="2800" dirty="0"/>
              <a:t>: the number of 60-pound bench presses an athlete could do.</a:t>
            </a:r>
          </a:p>
          <a:p>
            <a:pPr lvl="1"/>
            <a:endParaRPr lang="en-US" altLang="en-US" sz="2800" dirty="0"/>
          </a:p>
          <a:p>
            <a:pPr lvl="1"/>
            <a:r>
              <a:rPr lang="en-US" altLang="en-US" sz="2800" i="1" dirty="0">
                <a:latin typeface="+mj-lt"/>
              </a:rPr>
              <a:t>y</a:t>
            </a:r>
            <a:r>
              <a:rPr lang="en-US" altLang="en-US" sz="2800" dirty="0"/>
              <a:t>: maximum bench press.</a:t>
            </a:r>
          </a:p>
          <a:p>
            <a:endParaRPr lang="en-US" altLang="en-US" dirty="0"/>
          </a:p>
        </p:txBody>
      </p:sp>
      <p:sp>
        <p:nvSpPr>
          <p:cNvPr id="58371" name="Rectangle 2"/>
          <p:cNvSpPr>
            <a:spLocks noChangeArrowheads="1"/>
          </p:cNvSpPr>
          <p:nvPr/>
        </p:nvSpPr>
        <p:spPr bwMode="auto">
          <a:xfrm>
            <a:off x="762000" y="320675"/>
            <a:ext cx="80772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eaLnBrk="0" hangingPunct="0"/>
            <a:r>
              <a:rPr lang="en-US" altLang="en-US" sz="3200">
                <a:solidFill>
                  <a:schemeClr val="tx1"/>
                </a:solidFill>
                <a:latin typeface="Arial" panose="020B0604020202020204" pitchFamily="34" charset="0"/>
              </a:rPr>
              <a:t>Example: The Strength Study</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3"/>
          <p:cNvSpPr>
            <a:spLocks noGrp="1" noChangeArrowheads="1"/>
          </p:cNvSpPr>
          <p:nvPr>
            <p:ph type="body" idx="4294967295"/>
          </p:nvPr>
        </p:nvSpPr>
        <p:spPr bwMode="auto">
          <a:xfrm>
            <a:off x="717296" y="1600200"/>
            <a:ext cx="8051800" cy="421481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ormAutofit/>
          </a:bodyPr>
          <a:lstStyle/>
          <a:p>
            <a:r>
              <a:rPr lang="en-US" altLang="en-US" dirty="0"/>
              <a:t>For the 57 females in this study, these variables are </a:t>
            </a:r>
          </a:p>
          <a:p>
            <a:r>
              <a:rPr lang="en-US" altLang="en-US" dirty="0"/>
              <a:t>summarized by:</a:t>
            </a:r>
          </a:p>
          <a:p>
            <a:endParaRPr lang="en-US" altLang="en-US" dirty="0"/>
          </a:p>
          <a:p>
            <a:pPr lvl="1"/>
            <a:r>
              <a:rPr lang="en-US" altLang="en-US" sz="2800" i="1" dirty="0">
                <a:latin typeface="+mj-lt"/>
              </a:rPr>
              <a:t>x</a:t>
            </a:r>
            <a:r>
              <a:rPr lang="en-US" altLang="en-US" sz="2800" dirty="0"/>
              <a:t>: mean = 11.0, standard deviation = </a:t>
            </a:r>
            <a:r>
              <a:rPr lang="en-US" altLang="en-US" sz="2800" dirty="0">
                <a:solidFill>
                  <a:schemeClr val="tx1"/>
                </a:solidFill>
              </a:rPr>
              <a:t>7.1.</a:t>
            </a:r>
          </a:p>
          <a:p>
            <a:pPr lvl="1"/>
            <a:endParaRPr lang="en-US" altLang="en-US" sz="2800" dirty="0"/>
          </a:p>
          <a:p>
            <a:pPr lvl="1"/>
            <a:r>
              <a:rPr lang="en-US" altLang="en-US" sz="2800" i="1" dirty="0">
                <a:latin typeface="+mj-lt"/>
              </a:rPr>
              <a:t>y</a:t>
            </a:r>
            <a:r>
              <a:rPr lang="en-US" altLang="en-US" sz="2800" dirty="0"/>
              <a:t>: mean = 79.9 </a:t>
            </a:r>
            <a:r>
              <a:rPr lang="en-US" altLang="en-US" sz="2800" dirty="0" err="1"/>
              <a:t>lbs</a:t>
            </a:r>
            <a:r>
              <a:rPr lang="en-US" altLang="en-US" sz="2800" dirty="0"/>
              <a:t>, standard deviation = 13.3 </a:t>
            </a:r>
            <a:r>
              <a:rPr lang="en-US" altLang="en-US" sz="2800" dirty="0">
                <a:solidFill>
                  <a:schemeClr val="tx1"/>
                </a:solidFill>
              </a:rPr>
              <a:t>lbs.</a:t>
            </a:r>
          </a:p>
        </p:txBody>
      </p:sp>
      <p:sp>
        <p:nvSpPr>
          <p:cNvPr id="59395" name="Rectangle 2"/>
          <p:cNvSpPr>
            <a:spLocks noChangeArrowheads="1"/>
          </p:cNvSpPr>
          <p:nvPr/>
        </p:nvSpPr>
        <p:spPr bwMode="auto">
          <a:xfrm>
            <a:off x="762000" y="320675"/>
            <a:ext cx="80772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eaLnBrk="0" hangingPunct="0"/>
            <a:r>
              <a:rPr lang="en-US" altLang="en-US" sz="3200">
                <a:solidFill>
                  <a:schemeClr val="tx1"/>
                </a:solidFill>
                <a:latin typeface="Arial" panose="020B0604020202020204" pitchFamily="34" charset="0"/>
              </a:rPr>
              <a:t>Example: The Strength Study</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extBox 1"/>
          <p:cNvSpPr txBox="1">
            <a:spLocks noChangeArrowheads="1"/>
          </p:cNvSpPr>
          <p:nvPr/>
        </p:nvSpPr>
        <p:spPr bwMode="auto">
          <a:xfrm>
            <a:off x="381000" y="5791200"/>
            <a:ext cx="85344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sz="1600" dirty="0">
                <a:solidFill>
                  <a:schemeClr val="tx1"/>
                </a:solidFill>
                <a:latin typeface="Arial" panose="020B0604020202020204" pitchFamily="34" charset="0"/>
              </a:rPr>
              <a:t>Figure 12.1 Scatterplot for </a:t>
            </a:r>
            <a:r>
              <a:rPr lang="en-US" altLang="en-US" sz="1600" i="1" dirty="0">
                <a:solidFill>
                  <a:schemeClr val="tx1"/>
                </a:solidFill>
                <a:latin typeface="+mj-lt"/>
              </a:rPr>
              <a:t>y</a:t>
            </a:r>
            <a:r>
              <a:rPr lang="en-US" altLang="en-US" sz="1600" dirty="0">
                <a:solidFill>
                  <a:schemeClr val="tx1"/>
                </a:solidFill>
                <a:latin typeface="Arial" panose="020B0604020202020204" pitchFamily="34" charset="0"/>
              </a:rPr>
              <a:t> = Maximum Bench Press and </a:t>
            </a:r>
            <a:r>
              <a:rPr lang="en-US" altLang="en-US" sz="1600" i="1" dirty="0">
                <a:solidFill>
                  <a:schemeClr val="tx1"/>
                </a:solidFill>
                <a:latin typeface="+mj-lt"/>
              </a:rPr>
              <a:t>x</a:t>
            </a:r>
            <a:r>
              <a:rPr lang="en-US" altLang="en-US" sz="1600" dirty="0">
                <a:solidFill>
                  <a:schemeClr val="tx1"/>
                </a:solidFill>
                <a:latin typeface="Arial" panose="020B0604020202020204" pitchFamily="34" charset="0"/>
              </a:rPr>
              <a:t> = Number of  60-lb. Bench Presses</a:t>
            </a:r>
          </a:p>
        </p:txBody>
      </p:sp>
      <p:sp>
        <p:nvSpPr>
          <p:cNvPr id="60419" name="Rectangle 2"/>
          <p:cNvSpPr>
            <a:spLocks noChangeArrowheads="1"/>
          </p:cNvSpPr>
          <p:nvPr/>
        </p:nvSpPr>
        <p:spPr bwMode="auto">
          <a:xfrm>
            <a:off x="762000" y="320675"/>
            <a:ext cx="80772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eaLnBrk="0" hangingPunct="0"/>
            <a:r>
              <a:rPr lang="en-US" altLang="en-US" sz="3200">
                <a:solidFill>
                  <a:schemeClr val="tx1"/>
                </a:solidFill>
                <a:latin typeface="Arial" panose="020B0604020202020204" pitchFamily="34" charset="0"/>
              </a:rPr>
              <a:t>Example: The Strength Study</a:t>
            </a: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95425" y="1408176"/>
            <a:ext cx="6305550" cy="4257675"/>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idx="4294967295"/>
          </p:nvPr>
        </p:nvSpPr>
        <p:spPr bwMode="auto">
          <a:xfrm>
            <a:off x="838200" y="320040"/>
            <a:ext cx="7924800" cy="712787"/>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noAutofit/>
          </a:bodyPr>
          <a:lstStyle/>
          <a:p>
            <a:r>
              <a:rPr lang="en-US" altLang="en-US" sz="3200" b="1" dirty="0">
                <a:latin typeface="Arial" panose="020B0604020202020204" pitchFamily="34" charset="0"/>
              </a:rPr>
              <a:t>Describing the Association in the Scatterplot by the Correlation</a:t>
            </a:r>
          </a:p>
        </p:txBody>
      </p:sp>
      <mc:AlternateContent xmlns:mc="http://schemas.openxmlformats.org/markup-compatibility/2006" xmlns:a14="http://schemas.microsoft.com/office/drawing/2010/main">
        <mc:Choice Requires="a14">
          <p:sp>
            <p:nvSpPr>
              <p:cNvPr id="61443" name="Rectangle 3"/>
              <p:cNvSpPr>
                <a:spLocks noGrp="1" noChangeArrowheads="1"/>
              </p:cNvSpPr>
              <p:nvPr>
                <p:ph type="body" sz="half" idx="4294967295"/>
              </p:nvPr>
            </p:nvSpPr>
            <p:spPr bwMode="auto">
              <a:xfrm>
                <a:off x="685800" y="1600200"/>
                <a:ext cx="8229600" cy="4079875"/>
              </a:xfrm>
              <a:prstGeom prst="rect">
                <a:avLst/>
              </a:prstGeom>
              <a:solidFill>
                <a:srgbClr val="FFFFFF"/>
              </a:solidFill>
              <a:extLst>
                <a:ext uri="{91240B29-F687-4F45-9708-019B960494DF}">
                  <a14:hiddenLine w="9525">
                    <a:solidFill>
                      <a:srgbClr val="000000"/>
                    </a:solidFill>
                    <a:miter lim="800000"/>
                    <a:headEnd/>
                    <a:tailEnd/>
                  </a14:hiddenLine>
                </a:ext>
              </a:extLst>
            </p:spPr>
            <p:txBody>
              <a:bodyPr lIns="0" rIns="0"/>
              <a:lstStyle/>
              <a:p>
                <a:pPr marL="0" indent="0"/>
                <a:r>
                  <a:rPr lang="en-US" b="1" dirty="0"/>
                  <a:t>SUMMARY: Properties of the Correlation </a:t>
                </a:r>
                <a:r>
                  <a:rPr lang="en-US" b="1" i="1" dirty="0"/>
                  <a:t>r</a:t>
                </a:r>
              </a:p>
              <a:p>
                <a:pPr>
                  <a:buFont typeface="Wingdings" panose="05000000000000000000" pitchFamily="2" charset="2"/>
                  <a:buChar char="§"/>
                </a:pPr>
                <a:r>
                  <a:rPr lang="en-US" dirty="0"/>
                  <a:t>The correlation </a:t>
                </a:r>
                <a:r>
                  <a:rPr lang="en-US" i="1" dirty="0"/>
                  <a:t>r </a:t>
                </a:r>
                <a:r>
                  <a:rPr lang="en-US" dirty="0"/>
                  <a:t>falls between –1 and +1(–1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a:t>
                </a:r>
                <a:r>
                  <a:rPr lang="en-US" i="1" dirty="0"/>
                  <a:t>r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+1). The association is positive if </a:t>
                </a:r>
                <a:r>
                  <a:rPr lang="en-US" i="1" dirty="0"/>
                  <a:t>r </a:t>
                </a:r>
                <a:r>
                  <a:rPr lang="en-US" dirty="0"/>
                  <a:t>&gt; 0, negative if </a:t>
                </a:r>
                <a:r>
                  <a:rPr lang="en-US" i="1" dirty="0"/>
                  <a:t>r </a:t>
                </a:r>
                <a:r>
                  <a:rPr lang="en-US" dirty="0"/>
                  <a:t>&lt; 0.</a:t>
                </a:r>
              </a:p>
              <a:p>
                <a:pPr>
                  <a:buFont typeface="Wingdings" panose="05000000000000000000" pitchFamily="2" charset="2"/>
                  <a:buChar char="§"/>
                </a:pPr>
                <a:r>
                  <a:rPr lang="en-US" dirty="0"/>
                  <a:t>The larger the absolute value of </a:t>
                </a:r>
                <a:r>
                  <a:rPr lang="en-US" i="1" dirty="0"/>
                  <a:t>r</a:t>
                </a:r>
                <a:r>
                  <a:rPr lang="en-US" dirty="0"/>
                  <a:t>, the stronger the linear association. (</a:t>
                </a:r>
                <a:r>
                  <a:rPr lang="en-US" i="1" dirty="0"/>
                  <a:t>r </a:t>
                </a:r>
                <a:r>
                  <a:rPr lang="en-US" dirty="0"/>
                  <a:t>=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1 when data points fall exactly on a straight line.)</a:t>
                </a:r>
              </a:p>
              <a:p>
                <a:pPr>
                  <a:buFont typeface="Wingdings" panose="05000000000000000000" pitchFamily="2" charset="2"/>
                  <a:buChar char="§"/>
                </a:pPr>
                <a:r>
                  <a:rPr lang="en-US" dirty="0"/>
                  <a:t>The value of </a:t>
                </a:r>
                <a:r>
                  <a:rPr lang="en-US" i="1" dirty="0"/>
                  <a:t>r </a:t>
                </a:r>
                <a:r>
                  <a:rPr lang="en-US" dirty="0"/>
                  <a:t>does not depend on the variables’ units.</a:t>
                </a:r>
              </a:p>
              <a:p>
                <a:pPr>
                  <a:buFont typeface="Wingdings" panose="05000000000000000000" pitchFamily="2" charset="2"/>
                  <a:buChar char="§"/>
                </a:pPr>
                <a:r>
                  <a:rPr lang="en-US" i="1" dirty="0"/>
                  <a:t>r </a:t>
                </a:r>
                <a:r>
                  <a:rPr lang="en-US" dirty="0"/>
                  <a:t>does not depend on which variable is the response and which the explanatory variable.</a:t>
                </a:r>
                <a:endParaRPr lang="en-US" altLang="en-US" dirty="0"/>
              </a:p>
            </p:txBody>
          </p:sp>
        </mc:Choice>
        <mc:Fallback xmlns="">
          <p:sp>
            <p:nvSpPr>
              <p:cNvPr id="61443" name="Rectangle 3"/>
              <p:cNvSpPr>
                <a:spLocks noGrp="1" noRot="1" noChangeAspect="1" noMove="1" noResize="1" noEditPoints="1" noAdjustHandles="1" noChangeArrowheads="1" noChangeShapeType="1" noTextEdit="1"/>
              </p:cNvSpPr>
              <p:nvPr>
                <p:ph type="body" sz="half" idx="4294967295"/>
              </p:nvPr>
            </p:nvSpPr>
            <p:spPr bwMode="auto">
              <a:xfrm>
                <a:off x="685800" y="1600200"/>
                <a:ext cx="8229600" cy="4079875"/>
              </a:xfrm>
              <a:prstGeom prst="rect">
                <a:avLst/>
              </a:prstGeom>
              <a:blipFill>
                <a:blip r:embed="rId2" cstate="print"/>
                <a:stretch>
                  <a:fillRect l="-2296" t="-1046" r="-296"/>
                </a:stretch>
              </a:blipFill>
              <a:extLst>
                <a:ext uri="{91240B29-F687-4F45-9708-019B960494DF}">
                  <a14:hiddenLine xmlns=""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idx="4294967295"/>
          </p:nvPr>
        </p:nvSpPr>
        <p:spPr bwMode="auto">
          <a:xfrm>
            <a:off x="900113" y="195263"/>
            <a:ext cx="7924800" cy="712787"/>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normAutofit fontScale="90000"/>
          </a:bodyPr>
          <a:lstStyle/>
          <a:p>
            <a:r>
              <a:rPr lang="en-US" altLang="en-US" b="1" dirty="0">
                <a:latin typeface="Arial" panose="020B0604020202020204" pitchFamily="34" charset="0"/>
              </a:rPr>
              <a:t>The Regression Line Equation</a:t>
            </a:r>
          </a:p>
        </p:txBody>
      </p:sp>
      <mc:AlternateContent xmlns:mc="http://schemas.openxmlformats.org/markup-compatibility/2006" xmlns:a14="http://schemas.microsoft.com/office/drawing/2010/main">
        <mc:Choice Requires="a14">
          <p:sp>
            <p:nvSpPr>
              <p:cNvPr id="61443" name="Rectangle 3"/>
              <p:cNvSpPr>
                <a:spLocks noGrp="1" noChangeArrowheads="1"/>
              </p:cNvSpPr>
              <p:nvPr>
                <p:ph type="body" sz="half" idx="4294967295"/>
              </p:nvPr>
            </p:nvSpPr>
            <p:spPr bwMode="auto">
              <a:xfrm>
                <a:off x="685800" y="1600200"/>
                <a:ext cx="8229600" cy="4079875"/>
              </a:xfrm>
              <a:prstGeom prst="rect">
                <a:avLst/>
              </a:prstGeom>
              <a:solidFill>
                <a:srgbClr val="FFFFFF"/>
              </a:solidFill>
              <a:extLst>
                <a:ext uri="{91240B29-F687-4F45-9708-019B960494DF}">
                  <a14:hiddenLine w="9525">
                    <a:solidFill>
                      <a:srgbClr val="000000"/>
                    </a:solidFill>
                    <a:miter lim="800000"/>
                    <a:headEnd/>
                    <a:tailEnd/>
                  </a14:hiddenLine>
                </a:ext>
              </a:extLst>
            </p:spPr>
            <p:txBody>
              <a:bodyPr lIns="0" rIns="0">
                <a:normAutofit fontScale="92500"/>
              </a:bodyPr>
              <a:lstStyle/>
              <a:p>
                <a:pPr marL="0" indent="0">
                  <a:buNone/>
                </a:pPr>
                <a:r>
                  <a:rPr lang="en-US" altLang="en-US" dirty="0"/>
                  <a:t>When the scatterplot shows a linear trend, a straight line can be fitted through the data points to describe that trend.</a:t>
                </a:r>
              </a:p>
              <a:p>
                <a:pPr marL="0" indent="0">
                  <a:buNone/>
                </a:pPr>
                <a:endParaRPr lang="en-US" altLang="en-US" dirty="0"/>
              </a:p>
              <a:p>
                <a:pPr marL="0" indent="0">
                  <a:buNone/>
                </a:pPr>
                <a:r>
                  <a:rPr lang="en-US" altLang="en-US" dirty="0"/>
                  <a:t>The</a:t>
                </a:r>
                <a:r>
                  <a:rPr lang="en-US" altLang="en-US" b="1" dirty="0"/>
                  <a:t> regression line </a:t>
                </a:r>
                <a:r>
                  <a:rPr lang="en-US" altLang="en-US" dirty="0"/>
                  <a:t>is</a:t>
                </a:r>
                <a:r>
                  <a:rPr lang="en-US" altLang="en-US" b="1" dirty="0"/>
                  <a:t>:</a:t>
                </a:r>
              </a:p>
              <a:p>
                <a:pPr marL="0" indent="0"/>
                <a:endParaRPr lang="en-US" altLang="en-US" dirty="0"/>
              </a:p>
              <a:p>
                <a:pPr marL="0" indent="0"/>
                <a:endParaRPr lang="en-US" altLang="en-US" dirty="0"/>
              </a:p>
              <a:p>
                <a:pPr marL="0" indent="0">
                  <a:buNone/>
                </a:pPr>
                <a14:m>
                  <m:oMath xmlns:m="http://schemas.openxmlformats.org/officeDocument/2006/math">
                    <m:r>
                      <a:rPr lang="en-US" altLang="en-US" b="0" i="1" smtClean="0">
                        <a:latin typeface="Cambria Math" panose="02040503050406030204" pitchFamily="18" charset="0"/>
                      </a:rPr>
                      <m:t>  </m:t>
                    </m:r>
                    <m:acc>
                      <m:accPr>
                        <m:chr m:val="̂"/>
                        <m:ctrlPr>
                          <a:rPr lang="en-US" altLang="en-US" i="1" smtClean="0">
                            <a:latin typeface="Cambria Math" panose="02040503050406030204" pitchFamily="18" charset="0"/>
                          </a:rPr>
                        </m:ctrlPr>
                      </m:accPr>
                      <m:e>
                        <m:r>
                          <a:rPr lang="en-US" altLang="en-US" b="0" i="1" smtClean="0">
                            <a:latin typeface="Cambria Math" panose="02040503050406030204" pitchFamily="18" charset="0"/>
                          </a:rPr>
                          <m:t>𝑦</m:t>
                        </m:r>
                      </m:e>
                    </m:acc>
                    <m:r>
                      <a:rPr lang="en-US" altLang="en-US" b="0" i="1" smtClean="0">
                        <a:latin typeface="Cambria Math" panose="02040503050406030204" pitchFamily="18" charset="0"/>
                      </a:rPr>
                      <m:t> </m:t>
                    </m:r>
                  </m:oMath>
                </a14:m>
                <a:r>
                  <a:rPr lang="en-US" altLang="en-US" dirty="0"/>
                  <a:t>is the predicted value of the response variable </a:t>
                </a:r>
                <a:r>
                  <a:rPr lang="en-US" altLang="en-US" i="1" dirty="0">
                    <a:latin typeface="+mj-lt"/>
                  </a:rPr>
                  <a:t>y</a:t>
                </a:r>
                <a:r>
                  <a:rPr lang="en-US" altLang="en-US" dirty="0"/>
                  <a:t>, and </a:t>
                </a:r>
                <a:r>
                  <a:rPr lang="en-US" altLang="en-US" i="1" dirty="0">
                    <a:latin typeface="+mj-lt"/>
                  </a:rPr>
                  <a:t>a</a:t>
                </a:r>
                <a:r>
                  <a:rPr lang="en-US" altLang="en-US" dirty="0"/>
                  <a:t> is the </a:t>
                </a:r>
                <a:r>
                  <a:rPr lang="en-US" altLang="en-US" i="1" dirty="0">
                    <a:latin typeface="+mj-lt"/>
                  </a:rPr>
                  <a:t>y</a:t>
                </a:r>
                <a:r>
                  <a:rPr lang="en-US" altLang="en-US" dirty="0"/>
                  <a:t>-intercept and </a:t>
                </a:r>
                <a:r>
                  <a:rPr lang="en-US" altLang="en-US" i="1" dirty="0">
                    <a:latin typeface="+mj-lt"/>
                  </a:rPr>
                  <a:t>b</a:t>
                </a:r>
                <a:r>
                  <a:rPr lang="en-US" altLang="en-US" dirty="0"/>
                  <a:t> is the slope.</a:t>
                </a:r>
              </a:p>
            </p:txBody>
          </p:sp>
        </mc:Choice>
        <mc:Fallback xmlns="">
          <p:sp>
            <p:nvSpPr>
              <p:cNvPr id="61443" name="Rectangle 3"/>
              <p:cNvSpPr>
                <a:spLocks noGrp="1" noRot="1" noChangeAspect="1" noMove="1" noResize="1" noEditPoints="1" noAdjustHandles="1" noChangeArrowheads="1" noChangeShapeType="1" noTextEdit="1"/>
              </p:cNvSpPr>
              <p:nvPr>
                <p:ph type="body" sz="half" idx="4294967295"/>
              </p:nvPr>
            </p:nvSpPr>
            <p:spPr bwMode="auto">
              <a:xfrm>
                <a:off x="685800" y="1600200"/>
                <a:ext cx="8229600" cy="4079875"/>
              </a:xfrm>
              <a:prstGeom prst="rect">
                <a:avLst/>
              </a:prstGeom>
              <a:blipFill>
                <a:blip r:embed="rId2"/>
                <a:stretch>
                  <a:fillRect l="-2444" t="-2392" r="-2370"/>
                </a:stretch>
              </a:blipFill>
              <a:extLs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aphicFrame>
        <p:nvGraphicFramePr>
          <p:cNvPr id="2" name="Object 1"/>
          <p:cNvGraphicFramePr>
            <a:graphicFrameLocks noChangeAspect="1"/>
          </p:cNvGraphicFramePr>
          <p:nvPr>
            <p:extLst>
              <p:ext uri="{D42A27DB-BD31-4B8C-83A1-F6EECF244321}">
                <p14:modId xmlns:p14="http://schemas.microsoft.com/office/powerpoint/2010/main" val="1392012442"/>
              </p:ext>
            </p:extLst>
          </p:nvPr>
        </p:nvGraphicFramePr>
        <p:xfrm>
          <a:off x="3959932" y="3640137"/>
          <a:ext cx="1397000" cy="381000"/>
        </p:xfrm>
        <a:graphic>
          <a:graphicData uri="http://schemas.openxmlformats.org/presentationml/2006/ole">
            <mc:AlternateContent xmlns:mc="http://schemas.openxmlformats.org/markup-compatibility/2006">
              <mc:Choice xmlns:v="urn:schemas-microsoft-com:vml" Requires="v">
                <p:oleObj name="Equation" r:id="rId3" imgW="1396800" imgH="380880" progId="Equation.DSMT4">
                  <p:embed/>
                </p:oleObj>
              </mc:Choice>
              <mc:Fallback>
                <p:oleObj name="Equation" r:id="rId3" imgW="1396800" imgH="380880" progId="Equation.DSMT4">
                  <p:embed/>
                  <p:pic>
                    <p:nvPicPr>
                      <p:cNvPr id="2"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9932" y="3640137"/>
                        <a:ext cx="13970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295343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idx="4294967295"/>
          </p:nvPr>
        </p:nvSpPr>
        <p:spPr bwMode="auto">
          <a:xfrm>
            <a:off x="695325" y="9525"/>
            <a:ext cx="8229600" cy="11430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noAutofit/>
          </a:bodyPr>
          <a:lstStyle/>
          <a:p>
            <a:r>
              <a:rPr lang="en-US" altLang="en-US" sz="3600" b="1" dirty="0">
                <a:latin typeface="Arial" panose="020B0604020202020204" pitchFamily="34" charset="0"/>
              </a:rPr>
              <a:t>Example: Regression Line Predicting Maximum Bench Press</a:t>
            </a:r>
          </a:p>
        </p:txBody>
      </p:sp>
      <p:sp>
        <p:nvSpPr>
          <p:cNvPr id="62467" name="TextBox 1"/>
          <p:cNvSpPr txBox="1">
            <a:spLocks noChangeArrowheads="1"/>
          </p:cNvSpPr>
          <p:nvPr/>
        </p:nvSpPr>
        <p:spPr bwMode="auto">
          <a:xfrm>
            <a:off x="2949210" y="4128516"/>
            <a:ext cx="585358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en-US" sz="1600" dirty="0">
                <a:solidFill>
                  <a:schemeClr val="tx1"/>
                </a:solidFill>
                <a:latin typeface="Arial" panose="020B0604020202020204" pitchFamily="34" charset="0"/>
              </a:rPr>
              <a:t>Table 12.1 MINITAB Printout for Regression Analysis of </a:t>
            </a:r>
            <a:r>
              <a:rPr lang="en-US" altLang="en-US" sz="1600" i="1" dirty="0">
                <a:solidFill>
                  <a:schemeClr val="tx1"/>
                </a:solidFill>
                <a:latin typeface="+mj-lt"/>
              </a:rPr>
              <a:t>y</a:t>
            </a:r>
            <a:r>
              <a:rPr lang="en-US" altLang="en-US" sz="1600" dirty="0">
                <a:solidFill>
                  <a:schemeClr val="tx1"/>
                </a:solidFill>
                <a:latin typeface="Arial" panose="020B0604020202020204" pitchFamily="34" charset="0"/>
              </a:rPr>
              <a:t> = Maximum Bench Press (BP) and </a:t>
            </a:r>
            <a:r>
              <a:rPr lang="en-US" altLang="en-US" sz="1600" i="1" dirty="0">
                <a:solidFill>
                  <a:schemeClr val="tx1"/>
                </a:solidFill>
                <a:latin typeface="+mj-lt"/>
              </a:rPr>
              <a:t>x</a:t>
            </a:r>
            <a:r>
              <a:rPr lang="en-US" altLang="en-US" sz="1600" dirty="0">
                <a:solidFill>
                  <a:schemeClr val="tx1"/>
                </a:solidFill>
                <a:latin typeface="Arial" panose="020B0604020202020204" pitchFamily="34" charset="0"/>
              </a:rPr>
              <a:t> = Number of 60-Pound Bench Presses (BP60)</a:t>
            </a:r>
          </a:p>
        </p:txBody>
      </p:sp>
      <p:pic>
        <p:nvPicPr>
          <p:cNvPr id="3" name="Picture 2"/>
          <p:cNvPicPr>
            <a:picLocks noChangeAspect="1"/>
          </p:cNvPicPr>
          <p:nvPr/>
        </p:nvPicPr>
        <p:blipFill rotWithShape="1">
          <a:blip r:embed="rId2" cstate="print">
            <a:extLst>
              <a:ext uri="{28A0092B-C50C-407E-A947-70E740481C1C}">
                <a14:useLocalDpi xmlns:a14="http://schemas.microsoft.com/office/drawing/2010/main" val="0"/>
              </a:ext>
            </a:extLst>
          </a:blip>
          <a:srcRect t="8372"/>
          <a:stretch/>
        </p:blipFill>
        <p:spPr>
          <a:xfrm>
            <a:off x="3081528" y="2107692"/>
            <a:ext cx="6062472" cy="1710786"/>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7180" y="1563624"/>
            <a:ext cx="2496582" cy="4172464"/>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3490" name="Rectangle 3"/>
              <p:cNvSpPr>
                <a:spLocks noGrp="1" noChangeArrowheads="1"/>
              </p:cNvSpPr>
              <p:nvPr>
                <p:ph type="body" idx="4294967295"/>
              </p:nvPr>
            </p:nvSpPr>
            <p:spPr bwMode="auto">
              <a:xfrm>
                <a:off x="685800" y="1600200"/>
                <a:ext cx="7753350" cy="4511675"/>
              </a:xfrm>
              <a:prstGeom prst="rect">
                <a:avLst/>
              </a:prstGeom>
              <a:solidFill>
                <a:srgbClr val="FFFFFF"/>
              </a:solidFill>
              <a:extLst>
                <a:ext uri="{91240B29-F687-4F45-9708-019B960494DF}">
                  <a14:hiddenLine w="9525">
                    <a:solidFill>
                      <a:srgbClr val="000000"/>
                    </a:solidFill>
                    <a:miter lim="800000"/>
                    <a:headEnd/>
                    <a:tailEnd/>
                  </a14:hiddenLine>
                </a:ext>
              </a:extLst>
            </p:spPr>
            <p:txBody>
              <a:bodyPr lIns="0" rIns="0">
                <a:noAutofit/>
              </a:bodyPr>
              <a:lstStyle/>
              <a:p>
                <a:pPr marL="0" indent="0">
                  <a:buNone/>
                </a:pPr>
                <a:r>
                  <a:rPr lang="en-US" altLang="en-US" sz="2400" dirty="0"/>
                  <a:t>The MINITAB output shows the following regression equation:</a:t>
                </a:r>
              </a:p>
              <a:p>
                <a:pPr marL="0" indent="0" algn="ctr">
                  <a:buNone/>
                </a:pPr>
                <a:r>
                  <a:rPr lang="en-US" altLang="en-US" sz="2400" b="1" dirty="0"/>
                  <a:t>	</a:t>
                </a:r>
                <a:r>
                  <a:rPr lang="en-US" altLang="en-US" sz="2400" dirty="0" err="1">
                    <a:solidFill>
                      <a:schemeClr val="tx1"/>
                    </a:solidFill>
                  </a:rPr>
                  <a:t>maxBP</a:t>
                </a:r>
                <a:r>
                  <a:rPr lang="en-US" altLang="en-US" sz="2400" dirty="0">
                    <a:solidFill>
                      <a:schemeClr val="tx1"/>
                    </a:solidFill>
                  </a:rPr>
                  <a:t> = 63.5 + 1.49 (BP60), that is</a:t>
                </a:r>
              </a:p>
              <a:p>
                <a:pPr marL="0" indent="0" algn="ctr">
                  <a:buNone/>
                </a:pPr>
                <a:r>
                  <a:rPr lang="en-US" altLang="en-US" sz="2400" dirty="0">
                    <a:solidFill>
                      <a:schemeClr val="tx1"/>
                    </a:solidFill>
                  </a:rPr>
                  <a:t> </a:t>
                </a:r>
                <a14:m>
                  <m:oMath xmlns:m="http://schemas.openxmlformats.org/officeDocument/2006/math">
                    <m:acc>
                      <m:accPr>
                        <m:chr m:val="̂"/>
                        <m:ctrlPr>
                          <a:rPr lang="en-US" altLang="en-US" sz="2400" i="1" smtClean="0">
                            <a:solidFill>
                              <a:schemeClr val="tx1"/>
                            </a:solidFill>
                            <a:latin typeface="Cambria Math" panose="02040503050406030204" pitchFamily="18" charset="0"/>
                          </a:rPr>
                        </m:ctrlPr>
                      </m:accPr>
                      <m:e>
                        <m:r>
                          <a:rPr lang="en-US" altLang="en-US" sz="2400" b="0" i="1" smtClean="0">
                            <a:solidFill>
                              <a:schemeClr val="tx1"/>
                            </a:solidFill>
                            <a:latin typeface="Cambria Math" panose="02040503050406030204" pitchFamily="18" charset="0"/>
                          </a:rPr>
                          <m:t>𝑦</m:t>
                        </m:r>
                      </m:e>
                    </m:acc>
                    <m:r>
                      <a:rPr lang="en-US" altLang="en-US" sz="2400" b="0" i="1" smtClean="0">
                        <a:solidFill>
                          <a:schemeClr val="tx1"/>
                        </a:solidFill>
                        <a:latin typeface="Cambria Math" panose="02040503050406030204" pitchFamily="18" charset="0"/>
                      </a:rPr>
                      <m:t> </m:t>
                    </m:r>
                  </m:oMath>
                </a14:m>
                <a:r>
                  <a:rPr lang="en-US" altLang="en-US" sz="2400" dirty="0">
                    <a:solidFill>
                      <a:schemeClr val="tx1"/>
                    </a:solidFill>
                  </a:rPr>
                  <a:t>= 63.5+1.49x.  </a:t>
                </a:r>
              </a:p>
              <a:p>
                <a:pPr marL="0" indent="0"/>
                <a:endParaRPr lang="en-US" altLang="en-US" sz="2400" dirty="0"/>
              </a:p>
              <a:p>
                <a:pPr marL="0" indent="0">
                  <a:buNone/>
                </a:pPr>
                <a:r>
                  <a:rPr lang="en-US" altLang="en-US" sz="2400" dirty="0"/>
                  <a:t>The </a:t>
                </a:r>
                <a:r>
                  <a:rPr lang="en-US" altLang="en-US" sz="2400" i="1" dirty="0">
                    <a:latin typeface="+mj-lt"/>
                  </a:rPr>
                  <a:t>y</a:t>
                </a:r>
                <a:r>
                  <a:rPr lang="en-US" altLang="en-US" sz="2400" dirty="0"/>
                  <a:t>-intercept is 63.5 and the slope is 1.49.</a:t>
                </a:r>
              </a:p>
              <a:p>
                <a:pPr marL="0" indent="0"/>
                <a:endParaRPr lang="en-US" altLang="en-US" sz="2400" dirty="0"/>
              </a:p>
              <a:p>
                <a:pPr marL="0" indent="0">
                  <a:buNone/>
                </a:pPr>
                <a:r>
                  <a:rPr lang="en-US" altLang="en-US" sz="2400" dirty="0"/>
                  <a:t>The slope of 1.49 tells us that predicted maximum bench press increases by about 1.5 pounds for every additional 60-pound bench press an athlete can do.</a:t>
                </a:r>
              </a:p>
            </p:txBody>
          </p:sp>
        </mc:Choice>
        <mc:Fallback xmlns="">
          <p:sp>
            <p:nvSpPr>
              <p:cNvPr id="63490" name="Rectangle 3"/>
              <p:cNvSpPr>
                <a:spLocks noGrp="1" noRot="1" noChangeAspect="1" noMove="1" noResize="1" noEditPoints="1" noAdjustHandles="1" noChangeArrowheads="1" noChangeShapeType="1" noTextEdit="1"/>
              </p:cNvSpPr>
              <p:nvPr>
                <p:ph type="body" idx="4294967295"/>
              </p:nvPr>
            </p:nvSpPr>
            <p:spPr bwMode="auto">
              <a:xfrm>
                <a:off x="685800" y="1600200"/>
                <a:ext cx="7753350" cy="4511675"/>
              </a:xfrm>
              <a:prstGeom prst="rect">
                <a:avLst/>
              </a:prstGeom>
              <a:blipFill>
                <a:blip r:embed="rId2"/>
                <a:stretch>
                  <a:fillRect l="-2439" t="-1892" r="-2990"/>
                </a:stretch>
              </a:blipFill>
              <a:extLs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63491" name="Rectangle 2"/>
          <p:cNvSpPr>
            <a:spLocks noChangeArrowheads="1"/>
          </p:cNvSpPr>
          <p:nvPr/>
        </p:nvSpPr>
        <p:spPr bwMode="auto">
          <a:xfrm>
            <a:off x="685800" y="77788"/>
            <a:ext cx="8153400"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eaLnBrk="0" hangingPunct="0"/>
            <a:r>
              <a:rPr lang="en-US" altLang="en-US" sz="3200">
                <a:solidFill>
                  <a:schemeClr val="tx1"/>
                </a:solidFill>
                <a:latin typeface="Arial" panose="020B0604020202020204" pitchFamily="34" charset="0"/>
              </a:rPr>
              <a:t>Example: Regression Line Predicting Maximum Bench Press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idx="4294967295"/>
          </p:nvPr>
        </p:nvSpPr>
        <p:spPr bwMode="auto">
          <a:xfrm>
            <a:off x="762000" y="165100"/>
            <a:ext cx="8077200" cy="71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Outliers</a:t>
            </a:r>
          </a:p>
        </p:txBody>
      </p:sp>
      <p:sp>
        <p:nvSpPr>
          <p:cNvPr id="64515" name="Rectangle 3"/>
          <p:cNvSpPr>
            <a:spLocks noGrp="1" noChangeArrowheads="1"/>
          </p:cNvSpPr>
          <p:nvPr>
            <p:ph type="body" idx="4294967295"/>
          </p:nvPr>
        </p:nvSpPr>
        <p:spPr bwMode="auto">
          <a:xfrm>
            <a:off x="615950" y="1600200"/>
            <a:ext cx="8051800" cy="40433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endParaRPr lang="en-US" altLang="en-US" dirty="0"/>
          </a:p>
          <a:p>
            <a:r>
              <a:rPr lang="en-US" altLang="en-US" i="1" dirty="0"/>
              <a:t>Check</a:t>
            </a:r>
            <a:r>
              <a:rPr lang="en-US" altLang="en-US" dirty="0"/>
              <a:t> for outliers by plotting the data.</a:t>
            </a:r>
          </a:p>
          <a:p>
            <a:endParaRPr lang="en-US" altLang="en-US" dirty="0"/>
          </a:p>
          <a:p>
            <a:r>
              <a:rPr lang="en-US" altLang="en-US" dirty="0"/>
              <a:t>The regression line can be pulled toward an outlier and away from the general trend of points.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idx="4294967295"/>
          </p:nvPr>
        </p:nvSpPr>
        <p:spPr bwMode="auto">
          <a:xfrm>
            <a:off x="762000" y="242888"/>
            <a:ext cx="8077200" cy="639762"/>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normAutofit fontScale="90000"/>
          </a:bodyPr>
          <a:lstStyle/>
          <a:p>
            <a:r>
              <a:rPr lang="en-US" altLang="en-US" b="1">
                <a:latin typeface="Arial" panose="020B0604020202020204" pitchFamily="34" charset="0"/>
              </a:rPr>
              <a:t>Influential Points</a:t>
            </a:r>
          </a:p>
        </p:txBody>
      </p:sp>
      <p:sp>
        <p:nvSpPr>
          <p:cNvPr id="65539" name="Rectangle 3"/>
          <p:cNvSpPr>
            <a:spLocks noGrp="1" noChangeArrowheads="1"/>
          </p:cNvSpPr>
          <p:nvPr>
            <p:ph type="body" idx="4294967295"/>
          </p:nvPr>
        </p:nvSpPr>
        <p:spPr bwMode="auto">
          <a:xfrm>
            <a:off x="696595" y="1595438"/>
            <a:ext cx="8150225" cy="2852737"/>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ormAutofit/>
          </a:bodyPr>
          <a:lstStyle/>
          <a:p>
            <a:pPr marL="0" indent="0">
              <a:buNone/>
            </a:pPr>
            <a:r>
              <a:rPr lang="en-US" altLang="en-US" dirty="0"/>
              <a:t>An observation can be influential in affecting the regression line when one or more of two things happen:</a:t>
            </a:r>
          </a:p>
          <a:p>
            <a:pPr lvl="1"/>
            <a:r>
              <a:rPr lang="en-US" altLang="en-US" sz="2800" dirty="0"/>
              <a:t>Its </a:t>
            </a:r>
            <a:r>
              <a:rPr lang="en-US" altLang="en-US" sz="2800" i="1" dirty="0"/>
              <a:t>x</a:t>
            </a:r>
            <a:r>
              <a:rPr lang="en-US" altLang="en-US" sz="2800" dirty="0"/>
              <a:t> value is low or high compared to the rest of the data.</a:t>
            </a:r>
          </a:p>
          <a:p>
            <a:pPr lvl="1"/>
            <a:r>
              <a:rPr lang="en-US" altLang="en-US" sz="2800" dirty="0"/>
              <a:t>It does not fall in the straight-line pattern that the rest of the data </a:t>
            </a:r>
            <a:r>
              <a:rPr lang="en-US" altLang="en-US" sz="2800" dirty="0">
                <a:solidFill>
                  <a:schemeClr val="tx1"/>
                </a:solidFill>
              </a:rPr>
              <a:t>have.</a:t>
            </a:r>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64088" y="4206118"/>
            <a:ext cx="2875788" cy="2651882"/>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idx="4294967295"/>
          </p:nvPr>
        </p:nvSpPr>
        <p:spPr bwMode="auto">
          <a:xfrm>
            <a:off x="762000" y="165100"/>
            <a:ext cx="8153400" cy="71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normAutofit fontScale="90000"/>
          </a:bodyPr>
          <a:lstStyle/>
          <a:p>
            <a:r>
              <a:rPr lang="en-US" altLang="en-US" b="1">
                <a:latin typeface="Arial" panose="020B0604020202020204" pitchFamily="34" charset="0"/>
              </a:rPr>
              <a:t>Residuals are Prediction Errors</a:t>
            </a:r>
          </a:p>
        </p:txBody>
      </p:sp>
      <mc:AlternateContent xmlns:mc="http://schemas.openxmlformats.org/markup-compatibility/2006" xmlns:a14="http://schemas.microsoft.com/office/drawing/2010/main">
        <mc:Choice Requires="a14">
          <p:sp>
            <p:nvSpPr>
              <p:cNvPr id="66563" name="Rectangle 3"/>
              <p:cNvSpPr>
                <a:spLocks noGrp="1" noChangeArrowheads="1"/>
              </p:cNvSpPr>
              <p:nvPr>
                <p:ph type="body" idx="4294967295"/>
              </p:nvPr>
            </p:nvSpPr>
            <p:spPr bwMode="auto">
              <a:xfrm>
                <a:off x="685800" y="1600200"/>
                <a:ext cx="8051800" cy="2617788"/>
              </a:xfrm>
              <a:prstGeom prst="rect">
                <a:avLst/>
              </a:prstGeom>
              <a:solidFill>
                <a:srgbClr val="FFFFFF"/>
              </a:solidFill>
              <a:extLst>
                <a:ext uri="{91240B29-F687-4F45-9708-019B960494DF}">
                  <a14:hiddenLine w="9525">
                    <a:solidFill>
                      <a:srgbClr val="000000"/>
                    </a:solidFill>
                    <a:miter lim="800000"/>
                    <a:headEnd/>
                    <a:tailEnd/>
                  </a14:hiddenLine>
                </a:ext>
              </a:extLst>
            </p:spPr>
            <p:txBody>
              <a:bodyPr lIns="0" rIns="0">
                <a:normAutofit fontScale="92500" lnSpcReduction="10000"/>
              </a:bodyPr>
              <a:lstStyle/>
              <a:p>
                <a:pPr marL="0" indent="0">
                  <a:buNone/>
                </a:pPr>
                <a:r>
                  <a:rPr lang="en-US" altLang="en-US" dirty="0"/>
                  <a:t>The regression equation is often called a </a:t>
                </a:r>
                <a:r>
                  <a:rPr lang="en-US" altLang="en-US" b="1" dirty="0"/>
                  <a:t>prediction equation.</a:t>
                </a:r>
              </a:p>
              <a:p>
                <a:pPr marL="0" indent="0"/>
                <a:endParaRPr lang="en-US" altLang="en-US" dirty="0"/>
              </a:p>
              <a:p>
                <a:pPr marL="0" indent="0">
                  <a:buNone/>
                </a:pPr>
                <a:r>
                  <a:rPr lang="en-US" altLang="en-US" dirty="0"/>
                  <a:t>The difference </a:t>
                </a:r>
                <a14:m>
                  <m:oMath xmlns:m="http://schemas.openxmlformats.org/officeDocument/2006/math">
                    <m:r>
                      <a:rPr lang="en-US" altLang="en-US" b="0" i="1" smtClean="0">
                        <a:latin typeface="Cambria Math" panose="02040503050406030204" pitchFamily="18" charset="0"/>
                      </a:rPr>
                      <m:t>𝑦</m:t>
                    </m:r>
                    <m:r>
                      <a:rPr lang="en-US" altLang="en-US" b="0" i="1" smtClean="0">
                        <a:latin typeface="Cambria Math" panose="02040503050406030204" pitchFamily="18" charset="0"/>
                      </a:rPr>
                      <m:t>−</m:t>
                    </m:r>
                    <m:acc>
                      <m:accPr>
                        <m:chr m:val="̂"/>
                        <m:ctrlPr>
                          <a:rPr lang="en-US" altLang="en-US" b="0" i="1" smtClean="0">
                            <a:latin typeface="Cambria Math" panose="02040503050406030204" pitchFamily="18" charset="0"/>
                          </a:rPr>
                        </m:ctrlPr>
                      </m:accPr>
                      <m:e>
                        <m:r>
                          <a:rPr lang="en-US" altLang="en-US" b="0" i="1" smtClean="0">
                            <a:latin typeface="Cambria Math" panose="02040503050406030204" pitchFamily="18" charset="0"/>
                          </a:rPr>
                          <m:t>𝑦</m:t>
                        </m:r>
                      </m:e>
                    </m:acc>
                  </m:oMath>
                </a14:m>
                <a:r>
                  <a:rPr lang="en-US" altLang="en-US" dirty="0"/>
                  <a:t> between </a:t>
                </a:r>
                <a:br>
                  <a:rPr lang="en-US" altLang="en-US" dirty="0"/>
                </a:br>
                <a:r>
                  <a:rPr lang="en-US" altLang="en-US" dirty="0"/>
                  <a:t>an observed outcome and its </a:t>
                </a:r>
                <a:br>
                  <a:rPr lang="en-US" altLang="en-US" dirty="0"/>
                </a:br>
                <a:r>
                  <a:rPr lang="en-US" altLang="en-US" dirty="0"/>
                  <a:t>predicted value is the prediction </a:t>
                </a:r>
                <a:br>
                  <a:rPr lang="en-US" altLang="en-US" dirty="0"/>
                </a:br>
                <a:r>
                  <a:rPr lang="en-US" altLang="en-US" dirty="0"/>
                  <a:t>error, called a </a:t>
                </a:r>
                <a:r>
                  <a:rPr lang="en-US" altLang="en-US" b="1" dirty="0"/>
                  <a:t>residual.</a:t>
                </a:r>
              </a:p>
            </p:txBody>
          </p:sp>
        </mc:Choice>
        <mc:Fallback xmlns="">
          <p:sp>
            <p:nvSpPr>
              <p:cNvPr id="66563" name="Rectangle 3"/>
              <p:cNvSpPr>
                <a:spLocks noGrp="1" noRot="1" noChangeAspect="1" noMove="1" noResize="1" noEditPoints="1" noAdjustHandles="1" noChangeArrowheads="1" noChangeShapeType="1" noTextEdit="1"/>
              </p:cNvSpPr>
              <p:nvPr>
                <p:ph type="body" idx="4294967295"/>
              </p:nvPr>
            </p:nvSpPr>
            <p:spPr bwMode="auto">
              <a:xfrm>
                <a:off x="685800" y="1600200"/>
                <a:ext cx="8051800" cy="2617788"/>
              </a:xfrm>
              <a:prstGeom prst="rect">
                <a:avLst/>
              </a:prstGeom>
              <a:blipFill>
                <a:blip r:embed="rId2"/>
                <a:stretch>
                  <a:fillRect l="-2500" t="-4895" b="-4429"/>
                </a:stretch>
              </a:blipFill>
              <a:extLs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36584" y="3717032"/>
            <a:ext cx="3808476" cy="2683610"/>
          </a:xfrm>
          <a:prstGeom prst="rect">
            <a:avLst/>
          </a:prstGeom>
        </p:spPr>
      </p:pic>
    </p:spTree>
    <p:extLst>
      <p:ext uri="{BB962C8B-B14F-4D97-AF65-F5344CB8AC3E}">
        <p14:creationId xmlns:p14="http://schemas.microsoft.com/office/powerpoint/2010/main" val="40031233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idx="4294967295"/>
          </p:nvPr>
        </p:nvSpPr>
        <p:spPr bwMode="auto">
          <a:xfrm>
            <a:off x="762000" y="165100"/>
            <a:ext cx="8153400" cy="71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normAutofit fontScale="90000"/>
          </a:bodyPr>
          <a:lstStyle/>
          <a:p>
            <a:r>
              <a:rPr lang="en-US" altLang="en-US" b="1">
                <a:latin typeface="Arial" panose="020B0604020202020204" pitchFamily="34" charset="0"/>
              </a:rPr>
              <a:t>SUMMARY: Review of Residuals</a:t>
            </a:r>
          </a:p>
        </p:txBody>
      </p:sp>
      <p:sp>
        <p:nvSpPr>
          <p:cNvPr id="67587" name="Rectangle 3"/>
          <p:cNvSpPr>
            <a:spLocks noGrp="1" noChangeArrowheads="1"/>
          </p:cNvSpPr>
          <p:nvPr>
            <p:ph type="body" idx="4294967295"/>
          </p:nvPr>
        </p:nvSpPr>
        <p:spPr bwMode="auto">
          <a:xfrm>
            <a:off x="717296" y="1600200"/>
            <a:ext cx="8051800" cy="36988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r>
              <a:rPr lang="en-US" altLang="en-US" dirty="0"/>
              <a:t>Each observation has a residual.</a:t>
            </a:r>
          </a:p>
          <a:p>
            <a:endParaRPr lang="en-US" altLang="en-US" dirty="0"/>
          </a:p>
          <a:p>
            <a:r>
              <a:rPr lang="en-US" altLang="en-US" dirty="0"/>
              <a:t>A residual is the vertical distance between the data point and the regression line. </a:t>
            </a:r>
          </a:p>
          <a:p>
            <a:endParaRPr lang="en-US" altLang="en-US" dirty="0"/>
          </a:p>
          <a:p>
            <a:r>
              <a:rPr lang="en-US" altLang="en-US" dirty="0"/>
              <a:t>The smaller the distance, the better the prediction.</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3"/>
          <p:cNvSpPr>
            <a:spLocks noGrp="1" noChangeArrowheads="1"/>
          </p:cNvSpPr>
          <p:nvPr>
            <p:ph type="body" sz="half" idx="4294967295"/>
          </p:nvPr>
        </p:nvSpPr>
        <p:spPr bwMode="auto">
          <a:xfrm>
            <a:off x="763588" y="1600200"/>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buNone/>
            </a:pPr>
            <a:r>
              <a:rPr lang="en-US" altLang="en-US" dirty="0"/>
              <a:t>We can summarize how </a:t>
            </a:r>
            <a:r>
              <a:rPr lang="en-US" altLang="en-US" dirty="0">
                <a:solidFill>
                  <a:schemeClr val="tx1"/>
                </a:solidFill>
              </a:rPr>
              <a:t>close to </a:t>
            </a:r>
            <a:r>
              <a:rPr lang="en-US" altLang="en-US" dirty="0"/>
              <a:t>the regression line the data points fall by </a:t>
            </a:r>
            <a:endParaRPr lang="en-US" altLang="en-US" b="1" dirty="0">
              <a:solidFill>
                <a:srgbClr val="FF0000"/>
              </a:solidFill>
            </a:endParaRPr>
          </a:p>
          <a:p>
            <a:pPr marL="0" indent="0"/>
            <a:endParaRPr lang="en-US" altLang="en-US" dirty="0"/>
          </a:p>
          <a:p>
            <a:pPr marL="0" indent="0"/>
            <a:endParaRPr lang="en-US" altLang="en-US" dirty="0"/>
          </a:p>
          <a:p>
            <a:pPr marL="0" indent="0"/>
            <a:endParaRPr lang="en-US" altLang="en-US" dirty="0"/>
          </a:p>
          <a:p>
            <a:pPr marL="0" indent="0"/>
            <a:endParaRPr lang="en-US" altLang="en-US" dirty="0"/>
          </a:p>
          <a:p>
            <a:pPr marL="0" indent="0">
              <a:buNone/>
            </a:pPr>
            <a:r>
              <a:rPr lang="en-US" altLang="en-US" dirty="0"/>
              <a:t>The regression line has the smallest sum of squared residuals and is called the least squares line.</a:t>
            </a:r>
          </a:p>
        </p:txBody>
      </p:sp>
      <p:sp>
        <p:nvSpPr>
          <p:cNvPr id="68612" name="Rectangle 2"/>
          <p:cNvSpPr>
            <a:spLocks noChangeArrowheads="1"/>
          </p:cNvSpPr>
          <p:nvPr/>
        </p:nvSpPr>
        <p:spPr bwMode="auto">
          <a:xfrm>
            <a:off x="762000" y="165100"/>
            <a:ext cx="8153400" cy="71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eaLnBrk="0" hangingPunct="0"/>
            <a:r>
              <a:rPr lang="en-US" altLang="en-US" sz="3200">
                <a:solidFill>
                  <a:schemeClr val="tx1"/>
                </a:solidFill>
                <a:latin typeface="Arial" panose="020B0604020202020204" pitchFamily="34" charset="0"/>
              </a:rPr>
              <a:t>SUMMARY: Review of Residuals</a:t>
            </a:r>
          </a:p>
        </p:txBody>
      </p:sp>
      <p:graphicFrame>
        <p:nvGraphicFramePr>
          <p:cNvPr id="2" name="Object 1"/>
          <p:cNvGraphicFramePr>
            <a:graphicFrameLocks noChangeAspect="1"/>
          </p:cNvGraphicFramePr>
          <p:nvPr/>
        </p:nvGraphicFramePr>
        <p:xfrm>
          <a:off x="1981200" y="2651125"/>
          <a:ext cx="4724400" cy="965200"/>
        </p:xfrm>
        <a:graphic>
          <a:graphicData uri="http://schemas.openxmlformats.org/presentationml/2006/ole">
            <mc:AlternateContent xmlns:mc="http://schemas.openxmlformats.org/markup-compatibility/2006">
              <mc:Choice xmlns:v="urn:schemas-microsoft-com:vml" Requires="v">
                <p:oleObj name="Equation" r:id="rId3" imgW="4724280" imgH="965160" progId="Equation.DSMT4">
                  <p:embed/>
                </p:oleObj>
              </mc:Choice>
              <mc:Fallback>
                <p:oleObj name="Equation" r:id="rId3" imgW="4724280" imgH="965160" progId="Equation.DSMT4">
                  <p:embed/>
                  <p:pic>
                    <p:nvPicPr>
                      <p:cNvPr id="2"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2651125"/>
                        <a:ext cx="4724400" cy="965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idx="4294967295"/>
          </p:nvPr>
        </p:nvSpPr>
        <p:spPr bwMode="auto">
          <a:xfrm>
            <a:off x="696913" y="-25400"/>
            <a:ext cx="8305800" cy="12001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noAutofit/>
          </a:bodyPr>
          <a:lstStyle/>
          <a:p>
            <a:r>
              <a:rPr lang="en-US" altLang="en-US" sz="3200" b="1" dirty="0">
                <a:latin typeface="Arial" panose="020B0604020202020204" pitchFamily="34" charset="0"/>
              </a:rPr>
              <a:t>Regression Model: A Line Describes How the Mean of </a:t>
            </a:r>
            <a:r>
              <a:rPr lang="en-US" altLang="en-US" sz="3200" b="1" i="1" dirty="0"/>
              <a:t>y</a:t>
            </a:r>
            <a:r>
              <a:rPr lang="en-US" altLang="en-US" sz="3200" b="1" dirty="0">
                <a:latin typeface="Arial" panose="020B0604020202020204" pitchFamily="34" charset="0"/>
              </a:rPr>
              <a:t> Depends on </a:t>
            </a:r>
            <a:r>
              <a:rPr lang="en-US" altLang="en-US" sz="3200" b="1" i="1" dirty="0"/>
              <a:t>x</a:t>
            </a:r>
          </a:p>
        </p:txBody>
      </p:sp>
      <p:sp>
        <p:nvSpPr>
          <p:cNvPr id="69635" name="Rectangle 3"/>
          <p:cNvSpPr>
            <a:spLocks noGrp="1" noChangeArrowheads="1"/>
          </p:cNvSpPr>
          <p:nvPr>
            <p:ph type="body" sz="half" idx="4294967295"/>
          </p:nvPr>
        </p:nvSpPr>
        <p:spPr bwMode="auto">
          <a:xfrm>
            <a:off x="914400" y="1600200"/>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dirty="0"/>
              <a:t>At a given value of </a:t>
            </a:r>
            <a:r>
              <a:rPr lang="en-US" altLang="en-US" i="1" dirty="0">
                <a:latin typeface="+mj-lt"/>
              </a:rPr>
              <a:t>x</a:t>
            </a:r>
            <a:r>
              <a:rPr lang="en-US" altLang="en-US" dirty="0"/>
              <a:t>, the equation:</a:t>
            </a:r>
          </a:p>
          <a:p>
            <a:pPr marL="0" indent="0"/>
            <a:endParaRPr lang="en-US" altLang="en-US" dirty="0"/>
          </a:p>
          <a:p>
            <a:pPr marL="0" indent="0"/>
            <a:endParaRPr lang="en-US" altLang="en-US" dirty="0"/>
          </a:p>
          <a:p>
            <a:pPr lvl="1"/>
            <a:r>
              <a:rPr lang="en-US" altLang="en-US" dirty="0"/>
              <a:t>Predicts a single value of the response variable.</a:t>
            </a:r>
          </a:p>
          <a:p>
            <a:pPr marL="0" indent="0"/>
            <a:endParaRPr lang="en-US" altLang="en-US" dirty="0"/>
          </a:p>
          <a:p>
            <a:pPr lvl="1"/>
            <a:r>
              <a:rPr lang="en-US" altLang="en-US" dirty="0"/>
              <a:t>But… we should not expect all subjects at that value of </a:t>
            </a:r>
            <a:r>
              <a:rPr lang="en-US" altLang="en-US" i="1" dirty="0">
                <a:latin typeface="+mj-lt"/>
              </a:rPr>
              <a:t>x</a:t>
            </a:r>
            <a:r>
              <a:rPr lang="en-US" altLang="en-US" dirty="0"/>
              <a:t> to have the same value of </a:t>
            </a:r>
            <a:r>
              <a:rPr lang="en-US" altLang="en-US" i="1" dirty="0">
                <a:latin typeface="+mj-lt"/>
              </a:rPr>
              <a:t>y</a:t>
            </a:r>
            <a:r>
              <a:rPr lang="en-US" altLang="en-US" dirty="0"/>
              <a:t> because variability occurs in the </a:t>
            </a:r>
            <a:r>
              <a:rPr lang="en-US" altLang="en-US" i="1" dirty="0">
                <a:latin typeface="+mj-lt"/>
              </a:rPr>
              <a:t>y</a:t>
            </a:r>
            <a:r>
              <a:rPr lang="en-US" altLang="en-US" dirty="0"/>
              <a:t> values.</a:t>
            </a:r>
          </a:p>
          <a:p>
            <a:pPr marL="0" indent="0"/>
            <a:endParaRPr lang="en-US" altLang="en-US" dirty="0"/>
          </a:p>
        </p:txBody>
      </p:sp>
      <p:graphicFrame>
        <p:nvGraphicFramePr>
          <p:cNvPr id="69636" name="Object 4"/>
          <p:cNvGraphicFramePr>
            <a:graphicFrameLocks noGrp="1" noChangeAspect="1"/>
          </p:cNvGraphicFramePr>
          <p:nvPr>
            <p:ph sz="half" idx="4294967295"/>
          </p:nvPr>
        </p:nvGraphicFramePr>
        <p:xfrm>
          <a:off x="2903538" y="2135188"/>
          <a:ext cx="3109912" cy="774700"/>
        </p:xfrm>
        <a:graphic>
          <a:graphicData uri="http://schemas.openxmlformats.org/presentationml/2006/ole">
            <mc:AlternateContent xmlns:mc="http://schemas.openxmlformats.org/markup-compatibility/2006">
              <mc:Choice xmlns:v="urn:schemas-microsoft-com:vml" Requires="v">
                <p:oleObj name="Equation" r:id="rId2" imgW="1040948" imgH="304668" progId="Equation.3">
                  <p:embed/>
                </p:oleObj>
              </mc:Choice>
              <mc:Fallback>
                <p:oleObj name="Equation" r:id="rId2" imgW="1040948" imgH="304668" progId="Equation.3">
                  <p:embed/>
                  <p:pic>
                    <p:nvPicPr>
                      <p:cNvPr id="69636" name="Object 4"/>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03538" y="2135188"/>
                        <a:ext cx="3109912" cy="774700"/>
                      </a:xfrm>
                      <a:prstGeom prst="rect">
                        <a:avLst/>
                      </a:prstGeom>
                      <a:noFill/>
                      <a:extLst>
                        <a:ext uri="{909E8E84-426E-40DD-AFC4-6F175D3DCCD1}">
                          <a14:hiddenFill xmlns:a14="http://schemas.microsoft.com/office/drawing/2010/main">
                            <a:solidFill>
                              <a:schemeClr val="accent2"/>
                            </a:solidFill>
                          </a14:hiddenFill>
                        </a:ext>
                      </a:extLst>
                    </p:spPr>
                  </p:pic>
                </p:oleObj>
              </mc:Fallback>
            </mc:AlternateContent>
          </a:graphicData>
        </a:graphic>
      </p:graphicFrame>
      <p:sp>
        <p:nvSpPr>
          <p:cNvPr id="5" name="Rectangle 3"/>
          <p:cNvSpPr>
            <a:spLocks noGrp="1" noChangeArrowheads="1"/>
          </p:cNvSpPr>
          <p:nvPr>
            <p:ph type="body" sz="half" idx="4294967295"/>
          </p:nvPr>
        </p:nvSpPr>
        <p:spPr bwMode="auto">
          <a:xfrm>
            <a:off x="763524" y="1600200"/>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ormAutofit/>
          </a:bodyPr>
          <a:lstStyle/>
          <a:p>
            <a:pPr marL="0" indent="0">
              <a:buNone/>
            </a:pPr>
            <a:r>
              <a:rPr lang="en-US" altLang="en-US" dirty="0"/>
              <a:t>At a given value of </a:t>
            </a:r>
            <a:r>
              <a:rPr lang="en-US" altLang="en-US" i="1" dirty="0">
                <a:latin typeface="+mj-lt"/>
              </a:rPr>
              <a:t>x</a:t>
            </a:r>
            <a:r>
              <a:rPr lang="en-US" altLang="en-US" dirty="0"/>
              <a:t>, the equation:</a:t>
            </a:r>
          </a:p>
          <a:p>
            <a:pPr marL="0" indent="0"/>
            <a:endParaRPr lang="en-US" altLang="en-US" dirty="0"/>
          </a:p>
          <a:p>
            <a:pPr lvl="1"/>
            <a:r>
              <a:rPr lang="en-US" altLang="en-US" sz="2800" dirty="0"/>
              <a:t>Predicts a single value of the response variable.</a:t>
            </a:r>
          </a:p>
          <a:p>
            <a:pPr marL="0" indent="0"/>
            <a:endParaRPr lang="en-US" altLang="en-US" dirty="0"/>
          </a:p>
          <a:p>
            <a:pPr lvl="1"/>
            <a:r>
              <a:rPr lang="en-US" altLang="en-US" sz="2800" dirty="0"/>
              <a:t>But… we should not expect all subjects at that value of </a:t>
            </a:r>
            <a:r>
              <a:rPr lang="en-US" altLang="en-US" sz="2800" i="1" dirty="0">
                <a:latin typeface="+mj-lt"/>
              </a:rPr>
              <a:t>x</a:t>
            </a:r>
            <a:r>
              <a:rPr lang="en-US" altLang="en-US" sz="2800" dirty="0"/>
              <a:t> to have the same value of </a:t>
            </a:r>
            <a:r>
              <a:rPr lang="en-US" altLang="en-US" sz="2800" i="1" dirty="0">
                <a:latin typeface="+mj-lt"/>
              </a:rPr>
              <a:t>y</a:t>
            </a:r>
            <a:r>
              <a:rPr lang="en-US" altLang="en-US" sz="2800" dirty="0"/>
              <a:t> because variability occurs in the </a:t>
            </a:r>
            <a:r>
              <a:rPr lang="en-US" altLang="en-US" sz="2800" i="1" dirty="0">
                <a:latin typeface="+mj-lt"/>
              </a:rPr>
              <a:t>y</a:t>
            </a:r>
            <a:r>
              <a:rPr lang="en-US" altLang="en-US" sz="2800" dirty="0"/>
              <a:t> values.</a:t>
            </a:r>
          </a:p>
          <a:p>
            <a:pPr marL="0" indent="0"/>
            <a:endParaRPr lang="en-US"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1026"/>
          <p:cNvSpPr>
            <a:spLocks noGrp="1" noChangeArrowheads="1"/>
          </p:cNvSpPr>
          <p:nvPr>
            <p:ph type="title" idx="4294967295"/>
          </p:nvPr>
        </p:nvSpPr>
        <p:spPr bwMode="auto">
          <a:xfrm>
            <a:off x="863588" y="620688"/>
            <a:ext cx="7848600" cy="71278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noAutofit/>
          </a:bodyPr>
          <a:lstStyle/>
          <a:p>
            <a:r>
              <a:rPr lang="en-US" altLang="en-US" sz="3200" b="1" dirty="0">
                <a:latin typeface="Arial" panose="020B0604020202020204" pitchFamily="34" charset="0"/>
              </a:rPr>
              <a:t>SUMMARY: The Regression Line</a:t>
            </a:r>
          </a:p>
        </p:txBody>
      </p:sp>
      <p:sp>
        <p:nvSpPr>
          <p:cNvPr id="70659" name="Rectangle 1027"/>
          <p:cNvSpPr>
            <a:spLocks noGrp="1" noChangeArrowheads="1"/>
          </p:cNvSpPr>
          <p:nvPr>
            <p:ph type="body" sz="half" idx="4294967295"/>
          </p:nvPr>
        </p:nvSpPr>
        <p:spPr bwMode="auto">
          <a:xfrm>
            <a:off x="685800" y="1600200"/>
            <a:ext cx="76009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buNone/>
            </a:pPr>
            <a:r>
              <a:rPr lang="en-US" altLang="en-US" dirty="0"/>
              <a:t>The </a:t>
            </a:r>
            <a:r>
              <a:rPr lang="en-US" altLang="en-US" b="1" dirty="0"/>
              <a:t>regression line</a:t>
            </a:r>
            <a:r>
              <a:rPr lang="en-US" altLang="en-US" dirty="0"/>
              <a:t> connects the estimated means of </a:t>
            </a:r>
            <a:r>
              <a:rPr lang="en-US" altLang="en-US" i="1" dirty="0">
                <a:latin typeface="+mj-lt"/>
              </a:rPr>
              <a:t>y</a:t>
            </a:r>
            <a:r>
              <a:rPr lang="en-US" altLang="en-US" dirty="0"/>
              <a:t> at the various </a:t>
            </a:r>
            <a:r>
              <a:rPr lang="en-US" altLang="en-US" i="1" dirty="0">
                <a:latin typeface="+mj-lt"/>
              </a:rPr>
              <a:t>x</a:t>
            </a:r>
            <a:r>
              <a:rPr lang="en-US" altLang="en-US" dirty="0"/>
              <a:t> values.</a:t>
            </a:r>
          </a:p>
          <a:p>
            <a:pPr marL="0" indent="0"/>
            <a:endParaRPr lang="en-US" altLang="en-US" dirty="0"/>
          </a:p>
          <a:p>
            <a:pPr marL="0" indent="0"/>
            <a:endParaRPr lang="en-US" altLang="en-US" dirty="0"/>
          </a:p>
          <a:p>
            <a:pPr marL="0" indent="0">
              <a:buNone/>
            </a:pPr>
            <a:r>
              <a:rPr lang="en-US" altLang="en-US" dirty="0"/>
              <a:t>In summary, </a:t>
            </a:r>
            <a:r>
              <a:rPr lang="cy-GB" altLang="en-US" i="1" dirty="0">
                <a:latin typeface="Times New Roman" panose="02020603050405020304" pitchFamily="18" charset="0"/>
                <a:cs typeface="Times New Roman" panose="02020603050405020304" pitchFamily="18" charset="0"/>
              </a:rPr>
              <a:t>ŷ</a:t>
            </a:r>
            <a:r>
              <a:rPr lang="cy-GB" altLang="en-US" dirty="0">
                <a:latin typeface="Times New Roman" panose="02020603050405020304" pitchFamily="18" charset="0"/>
                <a:cs typeface="Times New Roman" panose="02020603050405020304" pitchFamily="18" charset="0"/>
              </a:rPr>
              <a:t> = </a:t>
            </a:r>
            <a:r>
              <a:rPr lang="cy-GB" altLang="en-US" i="1" dirty="0">
                <a:latin typeface="Times New Roman" panose="02020603050405020304" pitchFamily="18" charset="0"/>
                <a:cs typeface="Times New Roman" panose="02020603050405020304" pitchFamily="18" charset="0"/>
              </a:rPr>
              <a:t>a + b</a:t>
            </a:r>
            <a:r>
              <a:rPr lang="cy-GB" altLang="en-US" i="1" dirty="0">
                <a:latin typeface="+mj-lt"/>
                <a:cs typeface="Times New Roman" panose="02020603050405020304" pitchFamily="18" charset="0"/>
              </a:rPr>
              <a:t>x</a:t>
            </a:r>
            <a:r>
              <a:rPr lang="en-US" altLang="en-US" dirty="0"/>
              <a:t>, describes the relationship between </a:t>
            </a:r>
            <a:r>
              <a:rPr lang="en-US" altLang="en-US" i="1" dirty="0">
                <a:latin typeface="+mj-lt"/>
              </a:rPr>
              <a:t>x</a:t>
            </a:r>
            <a:r>
              <a:rPr lang="en-US" altLang="en-US" dirty="0"/>
              <a:t> and the estimated means of </a:t>
            </a:r>
            <a:r>
              <a:rPr lang="en-US" altLang="en-US" i="1" dirty="0">
                <a:latin typeface="+mj-lt"/>
              </a:rPr>
              <a:t>y</a:t>
            </a:r>
            <a:r>
              <a:rPr lang="en-US" altLang="en-US" dirty="0"/>
              <a:t> at the various values of </a:t>
            </a:r>
            <a:r>
              <a:rPr lang="en-US" altLang="en-US" i="1" dirty="0">
                <a:latin typeface="+mj-lt"/>
              </a:rPr>
              <a:t>x</a:t>
            </a:r>
            <a:r>
              <a:rPr lang="en-US" altLang="en-US" dirty="0"/>
              <a: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1682" name="Rectangle 3"/>
              <p:cNvSpPr>
                <a:spLocks noGrp="1" noChangeArrowheads="1"/>
              </p:cNvSpPr>
              <p:nvPr>
                <p:ph type="body" sz="half" idx="4294967295"/>
              </p:nvPr>
            </p:nvSpPr>
            <p:spPr bwMode="auto">
              <a:xfrm>
                <a:off x="704850" y="1600200"/>
                <a:ext cx="7753350" cy="4511675"/>
              </a:xfrm>
              <a:prstGeom prst="rect">
                <a:avLst/>
              </a:prstGeom>
              <a:solidFill>
                <a:srgbClr val="FFFFFF"/>
              </a:solidFill>
              <a:extLst>
                <a:ext uri="{91240B29-F687-4F45-9708-019B960494DF}">
                  <a14:hiddenLine w="9525">
                    <a:solidFill>
                      <a:srgbClr val="000000"/>
                    </a:solidFill>
                    <a:miter lim="800000"/>
                    <a:headEnd/>
                    <a:tailEnd/>
                  </a14:hiddenLine>
                </a:ext>
              </a:extLst>
            </p:spPr>
            <p:txBody>
              <a:bodyPr lIns="0" rIns="0"/>
              <a:lstStyle/>
              <a:p>
                <a:pPr marL="0" indent="0">
                  <a:buNone/>
                </a:pPr>
                <a:r>
                  <a:rPr lang="en-US" altLang="en-US" b="1" dirty="0"/>
                  <a:t>The population regression equation </a:t>
                </a:r>
                <a:r>
                  <a:rPr lang="en-US" altLang="en-US" dirty="0"/>
                  <a:t>describes the relationship in the population between </a:t>
                </a:r>
                <a:r>
                  <a:rPr lang="en-US" altLang="en-US" i="1" dirty="0">
                    <a:latin typeface="+mj-lt"/>
                  </a:rPr>
                  <a:t>x</a:t>
                </a:r>
                <a:r>
                  <a:rPr lang="en-US" altLang="en-US" dirty="0"/>
                  <a:t> and the means of </a:t>
                </a:r>
                <a:r>
                  <a:rPr lang="en-US" altLang="en-US" i="1" dirty="0">
                    <a:latin typeface="+mj-lt"/>
                  </a:rPr>
                  <a:t>y</a:t>
                </a:r>
                <a:r>
                  <a:rPr lang="en-US" altLang="en-US" dirty="0"/>
                  <a:t>.</a:t>
                </a:r>
              </a:p>
              <a:p>
                <a:pPr marL="0" indent="0"/>
                <a:endParaRPr lang="en-US" altLang="en-US" dirty="0"/>
              </a:p>
              <a:p>
                <a:pPr marL="0" indent="0"/>
                <a:endParaRPr lang="en-US" altLang="en-US" dirty="0"/>
              </a:p>
              <a:p>
                <a:pPr marL="0" indent="0">
                  <a:buNone/>
                </a:pPr>
                <a:r>
                  <a:rPr lang="en-US" altLang="en-US" dirty="0"/>
                  <a:t>The equation is denoted by:</a:t>
                </a:r>
                <a14:m>
                  <m:oMath xmlns:m="http://schemas.openxmlformats.org/officeDocument/2006/math">
                    <m:r>
                      <a:rPr lang="en-US" altLang="en-US" b="0" i="0" smtClean="0">
                        <a:latin typeface="Cambria Math" panose="02040503050406030204" pitchFamily="18" charset="0"/>
                      </a:rPr>
                      <m:t> </m:t>
                    </m:r>
                    <m:sSub>
                      <m:sSubPr>
                        <m:ctrlPr>
                          <a:rPr lang="en-US" altLang="en-US" i="1" smtClean="0">
                            <a:latin typeface="Cambria Math" panose="02040503050406030204" pitchFamily="18" charset="0"/>
                          </a:rPr>
                        </m:ctrlPr>
                      </m:sSubPr>
                      <m:e>
                        <m:r>
                          <m:rPr>
                            <m:sty m:val="p"/>
                          </m:rPr>
                          <a:rPr lang="en-US" altLang="en-US" i="0" smtClean="0">
                            <a:latin typeface="Cambria Math" panose="02040503050406030204" pitchFamily="18" charset="0"/>
                            <a:ea typeface="Cambria Math" panose="02040503050406030204" pitchFamily="18" charset="0"/>
                          </a:rPr>
                          <m:t>μ</m:t>
                        </m:r>
                      </m:e>
                      <m:sub>
                        <m:r>
                          <a:rPr lang="en-US" altLang="en-US" b="0" i="1" smtClean="0">
                            <a:latin typeface="Cambria Math" panose="02040503050406030204" pitchFamily="18" charset="0"/>
                          </a:rPr>
                          <m:t>𝑦</m:t>
                        </m:r>
                      </m:sub>
                    </m:sSub>
                  </m:oMath>
                </a14:m>
                <a:r>
                  <a:rPr lang="en-US" altLang="en-US" dirty="0"/>
                  <a:t> = </a:t>
                </a:r>
                <a:r>
                  <a:rPr lang="en-US" altLang="en-US" dirty="0">
                    <a:latin typeface="+mj-lt"/>
                    <a:sym typeface="Symbol" panose="05050102010706020507" pitchFamily="18" charset="2"/>
                  </a:rPr>
                  <a:t></a:t>
                </a:r>
                <a:r>
                  <a:rPr lang="en-US" altLang="en-US" i="1" dirty="0">
                    <a:latin typeface="+mj-lt"/>
                  </a:rPr>
                  <a:t> </a:t>
                </a:r>
                <a:r>
                  <a:rPr lang="en-US" altLang="en-US" dirty="0">
                    <a:latin typeface="+mj-lt"/>
                  </a:rPr>
                  <a:t>+</a:t>
                </a:r>
                <a:r>
                  <a:rPr lang="en-US" altLang="en-US" i="1" dirty="0">
                    <a:latin typeface="+mj-lt"/>
                  </a:rPr>
                  <a:t> </a:t>
                </a:r>
                <a:r>
                  <a:rPr lang="en-US" altLang="en-US" dirty="0">
                    <a:latin typeface="+mj-lt"/>
                    <a:sym typeface="Symbol" panose="05050102010706020507" pitchFamily="18" charset="2"/>
                  </a:rPr>
                  <a:t></a:t>
                </a:r>
                <a:r>
                  <a:rPr lang="en-US" altLang="en-US" i="1" dirty="0">
                    <a:latin typeface="+mj-lt"/>
                    <a:sym typeface="Symbol" panose="05050102010706020507" pitchFamily="18" charset="2"/>
                  </a:rPr>
                  <a:t>x.</a:t>
                </a:r>
                <a:endParaRPr lang="en-US" altLang="en-US" dirty="0">
                  <a:latin typeface="+mj-lt"/>
                </a:endParaRPr>
              </a:p>
            </p:txBody>
          </p:sp>
        </mc:Choice>
        <mc:Fallback xmlns="">
          <p:sp>
            <p:nvSpPr>
              <p:cNvPr id="71682" name="Rectangle 3"/>
              <p:cNvSpPr>
                <a:spLocks noGrp="1" noRot="1" noChangeAspect="1" noMove="1" noResize="1" noEditPoints="1" noAdjustHandles="1" noChangeArrowheads="1" noChangeShapeType="1" noTextEdit="1"/>
              </p:cNvSpPr>
              <p:nvPr>
                <p:ph type="body" sz="half" idx="4294967295"/>
              </p:nvPr>
            </p:nvSpPr>
            <p:spPr bwMode="auto">
              <a:xfrm>
                <a:off x="704850" y="1600200"/>
                <a:ext cx="7753350" cy="4511675"/>
              </a:xfrm>
              <a:prstGeom prst="rect">
                <a:avLst/>
              </a:prstGeom>
              <a:blipFill>
                <a:blip r:embed="rId2"/>
                <a:stretch>
                  <a:fillRect l="-2830" t="-2297"/>
                </a:stretch>
              </a:blipFill>
              <a:extLs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71684" name="Rectangle 2"/>
          <p:cNvSpPr>
            <a:spLocks noGrp="1" noChangeArrowheads="1"/>
          </p:cNvSpPr>
          <p:nvPr>
            <p:ph type="title" idx="4294967295"/>
          </p:nvPr>
        </p:nvSpPr>
        <p:spPr bwMode="auto">
          <a:xfrm>
            <a:off x="762000" y="242888"/>
            <a:ext cx="8077200" cy="639762"/>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noAutofit/>
          </a:bodyPr>
          <a:lstStyle/>
          <a:p>
            <a:r>
              <a:rPr lang="en-US" altLang="en-US" sz="3600" b="1" dirty="0">
                <a:latin typeface="Arial" panose="020B0604020202020204" pitchFamily="34" charset="0"/>
              </a:rPr>
              <a:t>The Population Regression Equation</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3"/>
          <p:cNvSpPr>
            <a:spLocks noGrp="1" noChangeArrowheads="1"/>
          </p:cNvSpPr>
          <p:nvPr>
            <p:ph type="body" idx="4294967295"/>
          </p:nvPr>
        </p:nvSpPr>
        <p:spPr bwMode="auto">
          <a:xfrm>
            <a:off x="685800" y="1563624"/>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ormAutofit/>
          </a:bodyPr>
          <a:lstStyle/>
          <a:p>
            <a:pPr marL="0" indent="0">
              <a:buNone/>
            </a:pPr>
            <a:r>
              <a:rPr lang="en-US" altLang="en-US" dirty="0"/>
              <a:t>In the population regression equation, </a:t>
            </a:r>
            <a:r>
              <a:rPr lang="en-US" altLang="en-US" dirty="0">
                <a:sym typeface="Symbol" panose="05050102010706020507" pitchFamily="18" charset="2"/>
              </a:rPr>
              <a:t></a:t>
            </a:r>
            <a:r>
              <a:rPr lang="en-US" altLang="en-US" dirty="0"/>
              <a:t> is a population </a:t>
            </a:r>
            <a:r>
              <a:rPr lang="en-US" altLang="en-US" i="1" dirty="0">
                <a:latin typeface="+mj-lt"/>
              </a:rPr>
              <a:t>y</a:t>
            </a:r>
            <a:r>
              <a:rPr lang="en-US" altLang="en-US" dirty="0"/>
              <a:t>-intercept and </a:t>
            </a:r>
            <a:r>
              <a:rPr lang="en-US" altLang="en-US" dirty="0">
                <a:sym typeface="Symbol" panose="05050102010706020507" pitchFamily="18" charset="2"/>
              </a:rPr>
              <a:t></a:t>
            </a:r>
            <a:r>
              <a:rPr lang="en-US" altLang="en-US" dirty="0"/>
              <a:t> is a population slope.</a:t>
            </a:r>
            <a:br>
              <a:rPr lang="en-US" altLang="en-US" dirty="0"/>
            </a:br>
            <a:endParaRPr lang="en-US" altLang="en-US" dirty="0"/>
          </a:p>
          <a:p>
            <a:pPr lvl="1"/>
            <a:r>
              <a:rPr lang="en-US" altLang="en-US" sz="2800" dirty="0"/>
              <a:t>These are parameters, so in practice their values are unknown.</a:t>
            </a:r>
          </a:p>
          <a:p>
            <a:pPr lvl="1"/>
            <a:endParaRPr lang="en-US" altLang="en-US" sz="2800" dirty="0"/>
          </a:p>
          <a:p>
            <a:pPr marL="0" indent="0">
              <a:buNone/>
            </a:pPr>
            <a:r>
              <a:rPr lang="en-US" altLang="en-US" dirty="0"/>
              <a:t>In practice we estimate the population regression equation using the prediction equation for the sample data.</a:t>
            </a:r>
            <a:endParaRPr lang="el-GR" altLang="en-US" dirty="0"/>
          </a:p>
        </p:txBody>
      </p:sp>
      <p:sp>
        <p:nvSpPr>
          <p:cNvPr id="72707" name="Rectangle 2"/>
          <p:cNvSpPr>
            <a:spLocks noChangeArrowheads="1"/>
          </p:cNvSpPr>
          <p:nvPr/>
        </p:nvSpPr>
        <p:spPr bwMode="auto">
          <a:xfrm>
            <a:off x="762000" y="242888"/>
            <a:ext cx="8077200"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eaLnBrk="0" hangingPunct="0"/>
            <a:r>
              <a:rPr lang="en-US" altLang="en-US" sz="3200">
                <a:solidFill>
                  <a:schemeClr val="tx1"/>
                </a:solidFill>
                <a:latin typeface="Arial" panose="020B0604020202020204" pitchFamily="34" charset="0"/>
              </a:rPr>
              <a:t>The Population Regression Equation</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3"/>
          <p:cNvSpPr>
            <a:spLocks noGrp="1" noChangeArrowheads="1"/>
          </p:cNvSpPr>
          <p:nvPr>
            <p:ph type="body" idx="4294967295"/>
          </p:nvPr>
        </p:nvSpPr>
        <p:spPr bwMode="auto">
          <a:xfrm>
            <a:off x="717296" y="1600200"/>
            <a:ext cx="8051800" cy="29257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buNone/>
            </a:pPr>
            <a:r>
              <a:rPr lang="en-US" altLang="en-US" dirty="0"/>
              <a:t>The </a:t>
            </a:r>
            <a:r>
              <a:rPr lang="en-US" altLang="en-US" b="1" dirty="0"/>
              <a:t>population regression equation </a:t>
            </a:r>
            <a:r>
              <a:rPr lang="en-US" altLang="en-US" dirty="0"/>
              <a:t>merely approximates the actual relationship between </a:t>
            </a:r>
            <a:r>
              <a:rPr lang="en-US" altLang="en-US" i="1" dirty="0">
                <a:latin typeface="+mj-lt"/>
              </a:rPr>
              <a:t>x</a:t>
            </a:r>
            <a:r>
              <a:rPr lang="en-US" altLang="en-US" dirty="0"/>
              <a:t> and the population means of </a:t>
            </a:r>
            <a:r>
              <a:rPr lang="en-US" altLang="en-US" i="1" dirty="0">
                <a:latin typeface="+mj-lt"/>
              </a:rPr>
              <a:t>y</a:t>
            </a:r>
            <a:r>
              <a:rPr lang="en-US" altLang="en-US" i="1" dirty="0"/>
              <a:t>. </a:t>
            </a:r>
            <a:r>
              <a:rPr lang="en-US" altLang="en-US" dirty="0"/>
              <a:t>It is a </a:t>
            </a:r>
            <a:r>
              <a:rPr lang="en-US" altLang="en-US" b="1" dirty="0"/>
              <a:t>model.</a:t>
            </a:r>
          </a:p>
          <a:p>
            <a:pPr marL="0" indent="0"/>
            <a:endParaRPr lang="en-US" altLang="en-US" b="1" dirty="0"/>
          </a:p>
          <a:p>
            <a:pPr marL="0" indent="0">
              <a:buNone/>
            </a:pPr>
            <a:r>
              <a:rPr lang="en-US" altLang="en-US" dirty="0"/>
              <a:t>A </a:t>
            </a:r>
            <a:r>
              <a:rPr lang="en-US" altLang="en-US" b="1" dirty="0"/>
              <a:t>model</a:t>
            </a:r>
            <a:r>
              <a:rPr lang="en-US" altLang="en-US" dirty="0"/>
              <a:t> is a simple approximation for how variables relate in </a:t>
            </a:r>
            <a:r>
              <a:rPr lang="en-US" altLang="en-US" dirty="0">
                <a:solidFill>
                  <a:schemeClr val="tx1"/>
                </a:solidFill>
              </a:rPr>
              <a:t>a</a:t>
            </a:r>
            <a:r>
              <a:rPr lang="en-US" altLang="en-US" dirty="0"/>
              <a:t> population.</a:t>
            </a:r>
          </a:p>
        </p:txBody>
      </p:sp>
      <p:sp>
        <p:nvSpPr>
          <p:cNvPr id="73731" name="Rectangle 2"/>
          <p:cNvSpPr>
            <a:spLocks noChangeArrowheads="1"/>
          </p:cNvSpPr>
          <p:nvPr/>
        </p:nvSpPr>
        <p:spPr bwMode="auto">
          <a:xfrm>
            <a:off x="762000" y="242888"/>
            <a:ext cx="8077200"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eaLnBrk="0" hangingPunct="0"/>
            <a:r>
              <a:rPr lang="en-US" altLang="en-US" sz="3200">
                <a:solidFill>
                  <a:schemeClr val="tx1"/>
                </a:solidFill>
                <a:latin typeface="Arial" panose="020B0604020202020204" pitchFamily="34" charset="0"/>
              </a:rPr>
              <a:t>The Population Regression Equation</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idx="4294967295"/>
          </p:nvPr>
        </p:nvSpPr>
        <p:spPr bwMode="auto">
          <a:xfrm>
            <a:off x="762000" y="165100"/>
            <a:ext cx="8077200" cy="71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The Regression Model</a:t>
            </a:r>
          </a:p>
        </p:txBody>
      </p:sp>
      <mc:AlternateContent xmlns:mc="http://schemas.openxmlformats.org/markup-compatibility/2006" xmlns:a14="http://schemas.microsoft.com/office/drawing/2010/main">
        <mc:Choice Requires="a14">
          <p:sp>
            <p:nvSpPr>
              <p:cNvPr id="74755" name="TextBox 1"/>
              <p:cNvSpPr txBox="1">
                <a:spLocks noChangeArrowheads="1"/>
              </p:cNvSpPr>
              <p:nvPr/>
            </p:nvSpPr>
            <p:spPr bwMode="auto">
              <a:xfrm>
                <a:off x="647700" y="5380703"/>
                <a:ext cx="8305800" cy="85542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p>
                <a:r>
                  <a:rPr lang="en-US" altLang="en-US" sz="1600" dirty="0">
                    <a:solidFill>
                      <a:schemeClr val="tx1"/>
                    </a:solidFill>
                    <a:latin typeface="Arial" panose="020B0604020202020204" pitchFamily="34" charset="0"/>
                  </a:rPr>
                  <a:t>Figure 12.3 The Regression Model </a:t>
                </a:r>
                <a14:m>
                  <m:oMath xmlns:m="http://schemas.openxmlformats.org/officeDocument/2006/math">
                    <m:r>
                      <m:rPr>
                        <m:sty m:val="p"/>
                      </m:rPr>
                      <a:rPr lang="en-US" altLang="en-US" sz="1800" i="0" smtClean="0">
                        <a:solidFill>
                          <a:schemeClr val="tx1"/>
                        </a:solidFill>
                        <a:latin typeface="Cambria Math" panose="02040503050406030204" pitchFamily="18" charset="0"/>
                        <a:ea typeface="Cambria Math" panose="02040503050406030204" pitchFamily="18" charset="0"/>
                      </a:rPr>
                      <m:t>μ</m:t>
                    </m:r>
                    <m:r>
                      <a:rPr lang="en-US" altLang="en-US" sz="1800" b="1" i="1" baseline="-25000" smtClean="0">
                        <a:solidFill>
                          <a:schemeClr val="tx1"/>
                        </a:solidFill>
                        <a:latin typeface="Cambria Math" panose="02040503050406030204" pitchFamily="18" charset="0"/>
                        <a:ea typeface="Cambria Math" panose="02040503050406030204" pitchFamily="18" charset="0"/>
                      </a:rPr>
                      <m:t>𝒚</m:t>
                    </m:r>
                    <m:r>
                      <a:rPr lang="en-US" altLang="en-US" sz="1800" b="1" i="1" smtClean="0">
                        <a:solidFill>
                          <a:schemeClr val="tx1"/>
                        </a:solidFill>
                        <a:latin typeface="Cambria Math" panose="02040503050406030204" pitchFamily="18" charset="0"/>
                        <a:ea typeface="Cambria Math" panose="02040503050406030204" pitchFamily="18" charset="0"/>
                      </a:rPr>
                      <m:t>=</m:t>
                    </m:r>
                    <m:r>
                      <a:rPr lang="en-US" altLang="en-US" sz="1800" b="1" i="0" smtClean="0">
                        <a:solidFill>
                          <a:schemeClr val="tx1"/>
                        </a:solidFill>
                        <a:latin typeface="Cambria Math" panose="02040503050406030204" pitchFamily="18" charset="0"/>
                        <a:ea typeface="Cambria Math" panose="02040503050406030204" pitchFamily="18" charset="0"/>
                      </a:rPr>
                      <m:t>𝛂</m:t>
                    </m:r>
                    <m:r>
                      <a:rPr lang="en-US" altLang="en-US" sz="1800" b="1" i="1" smtClean="0">
                        <a:solidFill>
                          <a:schemeClr val="tx1"/>
                        </a:solidFill>
                        <a:latin typeface="Cambria Math" panose="02040503050406030204" pitchFamily="18" charset="0"/>
                        <a:ea typeface="Cambria Math" panose="02040503050406030204" pitchFamily="18" charset="0"/>
                      </a:rPr>
                      <m:t>+</m:t>
                    </m:r>
                    <m:r>
                      <a:rPr lang="en-US" altLang="en-US" sz="1800" b="1" i="0" smtClean="0">
                        <a:solidFill>
                          <a:schemeClr val="tx1"/>
                        </a:solidFill>
                        <a:latin typeface="Cambria Math" panose="02040503050406030204" pitchFamily="18" charset="0"/>
                        <a:ea typeface="Cambria Math" panose="02040503050406030204" pitchFamily="18" charset="0"/>
                      </a:rPr>
                      <m:t>𝛃</m:t>
                    </m:r>
                    <m:r>
                      <a:rPr lang="en-US" altLang="en-US" sz="1800" b="1" i="1" smtClean="0">
                        <a:solidFill>
                          <a:schemeClr val="tx1"/>
                        </a:solidFill>
                        <a:latin typeface="Cambria Math" panose="02040503050406030204" pitchFamily="18" charset="0"/>
                        <a:ea typeface="Cambria Math" panose="02040503050406030204" pitchFamily="18" charset="0"/>
                      </a:rPr>
                      <m:t>𝒙</m:t>
                    </m:r>
                  </m:oMath>
                </a14:m>
                <a:r>
                  <a:rPr lang="en-US" altLang="en-US" sz="1600" dirty="0">
                    <a:solidFill>
                      <a:schemeClr val="tx1"/>
                    </a:solidFill>
                    <a:latin typeface="Arial" panose="020B0604020202020204" pitchFamily="34" charset="0"/>
                  </a:rPr>
                  <a:t> for the Means of </a:t>
                </a:r>
                <a:r>
                  <a:rPr lang="en-US" altLang="en-US" sz="1600" i="1" dirty="0">
                    <a:solidFill>
                      <a:schemeClr val="tx1"/>
                    </a:solidFill>
                    <a:latin typeface="+mj-lt"/>
                  </a:rPr>
                  <a:t>y</a:t>
                </a:r>
                <a:r>
                  <a:rPr lang="en-US" altLang="en-US" sz="1600" dirty="0">
                    <a:solidFill>
                      <a:schemeClr val="tx1"/>
                    </a:solidFill>
                    <a:latin typeface="Arial" panose="020B0604020202020204" pitchFamily="34" charset="0"/>
                  </a:rPr>
                  <a:t> Is a Simple Approximation for the True Relationship Between </a:t>
                </a:r>
                <a:r>
                  <a:rPr lang="en-US" altLang="en-US" sz="1600" i="1" dirty="0">
                    <a:solidFill>
                      <a:schemeClr val="tx1"/>
                    </a:solidFill>
                    <a:latin typeface="+mj-lt"/>
                  </a:rPr>
                  <a:t>x</a:t>
                </a:r>
                <a:r>
                  <a:rPr lang="en-US" altLang="en-US" sz="1600" dirty="0">
                    <a:solidFill>
                      <a:schemeClr val="tx1"/>
                    </a:solidFill>
                    <a:latin typeface="Arial" panose="020B0604020202020204" pitchFamily="34" charset="0"/>
                  </a:rPr>
                  <a:t> and the Mean of </a:t>
                </a:r>
                <a:r>
                  <a:rPr lang="en-US" altLang="en-US" sz="1600" dirty="0">
                    <a:solidFill>
                      <a:schemeClr val="tx1"/>
                    </a:solidFill>
                    <a:latin typeface="+mj-lt"/>
                  </a:rPr>
                  <a:t>y</a:t>
                </a:r>
                <a:r>
                  <a:rPr lang="en-US" altLang="en-US" sz="1600" dirty="0">
                    <a:solidFill>
                      <a:schemeClr val="tx1"/>
                    </a:solidFill>
                    <a:latin typeface="Arial" panose="020B0604020202020204" pitchFamily="34" charset="0"/>
                  </a:rPr>
                  <a:t>. Question: </a:t>
                </a:r>
                <a:r>
                  <a:rPr lang="en-US" altLang="en-US" sz="1600" b="0" dirty="0">
                    <a:solidFill>
                      <a:schemeClr val="tx1"/>
                    </a:solidFill>
                    <a:latin typeface="Arial" panose="020B0604020202020204" pitchFamily="34" charset="0"/>
                  </a:rPr>
                  <a:t>Can you sketch a true relationship for which this model is a very poor approximation?</a:t>
                </a:r>
              </a:p>
            </p:txBody>
          </p:sp>
        </mc:Choice>
        <mc:Fallback xmlns="">
          <p:sp>
            <p:nvSpPr>
              <p:cNvPr id="74755" name="TextBox 1"/>
              <p:cNvSpPr txBox="1">
                <a:spLocks noRot="1" noChangeAspect="1" noMove="1" noResize="1" noEditPoints="1" noAdjustHandles="1" noChangeArrowheads="1" noChangeShapeType="1" noTextEdit="1"/>
              </p:cNvSpPr>
              <p:nvPr/>
            </p:nvSpPr>
            <p:spPr bwMode="auto">
              <a:xfrm>
                <a:off x="647700" y="5380703"/>
                <a:ext cx="8305800" cy="855427"/>
              </a:xfrm>
              <a:prstGeom prst="rect">
                <a:avLst/>
              </a:prstGeom>
              <a:blipFill>
                <a:blip r:embed="rId2" cstate="print"/>
                <a:stretch>
                  <a:fillRect l="-367" b="-8571"/>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4825" y="1409700"/>
            <a:ext cx="8134350" cy="403860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3"/>
          <p:cNvSpPr>
            <a:spLocks noGrp="1" noChangeArrowheads="1"/>
          </p:cNvSpPr>
          <p:nvPr>
            <p:ph type="body" idx="4294967295"/>
          </p:nvPr>
        </p:nvSpPr>
        <p:spPr bwMode="auto">
          <a:xfrm>
            <a:off x="757946" y="1408176"/>
            <a:ext cx="7622530" cy="84931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ormAutofit lnSpcReduction="10000"/>
          </a:bodyPr>
          <a:lstStyle/>
          <a:p>
            <a:pPr marL="0" indent="0">
              <a:buNone/>
            </a:pPr>
            <a:r>
              <a:rPr lang="en-US" altLang="en-US" dirty="0"/>
              <a:t>If the true relationship is far from a straight line, this regression model may be a poor one.</a:t>
            </a:r>
          </a:p>
        </p:txBody>
      </p:sp>
      <p:sp>
        <p:nvSpPr>
          <p:cNvPr id="75779" name="TextBox 1"/>
          <p:cNvSpPr txBox="1">
            <a:spLocks noChangeArrowheads="1"/>
          </p:cNvSpPr>
          <p:nvPr/>
        </p:nvSpPr>
        <p:spPr bwMode="auto">
          <a:xfrm>
            <a:off x="685838" y="2962656"/>
            <a:ext cx="3535680"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en-US" sz="1600" dirty="0">
                <a:solidFill>
                  <a:schemeClr val="tx1"/>
                </a:solidFill>
                <a:latin typeface="Arial" panose="020B0604020202020204" pitchFamily="34" charset="0"/>
              </a:rPr>
              <a:t>Figure 12.4 The Straight-Line Regression Model Provides a Poor Approximation When the Actual Relationship Is Highly Nonlinear. Question:</a:t>
            </a:r>
            <a:r>
              <a:rPr lang="en-US" altLang="en-US" sz="1600" b="0" dirty="0">
                <a:solidFill>
                  <a:schemeClr val="tx1"/>
                </a:solidFill>
                <a:latin typeface="Arial" panose="020B0604020202020204" pitchFamily="34" charset="0"/>
              </a:rPr>
              <a:t> What type of mathematical function might you consider using for a regression model in this case?</a:t>
            </a:r>
          </a:p>
        </p:txBody>
      </p:sp>
      <p:sp>
        <p:nvSpPr>
          <p:cNvPr id="75780" name="Rectangle 2"/>
          <p:cNvSpPr>
            <a:spLocks noChangeArrowheads="1"/>
          </p:cNvSpPr>
          <p:nvPr/>
        </p:nvSpPr>
        <p:spPr bwMode="auto">
          <a:xfrm>
            <a:off x="762000" y="165100"/>
            <a:ext cx="8077200" cy="71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eaLnBrk="0" hangingPunct="0"/>
            <a:r>
              <a:rPr lang="en-US" altLang="en-US" sz="3200" dirty="0">
                <a:solidFill>
                  <a:schemeClr val="tx1"/>
                </a:solidFill>
                <a:latin typeface="Arial" panose="020B0604020202020204" pitchFamily="34" charset="0"/>
              </a:rPr>
              <a:t>The Regression Model</a:t>
            </a: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38429" y="2288756"/>
            <a:ext cx="4563359" cy="3754045"/>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idx="4294967295"/>
          </p:nvPr>
        </p:nvSpPr>
        <p:spPr bwMode="auto">
          <a:xfrm>
            <a:off x="685800" y="459041"/>
            <a:ext cx="8077200" cy="71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noAutofit/>
          </a:bodyPr>
          <a:lstStyle/>
          <a:p>
            <a:r>
              <a:rPr lang="en-US" sz="3600" b="1" dirty="0">
                <a:latin typeface="+mn-lt"/>
              </a:rPr>
              <a:t>The Regression Model Also Allows Variability About the Line</a:t>
            </a:r>
            <a:endParaRPr lang="en-US" altLang="en-US" sz="3600" b="1" dirty="0">
              <a:latin typeface="+mn-lt"/>
            </a:endParaRPr>
          </a:p>
        </p:txBody>
      </p:sp>
      <mc:AlternateContent xmlns:mc="http://schemas.openxmlformats.org/markup-compatibility/2006" xmlns:a14="http://schemas.microsoft.com/office/drawing/2010/main">
        <mc:Choice Requires="a14">
          <p:sp>
            <p:nvSpPr>
              <p:cNvPr id="76803" name="Rectangle 3"/>
              <p:cNvSpPr>
                <a:spLocks noGrp="1" noChangeArrowheads="1"/>
              </p:cNvSpPr>
              <p:nvPr>
                <p:ph type="body" idx="4294967295"/>
              </p:nvPr>
            </p:nvSpPr>
            <p:spPr bwMode="auto">
              <a:xfrm>
                <a:off x="666145" y="1408176"/>
                <a:ext cx="8305800" cy="4585716"/>
              </a:xfrm>
              <a:prstGeom prst="rect">
                <a:avLst/>
              </a:prstGeom>
              <a:solidFill>
                <a:srgbClr val="FFFFFF"/>
              </a:solidFill>
              <a:extLst>
                <a:ext uri="{91240B29-F687-4F45-9708-019B960494DF}">
                  <a14:hiddenLine w="9525">
                    <a:solidFill>
                      <a:srgbClr val="000000"/>
                    </a:solidFill>
                    <a:miter lim="800000"/>
                    <a:headEnd/>
                    <a:tailEnd/>
                  </a14:hiddenLine>
                </a:ext>
              </a:extLst>
            </p:spPr>
            <p:txBody>
              <a:bodyPr lIns="0" rIns="0">
                <a:normAutofit fontScale="62500" lnSpcReduction="20000"/>
              </a:bodyPr>
              <a:lstStyle/>
              <a:p>
                <a:r>
                  <a:rPr lang="en-US" altLang="en-US" sz="4000" dirty="0"/>
                  <a:t>At each fixed value of </a:t>
                </a:r>
                <a:r>
                  <a:rPr lang="en-US" altLang="en-US" sz="4000" i="1" dirty="0">
                    <a:latin typeface="+mj-lt"/>
                  </a:rPr>
                  <a:t>x</a:t>
                </a:r>
                <a:r>
                  <a:rPr lang="en-US" altLang="en-US" sz="4000" dirty="0"/>
                  <a:t>, variability occurs in the </a:t>
                </a:r>
                <a:r>
                  <a:rPr lang="en-US" altLang="en-US" sz="4000" i="1" dirty="0">
                    <a:latin typeface="+mj-lt"/>
                  </a:rPr>
                  <a:t>y</a:t>
                </a:r>
                <a:r>
                  <a:rPr lang="en-US" altLang="en-US" sz="4000" dirty="0"/>
                  <a:t> values around their mean, </a:t>
                </a:r>
                <a14:m>
                  <m:oMath xmlns:m="http://schemas.openxmlformats.org/officeDocument/2006/math">
                    <m:sSub>
                      <m:sSubPr>
                        <m:ctrlPr>
                          <a:rPr lang="en-US" altLang="en-US" sz="4000" i="1">
                            <a:latin typeface="Cambria Math" panose="02040503050406030204" pitchFamily="18" charset="0"/>
                          </a:rPr>
                        </m:ctrlPr>
                      </m:sSubPr>
                      <m:e>
                        <m:r>
                          <m:rPr>
                            <m:sty m:val="p"/>
                          </m:rPr>
                          <a:rPr lang="en-US" altLang="en-US" sz="4000" i="0">
                            <a:latin typeface="Cambria Math" panose="02040503050406030204" pitchFamily="18" charset="0"/>
                            <a:ea typeface="Cambria Math" panose="02040503050406030204" pitchFamily="18" charset="0"/>
                          </a:rPr>
                          <m:t>μ</m:t>
                        </m:r>
                      </m:e>
                      <m:sub>
                        <m:r>
                          <a:rPr lang="en-US" altLang="en-US" sz="4000" i="1">
                            <a:latin typeface="Cambria Math" panose="02040503050406030204" pitchFamily="18" charset="0"/>
                          </a:rPr>
                          <m:t>𝑦</m:t>
                        </m:r>
                      </m:sub>
                    </m:sSub>
                    <m:r>
                      <a:rPr lang="en-US" altLang="en-US" sz="4000" b="0" i="0" smtClean="0">
                        <a:latin typeface="Cambria Math" panose="02040503050406030204" pitchFamily="18" charset="0"/>
                      </a:rPr>
                      <m:t>.</m:t>
                    </m:r>
                  </m:oMath>
                </a14:m>
                <a:endParaRPr lang="en-US" altLang="en-US" sz="4000" dirty="0"/>
              </a:p>
              <a:p>
                <a:endParaRPr lang="en-US" altLang="en-US" sz="4000" dirty="0"/>
              </a:p>
              <a:p>
                <a:r>
                  <a:rPr lang="en-US" altLang="en-US" sz="4000" dirty="0"/>
                  <a:t>The probability distribution of </a:t>
                </a:r>
                <a:r>
                  <a:rPr lang="en-US" altLang="en-US" sz="4000" i="1" dirty="0">
                    <a:latin typeface="+mj-lt"/>
                  </a:rPr>
                  <a:t>y</a:t>
                </a:r>
                <a:r>
                  <a:rPr lang="en-US" altLang="en-US" sz="4000" dirty="0">
                    <a:latin typeface="+mj-lt"/>
                  </a:rPr>
                  <a:t> </a:t>
                </a:r>
                <a:r>
                  <a:rPr lang="en-US" altLang="en-US" sz="4000" dirty="0"/>
                  <a:t>values at a fixed value of </a:t>
                </a:r>
                <a:r>
                  <a:rPr lang="en-US" altLang="en-US" sz="4000" i="1" dirty="0">
                    <a:latin typeface="+mj-lt"/>
                  </a:rPr>
                  <a:t>x</a:t>
                </a:r>
                <a:r>
                  <a:rPr lang="en-US" altLang="en-US" sz="4000" dirty="0"/>
                  <a:t> is a </a:t>
                </a:r>
                <a:r>
                  <a:rPr lang="en-US" altLang="en-US" sz="4000" b="1" dirty="0"/>
                  <a:t>conditional distribution.</a:t>
                </a:r>
              </a:p>
              <a:p>
                <a:endParaRPr lang="en-US" altLang="en-US" sz="4000" dirty="0"/>
              </a:p>
              <a:p>
                <a:pPr marL="0" indent="0"/>
                <a:r>
                  <a:rPr lang="en-US" altLang="en-US" sz="4000" dirty="0"/>
                  <a:t>  At each value of </a:t>
                </a:r>
                <a:r>
                  <a:rPr lang="en-US" altLang="en-US" sz="4000" i="1" dirty="0">
                    <a:latin typeface="+mj-lt"/>
                  </a:rPr>
                  <a:t>x</a:t>
                </a:r>
                <a:r>
                  <a:rPr lang="en-US" altLang="en-US" sz="4000" dirty="0"/>
                  <a:t>, there is a conditional distribution of </a:t>
                </a:r>
                <a:r>
                  <a:rPr lang="en-US" altLang="en-US" sz="4000" i="1" dirty="0">
                    <a:latin typeface="+mj-lt"/>
                  </a:rPr>
                  <a:t>y</a:t>
                </a:r>
                <a:r>
                  <a:rPr lang="en-US" altLang="en-US" sz="4000" i="1" dirty="0"/>
                  <a:t>  </a:t>
                </a:r>
                <a:r>
                  <a:rPr lang="en-US" altLang="en-US" sz="4000" dirty="0"/>
                  <a:t>values. </a:t>
                </a:r>
              </a:p>
              <a:p>
                <a:pPr marL="0" indent="0"/>
                <a:endParaRPr lang="en-US" sz="4000" dirty="0"/>
              </a:p>
              <a:p>
                <a:pPr marL="0" indent="0"/>
                <a:r>
                  <a:rPr lang="en-US" sz="4000" dirty="0"/>
                  <a:t>  The standard deviation of this conditional distribution (denoted by </a:t>
                </a:r>
                <a:r>
                  <a:rPr lang="en-US" sz="4000" dirty="0">
                    <a:sym typeface="Symbol" panose="05050102010706020507" pitchFamily="18" charset="2"/>
                  </a:rPr>
                  <a:t></a:t>
                </a:r>
                <a:r>
                  <a:rPr lang="en-US" sz="4000" dirty="0"/>
                  <a:t>) tells you how much the response variable varies around the mean </a:t>
                </a:r>
                <a14:m>
                  <m:oMath xmlns:m="http://schemas.openxmlformats.org/officeDocument/2006/math">
                    <m:sSub>
                      <m:sSubPr>
                        <m:ctrlPr>
                          <a:rPr lang="en-US" altLang="en-US" sz="4000" i="1">
                            <a:latin typeface="Cambria Math" panose="02040503050406030204" pitchFamily="18" charset="0"/>
                          </a:rPr>
                        </m:ctrlPr>
                      </m:sSubPr>
                      <m:e>
                        <m:r>
                          <m:rPr>
                            <m:sty m:val="p"/>
                          </m:rPr>
                          <a:rPr lang="en-US" altLang="en-US" sz="4000" i="0" smtClean="0">
                            <a:latin typeface="Cambria Math" panose="02040503050406030204" pitchFamily="18" charset="0"/>
                            <a:ea typeface="Cambria Math" panose="02040503050406030204" pitchFamily="18" charset="0"/>
                          </a:rPr>
                          <m:t>μ</m:t>
                        </m:r>
                      </m:e>
                      <m:sub>
                        <m:r>
                          <a:rPr lang="en-US" altLang="en-US" sz="4000" i="1">
                            <a:latin typeface="Cambria Math" panose="02040503050406030204" pitchFamily="18" charset="0"/>
                          </a:rPr>
                          <m:t>𝑦</m:t>
                        </m:r>
                      </m:sub>
                    </m:sSub>
                    <m:r>
                      <m:rPr>
                        <m:nor/>
                      </m:rPr>
                      <a:rPr lang="en-US" altLang="en-US" sz="4000" b="0" i="0" smtClean="0"/>
                      <m:t> </m:t>
                    </m:r>
                    <m:r>
                      <m:rPr>
                        <m:nor/>
                      </m:rPr>
                      <a:rPr lang="en-US" sz="4000" b="0" i="0" dirty="0" smtClean="0"/>
                      <m:t>at</m:t>
                    </m:r>
                    <m:r>
                      <m:rPr>
                        <m:nor/>
                      </m:rPr>
                      <a:rPr lang="en-US" sz="4000" b="0" i="0" dirty="0" smtClean="0"/>
                      <m:t> </m:t>
                    </m:r>
                    <m:r>
                      <m:rPr>
                        <m:nor/>
                      </m:rPr>
                      <a:rPr lang="en-US" sz="4000" b="0" i="0" dirty="0" smtClean="0"/>
                      <m:t>the</m:t>
                    </m:r>
                    <m:r>
                      <m:rPr>
                        <m:nor/>
                      </m:rPr>
                      <a:rPr lang="en-US" sz="4000" b="0" i="0" dirty="0" smtClean="0"/>
                      <m:t> </m:t>
                    </m:r>
                    <m:r>
                      <m:rPr>
                        <m:nor/>
                      </m:rPr>
                      <a:rPr lang="en-US" sz="4000" b="0" i="0" dirty="0" smtClean="0"/>
                      <m:t>given</m:t>
                    </m:r>
                    <m:r>
                      <m:rPr>
                        <m:nor/>
                      </m:rPr>
                      <a:rPr lang="en-US" sz="4000" b="0" i="0" dirty="0" smtClean="0"/>
                      <m:t> </m:t>
                    </m:r>
                    <m:r>
                      <a:rPr lang="en-US" altLang="en-US" sz="4000" b="0" i="1" smtClean="0">
                        <a:latin typeface="Cambria Math" panose="02040503050406030204" pitchFamily="18" charset="0"/>
                      </a:rPr>
                      <m:t>𝑥</m:t>
                    </m:r>
                    <m:r>
                      <m:rPr>
                        <m:nor/>
                      </m:rPr>
                      <a:rPr lang="en-US" sz="4000" b="0" i="0" dirty="0" smtClean="0"/>
                      <m:t> </m:t>
                    </m:r>
                    <m:r>
                      <m:rPr>
                        <m:nor/>
                      </m:rPr>
                      <a:rPr lang="en-US" sz="4000" dirty="0"/>
                      <m:t>v</m:t>
                    </m:r>
                    <m:r>
                      <m:rPr>
                        <m:nor/>
                      </m:rPr>
                      <a:rPr lang="en-US" sz="4000" b="0" i="0" dirty="0" smtClean="0"/>
                      <m:t>alue</m:t>
                    </m:r>
                    <m:r>
                      <a:rPr lang="en-US" altLang="en-US" sz="4000" b="0" i="0" smtClean="0">
                        <a:latin typeface="Cambria Math" panose="02040503050406030204" pitchFamily="18" charset="0"/>
                      </a:rPr>
                      <m:t>.</m:t>
                    </m:r>
                  </m:oMath>
                </a14:m>
                <a:endParaRPr lang="en-US" altLang="en-US" sz="4000" dirty="0">
                  <a:cs typeface="Arial" panose="020B0604020202020204" pitchFamily="34" charset="0"/>
                </a:endParaRPr>
              </a:p>
              <a:p>
                <a:endParaRPr lang="el-GR" altLang="en-US" dirty="0"/>
              </a:p>
            </p:txBody>
          </p:sp>
        </mc:Choice>
        <mc:Fallback xmlns="">
          <p:sp>
            <p:nvSpPr>
              <p:cNvPr id="76803" name="Rectangle 3"/>
              <p:cNvSpPr>
                <a:spLocks noGrp="1" noRot="1" noChangeAspect="1" noMove="1" noResize="1" noEditPoints="1" noAdjustHandles="1" noChangeArrowheads="1" noChangeShapeType="1" noTextEdit="1"/>
              </p:cNvSpPr>
              <p:nvPr>
                <p:ph type="body" idx="4294967295"/>
              </p:nvPr>
            </p:nvSpPr>
            <p:spPr bwMode="auto">
              <a:xfrm>
                <a:off x="666145" y="1408176"/>
                <a:ext cx="8305800" cy="4585716"/>
              </a:xfrm>
              <a:prstGeom prst="rect">
                <a:avLst/>
              </a:prstGeom>
              <a:blipFill>
                <a:blip r:embed="rId2"/>
                <a:stretch>
                  <a:fillRect l="-2274" t="-3059" r="-2054"/>
                </a:stretch>
              </a:blipFill>
              <a:extLs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idx="4294967295"/>
          </p:nvPr>
        </p:nvSpPr>
        <p:spPr bwMode="auto">
          <a:xfrm>
            <a:off x="762000" y="165100"/>
            <a:ext cx="8077200" cy="71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sz="3600" b="1" dirty="0">
                <a:latin typeface="Arial" panose="020B0604020202020204" pitchFamily="34" charset="0"/>
              </a:rPr>
              <a:t>A Statistical Model</a:t>
            </a:r>
            <a:r>
              <a:rPr lang="en-US" altLang="en-US" b="1" dirty="0">
                <a:latin typeface="Arial" panose="020B0604020202020204" pitchFamily="34" charset="0"/>
              </a:rPr>
              <a:t>	</a:t>
            </a:r>
          </a:p>
        </p:txBody>
      </p:sp>
      <p:sp>
        <p:nvSpPr>
          <p:cNvPr id="77827" name="Rectangle 3"/>
          <p:cNvSpPr>
            <a:spLocks noGrp="1" noChangeArrowheads="1"/>
          </p:cNvSpPr>
          <p:nvPr>
            <p:ph type="body" idx="4294967295"/>
          </p:nvPr>
        </p:nvSpPr>
        <p:spPr bwMode="auto">
          <a:xfrm>
            <a:off x="685800" y="1600200"/>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r>
              <a:rPr lang="en-US" altLang="en-US" dirty="0"/>
              <a:t>A statistical model never holds exactly in practice.</a:t>
            </a:r>
          </a:p>
          <a:p>
            <a:endParaRPr lang="en-US" altLang="en-US" dirty="0"/>
          </a:p>
          <a:p>
            <a:r>
              <a:rPr lang="en-US" altLang="en-US" dirty="0"/>
              <a:t>It is merely a simple approximation of reality.</a:t>
            </a:r>
          </a:p>
          <a:p>
            <a:endParaRPr lang="en-US" altLang="en-US" dirty="0"/>
          </a:p>
          <a:p>
            <a:r>
              <a:rPr lang="en-US" altLang="en-US" dirty="0"/>
              <a:t>Even though it does not describe reality exactly, a model is useful if the true relationship is close to what the model predicts.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FAA553E-2D24-CD9F-2DF6-56F4483C11F2}"/>
              </a:ext>
            </a:extLst>
          </p:cNvPr>
          <p:cNvSpPr txBox="1"/>
          <p:nvPr/>
        </p:nvSpPr>
        <p:spPr>
          <a:xfrm>
            <a:off x="863588" y="2060848"/>
            <a:ext cx="7524836" cy="1323439"/>
          </a:xfrm>
          <a:prstGeom prst="rect">
            <a:avLst/>
          </a:prstGeom>
          <a:noFill/>
        </p:spPr>
        <p:txBody>
          <a:bodyPr wrap="square">
            <a:spAutoFit/>
          </a:bodyPr>
          <a:lstStyle/>
          <a:p>
            <a:pPr algn="ctr">
              <a:spcBef>
                <a:spcPts val="700"/>
              </a:spcBef>
            </a:pPr>
            <a:r>
              <a:rPr lang="en-US" altLang="en-US" sz="4000" dirty="0">
                <a:latin typeface="Arial" panose="020B0604020202020204" pitchFamily="34" charset="0"/>
              </a:rPr>
              <a:t>Inference About Model Parameters and the Association</a:t>
            </a:r>
          </a:p>
        </p:txBody>
      </p:sp>
    </p:spTree>
    <p:extLst>
      <p:ext uri="{BB962C8B-B14F-4D97-AF65-F5344CB8AC3E}">
        <p14:creationId xmlns:p14="http://schemas.microsoft.com/office/powerpoint/2010/main" val="340101868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6258" name="Rectangle 3"/>
              <p:cNvSpPr>
                <a:spLocks noGrp="1" noChangeArrowheads="1"/>
              </p:cNvSpPr>
              <p:nvPr>
                <p:ph type="body" sz="half" idx="4294967295"/>
              </p:nvPr>
            </p:nvSpPr>
            <p:spPr bwMode="auto">
              <a:xfrm>
                <a:off x="763524" y="1600200"/>
                <a:ext cx="7677150" cy="4511675"/>
              </a:xfrm>
              <a:prstGeom prst="rect">
                <a:avLst/>
              </a:prstGeom>
              <a:solidFill>
                <a:srgbClr val="FFFFFF"/>
              </a:solidFill>
              <a:extLst>
                <a:ext uri="{91240B29-F687-4F45-9708-019B960494DF}">
                  <a14:hiddenLine w="9525">
                    <a:solidFill>
                      <a:srgbClr val="000000"/>
                    </a:solidFill>
                    <a:miter lim="800000"/>
                    <a:headEnd/>
                    <a:tailEnd/>
                  </a14:hiddenLine>
                </a:ext>
              </a:extLst>
            </p:spPr>
            <p:txBody>
              <a:bodyPr lIns="0" rIns="0">
                <a:noAutofit/>
              </a:bodyPr>
              <a:lstStyle/>
              <a:p>
                <a:pPr marL="0" indent="0">
                  <a:spcBef>
                    <a:spcPct val="20000"/>
                  </a:spcBef>
                  <a:buNone/>
                </a:pPr>
                <a:r>
                  <a:rPr lang="en-US" altLang="en-US" sz="2400" dirty="0"/>
                  <a:t>SUMMARY: Basic assumption for using regression line for description:</a:t>
                </a:r>
              </a:p>
              <a:p>
                <a:pPr marL="0" indent="0">
                  <a:spcBef>
                    <a:spcPct val="20000"/>
                  </a:spcBef>
                </a:pPr>
                <a:endParaRPr lang="en-US" altLang="en-US" sz="2400" dirty="0"/>
              </a:p>
              <a:p>
                <a:pPr lvl="1"/>
                <a:r>
                  <a:rPr lang="en-US" altLang="en-US" dirty="0"/>
                  <a:t>The population means of </a:t>
                </a:r>
                <a:r>
                  <a:rPr lang="en-US" altLang="en-US" i="1" dirty="0">
                    <a:latin typeface="+mj-lt"/>
                  </a:rPr>
                  <a:t>y</a:t>
                </a:r>
                <a:r>
                  <a:rPr lang="en-US" altLang="en-US" dirty="0"/>
                  <a:t> at different values of </a:t>
                </a:r>
                <a:r>
                  <a:rPr lang="en-US" altLang="en-US" i="1" dirty="0">
                    <a:latin typeface="+mj-lt"/>
                  </a:rPr>
                  <a:t>x</a:t>
                </a:r>
                <a:r>
                  <a:rPr lang="en-US" altLang="en-US" dirty="0"/>
                  <a:t> have a straight-line relationship with </a:t>
                </a:r>
                <a:r>
                  <a:rPr lang="en-US" altLang="en-US" i="1" dirty="0">
                    <a:latin typeface="+mj-lt"/>
                  </a:rPr>
                  <a:t>x</a:t>
                </a:r>
                <a:r>
                  <a:rPr lang="en-US" altLang="en-US" dirty="0"/>
                  <a:t>, that is: </a:t>
                </a:r>
              </a:p>
              <a:p>
                <a:pPr marL="457200" lvl="1" indent="0" algn="ctr">
                  <a:buNone/>
                </a:pPr>
                <a14:m>
                  <m:oMath xmlns:m="http://schemas.openxmlformats.org/officeDocument/2006/math">
                    <m:sSub>
                      <m:sSubPr>
                        <m:ctrlPr>
                          <a:rPr lang="en-US" altLang="en-US" i="1">
                            <a:latin typeface="Cambria Math" panose="02040503050406030204" pitchFamily="18" charset="0"/>
                          </a:rPr>
                        </m:ctrlPr>
                      </m:sSubPr>
                      <m:e>
                        <m:r>
                          <m:rPr>
                            <m:sty m:val="p"/>
                          </m:rPr>
                          <a:rPr lang="en-US" altLang="en-US" i="0">
                            <a:latin typeface="Cambria Math" panose="02040503050406030204" pitchFamily="18" charset="0"/>
                            <a:ea typeface="Cambria Math" panose="02040503050406030204" pitchFamily="18" charset="0"/>
                          </a:rPr>
                          <m:t>μ</m:t>
                        </m:r>
                      </m:e>
                      <m:sub>
                        <m:r>
                          <a:rPr lang="en-US" altLang="en-US" i="1">
                            <a:latin typeface="Cambria Math" panose="02040503050406030204" pitchFamily="18" charset="0"/>
                          </a:rPr>
                          <m:t>𝑦</m:t>
                        </m:r>
                      </m:sub>
                    </m:sSub>
                  </m:oMath>
                </a14:m>
                <a:r>
                  <a:rPr lang="en-US" altLang="en-US" dirty="0"/>
                  <a:t> = </a:t>
                </a:r>
                <a:r>
                  <a:rPr lang="en-US" altLang="en-US" dirty="0">
                    <a:sym typeface="Symbol" panose="05050102010706020507" pitchFamily="18" charset="2"/>
                  </a:rPr>
                  <a:t></a:t>
                </a:r>
                <a:r>
                  <a:rPr lang="en-US" altLang="en-US" i="1" dirty="0"/>
                  <a:t> </a:t>
                </a:r>
                <a:r>
                  <a:rPr lang="en-US" altLang="en-US" dirty="0"/>
                  <a:t>+</a:t>
                </a:r>
                <a:r>
                  <a:rPr lang="en-US" altLang="en-US" i="1" dirty="0"/>
                  <a:t> </a:t>
                </a:r>
                <a:r>
                  <a:rPr lang="en-US" altLang="en-US" dirty="0">
                    <a:sym typeface="Symbol" panose="05050102010706020507" pitchFamily="18" charset="2"/>
                  </a:rPr>
                  <a:t></a:t>
                </a:r>
                <a:r>
                  <a:rPr lang="en-US" altLang="en-US" i="1" dirty="0">
                    <a:latin typeface="+mj-lt"/>
                    <a:sym typeface="Symbol" panose="05050102010706020507" pitchFamily="18" charset="2"/>
                  </a:rPr>
                  <a:t>x.</a:t>
                </a:r>
                <a:br>
                  <a:rPr lang="en-US" altLang="en-US" i="1" dirty="0">
                    <a:latin typeface="+mj-lt"/>
                    <a:sym typeface="Symbol" panose="05050102010706020507" pitchFamily="18" charset="2"/>
                  </a:rPr>
                </a:br>
                <a:endParaRPr lang="en-US" altLang="en-US" dirty="0"/>
              </a:p>
              <a:p>
                <a:pPr lvl="1"/>
                <a:r>
                  <a:rPr lang="en-US" altLang="en-US" dirty="0"/>
                  <a:t>This assumption states that a straight-line regression model is valid.</a:t>
                </a:r>
                <a:br>
                  <a:rPr lang="en-US" altLang="en-US" dirty="0"/>
                </a:br>
                <a:endParaRPr lang="en-US" altLang="en-US" dirty="0"/>
              </a:p>
              <a:p>
                <a:pPr lvl="1"/>
                <a:r>
                  <a:rPr lang="en-US" altLang="en-US" dirty="0"/>
                  <a:t>This can be verified with a scatterplot.</a:t>
                </a:r>
              </a:p>
            </p:txBody>
          </p:sp>
        </mc:Choice>
        <mc:Fallback xmlns="">
          <p:sp>
            <p:nvSpPr>
              <p:cNvPr id="96258" name="Rectangle 3"/>
              <p:cNvSpPr>
                <a:spLocks noGrp="1" noRot="1" noChangeAspect="1" noMove="1" noResize="1" noEditPoints="1" noAdjustHandles="1" noChangeArrowheads="1" noChangeShapeType="1" noTextEdit="1"/>
              </p:cNvSpPr>
              <p:nvPr>
                <p:ph type="body" sz="half" idx="4294967295"/>
              </p:nvPr>
            </p:nvSpPr>
            <p:spPr bwMode="auto">
              <a:xfrm>
                <a:off x="763524" y="1600200"/>
                <a:ext cx="7677150" cy="4511675"/>
              </a:xfrm>
              <a:prstGeom prst="rect">
                <a:avLst/>
              </a:prstGeom>
              <a:blipFill>
                <a:blip r:embed="rId2"/>
                <a:stretch>
                  <a:fillRect l="-2381" t="-1892" r="-3175"/>
                </a:stretch>
              </a:blipFill>
              <a:extLs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96260" name="Rectangle 2"/>
          <p:cNvSpPr>
            <a:spLocks noGrp="1" noChangeArrowheads="1"/>
          </p:cNvSpPr>
          <p:nvPr>
            <p:ph type="title" idx="4294967295"/>
          </p:nvPr>
        </p:nvSpPr>
        <p:spPr bwMode="auto">
          <a:xfrm>
            <a:off x="685800" y="165100"/>
            <a:ext cx="8382000" cy="71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noAutofit/>
          </a:bodyPr>
          <a:lstStyle/>
          <a:p>
            <a:r>
              <a:rPr lang="en-US" altLang="en-US" sz="3200" b="1" dirty="0">
                <a:latin typeface="Arial" panose="020B0604020202020204" pitchFamily="34" charset="0"/>
              </a:rPr>
              <a:t>Assumptions for Regression Analysis</a:t>
            </a:r>
          </a:p>
        </p:txBody>
      </p:sp>
    </p:spTree>
    <p:extLst>
      <p:ext uri="{BB962C8B-B14F-4D97-AF65-F5344CB8AC3E}">
        <p14:creationId xmlns:p14="http://schemas.microsoft.com/office/powerpoint/2010/main" val="32958884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3"/>
          <p:cNvSpPr>
            <a:spLocks noGrp="1" noChangeArrowheads="1"/>
          </p:cNvSpPr>
          <p:nvPr>
            <p:ph type="body" idx="4294967295"/>
          </p:nvPr>
        </p:nvSpPr>
        <p:spPr bwMode="auto">
          <a:xfrm>
            <a:off x="763524" y="1600200"/>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spcBef>
                <a:spcPct val="20000"/>
              </a:spcBef>
              <a:buNone/>
            </a:pPr>
            <a:r>
              <a:rPr lang="en-US" altLang="en-US" sz="2400" dirty="0"/>
              <a:t>SUMMARY: Extra assumptions for using regression to make statistical inference:</a:t>
            </a:r>
          </a:p>
          <a:p>
            <a:pPr marL="0" indent="0">
              <a:spcBef>
                <a:spcPct val="20000"/>
              </a:spcBef>
            </a:pPr>
            <a:endParaRPr lang="en-US" altLang="en-US" sz="2400" dirty="0"/>
          </a:p>
          <a:p>
            <a:pPr lvl="1"/>
            <a:r>
              <a:rPr lang="en-US" altLang="en-US" dirty="0"/>
              <a:t>The data were gathered using </a:t>
            </a:r>
            <a:r>
              <a:rPr lang="en-US" altLang="en-US" b="1" dirty="0"/>
              <a:t>randomization</a:t>
            </a:r>
            <a:r>
              <a:rPr lang="en-US" altLang="en-US" dirty="0"/>
              <a:t>, such as random sampling or a randomize experiment.</a:t>
            </a:r>
          </a:p>
          <a:p>
            <a:pPr lvl="1"/>
            <a:endParaRPr lang="en-US" altLang="en-US" dirty="0"/>
          </a:p>
          <a:p>
            <a:pPr lvl="1"/>
            <a:r>
              <a:rPr lang="en-US" altLang="en-US" dirty="0"/>
              <a:t>The population values of </a:t>
            </a:r>
            <a:r>
              <a:rPr lang="en-US" altLang="en-US" i="1" dirty="0"/>
              <a:t>y</a:t>
            </a:r>
            <a:r>
              <a:rPr lang="en-US" altLang="en-US" dirty="0"/>
              <a:t> at each value of </a:t>
            </a:r>
            <a:r>
              <a:rPr lang="en-US" altLang="en-US" i="1" dirty="0">
                <a:latin typeface="+mj-lt"/>
              </a:rPr>
              <a:t>x</a:t>
            </a:r>
            <a:r>
              <a:rPr lang="en-US" altLang="en-US" dirty="0"/>
              <a:t> follow a </a:t>
            </a:r>
            <a:r>
              <a:rPr lang="en-US" altLang="en-US" b="1" dirty="0"/>
              <a:t>normal distribution</a:t>
            </a:r>
            <a:r>
              <a:rPr lang="en-US" altLang="en-US" dirty="0"/>
              <a:t>, with the same standard deviation (</a:t>
            </a:r>
            <a:r>
              <a:rPr lang="en-US" altLang="en-US" dirty="0">
                <a:sym typeface="Symbol" panose="05050102010706020507" pitchFamily="18" charset="2"/>
              </a:rPr>
              <a:t>)</a:t>
            </a:r>
            <a:r>
              <a:rPr lang="en-US" altLang="en-US" dirty="0"/>
              <a:t> at each </a:t>
            </a:r>
            <a:r>
              <a:rPr lang="en-US" altLang="en-US" i="1" dirty="0">
                <a:latin typeface="+mj-lt"/>
              </a:rPr>
              <a:t>x</a:t>
            </a:r>
            <a:r>
              <a:rPr lang="en-US" altLang="en-US" dirty="0"/>
              <a:t> value.</a:t>
            </a:r>
          </a:p>
          <a:p>
            <a:pPr lvl="1"/>
            <a:endParaRPr lang="en-US" altLang="en-US" dirty="0"/>
          </a:p>
        </p:txBody>
      </p:sp>
      <p:sp>
        <p:nvSpPr>
          <p:cNvPr id="97283" name="Rectangle 2"/>
          <p:cNvSpPr>
            <a:spLocks noChangeArrowheads="1"/>
          </p:cNvSpPr>
          <p:nvPr/>
        </p:nvSpPr>
        <p:spPr bwMode="auto">
          <a:xfrm>
            <a:off x="685800" y="165100"/>
            <a:ext cx="8382000" cy="71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eaLnBrk="0" hangingPunct="0"/>
            <a:r>
              <a:rPr lang="en-US" altLang="en-US" sz="3200">
                <a:solidFill>
                  <a:schemeClr val="tx1"/>
                </a:solidFill>
                <a:latin typeface="Arial" panose="020B0604020202020204" pitchFamily="34" charset="0"/>
              </a:rPr>
              <a:t>Assumptions for Regression Analysis</a:t>
            </a:r>
          </a:p>
        </p:txBody>
      </p:sp>
    </p:spTree>
    <p:extLst>
      <p:ext uri="{BB962C8B-B14F-4D97-AF65-F5344CB8AC3E}">
        <p14:creationId xmlns:p14="http://schemas.microsoft.com/office/powerpoint/2010/main" val="210411366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3"/>
          <p:cNvSpPr>
            <a:spLocks noGrp="1" noChangeArrowheads="1"/>
          </p:cNvSpPr>
          <p:nvPr>
            <p:ph type="body" idx="4294967295"/>
          </p:nvPr>
        </p:nvSpPr>
        <p:spPr bwMode="auto">
          <a:xfrm>
            <a:off x="763524" y="1600200"/>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spcBef>
                <a:spcPct val="20000"/>
              </a:spcBef>
              <a:buNone/>
            </a:pPr>
            <a:r>
              <a:rPr lang="en-US" altLang="en-US" dirty="0"/>
              <a:t>Models, such as the regression model, merely approximate the true relationship between the variables.</a:t>
            </a:r>
          </a:p>
          <a:p>
            <a:pPr marL="0" indent="0">
              <a:spcBef>
                <a:spcPct val="20000"/>
              </a:spcBef>
            </a:pPr>
            <a:endParaRPr lang="en-US" altLang="en-US" dirty="0"/>
          </a:p>
          <a:p>
            <a:pPr marL="0" indent="0">
              <a:spcBef>
                <a:spcPct val="20000"/>
              </a:spcBef>
              <a:buNone/>
            </a:pPr>
            <a:r>
              <a:rPr lang="en-US" altLang="en-US" dirty="0"/>
              <a:t>A relationship will not be exactly linear, with exactly normal distributions for </a:t>
            </a:r>
            <a:r>
              <a:rPr lang="en-US" altLang="en-US" i="1" dirty="0">
                <a:latin typeface="+mj-lt"/>
              </a:rPr>
              <a:t>y</a:t>
            </a:r>
            <a:r>
              <a:rPr lang="en-US" altLang="en-US" dirty="0"/>
              <a:t> at each </a:t>
            </a:r>
            <a:r>
              <a:rPr lang="en-US" altLang="en-US" i="1" dirty="0">
                <a:latin typeface="+mj-lt"/>
              </a:rPr>
              <a:t>x</a:t>
            </a:r>
            <a:r>
              <a:rPr lang="en-US" altLang="en-US" dirty="0"/>
              <a:t> and with exactly the same standard deviation of </a:t>
            </a:r>
            <a:r>
              <a:rPr lang="en-US" altLang="en-US" i="1" dirty="0">
                <a:latin typeface="+mj-lt"/>
              </a:rPr>
              <a:t>y</a:t>
            </a:r>
            <a:r>
              <a:rPr lang="en-US" altLang="en-US" dirty="0"/>
              <a:t> values at each </a:t>
            </a:r>
            <a:r>
              <a:rPr lang="en-US" altLang="en-US" i="1" dirty="0">
                <a:latin typeface="+mj-lt"/>
              </a:rPr>
              <a:t>x</a:t>
            </a:r>
            <a:r>
              <a:rPr lang="en-US" altLang="en-US" dirty="0"/>
              <a:t> value.</a:t>
            </a:r>
          </a:p>
        </p:txBody>
      </p:sp>
      <p:sp>
        <p:nvSpPr>
          <p:cNvPr id="98307" name="Rectangle 2"/>
          <p:cNvSpPr>
            <a:spLocks noChangeArrowheads="1"/>
          </p:cNvSpPr>
          <p:nvPr/>
        </p:nvSpPr>
        <p:spPr bwMode="auto">
          <a:xfrm>
            <a:off x="685800" y="165100"/>
            <a:ext cx="8382000" cy="71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eaLnBrk="0" hangingPunct="0"/>
            <a:r>
              <a:rPr lang="en-US" altLang="en-US" sz="3200">
                <a:solidFill>
                  <a:schemeClr val="tx1"/>
                </a:solidFill>
                <a:latin typeface="Arial" panose="020B0604020202020204" pitchFamily="34" charset="0"/>
              </a:rPr>
              <a:t>Assumptions for Regression Analysis</a:t>
            </a:r>
          </a:p>
        </p:txBody>
      </p:sp>
    </p:spTree>
    <p:extLst>
      <p:ext uri="{BB962C8B-B14F-4D97-AF65-F5344CB8AC3E}">
        <p14:creationId xmlns:p14="http://schemas.microsoft.com/office/powerpoint/2010/main" val="204418231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idx="4294967295"/>
          </p:nvPr>
        </p:nvSpPr>
        <p:spPr bwMode="auto">
          <a:xfrm>
            <a:off x="762000" y="31750"/>
            <a:ext cx="7924800" cy="11430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noAutofit/>
          </a:bodyPr>
          <a:lstStyle/>
          <a:p>
            <a:r>
              <a:rPr lang="en-US" altLang="en-US" sz="3600" b="1" dirty="0">
                <a:latin typeface="Arial" panose="020B0604020202020204" pitchFamily="34" charset="0"/>
              </a:rPr>
              <a:t>Testing Independence between Quantitative Variables</a:t>
            </a:r>
          </a:p>
        </p:txBody>
      </p:sp>
      <p:sp>
        <p:nvSpPr>
          <p:cNvPr id="99331" name="Rectangle 3"/>
          <p:cNvSpPr>
            <a:spLocks noGrp="1" noChangeArrowheads="1"/>
          </p:cNvSpPr>
          <p:nvPr>
            <p:ph type="body" idx="4294967295"/>
          </p:nvPr>
        </p:nvSpPr>
        <p:spPr bwMode="auto">
          <a:xfrm>
            <a:off x="763524" y="1600200"/>
            <a:ext cx="8020944"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oAutofit/>
          </a:bodyPr>
          <a:lstStyle/>
          <a:p>
            <a:pPr marL="0" indent="0">
              <a:spcBef>
                <a:spcPct val="20000"/>
              </a:spcBef>
              <a:buNone/>
            </a:pPr>
            <a:r>
              <a:rPr lang="en-US" altLang="en-US" dirty="0"/>
              <a:t>Suppose that the slope </a:t>
            </a:r>
            <a:r>
              <a:rPr lang="en-US" altLang="en-US" dirty="0">
                <a:sym typeface="Symbol" panose="05050102010706020507" pitchFamily="18" charset="2"/>
              </a:rPr>
              <a:t></a:t>
            </a:r>
            <a:r>
              <a:rPr lang="en-US" altLang="en-US" dirty="0"/>
              <a:t> of the regression line equals 0</a:t>
            </a:r>
          </a:p>
          <a:p>
            <a:pPr marL="0" indent="0">
              <a:spcBef>
                <a:spcPct val="20000"/>
              </a:spcBef>
              <a:buNone/>
            </a:pPr>
            <a:r>
              <a:rPr lang="en-US" altLang="en-US" dirty="0"/>
              <a:t>Then…</a:t>
            </a:r>
          </a:p>
          <a:p>
            <a:pPr lvl="1"/>
            <a:r>
              <a:rPr lang="en-US" altLang="en-US" sz="2800" dirty="0"/>
              <a:t>The population mean of </a:t>
            </a:r>
            <a:r>
              <a:rPr lang="en-US" altLang="en-US" sz="2800" i="1" dirty="0">
                <a:latin typeface="+mj-lt"/>
              </a:rPr>
              <a:t>y</a:t>
            </a:r>
            <a:r>
              <a:rPr lang="en-US" altLang="en-US" sz="2800" dirty="0"/>
              <a:t> is identical at each </a:t>
            </a:r>
            <a:r>
              <a:rPr lang="en-US" altLang="en-US" sz="2800" i="1" dirty="0">
                <a:latin typeface="+mj-lt"/>
              </a:rPr>
              <a:t>x</a:t>
            </a:r>
            <a:r>
              <a:rPr lang="en-US" altLang="en-US" sz="2800" dirty="0"/>
              <a:t> value.</a:t>
            </a:r>
          </a:p>
          <a:p>
            <a:pPr lvl="1"/>
            <a:r>
              <a:rPr lang="en-US" altLang="en-US" sz="2800" dirty="0"/>
              <a:t>The two variables, </a:t>
            </a:r>
            <a:r>
              <a:rPr lang="en-US" altLang="en-US" sz="2800" i="1" dirty="0">
                <a:latin typeface="+mj-lt"/>
              </a:rPr>
              <a:t>x</a:t>
            </a:r>
            <a:r>
              <a:rPr lang="en-US" altLang="en-US" sz="2800" dirty="0"/>
              <a:t> and </a:t>
            </a:r>
            <a:r>
              <a:rPr lang="en-US" altLang="en-US" sz="2800" i="1" dirty="0">
                <a:latin typeface="+mj-lt"/>
              </a:rPr>
              <a:t>y</a:t>
            </a:r>
            <a:r>
              <a:rPr lang="en-US" altLang="en-US" sz="2800" dirty="0"/>
              <a:t>, are statistically independent:	</a:t>
            </a:r>
          </a:p>
          <a:p>
            <a:pPr lvl="1"/>
            <a:r>
              <a:rPr lang="en-US" altLang="en-US" sz="2800" dirty="0"/>
              <a:t>The outcome for </a:t>
            </a:r>
            <a:r>
              <a:rPr lang="en-US" altLang="en-US" sz="2800" i="1" dirty="0">
                <a:latin typeface="+mj-lt"/>
              </a:rPr>
              <a:t>y</a:t>
            </a:r>
            <a:r>
              <a:rPr lang="en-US" altLang="en-US" sz="2800" dirty="0"/>
              <a:t> does not depend on the value of </a:t>
            </a:r>
            <a:r>
              <a:rPr lang="en-US" altLang="en-US" sz="2800" i="1" dirty="0">
                <a:latin typeface="+mj-lt"/>
              </a:rPr>
              <a:t>x</a:t>
            </a:r>
            <a:r>
              <a:rPr lang="en-US" altLang="en-US" sz="2800" dirty="0"/>
              <a:t>.</a:t>
            </a:r>
          </a:p>
          <a:p>
            <a:pPr lvl="1"/>
            <a:r>
              <a:rPr lang="en-US" altLang="en-US" sz="2800" dirty="0"/>
              <a:t>It does not help us to know the value of </a:t>
            </a:r>
            <a:r>
              <a:rPr lang="en-US" altLang="en-US" sz="2800" i="1" dirty="0">
                <a:latin typeface="+mj-lt"/>
              </a:rPr>
              <a:t>x</a:t>
            </a:r>
            <a:r>
              <a:rPr lang="en-US" altLang="en-US" sz="2800" dirty="0"/>
              <a:t> if we want to predict the value of </a:t>
            </a:r>
            <a:r>
              <a:rPr lang="en-US" altLang="en-US" sz="2800" i="1" dirty="0">
                <a:latin typeface="+mj-lt"/>
              </a:rPr>
              <a:t>y</a:t>
            </a:r>
            <a:r>
              <a:rPr lang="en-US" altLang="en-US" sz="2800" dirty="0"/>
              <a:t>.</a:t>
            </a:r>
            <a:endParaRPr lang="el-GR" altLang="en-US" sz="2800" dirty="0"/>
          </a:p>
        </p:txBody>
      </p:sp>
    </p:spTree>
    <p:extLst>
      <p:ext uri="{BB962C8B-B14F-4D97-AF65-F5344CB8AC3E}">
        <p14:creationId xmlns:p14="http://schemas.microsoft.com/office/powerpoint/2010/main" val="371124433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0354" name="TextBox 1"/>
              <p:cNvSpPr txBox="1">
                <a:spLocks noChangeArrowheads="1"/>
              </p:cNvSpPr>
              <p:nvPr/>
            </p:nvSpPr>
            <p:spPr bwMode="auto">
              <a:xfrm>
                <a:off x="381000" y="5105400"/>
                <a:ext cx="8542338" cy="132343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p>
                <a:r>
                  <a:rPr lang="en-US" altLang="en-US" sz="1600" dirty="0">
                    <a:solidFill>
                      <a:schemeClr val="tx1"/>
                    </a:solidFill>
                    <a:latin typeface="Arial" panose="020B0604020202020204" pitchFamily="34" charset="0"/>
                  </a:rPr>
                  <a:t>Figure 12.6 Quantitative Variables </a:t>
                </a:r>
                <a:r>
                  <a:rPr lang="en-US" altLang="en-US" sz="1600" i="1" dirty="0">
                    <a:solidFill>
                      <a:schemeClr val="tx1"/>
                    </a:solidFill>
                    <a:latin typeface="+mj-lt"/>
                  </a:rPr>
                  <a:t>x </a:t>
                </a:r>
                <a:r>
                  <a:rPr lang="en-US" altLang="en-US" sz="1600" dirty="0">
                    <a:solidFill>
                      <a:schemeClr val="tx1"/>
                    </a:solidFill>
                    <a:latin typeface="Arial" panose="020B0604020202020204" pitchFamily="34" charset="0"/>
                  </a:rPr>
                  <a:t>and </a:t>
                </a:r>
                <a:r>
                  <a:rPr lang="en-US" altLang="en-US" sz="1600" i="1" dirty="0">
                    <a:solidFill>
                      <a:schemeClr val="tx1"/>
                    </a:solidFill>
                    <a:latin typeface="+mj-lt"/>
                  </a:rPr>
                  <a:t>y</a:t>
                </a:r>
                <a:r>
                  <a:rPr lang="en-US" altLang="en-US" sz="1600" i="1" dirty="0">
                    <a:solidFill>
                      <a:schemeClr val="tx1"/>
                    </a:solidFill>
                    <a:latin typeface="Arial" panose="020B0604020202020204" pitchFamily="34" charset="0"/>
                  </a:rPr>
                  <a:t> </a:t>
                </a:r>
                <a:r>
                  <a:rPr lang="en-US" altLang="en-US" sz="1600" dirty="0">
                    <a:solidFill>
                      <a:schemeClr val="tx1"/>
                    </a:solidFill>
                    <a:latin typeface="Arial" panose="020B0604020202020204" pitchFamily="34" charset="0"/>
                  </a:rPr>
                  <a:t>Are Statistically Independent When the True Slope </a:t>
                </a:r>
                <a14:m>
                  <m:oMath xmlns:m="http://schemas.openxmlformats.org/officeDocument/2006/math">
                    <m:r>
                      <m:rPr>
                        <m:sty m:val="p"/>
                      </m:rPr>
                      <a:rPr lang="en-US" altLang="en-US" sz="1600" i="0" smtClean="0">
                        <a:solidFill>
                          <a:schemeClr val="tx1"/>
                        </a:solidFill>
                        <a:latin typeface="Cambria Math" panose="02040503050406030204" pitchFamily="18" charset="0"/>
                        <a:ea typeface="Cambria Math" panose="02040503050406030204" pitchFamily="18" charset="0"/>
                      </a:rPr>
                      <m:t>β</m:t>
                    </m:r>
                  </m:oMath>
                </a14:m>
                <a:r>
                  <a:rPr lang="en-US" altLang="en-US" sz="1600" b="0" dirty="0">
                    <a:solidFill>
                      <a:schemeClr val="tx1"/>
                    </a:solidFill>
                    <a:latin typeface="Arial" panose="020B0604020202020204" pitchFamily="34" charset="0"/>
                  </a:rPr>
                  <a:t> = </a:t>
                </a:r>
                <a:r>
                  <a:rPr lang="en-US" altLang="en-US" sz="1600" dirty="0">
                    <a:solidFill>
                      <a:schemeClr val="tx1"/>
                    </a:solidFill>
                    <a:latin typeface="Arial" panose="020B0604020202020204" pitchFamily="34" charset="0"/>
                  </a:rPr>
                  <a:t>0. </a:t>
                </a:r>
                <a:r>
                  <a:rPr lang="en-US" altLang="en-US" sz="1600" b="0" dirty="0">
                    <a:solidFill>
                      <a:schemeClr val="tx1"/>
                    </a:solidFill>
                    <a:latin typeface="Arial" panose="020B0604020202020204" pitchFamily="34" charset="0"/>
                  </a:rPr>
                  <a:t>Each normal curve shown here represents the variability in </a:t>
                </a:r>
                <a:r>
                  <a:rPr lang="en-US" altLang="en-US" sz="1600" b="0" i="1" dirty="0">
                    <a:solidFill>
                      <a:schemeClr val="tx1"/>
                    </a:solidFill>
                    <a:latin typeface="+mj-lt"/>
                  </a:rPr>
                  <a:t>y</a:t>
                </a:r>
                <a:r>
                  <a:rPr lang="en-US" altLang="en-US" sz="1600" b="0" i="1" dirty="0">
                    <a:solidFill>
                      <a:schemeClr val="tx1"/>
                    </a:solidFill>
                    <a:latin typeface="Arial" panose="020B0604020202020204" pitchFamily="34" charset="0"/>
                  </a:rPr>
                  <a:t> </a:t>
                </a:r>
                <a:r>
                  <a:rPr lang="en-US" altLang="en-US" sz="1600" b="0" dirty="0">
                    <a:solidFill>
                      <a:schemeClr val="tx1"/>
                    </a:solidFill>
                    <a:latin typeface="Arial" panose="020B0604020202020204" pitchFamily="34" charset="0"/>
                  </a:rPr>
                  <a:t>values at a</a:t>
                </a:r>
              </a:p>
              <a:p>
                <a:r>
                  <a:rPr lang="en-US" altLang="en-US" sz="1600" b="0" dirty="0">
                    <a:solidFill>
                      <a:schemeClr val="tx1"/>
                    </a:solidFill>
                    <a:latin typeface="Arial" panose="020B0604020202020204" pitchFamily="34" charset="0"/>
                  </a:rPr>
                  <a:t>particular value of </a:t>
                </a:r>
                <a:r>
                  <a:rPr lang="en-US" altLang="en-US" sz="1600" b="0" i="1" dirty="0">
                    <a:solidFill>
                      <a:schemeClr val="tx1"/>
                    </a:solidFill>
                    <a:latin typeface="+mj-lt"/>
                  </a:rPr>
                  <a:t>x</a:t>
                </a:r>
                <a:r>
                  <a:rPr lang="en-US" altLang="en-US" sz="1600" b="0" i="1" dirty="0">
                    <a:solidFill>
                      <a:schemeClr val="tx1"/>
                    </a:solidFill>
                    <a:latin typeface="Arial" panose="020B0604020202020204" pitchFamily="34" charset="0"/>
                  </a:rPr>
                  <a:t>. </a:t>
                </a:r>
                <a:r>
                  <a:rPr lang="en-US" altLang="en-US" sz="1600" b="0" dirty="0">
                    <a:solidFill>
                      <a:schemeClr val="tx1"/>
                    </a:solidFill>
                    <a:latin typeface="Arial" panose="020B0604020202020204" pitchFamily="34" charset="0"/>
                  </a:rPr>
                  <a:t>When </a:t>
                </a:r>
                <a14:m>
                  <m:oMath xmlns:m="http://schemas.openxmlformats.org/officeDocument/2006/math">
                    <m:r>
                      <m:rPr>
                        <m:sty m:val="p"/>
                      </m:rPr>
                      <a:rPr lang="en-US" altLang="en-US" sz="1600" b="0" i="0" smtClean="0">
                        <a:solidFill>
                          <a:schemeClr val="tx1"/>
                        </a:solidFill>
                        <a:latin typeface="Cambria Math" panose="02040503050406030204" pitchFamily="18" charset="0"/>
                        <a:ea typeface="Cambria Math" panose="02040503050406030204" pitchFamily="18" charset="0"/>
                      </a:rPr>
                      <m:t>β</m:t>
                    </m:r>
                  </m:oMath>
                </a14:m>
                <a:r>
                  <a:rPr lang="en-US" altLang="en-US" sz="1600" b="0" dirty="0">
                    <a:solidFill>
                      <a:schemeClr val="tx1"/>
                    </a:solidFill>
                    <a:latin typeface="Arial" panose="020B0604020202020204" pitchFamily="34" charset="0"/>
                  </a:rPr>
                  <a:t> = 0, the normal distribution of </a:t>
                </a:r>
                <a:r>
                  <a:rPr lang="en-US" altLang="en-US" sz="1600" b="0" i="1" dirty="0">
                    <a:solidFill>
                      <a:schemeClr val="tx1"/>
                    </a:solidFill>
                    <a:latin typeface="+mj-lt"/>
                  </a:rPr>
                  <a:t>y</a:t>
                </a:r>
                <a:r>
                  <a:rPr lang="en-US" altLang="en-US" sz="1600" b="0" i="1" dirty="0">
                    <a:solidFill>
                      <a:schemeClr val="tx1"/>
                    </a:solidFill>
                    <a:latin typeface="Arial" panose="020B0604020202020204" pitchFamily="34" charset="0"/>
                  </a:rPr>
                  <a:t> </a:t>
                </a:r>
                <a:r>
                  <a:rPr lang="en-US" altLang="en-US" sz="1600" b="0" dirty="0">
                    <a:solidFill>
                      <a:schemeClr val="tx1"/>
                    </a:solidFill>
                    <a:latin typeface="Arial" panose="020B0604020202020204" pitchFamily="34" charset="0"/>
                  </a:rPr>
                  <a:t>is the same at each value of </a:t>
                </a:r>
                <a:r>
                  <a:rPr lang="en-US" altLang="en-US" sz="1600" b="0" i="1" dirty="0">
                    <a:solidFill>
                      <a:schemeClr val="tx1"/>
                    </a:solidFill>
                    <a:latin typeface="+mj-lt"/>
                  </a:rPr>
                  <a:t>x</a:t>
                </a:r>
                <a:r>
                  <a:rPr lang="en-US" altLang="en-US" sz="1600" b="0" i="1" dirty="0">
                    <a:solidFill>
                      <a:schemeClr val="tx1"/>
                    </a:solidFill>
                    <a:latin typeface="Arial" panose="020B0604020202020204" pitchFamily="34" charset="0"/>
                  </a:rPr>
                  <a:t>.</a:t>
                </a:r>
              </a:p>
              <a:p>
                <a:r>
                  <a:rPr lang="en-US" altLang="en-US" sz="1600" dirty="0">
                    <a:solidFill>
                      <a:schemeClr val="tx1"/>
                    </a:solidFill>
                    <a:latin typeface="Arial" panose="020B0604020202020204" pitchFamily="34" charset="0"/>
                  </a:rPr>
                  <a:t>Question: </a:t>
                </a:r>
                <a:r>
                  <a:rPr lang="en-US" altLang="en-US" sz="1600" b="0" dirty="0">
                    <a:solidFill>
                      <a:schemeClr val="tx1"/>
                    </a:solidFill>
                    <a:latin typeface="Arial" panose="020B0604020202020204" pitchFamily="34" charset="0"/>
                  </a:rPr>
                  <a:t>How can you express the null hypothesis of independence between </a:t>
                </a:r>
                <a:r>
                  <a:rPr lang="en-US" altLang="en-US" sz="1600" b="0" i="1" dirty="0">
                    <a:solidFill>
                      <a:schemeClr val="tx1"/>
                    </a:solidFill>
                    <a:latin typeface="+mj-lt"/>
                  </a:rPr>
                  <a:t>x</a:t>
                </a:r>
                <a:r>
                  <a:rPr lang="en-US" altLang="en-US" sz="1600" b="0" i="1" dirty="0">
                    <a:solidFill>
                      <a:schemeClr val="tx1"/>
                    </a:solidFill>
                    <a:latin typeface="Arial" panose="020B0604020202020204" pitchFamily="34" charset="0"/>
                  </a:rPr>
                  <a:t> </a:t>
                </a:r>
                <a:r>
                  <a:rPr lang="en-US" altLang="en-US" sz="1600" b="0" dirty="0">
                    <a:solidFill>
                      <a:schemeClr val="tx1"/>
                    </a:solidFill>
                    <a:latin typeface="Arial" panose="020B0604020202020204" pitchFamily="34" charset="0"/>
                  </a:rPr>
                  <a:t>and </a:t>
                </a:r>
                <a:r>
                  <a:rPr lang="en-US" altLang="en-US" sz="1600" b="0" i="1" dirty="0">
                    <a:solidFill>
                      <a:schemeClr val="tx1"/>
                    </a:solidFill>
                    <a:latin typeface="+mj-lt"/>
                  </a:rPr>
                  <a:t>y</a:t>
                </a:r>
                <a:r>
                  <a:rPr lang="en-US" altLang="en-US" sz="1600" b="0" i="1" dirty="0">
                    <a:solidFill>
                      <a:schemeClr val="tx1"/>
                    </a:solidFill>
                    <a:latin typeface="Arial" panose="020B0604020202020204" pitchFamily="34" charset="0"/>
                  </a:rPr>
                  <a:t> </a:t>
                </a:r>
                <a:r>
                  <a:rPr lang="en-US" altLang="en-US" sz="1600" b="0" dirty="0">
                    <a:solidFill>
                      <a:schemeClr val="tx1"/>
                    </a:solidFill>
                    <a:latin typeface="Arial" panose="020B0604020202020204" pitchFamily="34" charset="0"/>
                  </a:rPr>
                  <a:t>in terms of a parameter from the regression model?</a:t>
                </a:r>
              </a:p>
            </p:txBody>
          </p:sp>
        </mc:Choice>
        <mc:Fallback xmlns="">
          <p:sp>
            <p:nvSpPr>
              <p:cNvPr id="100354" name="TextBox 1"/>
              <p:cNvSpPr txBox="1">
                <a:spLocks noRot="1" noChangeAspect="1" noMove="1" noResize="1" noEditPoints="1" noAdjustHandles="1" noChangeArrowheads="1" noChangeShapeType="1" noTextEdit="1"/>
              </p:cNvSpPr>
              <p:nvPr/>
            </p:nvSpPr>
            <p:spPr bwMode="auto">
              <a:xfrm>
                <a:off x="381000" y="5105400"/>
                <a:ext cx="8542338" cy="1323439"/>
              </a:xfrm>
              <a:prstGeom prst="rect">
                <a:avLst/>
              </a:prstGeom>
              <a:blipFill>
                <a:blip r:embed="rId2" cstate="print"/>
                <a:stretch>
                  <a:fillRect l="-428" t="-1382" r="-71" b="-4608"/>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00357" name="Rectangle 2"/>
          <p:cNvSpPr>
            <a:spLocks noChangeArrowheads="1"/>
          </p:cNvSpPr>
          <p:nvPr/>
        </p:nvSpPr>
        <p:spPr bwMode="auto">
          <a:xfrm>
            <a:off x="762000" y="31750"/>
            <a:ext cx="7924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eaLnBrk="0" hangingPunct="0"/>
            <a:r>
              <a:rPr lang="en-US" altLang="en-US" sz="3200">
                <a:solidFill>
                  <a:schemeClr val="tx1"/>
                </a:solidFill>
                <a:latin typeface="Arial" panose="020B0604020202020204" pitchFamily="34" charset="0"/>
              </a:rPr>
              <a:t>Testing Independence between Quantitative Variables</a:t>
            </a:r>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56519" y="1457021"/>
            <a:ext cx="6591300" cy="3495675"/>
          </a:xfrm>
          <a:prstGeom prst="rect">
            <a:avLst/>
          </a:prstGeom>
        </p:spPr>
      </p:pic>
    </p:spTree>
    <p:extLst>
      <p:ext uri="{BB962C8B-B14F-4D97-AF65-F5344CB8AC3E}">
        <p14:creationId xmlns:p14="http://schemas.microsoft.com/office/powerpoint/2010/main" val="198292548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1378" name="Rectangle 3"/>
              <p:cNvSpPr>
                <a:spLocks noGrp="1" noChangeArrowheads="1"/>
              </p:cNvSpPr>
              <p:nvPr>
                <p:ph type="body" sz="half" idx="4294967295"/>
              </p:nvPr>
            </p:nvSpPr>
            <p:spPr bwMode="auto">
              <a:xfrm>
                <a:off x="763524" y="1600200"/>
                <a:ext cx="7677150" cy="4626864"/>
              </a:xfrm>
              <a:prstGeom prst="rect">
                <a:avLst/>
              </a:prstGeom>
              <a:solidFill>
                <a:srgbClr val="FFFFFF"/>
              </a:solidFill>
              <a:extLst>
                <a:ext uri="{91240B29-F687-4F45-9708-019B960494DF}">
                  <a14:hiddenLine w="9525">
                    <a:solidFill>
                      <a:srgbClr val="000000"/>
                    </a:solidFill>
                    <a:miter lim="800000"/>
                    <a:headEnd/>
                    <a:tailEnd/>
                  </a14:hiddenLine>
                </a:ext>
              </a:extLst>
            </p:spPr>
            <p:txBody>
              <a:bodyPr lIns="0" rIns="0">
                <a:noAutofit/>
              </a:bodyPr>
              <a:lstStyle/>
              <a:p>
                <a:pPr marL="0" indent="0">
                  <a:spcBef>
                    <a:spcPct val="20000"/>
                  </a:spcBef>
                  <a:buNone/>
                </a:pPr>
                <a:r>
                  <a:rPr lang="en-US" altLang="en-US" dirty="0"/>
                  <a:t>SUMMARY: Steps of Two-Sided Significance Test about a Population Slope </a:t>
                </a:r>
                <a14:m>
                  <m:oMath xmlns:m="http://schemas.openxmlformats.org/officeDocument/2006/math">
                    <m:r>
                      <m:rPr>
                        <m:sty m:val="p"/>
                      </m:rPr>
                      <a:rPr lang="en-US" altLang="en-US" i="0" smtClean="0">
                        <a:latin typeface="Cambria Math" panose="02040503050406030204" pitchFamily="18" charset="0"/>
                        <a:ea typeface="Cambria Math" panose="02040503050406030204" pitchFamily="18" charset="0"/>
                      </a:rPr>
                      <m:t>β</m:t>
                    </m:r>
                  </m:oMath>
                </a14:m>
                <a:r>
                  <a:rPr lang="en-US" altLang="en-US" dirty="0"/>
                  <a:t>:</a:t>
                </a:r>
              </a:p>
              <a:p>
                <a:pPr marL="0" indent="0">
                  <a:spcBef>
                    <a:spcPct val="20000"/>
                  </a:spcBef>
                  <a:buNone/>
                </a:pPr>
                <a:r>
                  <a:rPr lang="en-US" altLang="en-US" b="1" dirty="0"/>
                  <a:t>1. Assumptions:</a:t>
                </a:r>
              </a:p>
              <a:p>
                <a:pPr lvl="1"/>
                <a:r>
                  <a:rPr lang="en-US" altLang="en-US" sz="2800" dirty="0"/>
                  <a:t>The population satisfies regression line:</a:t>
                </a:r>
              </a:p>
              <a:p>
                <a:pPr marL="457200" lvl="1" indent="0" algn="ctr">
                  <a:buNone/>
                </a:pPr>
                <a14:m>
                  <m:oMath xmlns:m="http://schemas.openxmlformats.org/officeDocument/2006/math">
                    <m:sSub>
                      <m:sSubPr>
                        <m:ctrlPr>
                          <a:rPr lang="en-US" altLang="en-US" sz="2800" i="1">
                            <a:latin typeface="Cambria Math" panose="02040503050406030204" pitchFamily="18" charset="0"/>
                          </a:rPr>
                        </m:ctrlPr>
                      </m:sSubPr>
                      <m:e>
                        <m:r>
                          <m:rPr>
                            <m:sty m:val="p"/>
                          </m:rPr>
                          <a:rPr lang="en-US" altLang="en-US" sz="2800" i="0">
                            <a:latin typeface="Cambria Math" panose="02040503050406030204" pitchFamily="18" charset="0"/>
                            <a:ea typeface="Cambria Math" panose="02040503050406030204" pitchFamily="18" charset="0"/>
                          </a:rPr>
                          <m:t>μ</m:t>
                        </m:r>
                      </m:e>
                      <m:sub>
                        <m:r>
                          <a:rPr lang="en-US" altLang="en-US" sz="2800" i="1">
                            <a:latin typeface="Cambria Math" panose="02040503050406030204" pitchFamily="18" charset="0"/>
                          </a:rPr>
                          <m:t>𝑦</m:t>
                        </m:r>
                      </m:sub>
                    </m:sSub>
                  </m:oMath>
                </a14:m>
                <a:r>
                  <a:rPr lang="en-US" altLang="en-US" sz="2800" dirty="0"/>
                  <a:t> = </a:t>
                </a:r>
                <a:r>
                  <a:rPr lang="en-US" altLang="en-US" sz="2800" dirty="0">
                    <a:sym typeface="Symbol" panose="05050102010706020507" pitchFamily="18" charset="2"/>
                  </a:rPr>
                  <a:t></a:t>
                </a:r>
                <a:r>
                  <a:rPr lang="en-US" altLang="en-US" sz="2800" i="1" dirty="0"/>
                  <a:t> </a:t>
                </a:r>
                <a:r>
                  <a:rPr lang="en-US" altLang="en-US" sz="2800" dirty="0"/>
                  <a:t>+</a:t>
                </a:r>
                <a:r>
                  <a:rPr lang="en-US" altLang="en-US" sz="2800" i="1" dirty="0"/>
                  <a:t> </a:t>
                </a:r>
                <a:r>
                  <a:rPr lang="en-US" altLang="en-US" sz="2800" dirty="0">
                    <a:sym typeface="Symbol" panose="05050102010706020507" pitchFamily="18" charset="2"/>
                  </a:rPr>
                  <a:t></a:t>
                </a:r>
                <a:r>
                  <a:rPr lang="en-US" altLang="en-US" sz="2800" i="1" dirty="0">
                    <a:latin typeface="+mj-lt"/>
                    <a:sym typeface="Symbol" panose="05050102010706020507" pitchFamily="18" charset="2"/>
                  </a:rPr>
                  <a:t>x.</a:t>
                </a:r>
                <a:endParaRPr lang="en-US" altLang="en-US" sz="2800" i="1" dirty="0">
                  <a:latin typeface="+mj-lt"/>
                </a:endParaRPr>
              </a:p>
              <a:p>
                <a:pPr lvl="1"/>
                <a:endParaRPr lang="en-US" altLang="en-US" sz="2800" dirty="0"/>
              </a:p>
              <a:p>
                <a:pPr lvl="1"/>
                <a:r>
                  <a:rPr lang="en-US" altLang="en-US" sz="2800" dirty="0"/>
                  <a:t>Data obtained using randomization.</a:t>
                </a:r>
                <a:br>
                  <a:rPr lang="en-US" altLang="en-US" sz="2800" dirty="0"/>
                </a:br>
                <a:endParaRPr lang="en-US" altLang="en-US" sz="2800" dirty="0"/>
              </a:p>
              <a:p>
                <a:pPr lvl="1"/>
                <a:r>
                  <a:rPr lang="en-US" altLang="en-US" sz="2800" dirty="0"/>
                  <a:t>The population values of </a:t>
                </a:r>
                <a:r>
                  <a:rPr lang="en-US" altLang="en-US" sz="2800" i="1" dirty="0">
                    <a:latin typeface="+mj-lt"/>
                  </a:rPr>
                  <a:t>y</a:t>
                </a:r>
                <a:r>
                  <a:rPr lang="en-US" altLang="en-US" sz="2800" dirty="0"/>
                  <a:t> at each value of </a:t>
                </a:r>
                <a:r>
                  <a:rPr lang="en-US" altLang="en-US" sz="2800" i="1" dirty="0">
                    <a:latin typeface="+mj-lt"/>
                  </a:rPr>
                  <a:t>x</a:t>
                </a:r>
                <a:r>
                  <a:rPr lang="en-US" altLang="en-US" sz="2800" i="1" dirty="0"/>
                  <a:t> </a:t>
                </a:r>
                <a:r>
                  <a:rPr lang="en-US" altLang="en-US" sz="2800" dirty="0"/>
                  <a:t>follow a normal distribution, with the same standard deviation at each </a:t>
                </a:r>
                <a:r>
                  <a:rPr lang="en-US" altLang="en-US" sz="2800" i="1" dirty="0">
                    <a:latin typeface="+mj-lt"/>
                  </a:rPr>
                  <a:t>x</a:t>
                </a:r>
                <a:r>
                  <a:rPr lang="en-US" altLang="en-US" sz="2800" dirty="0"/>
                  <a:t> value.</a:t>
                </a:r>
                <a:endParaRPr lang="el-GR" altLang="en-US" sz="2800" dirty="0"/>
              </a:p>
            </p:txBody>
          </p:sp>
        </mc:Choice>
        <mc:Fallback xmlns="">
          <p:sp>
            <p:nvSpPr>
              <p:cNvPr id="101378" name="Rectangle 3"/>
              <p:cNvSpPr>
                <a:spLocks noGrp="1" noRot="1" noChangeAspect="1" noMove="1" noResize="1" noEditPoints="1" noAdjustHandles="1" noChangeArrowheads="1" noChangeShapeType="1" noTextEdit="1"/>
              </p:cNvSpPr>
              <p:nvPr>
                <p:ph type="body" sz="half" idx="4294967295"/>
              </p:nvPr>
            </p:nvSpPr>
            <p:spPr bwMode="auto">
              <a:xfrm>
                <a:off x="763524" y="1600200"/>
                <a:ext cx="7677150" cy="4626864"/>
              </a:xfrm>
              <a:prstGeom prst="rect">
                <a:avLst/>
              </a:prstGeom>
              <a:blipFill>
                <a:blip r:embed="rId2"/>
                <a:stretch>
                  <a:fillRect l="-2778" t="-2240" b="-6324"/>
                </a:stretch>
              </a:blipFill>
              <a:extLs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01380" name="Rectangle 2"/>
          <p:cNvSpPr>
            <a:spLocks noChangeArrowheads="1"/>
          </p:cNvSpPr>
          <p:nvPr/>
        </p:nvSpPr>
        <p:spPr bwMode="auto">
          <a:xfrm>
            <a:off x="762000" y="9525"/>
            <a:ext cx="7924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eaLnBrk="0" hangingPunct="0"/>
            <a:r>
              <a:rPr lang="en-US" altLang="en-US" sz="3200" dirty="0">
                <a:solidFill>
                  <a:schemeClr val="tx1"/>
                </a:solidFill>
                <a:latin typeface="Arial" panose="020B0604020202020204" pitchFamily="34" charset="0"/>
              </a:rPr>
              <a:t>Testing Independence between Quantitative Variables</a:t>
            </a:r>
          </a:p>
        </p:txBody>
      </p:sp>
    </p:spTree>
    <p:extLst>
      <p:ext uri="{BB962C8B-B14F-4D97-AF65-F5344CB8AC3E}">
        <p14:creationId xmlns:p14="http://schemas.microsoft.com/office/powerpoint/2010/main" val="304241684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2402" name="Rectangle 3"/>
              <p:cNvSpPr>
                <a:spLocks noGrp="1" noChangeArrowheads="1"/>
              </p:cNvSpPr>
              <p:nvPr>
                <p:ph type="body" sz="half" idx="4294967295"/>
              </p:nvPr>
            </p:nvSpPr>
            <p:spPr bwMode="auto">
              <a:xfrm>
                <a:off x="763524" y="1600200"/>
                <a:ext cx="7699375" cy="4724400"/>
              </a:xfrm>
              <a:prstGeom prst="rect">
                <a:avLst/>
              </a:prstGeom>
              <a:solidFill>
                <a:srgbClr val="FFFFFF"/>
              </a:solidFill>
              <a:extLst>
                <a:ext uri="{91240B29-F687-4F45-9708-019B960494DF}">
                  <a14:hiddenLine w="9525">
                    <a:solidFill>
                      <a:srgbClr val="000000"/>
                    </a:solidFill>
                    <a:miter lim="800000"/>
                    <a:headEnd/>
                    <a:tailEnd/>
                  </a14:hiddenLine>
                </a:ext>
              </a:extLst>
            </p:spPr>
            <p:txBody>
              <a:bodyPr lIns="0" rIns="0">
                <a:normAutofit lnSpcReduction="10000"/>
              </a:bodyPr>
              <a:lstStyle/>
              <a:p>
                <a:pPr marL="0" indent="0">
                  <a:spcBef>
                    <a:spcPct val="20000"/>
                  </a:spcBef>
                  <a:buNone/>
                </a:pPr>
                <a:r>
                  <a:rPr lang="en-US" altLang="en-US" dirty="0"/>
                  <a:t>SUMMARY: Steps of Two-Sided Significance Test about a Population Slope </a:t>
                </a:r>
                <a:r>
                  <a:rPr lang="en-US" altLang="en-US" dirty="0">
                    <a:sym typeface="Symbol" panose="05050102010706020507" pitchFamily="18" charset="2"/>
                  </a:rPr>
                  <a:t></a:t>
                </a:r>
                <a:r>
                  <a:rPr lang="en-US" altLang="en-US" dirty="0"/>
                  <a:t>:</a:t>
                </a:r>
              </a:p>
              <a:p>
                <a:pPr marL="0" indent="0">
                  <a:spcBef>
                    <a:spcPct val="20000"/>
                  </a:spcBef>
                  <a:buNone/>
                </a:pPr>
                <a:r>
                  <a:rPr lang="en-US" altLang="en-US" b="1" dirty="0"/>
                  <a:t>2. Hypotheses:</a:t>
                </a:r>
              </a:p>
              <a:p>
                <a:pPr marL="0" indent="0" algn="ctr">
                  <a:spcBef>
                    <a:spcPct val="20000"/>
                  </a:spcBef>
                </a:pPr>
                <a:r>
                  <a:rPr lang="en-US" altLang="en-US" dirty="0"/>
                  <a:t>			</a:t>
                </a:r>
                <a14:m>
                  <m:oMath xmlns:m="http://schemas.openxmlformats.org/officeDocument/2006/math">
                    <m:sSub>
                      <m:sSubPr>
                        <m:ctrlPr>
                          <a:rPr lang="en-US" altLang="en-US" i="1" smtClean="0">
                            <a:latin typeface="Cambria Math" panose="02040503050406030204" pitchFamily="18" charset="0"/>
                          </a:rPr>
                        </m:ctrlPr>
                      </m:sSubPr>
                      <m:e>
                        <m:r>
                          <m:rPr>
                            <m:sty m:val="p"/>
                          </m:rPr>
                          <a:rPr lang="en-US" altLang="en-US" b="0" i="0" smtClean="0">
                            <a:latin typeface="Cambria Math" panose="02040503050406030204" pitchFamily="18" charset="0"/>
                          </a:rPr>
                          <m:t>H</m:t>
                        </m:r>
                      </m:e>
                      <m:sub>
                        <m:r>
                          <a:rPr lang="en-US" altLang="en-US" b="0" i="1" smtClean="0">
                            <a:latin typeface="Cambria Math" panose="02040503050406030204" pitchFamily="18" charset="0"/>
                          </a:rPr>
                          <m:t>0</m:t>
                        </m:r>
                      </m:sub>
                    </m:sSub>
                  </m:oMath>
                </a14:m>
                <a:r>
                  <a:rPr lang="en-US" altLang="en-US" dirty="0"/>
                  <a:t>: </a:t>
                </a:r>
                <a:r>
                  <a:rPr lang="en-US" altLang="en-US" dirty="0">
                    <a:sym typeface="Symbol" panose="05050102010706020507" pitchFamily="18" charset="2"/>
                  </a:rPr>
                  <a:t> = 0, </a:t>
                </a:r>
                <a14:m>
                  <m:oMath xmlns:m="http://schemas.openxmlformats.org/officeDocument/2006/math">
                    <m:sSub>
                      <m:sSubPr>
                        <m:ctrlPr>
                          <a:rPr lang="en-US" altLang="en-US" i="1">
                            <a:latin typeface="Cambria Math" panose="02040503050406030204" pitchFamily="18" charset="0"/>
                          </a:rPr>
                        </m:ctrlPr>
                      </m:sSubPr>
                      <m:e>
                        <m:r>
                          <m:rPr>
                            <m:sty m:val="p"/>
                          </m:rPr>
                          <a:rPr lang="en-US" altLang="en-US" i="0">
                            <a:latin typeface="Cambria Math" panose="02040503050406030204" pitchFamily="18" charset="0"/>
                          </a:rPr>
                          <m:t>H</m:t>
                        </m:r>
                      </m:e>
                      <m:sub>
                        <m:r>
                          <a:rPr lang="en-US" altLang="en-US" b="0" i="1" smtClean="0">
                            <a:latin typeface="Cambria Math" panose="02040503050406030204" pitchFamily="18" charset="0"/>
                          </a:rPr>
                          <m:t>𝑎</m:t>
                        </m:r>
                      </m:sub>
                    </m:sSub>
                  </m:oMath>
                </a14:m>
                <a:r>
                  <a:rPr lang="en-US" altLang="en-US" dirty="0"/>
                  <a:t>: </a:t>
                </a:r>
                <a:r>
                  <a:rPr lang="en-US" altLang="en-US" dirty="0">
                    <a:sym typeface="Symbol" panose="05050102010706020507" pitchFamily="18" charset="2"/>
                  </a:rPr>
                  <a:t> ≠ </a:t>
                </a:r>
                <a:r>
                  <a:rPr lang="en-US" altLang="en-US" dirty="0">
                    <a:solidFill>
                      <a:schemeClr val="tx1"/>
                    </a:solidFill>
                    <a:sym typeface="Symbol" panose="05050102010706020507" pitchFamily="18" charset="2"/>
                  </a:rPr>
                  <a:t>0</a:t>
                </a:r>
                <a:r>
                  <a:rPr lang="en-US" altLang="en-US" dirty="0"/>
                  <a:t>			 </a:t>
                </a:r>
              </a:p>
              <a:p>
                <a:pPr marL="0" indent="0">
                  <a:spcBef>
                    <a:spcPct val="20000"/>
                  </a:spcBef>
                </a:pPr>
                <a:endParaRPr lang="en-US" altLang="en-US" dirty="0"/>
              </a:p>
              <a:p>
                <a:pPr marL="0" indent="0">
                  <a:spcBef>
                    <a:spcPct val="20000"/>
                  </a:spcBef>
                </a:pPr>
                <a:endParaRPr lang="en-US" altLang="en-US" dirty="0"/>
              </a:p>
              <a:p>
                <a:pPr marL="0" indent="0">
                  <a:spcBef>
                    <a:spcPct val="20000"/>
                  </a:spcBef>
                </a:pPr>
                <a:r>
                  <a:rPr lang="en-US" altLang="en-US" b="1" dirty="0"/>
                  <a:t>3. Test statistic: </a:t>
                </a:r>
              </a:p>
              <a:p>
                <a:pPr marL="0" indent="0">
                  <a:spcBef>
                    <a:spcPct val="20000"/>
                  </a:spcBef>
                </a:pPr>
                <a:endParaRPr lang="en-US" altLang="en-US" b="1" dirty="0"/>
              </a:p>
              <a:p>
                <a:pPr marL="0" indent="0">
                  <a:spcBef>
                    <a:spcPct val="20000"/>
                  </a:spcBef>
                </a:pPr>
                <a:r>
                  <a:rPr lang="en-US" altLang="en-US" dirty="0"/>
                  <a:t> </a:t>
                </a:r>
                <a:endParaRPr lang="el-GR" altLang="en-US" dirty="0"/>
              </a:p>
              <a:p>
                <a:pPr lvl="1">
                  <a:spcBef>
                    <a:spcPct val="20000"/>
                  </a:spcBef>
                </a:pPr>
                <a:r>
                  <a:rPr lang="en-US" altLang="en-US" dirty="0"/>
                  <a:t>Software supplies sample slope </a:t>
                </a:r>
                <a:r>
                  <a:rPr lang="en-US" altLang="en-US" i="1" dirty="0">
                    <a:latin typeface="+mj-lt"/>
                  </a:rPr>
                  <a:t>b</a:t>
                </a:r>
                <a:r>
                  <a:rPr lang="en-US" altLang="en-US" i="1" dirty="0"/>
                  <a:t> </a:t>
                </a:r>
                <a:r>
                  <a:rPr lang="en-US" altLang="en-US" dirty="0"/>
                  <a:t>and its </a:t>
                </a:r>
                <a:r>
                  <a:rPr lang="en-US" altLang="en-US" i="1" dirty="0">
                    <a:latin typeface="+mj-lt"/>
                  </a:rPr>
                  <a:t>se</a:t>
                </a:r>
                <a:r>
                  <a:rPr lang="en-US" altLang="en-US" dirty="0"/>
                  <a:t>. </a:t>
                </a:r>
                <a:r>
                  <a:rPr lang="en-US" altLang="en-US" i="1" dirty="0"/>
                  <a:t> </a:t>
                </a:r>
              </a:p>
            </p:txBody>
          </p:sp>
        </mc:Choice>
        <mc:Fallback xmlns="">
          <p:sp>
            <p:nvSpPr>
              <p:cNvPr id="102402" name="Rectangle 3"/>
              <p:cNvSpPr>
                <a:spLocks noGrp="1" noRot="1" noChangeAspect="1" noMove="1" noResize="1" noEditPoints="1" noAdjustHandles="1" noChangeArrowheads="1" noChangeShapeType="1" noTextEdit="1"/>
              </p:cNvSpPr>
              <p:nvPr>
                <p:ph type="body" sz="half" idx="4294967295"/>
              </p:nvPr>
            </p:nvSpPr>
            <p:spPr bwMode="auto">
              <a:xfrm>
                <a:off x="763524" y="1600200"/>
                <a:ext cx="7699375" cy="4724400"/>
              </a:xfrm>
              <a:prstGeom prst="rect">
                <a:avLst/>
              </a:prstGeom>
              <a:blipFill>
                <a:blip r:embed="rId2"/>
                <a:stretch>
                  <a:fillRect l="-2771" t="-2968"/>
                </a:stretch>
              </a:blipFill>
              <a:extLs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02403" name="Rectangle 2"/>
          <p:cNvSpPr>
            <a:spLocks noChangeArrowheads="1"/>
          </p:cNvSpPr>
          <p:nvPr/>
        </p:nvSpPr>
        <p:spPr bwMode="auto">
          <a:xfrm>
            <a:off x="762000" y="31750"/>
            <a:ext cx="7924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eaLnBrk="0" hangingPunct="0"/>
            <a:r>
              <a:rPr lang="en-US" altLang="en-US" sz="3200">
                <a:solidFill>
                  <a:schemeClr val="tx1"/>
                </a:solidFill>
                <a:latin typeface="Arial" panose="020B0604020202020204" pitchFamily="34" charset="0"/>
              </a:rPr>
              <a:t>Testing Independence between Quantitative Variables</a:t>
            </a:r>
          </a:p>
        </p:txBody>
      </p:sp>
      <p:graphicFrame>
        <p:nvGraphicFramePr>
          <p:cNvPr id="2" name="Object 1"/>
          <p:cNvGraphicFramePr>
            <a:graphicFrameLocks noChangeAspect="1"/>
          </p:cNvGraphicFramePr>
          <p:nvPr/>
        </p:nvGraphicFramePr>
        <p:xfrm>
          <a:off x="3872484" y="4517136"/>
          <a:ext cx="1295400" cy="889000"/>
        </p:xfrm>
        <a:graphic>
          <a:graphicData uri="http://schemas.openxmlformats.org/presentationml/2006/ole">
            <mc:AlternateContent xmlns:mc="http://schemas.openxmlformats.org/markup-compatibility/2006">
              <mc:Choice xmlns:v="urn:schemas-microsoft-com:vml" Requires="v">
                <p:oleObj name="Equation" r:id="rId3" imgW="1295280" imgH="888840" progId="Equation.DSMT4">
                  <p:embed/>
                </p:oleObj>
              </mc:Choice>
              <mc:Fallback>
                <p:oleObj name="Equation" r:id="rId3" imgW="1295280" imgH="888840" progId="Equation.DSMT4">
                  <p:embed/>
                  <p:pic>
                    <p:nvPicPr>
                      <p:cNvPr id="2"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72484" y="4517136"/>
                        <a:ext cx="1295400" cy="88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35886947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3426" name="Rectangle 3"/>
              <p:cNvSpPr>
                <a:spLocks noGrp="1" noChangeArrowheads="1"/>
              </p:cNvSpPr>
              <p:nvPr>
                <p:ph type="body" idx="4294967295"/>
              </p:nvPr>
            </p:nvSpPr>
            <p:spPr bwMode="auto">
              <a:xfrm>
                <a:off x="763524" y="1600200"/>
                <a:ext cx="7753350" cy="4511675"/>
              </a:xfrm>
              <a:prstGeom prst="rect">
                <a:avLst/>
              </a:prstGeom>
              <a:solidFill>
                <a:srgbClr val="FFFFFF"/>
              </a:solidFill>
              <a:extLst>
                <a:ext uri="{91240B29-F687-4F45-9708-019B960494DF}">
                  <a14:hiddenLine w="9525">
                    <a:solidFill>
                      <a:srgbClr val="000000"/>
                    </a:solidFill>
                    <a:miter lim="800000"/>
                    <a:headEnd/>
                    <a:tailEnd/>
                  </a14:hiddenLine>
                </a:ext>
              </a:extLst>
            </p:spPr>
            <p:txBody>
              <a:bodyPr lIns="0" rIns="0"/>
              <a:lstStyle/>
              <a:p>
                <a:pPr marL="0" indent="0">
                  <a:spcBef>
                    <a:spcPct val="20000"/>
                  </a:spcBef>
                  <a:buNone/>
                </a:pPr>
                <a:r>
                  <a:rPr lang="en-US" altLang="en-US" dirty="0"/>
                  <a:t>SUMMARY: Steps of Two-Sided Significance Test about a Population Slope </a:t>
                </a:r>
                <a14:m>
                  <m:oMath xmlns:m="http://schemas.openxmlformats.org/officeDocument/2006/math">
                    <m:r>
                      <m:rPr>
                        <m:sty m:val="p"/>
                      </m:rPr>
                      <a:rPr lang="en-US" altLang="en-US" i="0" smtClean="0">
                        <a:latin typeface="Cambria Math" panose="02040503050406030204" pitchFamily="18" charset="0"/>
                        <a:ea typeface="Cambria Math" panose="02040503050406030204" pitchFamily="18" charset="0"/>
                      </a:rPr>
                      <m:t>β</m:t>
                    </m:r>
                  </m:oMath>
                </a14:m>
                <a:r>
                  <a:rPr lang="en-US" altLang="en-US" dirty="0"/>
                  <a:t>:</a:t>
                </a:r>
              </a:p>
              <a:p>
                <a:pPr marL="0" indent="0">
                  <a:spcBef>
                    <a:spcPct val="20000"/>
                  </a:spcBef>
                </a:pPr>
                <a:endParaRPr lang="en-US" altLang="en-US" dirty="0"/>
              </a:p>
              <a:p>
                <a:pPr marL="0" indent="0">
                  <a:spcBef>
                    <a:spcPct val="20000"/>
                  </a:spcBef>
                  <a:buNone/>
                </a:pPr>
                <a:r>
                  <a:rPr lang="en-US" altLang="en-US" b="1" dirty="0"/>
                  <a:t>4. P-value: </a:t>
                </a:r>
                <a:r>
                  <a:rPr lang="en-US" altLang="en-US" dirty="0"/>
                  <a:t>Two-tail probability of </a:t>
                </a:r>
                <a:r>
                  <a:rPr lang="en-US" altLang="en-US" i="1" dirty="0">
                    <a:latin typeface="+mj-lt"/>
                  </a:rPr>
                  <a:t>t</a:t>
                </a:r>
                <a:r>
                  <a:rPr lang="en-US" altLang="en-US" dirty="0"/>
                  <a:t> test statistic value more extreme than observed:</a:t>
                </a:r>
              </a:p>
              <a:p>
                <a:pPr marL="0" indent="0">
                  <a:spcBef>
                    <a:spcPct val="20000"/>
                  </a:spcBef>
                </a:pPr>
                <a:r>
                  <a:rPr lang="en-US" altLang="en-US" dirty="0"/>
                  <a:t>          Use </a:t>
                </a:r>
                <a:r>
                  <a:rPr lang="en-US" altLang="en-US" i="1" dirty="0">
                    <a:latin typeface="+mj-lt"/>
                  </a:rPr>
                  <a:t>t</a:t>
                </a:r>
                <a:r>
                  <a:rPr lang="en-US" altLang="en-US" dirty="0"/>
                  <a:t> distribution with </a:t>
                </a:r>
                <a14:m>
                  <m:oMath xmlns:m="http://schemas.openxmlformats.org/officeDocument/2006/math">
                    <m:r>
                      <a:rPr lang="en-US" altLang="en-US" b="0" i="1" smtClean="0">
                        <a:latin typeface="Cambria Math" panose="02040503050406030204" pitchFamily="18" charset="0"/>
                      </a:rPr>
                      <m:t>𝑑𝑓</m:t>
                    </m:r>
                    <m:r>
                      <a:rPr lang="en-US" altLang="en-US" b="0" i="1" smtClean="0">
                        <a:latin typeface="Cambria Math" panose="02040503050406030204" pitchFamily="18" charset="0"/>
                      </a:rPr>
                      <m:t>=</m:t>
                    </m:r>
                    <m:r>
                      <a:rPr lang="en-US" altLang="en-US" b="0" i="1" smtClean="0">
                        <a:latin typeface="Cambria Math" panose="02040503050406030204" pitchFamily="18" charset="0"/>
                      </a:rPr>
                      <m:t>𝑛</m:t>
                    </m:r>
                    <m:r>
                      <a:rPr lang="en-US" altLang="en-US" b="0" i="1" smtClean="0">
                        <a:latin typeface="Cambria Math" panose="02040503050406030204" pitchFamily="18" charset="0"/>
                      </a:rPr>
                      <m:t>−2.</m:t>
                    </m:r>
                  </m:oMath>
                </a14:m>
                <a:endParaRPr lang="en-US" altLang="en-US" dirty="0"/>
              </a:p>
              <a:p>
                <a:pPr marL="0" indent="0">
                  <a:spcBef>
                    <a:spcPct val="20000"/>
                  </a:spcBef>
                </a:pPr>
                <a:endParaRPr lang="en-US" altLang="en-US" dirty="0"/>
              </a:p>
              <a:p>
                <a:pPr marL="0" indent="0">
                  <a:spcBef>
                    <a:spcPct val="20000"/>
                  </a:spcBef>
                  <a:buNone/>
                </a:pPr>
                <a:r>
                  <a:rPr lang="en-US" altLang="en-US" b="1" dirty="0"/>
                  <a:t>5.  Conclusions: </a:t>
                </a:r>
                <a:r>
                  <a:rPr lang="en-US" altLang="en-US" dirty="0"/>
                  <a:t>Interpret P-value in context. If decision needed, reject </a:t>
                </a:r>
                <a14:m>
                  <m:oMath xmlns:m="http://schemas.openxmlformats.org/officeDocument/2006/math">
                    <m:sSub>
                      <m:sSubPr>
                        <m:ctrlPr>
                          <a:rPr lang="en-US" altLang="en-US" i="1">
                            <a:latin typeface="Cambria Math" panose="02040503050406030204" pitchFamily="18" charset="0"/>
                          </a:rPr>
                        </m:ctrlPr>
                      </m:sSubPr>
                      <m:e>
                        <m:r>
                          <m:rPr>
                            <m:sty m:val="p"/>
                          </m:rPr>
                          <a:rPr lang="en-US" altLang="en-US" i="0">
                            <a:latin typeface="Cambria Math" panose="02040503050406030204" pitchFamily="18" charset="0"/>
                          </a:rPr>
                          <m:t>H</m:t>
                        </m:r>
                      </m:e>
                      <m:sub>
                        <m:r>
                          <a:rPr lang="en-US" altLang="en-US" i="1">
                            <a:latin typeface="Cambria Math" panose="02040503050406030204" pitchFamily="18" charset="0"/>
                          </a:rPr>
                          <m:t>0</m:t>
                        </m:r>
                      </m:sub>
                    </m:sSub>
                  </m:oMath>
                </a14:m>
                <a:r>
                  <a:rPr lang="en-US" altLang="en-US" dirty="0"/>
                  <a:t> if P-value ≤ significance level.	</a:t>
                </a:r>
              </a:p>
            </p:txBody>
          </p:sp>
        </mc:Choice>
        <mc:Fallback xmlns="">
          <p:sp>
            <p:nvSpPr>
              <p:cNvPr id="103426" name="Rectangle 3"/>
              <p:cNvSpPr>
                <a:spLocks noGrp="1" noRot="1" noChangeAspect="1" noMove="1" noResize="1" noEditPoints="1" noAdjustHandles="1" noChangeArrowheads="1" noChangeShapeType="1" noTextEdit="1"/>
              </p:cNvSpPr>
              <p:nvPr>
                <p:ph type="body" idx="4294967295"/>
              </p:nvPr>
            </p:nvSpPr>
            <p:spPr bwMode="auto">
              <a:xfrm>
                <a:off x="763524" y="1600200"/>
                <a:ext cx="7753350" cy="4511675"/>
              </a:xfrm>
              <a:prstGeom prst="rect">
                <a:avLst/>
              </a:prstGeom>
              <a:blipFill>
                <a:blip r:embed="rId2"/>
                <a:stretch>
                  <a:fillRect l="-2752" t="-2297" r="-2673" b="-405"/>
                </a:stretch>
              </a:blipFill>
              <a:extLs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03427" name="Rectangle 2"/>
          <p:cNvSpPr>
            <a:spLocks noChangeArrowheads="1"/>
          </p:cNvSpPr>
          <p:nvPr/>
        </p:nvSpPr>
        <p:spPr bwMode="auto">
          <a:xfrm>
            <a:off x="762000" y="31750"/>
            <a:ext cx="7924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eaLnBrk="0" hangingPunct="0"/>
            <a:r>
              <a:rPr lang="en-US" altLang="en-US" sz="3200">
                <a:solidFill>
                  <a:schemeClr val="tx1"/>
                </a:solidFill>
                <a:latin typeface="Arial" panose="020B0604020202020204" pitchFamily="34" charset="0"/>
              </a:rPr>
              <a:t>Testing Independence between Quantitative Variables</a:t>
            </a:r>
          </a:p>
        </p:txBody>
      </p:sp>
    </p:spTree>
    <p:extLst>
      <p:ext uri="{BB962C8B-B14F-4D97-AF65-F5344CB8AC3E}">
        <p14:creationId xmlns:p14="http://schemas.microsoft.com/office/powerpoint/2010/main" val="174965407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idx="4294967295"/>
          </p:nvPr>
        </p:nvSpPr>
        <p:spPr bwMode="auto">
          <a:xfrm>
            <a:off x="685800" y="76200"/>
            <a:ext cx="8305800" cy="11430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normAutofit fontScale="90000"/>
          </a:bodyPr>
          <a:lstStyle/>
          <a:p>
            <a:r>
              <a:rPr lang="en-US" altLang="en-US" b="1">
                <a:latin typeface="Arial" panose="020B0604020202020204" pitchFamily="34" charset="0"/>
              </a:rPr>
              <a:t>Example: 60-Pound Strength and Bench Presses</a:t>
            </a:r>
          </a:p>
        </p:txBody>
      </p:sp>
      <p:sp>
        <p:nvSpPr>
          <p:cNvPr id="104451" name="TextBox 1"/>
          <p:cNvSpPr txBox="1">
            <a:spLocks noChangeArrowheads="1"/>
          </p:cNvSpPr>
          <p:nvPr/>
        </p:nvSpPr>
        <p:spPr bwMode="auto">
          <a:xfrm>
            <a:off x="482423" y="5691009"/>
            <a:ext cx="83058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sz="1600" dirty="0">
                <a:solidFill>
                  <a:schemeClr val="tx1"/>
                </a:solidFill>
                <a:latin typeface="Arial" panose="020B0604020202020204" pitchFamily="34" charset="0"/>
              </a:rPr>
              <a:t>Table 12.2 MINITAB Printout for Regression Analysis of </a:t>
            </a:r>
            <a:r>
              <a:rPr lang="en-US" altLang="en-US" sz="1600" i="1" dirty="0">
                <a:solidFill>
                  <a:schemeClr val="tx1"/>
                </a:solidFill>
                <a:latin typeface="+mj-lt"/>
              </a:rPr>
              <a:t>y</a:t>
            </a:r>
            <a:r>
              <a:rPr lang="en-US" altLang="en-US" sz="1600" dirty="0">
                <a:solidFill>
                  <a:schemeClr val="tx1"/>
                </a:solidFill>
                <a:latin typeface="Arial" panose="020B0604020202020204" pitchFamily="34" charset="0"/>
              </a:rPr>
              <a:t> = Maximum Bench Press (</a:t>
            </a:r>
            <a:r>
              <a:rPr lang="en-US" altLang="en-US" sz="1600" dirty="0" err="1">
                <a:solidFill>
                  <a:schemeClr val="tx1"/>
                </a:solidFill>
                <a:latin typeface="Arial" panose="020B0604020202020204" pitchFamily="34" charset="0"/>
              </a:rPr>
              <a:t>maxBP</a:t>
            </a:r>
            <a:r>
              <a:rPr lang="en-US" altLang="en-US" sz="1600" dirty="0">
                <a:solidFill>
                  <a:schemeClr val="tx1"/>
                </a:solidFill>
                <a:latin typeface="Arial" panose="020B0604020202020204" pitchFamily="34" charset="0"/>
              </a:rPr>
              <a:t>) and </a:t>
            </a:r>
            <a:r>
              <a:rPr lang="en-US" altLang="en-US" sz="1600" i="1" dirty="0">
                <a:solidFill>
                  <a:schemeClr val="tx1"/>
                </a:solidFill>
                <a:latin typeface="+mj-lt"/>
              </a:rPr>
              <a:t>x </a:t>
            </a:r>
            <a:r>
              <a:rPr lang="en-US" altLang="en-US" sz="1600" dirty="0">
                <a:solidFill>
                  <a:schemeClr val="tx1"/>
                </a:solidFill>
                <a:latin typeface="Arial" panose="020B0604020202020204" pitchFamily="34" charset="0"/>
              </a:rPr>
              <a:t>= Number of 60-Pound Bench Presses (BP60).</a:t>
            </a: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4464" y="1452670"/>
            <a:ext cx="3405516" cy="4104863"/>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50692" y="2574036"/>
            <a:ext cx="5537531" cy="1787652"/>
          </a:xfrm>
          <a:prstGeom prst="rect">
            <a:avLst/>
          </a:prstGeom>
        </p:spPr>
      </p:pic>
    </p:spTree>
    <p:extLst>
      <p:ext uri="{BB962C8B-B14F-4D97-AF65-F5344CB8AC3E}">
        <p14:creationId xmlns:p14="http://schemas.microsoft.com/office/powerpoint/2010/main" val="67084635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body" idx="4294967295"/>
          </p:nvPr>
        </p:nvSpPr>
        <p:spPr bwMode="auto">
          <a:xfrm>
            <a:off x="685800" y="1600200"/>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ormAutofit/>
          </a:bodyPr>
          <a:lstStyle/>
          <a:p>
            <a:pPr marL="0" indent="0">
              <a:spcBef>
                <a:spcPct val="20000"/>
              </a:spcBef>
              <a:buNone/>
            </a:pPr>
            <a:r>
              <a:rPr lang="en-US" altLang="en-US" sz="2200" dirty="0"/>
              <a:t>Conduct a two-sided significance test of the null hypothesis of independence.</a:t>
            </a:r>
          </a:p>
          <a:p>
            <a:pPr marL="0" indent="0">
              <a:spcBef>
                <a:spcPct val="20000"/>
              </a:spcBef>
              <a:buNone/>
            </a:pPr>
            <a:r>
              <a:rPr lang="en-US" altLang="en-US" sz="2200" b="1" dirty="0"/>
              <a:t>1. Assumptions:</a:t>
            </a:r>
          </a:p>
          <a:p>
            <a:pPr lvl="1"/>
            <a:r>
              <a:rPr lang="en-US" altLang="en-US" sz="2200" dirty="0"/>
              <a:t>A scatterplot of the data revealed a linear trend so the straight-line regression model seems appropriate.</a:t>
            </a:r>
          </a:p>
          <a:p>
            <a:pPr lvl="1"/>
            <a:r>
              <a:rPr lang="en-US" altLang="en-US" sz="2200" dirty="0"/>
              <a:t>The scatter of points have a similar spread at different </a:t>
            </a:r>
            <a:r>
              <a:rPr lang="en-US" altLang="en-US" sz="2200" i="1" dirty="0">
                <a:latin typeface="+mj-lt"/>
              </a:rPr>
              <a:t>x</a:t>
            </a:r>
            <a:r>
              <a:rPr lang="en-US" altLang="en-US" sz="2200" dirty="0"/>
              <a:t> values.</a:t>
            </a:r>
          </a:p>
          <a:p>
            <a:pPr lvl="1"/>
            <a:r>
              <a:rPr lang="en-US" altLang="en-US" sz="2200" dirty="0"/>
              <a:t>The sample was a convenience sample, not a random sample, so this is a concern.</a:t>
            </a:r>
          </a:p>
        </p:txBody>
      </p:sp>
      <p:sp>
        <p:nvSpPr>
          <p:cNvPr id="105475" name="Rectangle 2"/>
          <p:cNvSpPr>
            <a:spLocks noChangeArrowheads="1"/>
          </p:cNvSpPr>
          <p:nvPr/>
        </p:nvSpPr>
        <p:spPr bwMode="auto">
          <a:xfrm>
            <a:off x="685800" y="76200"/>
            <a:ext cx="8305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eaLnBrk="0" hangingPunct="0"/>
            <a:r>
              <a:rPr lang="en-US" altLang="en-US" sz="3200">
                <a:solidFill>
                  <a:schemeClr val="tx1"/>
                </a:solidFill>
                <a:latin typeface="Arial" panose="020B0604020202020204" pitchFamily="34" charset="0"/>
              </a:rPr>
              <a:t>Example: 60-Pound Strength and Bench Presses</a:t>
            </a: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20072" y="4412892"/>
            <a:ext cx="3580989" cy="2461451"/>
          </a:xfrm>
          <a:prstGeom prst="rect">
            <a:avLst/>
          </a:prstGeom>
        </p:spPr>
      </p:pic>
    </p:spTree>
    <p:extLst>
      <p:ext uri="{BB962C8B-B14F-4D97-AF65-F5344CB8AC3E}">
        <p14:creationId xmlns:p14="http://schemas.microsoft.com/office/powerpoint/2010/main" val="152621981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6498" name="Rectangle 2"/>
              <p:cNvSpPr>
                <a:spLocks noGrp="1" noChangeArrowheads="1"/>
              </p:cNvSpPr>
              <p:nvPr>
                <p:ph type="body" sz="half" idx="4294967295"/>
              </p:nvPr>
            </p:nvSpPr>
            <p:spPr bwMode="auto">
              <a:xfrm>
                <a:off x="763524" y="1600200"/>
                <a:ext cx="7600950" cy="4511675"/>
              </a:xfrm>
              <a:prstGeom prst="rect">
                <a:avLst/>
              </a:prstGeom>
              <a:solidFill>
                <a:srgbClr val="FFFFFF"/>
              </a:solidFill>
              <a:extLst>
                <a:ext uri="{91240B29-F687-4F45-9708-019B960494DF}">
                  <a14:hiddenLine w="9525">
                    <a:solidFill>
                      <a:srgbClr val="000000"/>
                    </a:solidFill>
                    <a:miter lim="800000"/>
                    <a:headEnd/>
                    <a:tailEnd/>
                  </a14:hiddenLine>
                </a:ext>
              </a:extLst>
            </p:spPr>
            <p:txBody>
              <a:bodyPr lIns="0" rIns="0">
                <a:normAutofit/>
              </a:bodyPr>
              <a:lstStyle/>
              <a:p>
                <a:pPr marL="0" indent="0">
                  <a:spcBef>
                    <a:spcPct val="20000"/>
                  </a:spcBef>
                  <a:buNone/>
                </a:pPr>
                <a:r>
                  <a:rPr lang="en-US" altLang="en-US" sz="2000" b="1" dirty="0"/>
                  <a:t>2. Hypotheses: </a:t>
                </a:r>
                <a14:m>
                  <m:oMath xmlns:m="http://schemas.openxmlformats.org/officeDocument/2006/math">
                    <m:sSub>
                      <m:sSubPr>
                        <m:ctrlPr>
                          <a:rPr lang="en-US" altLang="en-US" i="1">
                            <a:latin typeface="Cambria Math" panose="02040503050406030204" pitchFamily="18" charset="0"/>
                          </a:rPr>
                        </m:ctrlPr>
                      </m:sSubPr>
                      <m:e>
                        <m:r>
                          <m:rPr>
                            <m:sty m:val="p"/>
                          </m:rPr>
                          <a:rPr lang="en-US" altLang="en-US" i="0">
                            <a:latin typeface="Cambria Math" panose="02040503050406030204" pitchFamily="18" charset="0"/>
                          </a:rPr>
                          <m:t>H</m:t>
                        </m:r>
                      </m:e>
                      <m:sub>
                        <m:r>
                          <a:rPr lang="en-US" altLang="en-US" i="1">
                            <a:latin typeface="Cambria Math" panose="02040503050406030204" pitchFamily="18" charset="0"/>
                          </a:rPr>
                          <m:t>0</m:t>
                        </m:r>
                      </m:sub>
                    </m:sSub>
                  </m:oMath>
                </a14:m>
                <a:r>
                  <a:rPr lang="en-US" altLang="en-US" dirty="0"/>
                  <a:t>: </a:t>
                </a:r>
                <a:r>
                  <a:rPr lang="en-US" altLang="en-US" dirty="0">
                    <a:sym typeface="Symbol" panose="05050102010706020507" pitchFamily="18" charset="2"/>
                  </a:rPr>
                  <a:t> = 0, </a:t>
                </a:r>
                <a14:m>
                  <m:oMath xmlns:m="http://schemas.openxmlformats.org/officeDocument/2006/math">
                    <m:sSub>
                      <m:sSubPr>
                        <m:ctrlPr>
                          <a:rPr lang="en-US" altLang="en-US" i="1">
                            <a:latin typeface="Cambria Math" panose="02040503050406030204" pitchFamily="18" charset="0"/>
                          </a:rPr>
                        </m:ctrlPr>
                      </m:sSubPr>
                      <m:e>
                        <m:r>
                          <m:rPr>
                            <m:sty m:val="p"/>
                          </m:rPr>
                          <a:rPr lang="en-US" altLang="en-US" i="0">
                            <a:latin typeface="Cambria Math" panose="02040503050406030204" pitchFamily="18" charset="0"/>
                          </a:rPr>
                          <m:t>H</m:t>
                        </m:r>
                      </m:e>
                      <m:sub>
                        <m:r>
                          <a:rPr lang="en-US" altLang="en-US" i="1">
                            <a:latin typeface="Cambria Math" panose="02040503050406030204" pitchFamily="18" charset="0"/>
                          </a:rPr>
                          <m:t>𝑎</m:t>
                        </m:r>
                      </m:sub>
                    </m:sSub>
                  </m:oMath>
                </a14:m>
                <a:r>
                  <a:rPr lang="en-US" altLang="en-US" dirty="0"/>
                  <a:t>: </a:t>
                </a:r>
                <a:r>
                  <a:rPr lang="en-US" altLang="en-US" dirty="0">
                    <a:sym typeface="Symbol" panose="05050102010706020507" pitchFamily="18" charset="2"/>
                  </a:rPr>
                  <a:t> ≠ </a:t>
                </a:r>
                <a:r>
                  <a:rPr lang="en-US" altLang="en-US" dirty="0">
                    <a:solidFill>
                      <a:schemeClr val="tx1"/>
                    </a:solidFill>
                    <a:sym typeface="Symbol" panose="05050102010706020507" pitchFamily="18" charset="2"/>
                  </a:rPr>
                  <a:t>0</a:t>
                </a:r>
                <a:r>
                  <a:rPr lang="en-US" altLang="en-US" b="1" dirty="0">
                    <a:solidFill>
                      <a:srgbClr val="FF0000"/>
                    </a:solidFill>
                  </a:rPr>
                  <a:t>	</a:t>
                </a:r>
                <a:r>
                  <a:rPr lang="en-US" altLang="en-US" sz="2000" dirty="0"/>
                  <a:t> </a:t>
                </a:r>
              </a:p>
              <a:p>
                <a:pPr marL="0" indent="0">
                  <a:spcBef>
                    <a:spcPct val="20000"/>
                  </a:spcBef>
                </a:pPr>
                <a:endParaRPr lang="en-US" altLang="en-US" sz="2000" dirty="0"/>
              </a:p>
              <a:p>
                <a:pPr marL="0" indent="0">
                  <a:spcBef>
                    <a:spcPct val="20000"/>
                  </a:spcBef>
                </a:pPr>
                <a:endParaRPr lang="en-US" altLang="en-US" sz="2000" dirty="0"/>
              </a:p>
              <a:p>
                <a:pPr marL="0" indent="0">
                  <a:spcBef>
                    <a:spcPct val="20000"/>
                  </a:spcBef>
                  <a:buNone/>
                </a:pPr>
                <a:r>
                  <a:rPr lang="en-US" altLang="en-US" sz="2000" b="1" dirty="0"/>
                  <a:t>3. Test statistic: </a:t>
                </a:r>
              </a:p>
              <a:p>
                <a:pPr marL="0" indent="0">
                  <a:spcBef>
                    <a:spcPct val="20000"/>
                  </a:spcBef>
                </a:pPr>
                <a:endParaRPr lang="en-US" altLang="en-US" sz="2000" dirty="0"/>
              </a:p>
              <a:p>
                <a:pPr marL="0" indent="0">
                  <a:spcBef>
                    <a:spcPct val="20000"/>
                  </a:spcBef>
                </a:pPr>
                <a:endParaRPr lang="en-US" altLang="en-US" sz="2000" dirty="0"/>
              </a:p>
              <a:p>
                <a:pPr marL="0" indent="0">
                  <a:spcBef>
                    <a:spcPct val="20000"/>
                  </a:spcBef>
                </a:pPr>
                <a:endParaRPr lang="en-US" altLang="en-US" sz="2000" dirty="0"/>
              </a:p>
              <a:p>
                <a:pPr marL="0" indent="0">
                  <a:spcBef>
                    <a:spcPct val="20000"/>
                  </a:spcBef>
                  <a:buNone/>
                </a:pPr>
                <a:endParaRPr lang="en-US" altLang="en-US" sz="2000" b="1" dirty="0"/>
              </a:p>
              <a:p>
                <a:pPr marL="0" indent="0">
                  <a:spcBef>
                    <a:spcPct val="20000"/>
                  </a:spcBef>
                  <a:buNone/>
                </a:pPr>
                <a:r>
                  <a:rPr lang="en-US" altLang="en-US" sz="2000" b="1" dirty="0"/>
                  <a:t>4. P-value:  </a:t>
                </a:r>
                <a:r>
                  <a:rPr lang="en-US" altLang="en-US" sz="2000" dirty="0">
                    <a:solidFill>
                      <a:schemeClr val="tx1"/>
                    </a:solidFill>
                  </a:rPr>
                  <a:t>0.000</a:t>
                </a:r>
              </a:p>
              <a:p>
                <a:pPr marL="0" indent="0">
                  <a:spcBef>
                    <a:spcPct val="20000"/>
                  </a:spcBef>
                </a:pPr>
                <a:endParaRPr lang="en-US" altLang="en-US" sz="2000" dirty="0"/>
              </a:p>
              <a:p>
                <a:pPr marL="0" indent="0">
                  <a:spcBef>
                    <a:spcPct val="20000"/>
                  </a:spcBef>
                  <a:buNone/>
                </a:pPr>
                <a:r>
                  <a:rPr lang="en-US" altLang="en-US" sz="2000" b="1" dirty="0">
                    <a:solidFill>
                      <a:schemeClr val="tx1"/>
                    </a:solidFill>
                  </a:rPr>
                  <a:t>5. Conclusion: </a:t>
                </a:r>
                <a:r>
                  <a:rPr lang="en-US" altLang="en-US" sz="2000" dirty="0"/>
                  <a:t>An association exists between the number of 60-pound bench presses and maximum bench press.</a:t>
                </a:r>
              </a:p>
            </p:txBody>
          </p:sp>
        </mc:Choice>
        <mc:Fallback xmlns="">
          <p:sp>
            <p:nvSpPr>
              <p:cNvPr id="106498" name="Rectangle 2"/>
              <p:cNvSpPr>
                <a:spLocks noGrp="1" noRot="1" noChangeAspect="1" noMove="1" noResize="1" noEditPoints="1" noAdjustHandles="1" noChangeArrowheads="1" noChangeShapeType="1" noTextEdit="1"/>
              </p:cNvSpPr>
              <p:nvPr>
                <p:ph type="body" sz="half" idx="4294967295"/>
              </p:nvPr>
            </p:nvSpPr>
            <p:spPr bwMode="auto">
              <a:xfrm>
                <a:off x="763524" y="1600200"/>
                <a:ext cx="7600950" cy="4511675"/>
              </a:xfrm>
              <a:prstGeom prst="rect">
                <a:avLst/>
              </a:prstGeom>
              <a:blipFill>
                <a:blip r:embed="rId2"/>
                <a:stretch>
                  <a:fillRect l="-2005" t="-2703"/>
                </a:stretch>
              </a:blipFill>
              <a:extLs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06500" name="Rectangle 2"/>
          <p:cNvSpPr>
            <a:spLocks noChangeArrowheads="1"/>
          </p:cNvSpPr>
          <p:nvPr/>
        </p:nvSpPr>
        <p:spPr bwMode="auto">
          <a:xfrm>
            <a:off x="685800" y="76200"/>
            <a:ext cx="8305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eaLnBrk="0" hangingPunct="0"/>
            <a:r>
              <a:rPr lang="en-US" altLang="en-US" sz="3200">
                <a:solidFill>
                  <a:schemeClr val="tx1"/>
                </a:solidFill>
                <a:latin typeface="Arial" panose="020B0604020202020204" pitchFamily="34" charset="0"/>
              </a:rPr>
              <a:t>Example: 60-Pound Strength and Bench Presses</a:t>
            </a:r>
          </a:p>
        </p:txBody>
      </p:sp>
      <p:graphicFrame>
        <p:nvGraphicFramePr>
          <p:cNvPr id="2" name="Object 1"/>
          <p:cNvGraphicFramePr>
            <a:graphicFrameLocks noChangeAspect="1"/>
          </p:cNvGraphicFramePr>
          <p:nvPr/>
        </p:nvGraphicFramePr>
        <p:xfrm>
          <a:off x="2747963" y="3195638"/>
          <a:ext cx="3632200" cy="787400"/>
        </p:xfrm>
        <a:graphic>
          <a:graphicData uri="http://schemas.openxmlformats.org/presentationml/2006/ole">
            <mc:AlternateContent xmlns:mc="http://schemas.openxmlformats.org/markup-compatibility/2006">
              <mc:Choice xmlns:v="urn:schemas-microsoft-com:vml" Requires="v">
                <p:oleObj name="Equation" r:id="rId3" imgW="3632040" imgH="787320" progId="Equation.DSMT4">
                  <p:embed/>
                </p:oleObj>
              </mc:Choice>
              <mc:Fallback>
                <p:oleObj name="Equation" r:id="rId3" imgW="3632040" imgH="787320" progId="Equation.DSMT4">
                  <p:embed/>
                  <p:pic>
                    <p:nvPicPr>
                      <p:cNvPr id="2"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7963" y="3195638"/>
                        <a:ext cx="3632200" cy="78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83000004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idx="4294967295"/>
          </p:nvPr>
        </p:nvSpPr>
        <p:spPr bwMode="auto">
          <a:xfrm>
            <a:off x="828675" y="450402"/>
            <a:ext cx="7924800" cy="63658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noAutofit/>
          </a:bodyPr>
          <a:lstStyle/>
          <a:p>
            <a:r>
              <a:rPr lang="en-US" altLang="en-US" sz="3200" b="1" dirty="0">
                <a:latin typeface="Arial" panose="020B0604020202020204" pitchFamily="34" charset="0"/>
              </a:rPr>
              <a:t>A Confidence </a:t>
            </a:r>
            <a:r>
              <a:rPr lang="en-US" altLang="en-US" sz="3200" b="1" dirty="0">
                <a:solidFill>
                  <a:schemeClr val="tx1"/>
                </a:solidFill>
                <a:latin typeface="Arial" panose="020B0604020202020204" pitchFamily="34" charset="0"/>
              </a:rPr>
              <a:t>Interval </a:t>
            </a:r>
            <a:r>
              <a:rPr lang="en-US" altLang="en-US" sz="3200" b="1" dirty="0">
                <a:solidFill>
                  <a:schemeClr val="tx1"/>
                </a:solidFill>
                <a:latin typeface="Arial" panose="020B0604020202020204" pitchFamily="34" charset="0"/>
                <a:sym typeface="Symbol" panose="05050102010706020507" pitchFamily="18" charset="2"/>
              </a:rPr>
              <a:t>Tells </a:t>
            </a:r>
            <a:r>
              <a:rPr lang="en-US" altLang="en-US" sz="3200" b="1" dirty="0">
                <a:latin typeface="Arial" panose="020B0604020202020204" pitchFamily="34" charset="0"/>
                <a:sym typeface="Symbol" panose="05050102010706020507" pitchFamily="18" charset="2"/>
              </a:rPr>
              <a:t>Us How Precisely We Can Estimate Slope</a:t>
            </a:r>
            <a:r>
              <a:rPr lang="en-US" altLang="en-US" sz="3200" b="1" dirty="0">
                <a:latin typeface="Arial" panose="020B0604020202020204" pitchFamily="34" charset="0"/>
              </a:rPr>
              <a:t> </a:t>
            </a:r>
            <a:endParaRPr lang="el-GR" altLang="en-US" sz="3200" b="1" dirty="0">
              <a:latin typeface="Arial" panose="020B0604020202020204" pitchFamily="34" charset="0"/>
            </a:endParaRPr>
          </a:p>
        </p:txBody>
      </p:sp>
      <mc:AlternateContent xmlns:mc="http://schemas.openxmlformats.org/markup-compatibility/2006" xmlns:a14="http://schemas.microsoft.com/office/drawing/2010/main">
        <mc:Choice Requires="a14">
          <p:sp>
            <p:nvSpPr>
              <p:cNvPr id="107523" name="Rectangle 3"/>
              <p:cNvSpPr>
                <a:spLocks noGrp="1" noChangeArrowheads="1"/>
              </p:cNvSpPr>
              <p:nvPr>
                <p:ph type="body" sz="half" idx="4294967295"/>
              </p:nvPr>
            </p:nvSpPr>
            <p:spPr bwMode="auto">
              <a:xfrm>
                <a:off x="763524" y="1584325"/>
                <a:ext cx="7753350" cy="4511675"/>
              </a:xfrm>
              <a:prstGeom prst="rect">
                <a:avLst/>
              </a:prstGeom>
              <a:solidFill>
                <a:srgbClr val="FFFFFF"/>
              </a:solidFill>
              <a:extLst>
                <a:ext uri="{91240B29-F687-4F45-9708-019B960494DF}">
                  <a14:hiddenLine w="9525">
                    <a:solidFill>
                      <a:srgbClr val="000000"/>
                    </a:solidFill>
                    <a:miter lim="800000"/>
                    <a:headEnd/>
                    <a:tailEnd/>
                  </a14:hiddenLine>
                </a:ext>
              </a:extLst>
            </p:spPr>
            <p:txBody>
              <a:bodyPr lIns="0" rIns="0">
                <a:noAutofit/>
              </a:bodyPr>
              <a:lstStyle/>
              <a:p>
                <a:pPr marL="0" indent="0">
                  <a:spcBef>
                    <a:spcPct val="20000"/>
                  </a:spcBef>
                </a:pPr>
                <a:r>
                  <a:rPr lang="en-US" altLang="en-US" dirty="0"/>
                  <a:t>A small </a:t>
                </a:r>
                <a:r>
                  <a:rPr lang="en-US" altLang="en-US" i="1" dirty="0"/>
                  <a:t>P</a:t>
                </a:r>
                <a:r>
                  <a:rPr lang="en-US" altLang="en-US" dirty="0"/>
                  <a:t>-value in the significance test of  </a:t>
                </a:r>
                <a14:m>
                  <m:oMath xmlns:m="http://schemas.openxmlformats.org/officeDocument/2006/math">
                    <m:sSub>
                      <m:sSubPr>
                        <m:ctrlPr>
                          <a:rPr lang="en-US" altLang="en-US" i="1">
                            <a:latin typeface="Cambria Math" panose="02040503050406030204" pitchFamily="18" charset="0"/>
                          </a:rPr>
                        </m:ctrlPr>
                      </m:sSubPr>
                      <m:e>
                        <m:r>
                          <m:rPr>
                            <m:sty m:val="p"/>
                          </m:rPr>
                          <a:rPr lang="en-US" altLang="en-US" i="0">
                            <a:latin typeface="Cambria Math" panose="02040503050406030204" pitchFamily="18" charset="0"/>
                          </a:rPr>
                          <m:t>H</m:t>
                        </m:r>
                      </m:e>
                      <m:sub>
                        <m:r>
                          <a:rPr lang="en-US" altLang="en-US" i="1">
                            <a:latin typeface="Cambria Math" panose="02040503050406030204" pitchFamily="18" charset="0"/>
                          </a:rPr>
                          <m:t>0</m:t>
                        </m:r>
                      </m:sub>
                    </m:sSub>
                  </m:oMath>
                </a14:m>
                <a:r>
                  <a:rPr lang="en-US" altLang="en-US" dirty="0"/>
                  <a:t>: </a:t>
                </a:r>
                <a:r>
                  <a:rPr lang="en-US" altLang="en-US" dirty="0">
                    <a:sym typeface="Symbol" panose="05050102010706020507" pitchFamily="18" charset="2"/>
                  </a:rPr>
                  <a:t> = 0</a:t>
                </a:r>
                <a:r>
                  <a:rPr lang="en-US" altLang="en-US" dirty="0"/>
                  <a:t>               suggests that the population regression line has a nonzero slope.</a:t>
                </a:r>
              </a:p>
              <a:p>
                <a:pPr marL="0" indent="0">
                  <a:spcBef>
                    <a:spcPct val="20000"/>
                  </a:spcBef>
                  <a:buNone/>
                </a:pPr>
                <a:endParaRPr lang="en-US" altLang="en-US" dirty="0"/>
              </a:p>
              <a:p>
                <a:pPr marL="0" indent="0">
                  <a:spcBef>
                    <a:spcPct val="20000"/>
                  </a:spcBef>
                </a:pPr>
                <a:r>
                  <a:rPr lang="en-US" altLang="en-US" dirty="0"/>
                  <a:t>To learn how far the slope </a:t>
                </a:r>
                <a14:m>
                  <m:oMath xmlns:m="http://schemas.openxmlformats.org/officeDocument/2006/math">
                    <m:r>
                      <m:rPr>
                        <m:sty m:val="p"/>
                      </m:rPr>
                      <a:rPr lang="en-US" altLang="en-US" i="0" smtClean="0">
                        <a:latin typeface="Cambria Math" panose="02040503050406030204" pitchFamily="18" charset="0"/>
                        <a:ea typeface="Cambria Math" panose="02040503050406030204" pitchFamily="18" charset="0"/>
                      </a:rPr>
                      <m:t>β</m:t>
                    </m:r>
                  </m:oMath>
                </a14:m>
                <a:r>
                  <a:rPr lang="en-US" altLang="en-US" dirty="0"/>
                  <a:t> falls from 0, we construct a confidence interval:</a:t>
                </a:r>
              </a:p>
              <a:p>
                <a:pPr marL="0" indent="0">
                  <a:spcBef>
                    <a:spcPct val="20000"/>
                  </a:spcBef>
                  <a:buNone/>
                </a:pPr>
                <a:r>
                  <a:rPr lang="en-US" altLang="en-US" dirty="0"/>
                  <a:t>    </a:t>
                </a:r>
                <a:endParaRPr lang="el-GR" altLang="en-US" dirty="0"/>
              </a:p>
            </p:txBody>
          </p:sp>
        </mc:Choice>
        <mc:Fallback xmlns="">
          <p:sp>
            <p:nvSpPr>
              <p:cNvPr id="107523" name="Rectangle 3"/>
              <p:cNvSpPr>
                <a:spLocks noGrp="1" noRot="1" noChangeAspect="1" noMove="1" noResize="1" noEditPoints="1" noAdjustHandles="1" noChangeArrowheads="1" noChangeShapeType="1" noTextEdit="1"/>
              </p:cNvSpPr>
              <p:nvPr>
                <p:ph type="body" sz="half" idx="4294967295"/>
              </p:nvPr>
            </p:nvSpPr>
            <p:spPr bwMode="auto">
              <a:xfrm>
                <a:off x="763524" y="1584325"/>
                <a:ext cx="7753350" cy="4511675"/>
              </a:xfrm>
              <a:prstGeom prst="rect">
                <a:avLst/>
              </a:prstGeom>
              <a:blipFill>
                <a:blip r:embed="rId3"/>
                <a:stretch>
                  <a:fillRect l="-2752" t="-2703"/>
                </a:stretch>
              </a:blipFill>
              <a:extLs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aphicFrame>
        <p:nvGraphicFramePr>
          <p:cNvPr id="2" name="Object 1"/>
          <p:cNvGraphicFramePr>
            <a:graphicFrameLocks noChangeAspect="1"/>
          </p:cNvGraphicFramePr>
          <p:nvPr>
            <p:extLst>
              <p:ext uri="{D42A27DB-BD31-4B8C-83A1-F6EECF244321}">
                <p14:modId xmlns:p14="http://schemas.microsoft.com/office/powerpoint/2010/main" val="3915083455"/>
              </p:ext>
            </p:extLst>
          </p:nvPr>
        </p:nvGraphicFramePr>
        <p:xfrm>
          <a:off x="2836799" y="4725144"/>
          <a:ext cx="3606800" cy="393700"/>
        </p:xfrm>
        <a:graphic>
          <a:graphicData uri="http://schemas.openxmlformats.org/presentationml/2006/ole">
            <mc:AlternateContent xmlns:mc="http://schemas.openxmlformats.org/markup-compatibility/2006">
              <mc:Choice xmlns:v="urn:schemas-microsoft-com:vml" Requires="v">
                <p:oleObj name="Equation" r:id="rId4" imgW="3606480" imgH="393480" progId="Equation.DSMT4">
                  <p:embed/>
                </p:oleObj>
              </mc:Choice>
              <mc:Fallback>
                <p:oleObj name="Equation" r:id="rId4" imgW="3606480" imgH="393480" progId="Equation.DSMT4">
                  <p:embed/>
                  <p:pic>
                    <p:nvPicPr>
                      <p:cNvPr id="2"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36799" y="4725144"/>
                        <a:ext cx="3606800" cy="393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88222139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idx="4294967295"/>
          </p:nvPr>
        </p:nvSpPr>
        <p:spPr bwMode="auto">
          <a:xfrm>
            <a:off x="701675" y="76200"/>
            <a:ext cx="8145463" cy="11430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noAutofit/>
          </a:bodyPr>
          <a:lstStyle/>
          <a:p>
            <a:r>
              <a:rPr lang="en-US" altLang="en-US" sz="3200" b="1" dirty="0">
                <a:latin typeface="Arial" panose="020B0604020202020204" pitchFamily="34" charset="0"/>
              </a:rPr>
              <a:t>Example: Estimating the Slope for Predicting Maximum Bench Press</a:t>
            </a:r>
          </a:p>
        </p:txBody>
      </p:sp>
      <p:sp>
        <p:nvSpPr>
          <p:cNvPr id="108547" name="Rectangle 3"/>
          <p:cNvSpPr>
            <a:spLocks noGrp="1" noChangeArrowheads="1"/>
          </p:cNvSpPr>
          <p:nvPr>
            <p:ph type="body" sz="half" idx="4294967295"/>
          </p:nvPr>
        </p:nvSpPr>
        <p:spPr bwMode="auto">
          <a:xfrm>
            <a:off x="763524" y="1600200"/>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spcBef>
                <a:spcPct val="20000"/>
              </a:spcBef>
              <a:buNone/>
            </a:pPr>
            <a:r>
              <a:rPr lang="en-US" altLang="en-US" dirty="0"/>
              <a:t>Construct a 95% confidence interval for </a:t>
            </a:r>
            <a:r>
              <a:rPr lang="en-US" altLang="en-US" dirty="0">
                <a:sym typeface="Symbol" panose="05050102010706020507" pitchFamily="18" charset="2"/>
              </a:rPr>
              <a:t></a:t>
            </a:r>
            <a:r>
              <a:rPr lang="en-US" altLang="en-US" dirty="0"/>
              <a:t>.</a:t>
            </a:r>
          </a:p>
          <a:p>
            <a:pPr marL="0" indent="0">
              <a:spcBef>
                <a:spcPct val="20000"/>
              </a:spcBef>
            </a:pPr>
            <a:endParaRPr lang="en-US" altLang="en-US" dirty="0"/>
          </a:p>
          <a:p>
            <a:pPr marL="0" indent="0">
              <a:spcBef>
                <a:spcPct val="20000"/>
              </a:spcBef>
            </a:pPr>
            <a:endParaRPr lang="en-US" altLang="en-US" dirty="0"/>
          </a:p>
          <a:p>
            <a:pPr marL="0" indent="0">
              <a:spcBef>
                <a:spcPct val="20000"/>
              </a:spcBef>
            </a:pPr>
            <a:endParaRPr lang="en-US" altLang="en-US" dirty="0"/>
          </a:p>
          <a:p>
            <a:pPr marL="0" indent="0">
              <a:spcBef>
                <a:spcPct val="20000"/>
              </a:spcBef>
              <a:buNone/>
            </a:pPr>
            <a:r>
              <a:rPr lang="en-US" altLang="en-US" dirty="0"/>
              <a:t>Based on a 95% CI, we can conclude, on average, the maximum bench press increases by between 1.2 and 1.8 pounds for each additional 60-pound bench press that an athlete can do.</a:t>
            </a:r>
            <a:endParaRPr lang="el-GR" altLang="en-US" dirty="0"/>
          </a:p>
        </p:txBody>
      </p:sp>
      <p:graphicFrame>
        <p:nvGraphicFramePr>
          <p:cNvPr id="2" name="Object 1"/>
          <p:cNvGraphicFramePr>
            <a:graphicFrameLocks noChangeAspect="1"/>
          </p:cNvGraphicFramePr>
          <p:nvPr/>
        </p:nvGraphicFramePr>
        <p:xfrm>
          <a:off x="1929384" y="2263140"/>
          <a:ext cx="4254500" cy="1003300"/>
        </p:xfrm>
        <a:graphic>
          <a:graphicData uri="http://schemas.openxmlformats.org/presentationml/2006/ole">
            <mc:AlternateContent xmlns:mc="http://schemas.openxmlformats.org/markup-compatibility/2006">
              <mc:Choice xmlns:v="urn:schemas-microsoft-com:vml" Requires="v">
                <p:oleObj name="Equation" r:id="rId2" imgW="4254480" imgH="1002960" progId="Equation.DSMT4">
                  <p:embed/>
                </p:oleObj>
              </mc:Choice>
              <mc:Fallback>
                <p:oleObj name="Equation" r:id="rId2" imgW="4254480" imgH="1002960" progId="Equation.DSMT4">
                  <p:embed/>
                  <p:pic>
                    <p:nvPicPr>
                      <p:cNvPr id="2"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9384" y="2263140"/>
                        <a:ext cx="4254500" cy="1003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2789352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body" idx="4294967295"/>
          </p:nvPr>
        </p:nvSpPr>
        <p:spPr bwMode="auto">
          <a:xfrm>
            <a:off x="685800" y="1600200"/>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spcBef>
                <a:spcPct val="20000"/>
              </a:spcBef>
              <a:buNone/>
            </a:pPr>
            <a:r>
              <a:rPr lang="en-US" altLang="en-US" dirty="0"/>
              <a:t>Let’s estimate the effect of a 10-unit increase in </a:t>
            </a:r>
            <a:r>
              <a:rPr lang="en-US" altLang="en-US" i="1" dirty="0">
                <a:latin typeface="+mj-lt"/>
              </a:rPr>
              <a:t>x</a:t>
            </a:r>
            <a:r>
              <a:rPr lang="en-US" altLang="en-US" dirty="0"/>
              <a:t>:</a:t>
            </a:r>
          </a:p>
          <a:p>
            <a:pPr marL="0" indent="0">
              <a:spcBef>
                <a:spcPct val="20000"/>
              </a:spcBef>
            </a:pPr>
            <a:endParaRPr lang="en-US" altLang="en-US" dirty="0"/>
          </a:p>
          <a:p>
            <a:pPr lvl="1"/>
            <a:r>
              <a:rPr lang="en-US" altLang="en-US" dirty="0"/>
              <a:t>Since the 95% CI for </a:t>
            </a:r>
            <a:r>
              <a:rPr lang="en-US" altLang="en-US" dirty="0">
                <a:sym typeface="Symbol" panose="05050102010706020507" pitchFamily="18" charset="2"/>
              </a:rPr>
              <a:t></a:t>
            </a:r>
            <a:r>
              <a:rPr lang="en-US" altLang="en-US" dirty="0"/>
              <a:t> is (1.2, 1.8), the 95% CI for     </a:t>
            </a:r>
          </a:p>
          <a:p>
            <a:pPr lvl="1">
              <a:buFont typeface="Wingdings" panose="05000000000000000000" pitchFamily="2" charset="2"/>
              <a:buNone/>
            </a:pPr>
            <a:r>
              <a:rPr lang="en-US" altLang="en-US" dirty="0"/>
              <a:t>	</a:t>
            </a:r>
            <a:r>
              <a:rPr lang="en-US" altLang="en-US" dirty="0">
                <a:solidFill>
                  <a:schemeClr val="tx1"/>
                </a:solidFill>
              </a:rPr>
              <a:t>10</a:t>
            </a:r>
            <a:r>
              <a:rPr lang="en-US" altLang="en-US" dirty="0">
                <a:sym typeface="Symbol" panose="05050102010706020507" pitchFamily="18" charset="2"/>
              </a:rPr>
              <a:t></a:t>
            </a:r>
            <a:r>
              <a:rPr lang="en-US" altLang="en-US" dirty="0"/>
              <a:t> is (12,18).</a:t>
            </a:r>
          </a:p>
          <a:p>
            <a:pPr lvl="1">
              <a:buFont typeface="Wingdings" panose="05000000000000000000" pitchFamily="2" charset="2"/>
              <a:buNone/>
            </a:pPr>
            <a:endParaRPr lang="en-US" altLang="en-US" dirty="0"/>
          </a:p>
          <a:p>
            <a:pPr lvl="1"/>
            <a:r>
              <a:rPr lang="en-US" altLang="en-US" dirty="0"/>
              <a:t>On the average, we infer that the maximum bench press increases by at least 12 pounds and at most 18 pounds, for an increase of 10 in the number of 60-pound bench presses.</a:t>
            </a:r>
          </a:p>
        </p:txBody>
      </p:sp>
      <p:sp>
        <p:nvSpPr>
          <p:cNvPr id="109571" name="Rectangle 2"/>
          <p:cNvSpPr>
            <a:spLocks noChangeArrowheads="1"/>
          </p:cNvSpPr>
          <p:nvPr/>
        </p:nvSpPr>
        <p:spPr bwMode="auto">
          <a:xfrm>
            <a:off x="685800" y="76200"/>
            <a:ext cx="8077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eaLnBrk="0" hangingPunct="0"/>
            <a:r>
              <a:rPr lang="en-US" altLang="en-US" sz="3200">
                <a:solidFill>
                  <a:schemeClr val="tx1"/>
                </a:solidFill>
                <a:latin typeface="Arial" panose="020B0604020202020204" pitchFamily="34" charset="0"/>
              </a:rPr>
              <a:t>Example: Estimating the Slope for Predicting Maximum Bench Press</a:t>
            </a:r>
          </a:p>
        </p:txBody>
      </p:sp>
    </p:spTree>
    <p:extLst>
      <p:ext uri="{BB962C8B-B14F-4D97-AF65-F5344CB8AC3E}">
        <p14:creationId xmlns:p14="http://schemas.microsoft.com/office/powerpoint/2010/main" val="179971667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F63DA6D-6E3A-1C6C-BBE8-457EE40E24C1}"/>
              </a:ext>
            </a:extLst>
          </p:cNvPr>
          <p:cNvSpPr>
            <a:spLocks noGrp="1"/>
          </p:cNvSpPr>
          <p:nvPr>
            <p:ph type="body" sz="quarter" idx="10"/>
          </p:nvPr>
        </p:nvSpPr>
        <p:spPr/>
        <p:txBody>
          <a:bodyPr/>
          <a:lstStyle/>
          <a:p>
            <a:pPr marL="0" indent="0" algn="ctr">
              <a:buNone/>
            </a:pPr>
            <a:r>
              <a:rPr lang="en-US" sz="4000" dirty="0"/>
              <a:t>Describing the Strength of the Association</a:t>
            </a:r>
          </a:p>
          <a:p>
            <a:endParaRPr lang="en-US" dirty="0"/>
          </a:p>
        </p:txBody>
      </p:sp>
    </p:spTree>
    <p:extLst>
      <p:ext uri="{BB962C8B-B14F-4D97-AF65-F5344CB8AC3E}">
        <p14:creationId xmlns:p14="http://schemas.microsoft.com/office/powerpoint/2010/main" val="24838910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Rectangle 3"/>
          <p:cNvSpPr>
            <a:spLocks noGrp="1" noChangeArrowheads="1"/>
          </p:cNvSpPr>
          <p:nvPr>
            <p:ph type="body" idx="4294967295"/>
          </p:nvPr>
        </p:nvSpPr>
        <p:spPr bwMode="auto">
          <a:xfrm>
            <a:off x="685800" y="1600200"/>
            <a:ext cx="8077200" cy="39624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ormAutofit lnSpcReduction="10000"/>
          </a:bodyPr>
          <a:lstStyle/>
          <a:p>
            <a:r>
              <a:rPr lang="en-US" altLang="en-US" dirty="0"/>
              <a:t>We can’t use the slope to describe the strength of the association between two variables because the slope’s numerical value depends on the units of measurement.</a:t>
            </a:r>
          </a:p>
          <a:p>
            <a:endParaRPr lang="en-US" altLang="en-US" dirty="0"/>
          </a:p>
          <a:p>
            <a:r>
              <a:rPr lang="en-US" altLang="en-US" dirty="0"/>
              <a:t>The correlation is a </a:t>
            </a:r>
            <a:r>
              <a:rPr lang="en-US" altLang="en-US" i="1" dirty="0"/>
              <a:t>standardized</a:t>
            </a:r>
            <a:r>
              <a:rPr lang="en-US" altLang="en-US" dirty="0"/>
              <a:t> version of the slope.</a:t>
            </a:r>
          </a:p>
          <a:p>
            <a:endParaRPr lang="en-US" altLang="en-US" dirty="0"/>
          </a:p>
          <a:p>
            <a:r>
              <a:rPr lang="en-US" altLang="en-US" dirty="0"/>
              <a:t>The correlation does not depend on units of measurement.</a:t>
            </a:r>
          </a:p>
        </p:txBody>
      </p:sp>
      <p:sp>
        <p:nvSpPr>
          <p:cNvPr id="80900" name="Rectangle 2"/>
          <p:cNvSpPr>
            <a:spLocks noChangeArrowheads="1"/>
          </p:cNvSpPr>
          <p:nvPr/>
        </p:nvSpPr>
        <p:spPr bwMode="auto">
          <a:xfrm>
            <a:off x="762000" y="104775"/>
            <a:ext cx="80772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eaLnBrk="0" hangingPunct="0"/>
            <a:r>
              <a:rPr lang="en-US" altLang="en-US" sz="3200" dirty="0">
                <a:solidFill>
                  <a:schemeClr val="tx1"/>
                </a:solidFill>
                <a:latin typeface="Arial" panose="020B0604020202020204" pitchFamily="34" charset="0"/>
              </a:rPr>
              <a:t>Correlation Is a Standardized Slope</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3"/>
          <p:cNvSpPr>
            <a:spLocks noGrp="1" noChangeArrowheads="1"/>
          </p:cNvSpPr>
          <p:nvPr>
            <p:ph type="body" sz="half" idx="4294967295"/>
          </p:nvPr>
        </p:nvSpPr>
        <p:spPr bwMode="auto">
          <a:xfrm>
            <a:off x="642874" y="1600200"/>
            <a:ext cx="7893050" cy="138588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buNone/>
            </a:pPr>
            <a:r>
              <a:rPr lang="en-US" altLang="en-US" dirty="0"/>
              <a:t>The correlation and the slope are related in the following way:</a:t>
            </a:r>
          </a:p>
        </p:txBody>
      </p:sp>
      <p:sp>
        <p:nvSpPr>
          <p:cNvPr id="81924" name="Rectangle 2"/>
          <p:cNvSpPr>
            <a:spLocks noChangeArrowheads="1"/>
          </p:cNvSpPr>
          <p:nvPr/>
        </p:nvSpPr>
        <p:spPr bwMode="auto">
          <a:xfrm>
            <a:off x="762000" y="104775"/>
            <a:ext cx="80772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eaLnBrk="0" hangingPunct="0"/>
            <a:r>
              <a:rPr lang="en-US" altLang="en-US" sz="3200">
                <a:solidFill>
                  <a:schemeClr val="tx1"/>
                </a:solidFill>
                <a:latin typeface="Arial" panose="020B0604020202020204" pitchFamily="34" charset="0"/>
              </a:rPr>
              <a:t>Correlation and Slope</a:t>
            </a:r>
          </a:p>
        </p:txBody>
      </p:sp>
      <p:graphicFrame>
        <p:nvGraphicFramePr>
          <p:cNvPr id="2" name="Object 1"/>
          <p:cNvGraphicFramePr>
            <a:graphicFrameLocks noChangeAspect="1"/>
          </p:cNvGraphicFramePr>
          <p:nvPr/>
        </p:nvGraphicFramePr>
        <p:xfrm>
          <a:off x="3328416" y="2418588"/>
          <a:ext cx="1117600" cy="914400"/>
        </p:xfrm>
        <a:graphic>
          <a:graphicData uri="http://schemas.openxmlformats.org/presentationml/2006/ole">
            <mc:AlternateContent xmlns:mc="http://schemas.openxmlformats.org/markup-compatibility/2006">
              <mc:Choice xmlns:v="urn:schemas-microsoft-com:vml" Requires="v">
                <p:oleObj name="Equation" r:id="rId2" imgW="1117440" imgH="914400" progId="Equation.DSMT4">
                  <p:embed/>
                </p:oleObj>
              </mc:Choice>
              <mc:Fallback>
                <p:oleObj name="Equation" r:id="rId2" imgW="1117440" imgH="914400" progId="Equation.DSMT4">
                  <p:embed/>
                  <p:pic>
                    <p:nvPicPr>
                      <p:cNvPr id="2"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8416" y="2418588"/>
                        <a:ext cx="1117600"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idx="4294967295"/>
          </p:nvPr>
        </p:nvSpPr>
        <p:spPr bwMode="auto">
          <a:xfrm>
            <a:off x="747713" y="146050"/>
            <a:ext cx="8001000" cy="7620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Example: Predicting Strength</a:t>
            </a:r>
          </a:p>
        </p:txBody>
      </p:sp>
      <p:sp>
        <p:nvSpPr>
          <p:cNvPr id="82947" name="Rectangle 3"/>
          <p:cNvSpPr>
            <a:spLocks noGrp="1" noChangeArrowheads="1"/>
          </p:cNvSpPr>
          <p:nvPr>
            <p:ph type="body" sz="half" idx="4294967295"/>
          </p:nvPr>
        </p:nvSpPr>
        <p:spPr bwMode="auto">
          <a:xfrm>
            <a:off x="685800" y="1600200"/>
            <a:ext cx="76771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dirty="0"/>
              <a:t>For the female athlete strength study:</a:t>
            </a:r>
          </a:p>
          <a:p>
            <a:pPr lvl="1"/>
            <a:r>
              <a:rPr lang="en-US" altLang="en-US" i="1" dirty="0">
                <a:latin typeface="+mj-lt"/>
              </a:rPr>
              <a:t>x</a:t>
            </a:r>
            <a:r>
              <a:rPr lang="en-US" altLang="en-US" dirty="0"/>
              <a:t>: number of 60-pound bench presses</a:t>
            </a:r>
          </a:p>
          <a:p>
            <a:pPr lvl="1"/>
            <a:r>
              <a:rPr lang="en-US" altLang="en-US" i="1" dirty="0">
                <a:latin typeface="+mj-lt"/>
              </a:rPr>
              <a:t>y</a:t>
            </a:r>
            <a:r>
              <a:rPr lang="en-US" altLang="en-US" dirty="0"/>
              <a:t>: maximum bench press</a:t>
            </a:r>
          </a:p>
          <a:p>
            <a:pPr lvl="1"/>
            <a:r>
              <a:rPr lang="en-US" altLang="en-US" i="1" dirty="0">
                <a:latin typeface="+mj-lt"/>
              </a:rPr>
              <a:t>x</a:t>
            </a:r>
            <a:r>
              <a:rPr lang="en-US" altLang="en-US" dirty="0"/>
              <a:t>: mean = 11.0, standard deviation = 7.1</a:t>
            </a:r>
          </a:p>
          <a:p>
            <a:pPr lvl="1"/>
            <a:r>
              <a:rPr lang="en-US" altLang="en-US" i="1" dirty="0">
                <a:latin typeface="+mj-lt"/>
              </a:rPr>
              <a:t>y</a:t>
            </a:r>
            <a:r>
              <a:rPr lang="en-US" altLang="en-US" dirty="0"/>
              <a:t>: mean= 79.9 </a:t>
            </a:r>
            <a:r>
              <a:rPr lang="en-US" altLang="en-US" dirty="0" err="1"/>
              <a:t>lbs</a:t>
            </a:r>
            <a:r>
              <a:rPr lang="en-US" altLang="en-US" dirty="0"/>
              <a:t>, standard deviation = 13.3 </a:t>
            </a:r>
            <a:r>
              <a:rPr lang="en-US" altLang="en-US" dirty="0" err="1"/>
              <a:t>lbs</a:t>
            </a:r>
            <a:endParaRPr lang="en-US" altLang="en-US" dirty="0"/>
          </a:p>
          <a:p>
            <a:pPr marL="0" indent="0"/>
            <a:endParaRPr lang="en-US" altLang="en-US" dirty="0"/>
          </a:p>
          <a:p>
            <a:pPr marL="0" indent="0"/>
            <a:r>
              <a:rPr lang="en-US" altLang="en-US" dirty="0"/>
              <a:t>Regression equation: </a:t>
            </a:r>
          </a:p>
          <a:p>
            <a:pPr marL="0" indent="0"/>
            <a:endParaRPr lang="en-US" altLang="en-US" dirty="0"/>
          </a:p>
        </p:txBody>
      </p:sp>
      <p:graphicFrame>
        <p:nvGraphicFramePr>
          <p:cNvPr id="2" name="Object 1"/>
          <p:cNvGraphicFramePr>
            <a:graphicFrameLocks noChangeAspect="1"/>
          </p:cNvGraphicFramePr>
          <p:nvPr>
            <p:extLst>
              <p:ext uri="{D42A27DB-BD31-4B8C-83A1-F6EECF244321}">
                <p14:modId xmlns:p14="http://schemas.microsoft.com/office/powerpoint/2010/main" val="3121772394"/>
              </p:ext>
            </p:extLst>
          </p:nvPr>
        </p:nvGraphicFramePr>
        <p:xfrm>
          <a:off x="3887924" y="4257092"/>
          <a:ext cx="2133600" cy="381000"/>
        </p:xfrm>
        <a:graphic>
          <a:graphicData uri="http://schemas.openxmlformats.org/presentationml/2006/ole">
            <mc:AlternateContent xmlns:mc="http://schemas.openxmlformats.org/markup-compatibility/2006">
              <mc:Choice xmlns:v="urn:schemas-microsoft-com:vml" Requires="v">
                <p:oleObj name="Equation" r:id="rId2" imgW="2133360" imgH="380880" progId="Equation.DSMT4">
                  <p:embed/>
                </p:oleObj>
              </mc:Choice>
              <mc:Fallback>
                <p:oleObj name="Equation" r:id="rId2" imgW="2133360" imgH="380880" progId="Equation.DSMT4">
                  <p:embed/>
                  <p:pic>
                    <p:nvPicPr>
                      <p:cNvPr id="2"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7924" y="4257092"/>
                        <a:ext cx="21336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body" sz="half" idx="4294967295"/>
          </p:nvPr>
        </p:nvSpPr>
        <p:spPr bwMode="auto">
          <a:xfrm>
            <a:off x="996696" y="3584448"/>
            <a:ext cx="7172325" cy="92678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spcBef>
                <a:spcPct val="20000"/>
              </a:spcBef>
              <a:buNone/>
            </a:pPr>
            <a:r>
              <a:rPr lang="en-US" altLang="en-US" dirty="0"/>
              <a:t>The variables have a </a:t>
            </a:r>
            <a:r>
              <a:rPr lang="en-US" altLang="en-US" b="1" dirty="0"/>
              <a:t>strong, positive</a:t>
            </a:r>
            <a:r>
              <a:rPr lang="en-US" altLang="en-US" dirty="0"/>
              <a:t> association.</a:t>
            </a:r>
          </a:p>
        </p:txBody>
      </p:sp>
      <p:sp>
        <p:nvSpPr>
          <p:cNvPr id="83972" name="Rectangle 2"/>
          <p:cNvSpPr>
            <a:spLocks noChangeArrowheads="1"/>
          </p:cNvSpPr>
          <p:nvPr/>
        </p:nvSpPr>
        <p:spPr bwMode="auto">
          <a:xfrm>
            <a:off x="762000" y="136525"/>
            <a:ext cx="8001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eaLnBrk="0" hangingPunct="0"/>
            <a:r>
              <a:rPr lang="en-US" altLang="en-US" sz="3200">
                <a:solidFill>
                  <a:schemeClr val="tx1"/>
                </a:solidFill>
                <a:latin typeface="Arial" panose="020B0604020202020204" pitchFamily="34" charset="0"/>
              </a:rPr>
              <a:t>Example: Predicting Strength</a:t>
            </a:r>
          </a:p>
        </p:txBody>
      </p:sp>
      <p:graphicFrame>
        <p:nvGraphicFramePr>
          <p:cNvPr id="2" name="Object 1"/>
          <p:cNvGraphicFramePr>
            <a:graphicFrameLocks noChangeAspect="1"/>
          </p:cNvGraphicFramePr>
          <p:nvPr/>
        </p:nvGraphicFramePr>
        <p:xfrm>
          <a:off x="2473452" y="2107692"/>
          <a:ext cx="4076700" cy="1054100"/>
        </p:xfrm>
        <a:graphic>
          <a:graphicData uri="http://schemas.openxmlformats.org/presentationml/2006/ole">
            <mc:AlternateContent xmlns:mc="http://schemas.openxmlformats.org/markup-compatibility/2006">
              <mc:Choice xmlns:v="urn:schemas-microsoft-com:vml" Requires="v">
                <p:oleObj name="Equation" r:id="rId2" imgW="4076640" imgH="1054080" progId="Equation.DSMT4">
                  <p:embed/>
                </p:oleObj>
              </mc:Choice>
              <mc:Fallback>
                <p:oleObj name="Equation" r:id="rId2" imgW="4076640" imgH="1054080" progId="Equation.DSMT4">
                  <p:embed/>
                  <p:pic>
                    <p:nvPicPr>
                      <p:cNvPr id="2"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73452" y="2107692"/>
                        <a:ext cx="4076700" cy="1054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4994" name="Rectangle 3"/>
              <p:cNvSpPr>
                <a:spLocks noGrp="1" noChangeArrowheads="1"/>
              </p:cNvSpPr>
              <p:nvPr>
                <p:ph type="body" idx="4294967295"/>
              </p:nvPr>
            </p:nvSpPr>
            <p:spPr bwMode="auto">
              <a:xfrm>
                <a:off x="685800" y="1600200"/>
                <a:ext cx="7753350" cy="4511675"/>
              </a:xfrm>
              <a:prstGeom prst="rect">
                <a:avLst/>
              </a:prstGeom>
              <a:solidFill>
                <a:srgbClr val="FFFFFF"/>
              </a:solidFill>
              <a:extLst>
                <a:ext uri="{91240B29-F687-4F45-9708-019B960494DF}">
                  <a14:hiddenLine w="9525">
                    <a:solidFill>
                      <a:srgbClr val="000000"/>
                    </a:solidFill>
                    <a:miter lim="800000"/>
                    <a:headEnd/>
                    <a:tailEnd/>
                  </a14:hiddenLine>
                </a:ext>
              </a:extLst>
            </p:spPr>
            <p:txBody>
              <a:bodyPr lIns="0" rIns="0"/>
              <a:lstStyle/>
              <a:p>
                <a:pPr marL="0" indent="0">
                  <a:spcBef>
                    <a:spcPct val="20000"/>
                  </a:spcBef>
                  <a:buNone/>
                </a:pPr>
                <a:r>
                  <a:rPr lang="en-US" altLang="en-US" dirty="0"/>
                  <a:t>Another way to describe the strength of association refers to how close predictions for </a:t>
                </a:r>
                <a:r>
                  <a:rPr lang="en-US" altLang="en-US" i="1" dirty="0">
                    <a:latin typeface="+mj-lt"/>
                  </a:rPr>
                  <a:t>y</a:t>
                </a:r>
                <a:r>
                  <a:rPr lang="en-US" altLang="en-US" dirty="0"/>
                  <a:t> tend to be to observed </a:t>
                </a:r>
                <a:r>
                  <a:rPr lang="en-US" altLang="en-US" i="1" dirty="0">
                    <a:latin typeface="+mj-lt"/>
                  </a:rPr>
                  <a:t>y</a:t>
                </a:r>
                <a:r>
                  <a:rPr lang="en-US" altLang="en-US" dirty="0"/>
                  <a:t> values.</a:t>
                </a:r>
              </a:p>
              <a:p>
                <a:pPr marL="0" indent="0">
                  <a:spcBef>
                    <a:spcPct val="20000"/>
                  </a:spcBef>
                </a:pPr>
                <a:endParaRPr lang="en-US" altLang="en-US" dirty="0"/>
              </a:p>
              <a:p>
                <a:pPr marL="0" indent="0">
                  <a:spcBef>
                    <a:spcPct val="20000"/>
                  </a:spcBef>
                  <a:buNone/>
                </a:pPr>
                <a:r>
                  <a:rPr lang="en-US" altLang="en-US" dirty="0"/>
                  <a:t>The variables are strongly associated if you can predict </a:t>
                </a:r>
                <a:r>
                  <a:rPr lang="en-US" altLang="en-US" i="1" dirty="0">
                    <a:latin typeface="+mj-lt"/>
                  </a:rPr>
                  <a:t>y</a:t>
                </a:r>
                <a:r>
                  <a:rPr lang="en-US" altLang="en-US" dirty="0"/>
                  <a:t> much better by substituting </a:t>
                </a:r>
                <a:r>
                  <a:rPr lang="en-US" altLang="en-US" i="1" dirty="0">
                    <a:latin typeface="+mj-lt"/>
                  </a:rPr>
                  <a:t>x</a:t>
                </a:r>
                <a:r>
                  <a:rPr lang="en-US" altLang="en-US" dirty="0"/>
                  <a:t> values into the prediction equation than by merely using the sample mean </a:t>
                </a:r>
                <a14:m>
                  <m:oMath xmlns:m="http://schemas.openxmlformats.org/officeDocument/2006/math">
                    <m:acc>
                      <m:accPr>
                        <m:chr m:val="̅"/>
                        <m:ctrlPr>
                          <a:rPr lang="en-US" altLang="en-US" i="1" smtClean="0">
                            <a:latin typeface="Cambria Math" panose="02040503050406030204" pitchFamily="18" charset="0"/>
                          </a:rPr>
                        </m:ctrlPr>
                      </m:accPr>
                      <m:e>
                        <m:r>
                          <a:rPr lang="en-US" altLang="en-US" b="0" i="1" smtClean="0">
                            <a:latin typeface="Cambria Math" panose="02040503050406030204" pitchFamily="18" charset="0"/>
                          </a:rPr>
                          <m:t>𝑦</m:t>
                        </m:r>
                      </m:e>
                    </m:acc>
                  </m:oMath>
                </a14:m>
                <a:r>
                  <a:rPr lang="en-US" altLang="en-US" dirty="0"/>
                  <a:t> and ignoring </a:t>
                </a:r>
                <a:r>
                  <a:rPr lang="en-US" altLang="en-US" i="1" dirty="0">
                    <a:latin typeface="+mj-lt"/>
                  </a:rPr>
                  <a:t>x</a:t>
                </a:r>
                <a:r>
                  <a:rPr lang="en-US" altLang="en-US" dirty="0"/>
                  <a:t>.</a:t>
                </a:r>
              </a:p>
            </p:txBody>
          </p:sp>
        </mc:Choice>
        <mc:Fallback xmlns="">
          <p:sp>
            <p:nvSpPr>
              <p:cNvPr id="84994" name="Rectangle 3"/>
              <p:cNvSpPr>
                <a:spLocks noGrp="1" noRot="1" noChangeAspect="1" noMove="1" noResize="1" noEditPoints="1" noAdjustHandles="1" noChangeArrowheads="1" noChangeShapeType="1" noTextEdit="1"/>
              </p:cNvSpPr>
              <p:nvPr>
                <p:ph type="body" idx="4294967295"/>
              </p:nvPr>
            </p:nvSpPr>
            <p:spPr bwMode="auto">
              <a:xfrm>
                <a:off x="685800" y="1600200"/>
                <a:ext cx="7753350" cy="4511675"/>
              </a:xfrm>
              <a:prstGeom prst="rect">
                <a:avLst/>
              </a:prstGeom>
              <a:blipFill>
                <a:blip r:embed="rId2"/>
                <a:stretch>
                  <a:fillRect l="-2832" t="-2297"/>
                </a:stretch>
              </a:blipFill>
              <a:extLs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84996" name="Rectangle 2"/>
          <p:cNvSpPr>
            <a:spLocks noGrp="1" noChangeArrowheads="1"/>
          </p:cNvSpPr>
          <p:nvPr>
            <p:ph type="title" idx="4294967295"/>
          </p:nvPr>
        </p:nvSpPr>
        <p:spPr bwMode="auto">
          <a:xfrm>
            <a:off x="914400" y="130175"/>
            <a:ext cx="7924800" cy="78898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The Squared Correlation</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6018" name="Rectangle 3"/>
              <p:cNvSpPr>
                <a:spLocks noGrp="1" noChangeArrowheads="1"/>
              </p:cNvSpPr>
              <p:nvPr>
                <p:ph type="body" sz="half" idx="4294967295"/>
              </p:nvPr>
            </p:nvSpPr>
            <p:spPr bwMode="auto">
              <a:xfrm>
                <a:off x="763524" y="1563688"/>
                <a:ext cx="7677150" cy="4511675"/>
              </a:xfrm>
              <a:prstGeom prst="rect">
                <a:avLst/>
              </a:prstGeom>
              <a:solidFill>
                <a:srgbClr val="FFFFFF"/>
              </a:solidFill>
              <a:extLst>
                <a:ext uri="{91240B29-F687-4F45-9708-019B960494DF}">
                  <a14:hiddenLine w="9525">
                    <a:solidFill>
                      <a:srgbClr val="000000"/>
                    </a:solidFill>
                    <a:miter lim="800000"/>
                    <a:headEnd/>
                    <a:tailEnd/>
                  </a14:hiddenLine>
                </a:ext>
              </a:extLst>
            </p:spPr>
            <p:txBody>
              <a:bodyPr lIns="0" rIns="0"/>
              <a:lstStyle/>
              <a:p>
                <a:pPr marL="0" indent="0">
                  <a:spcBef>
                    <a:spcPct val="20000"/>
                  </a:spcBef>
                  <a:buNone/>
                </a:pPr>
                <a:r>
                  <a:rPr lang="en-US" altLang="en-US" dirty="0"/>
                  <a:t>Consider the prediction error: the difference between the observed and predicted values of </a:t>
                </a:r>
                <a:r>
                  <a:rPr lang="en-US" altLang="en-US" i="1" dirty="0">
                    <a:latin typeface="+mj-lt"/>
                  </a:rPr>
                  <a:t>y</a:t>
                </a:r>
                <a:r>
                  <a:rPr lang="en-US" altLang="en-US" dirty="0"/>
                  <a:t>.</a:t>
                </a:r>
              </a:p>
              <a:p>
                <a:pPr marL="0" indent="0">
                  <a:spcBef>
                    <a:spcPct val="20000"/>
                  </a:spcBef>
                </a:pPr>
                <a:endParaRPr lang="en-US" altLang="en-US" dirty="0"/>
              </a:p>
              <a:p>
                <a:pPr lvl="1"/>
                <a:r>
                  <a:rPr lang="en-US" altLang="en-US" dirty="0"/>
                  <a:t>Using the regression line to make a prediction, each error is: </a:t>
                </a:r>
                <a14:m>
                  <m:oMath xmlns:m="http://schemas.openxmlformats.org/officeDocument/2006/math">
                    <m:r>
                      <a:rPr lang="en-US" altLang="en-US" b="0" i="1" smtClean="0">
                        <a:latin typeface="Cambria Math" panose="02040503050406030204" pitchFamily="18" charset="0"/>
                      </a:rPr>
                      <m:t>𝑦</m:t>
                    </m:r>
                    <m:r>
                      <a:rPr lang="en-US" altLang="en-US" b="0" i="1" smtClean="0">
                        <a:latin typeface="Cambria Math" panose="02040503050406030204" pitchFamily="18" charset="0"/>
                      </a:rPr>
                      <m:t>−</m:t>
                    </m:r>
                    <m:acc>
                      <m:accPr>
                        <m:chr m:val="̂"/>
                        <m:ctrlPr>
                          <a:rPr lang="en-US" altLang="en-US" b="0" i="1" smtClean="0">
                            <a:latin typeface="Cambria Math" panose="02040503050406030204" pitchFamily="18" charset="0"/>
                          </a:rPr>
                        </m:ctrlPr>
                      </m:accPr>
                      <m:e>
                        <m:r>
                          <a:rPr lang="en-US" altLang="en-US" b="0" i="1" smtClean="0">
                            <a:latin typeface="Cambria Math" panose="02040503050406030204" pitchFamily="18" charset="0"/>
                          </a:rPr>
                          <m:t>𝑦</m:t>
                        </m:r>
                      </m:e>
                    </m:acc>
                  </m:oMath>
                </a14:m>
                <a:r>
                  <a:rPr lang="en-US" altLang="en-US" dirty="0"/>
                  <a:t>.</a:t>
                </a:r>
              </a:p>
              <a:p>
                <a:pPr lvl="1"/>
                <a:endParaRPr lang="en-US" altLang="en-US" dirty="0"/>
              </a:p>
              <a:p>
                <a:pPr lvl="1"/>
                <a:r>
                  <a:rPr lang="en-US" altLang="en-US" dirty="0"/>
                  <a:t>Using only the sample mean, </a:t>
                </a:r>
                <a14:m>
                  <m:oMath xmlns:m="http://schemas.openxmlformats.org/officeDocument/2006/math">
                    <m:acc>
                      <m:accPr>
                        <m:chr m:val="̅"/>
                        <m:ctrlPr>
                          <a:rPr lang="en-US" altLang="en-US" i="1" smtClean="0">
                            <a:latin typeface="Cambria Math" panose="02040503050406030204" pitchFamily="18" charset="0"/>
                          </a:rPr>
                        </m:ctrlPr>
                      </m:accPr>
                      <m:e>
                        <m:r>
                          <a:rPr lang="en-US" altLang="en-US" b="0" i="1" smtClean="0">
                            <a:latin typeface="Cambria Math" panose="02040503050406030204" pitchFamily="18" charset="0"/>
                          </a:rPr>
                          <m:t>𝑦</m:t>
                        </m:r>
                      </m:e>
                    </m:acc>
                  </m:oMath>
                </a14:m>
                <a:r>
                  <a:rPr lang="en-US" altLang="en-US" dirty="0"/>
                  <a:t>, to make a prediction, each error is: </a:t>
                </a:r>
                <a14:m>
                  <m:oMath xmlns:m="http://schemas.openxmlformats.org/officeDocument/2006/math">
                    <m:r>
                      <a:rPr lang="en-US" altLang="en-US" b="0" i="1" smtClean="0">
                        <a:latin typeface="Cambria Math" panose="02040503050406030204" pitchFamily="18" charset="0"/>
                      </a:rPr>
                      <m:t>𝑦</m:t>
                    </m:r>
                    <m:r>
                      <a:rPr lang="en-US" altLang="en-US" b="0" i="1" smtClean="0">
                        <a:latin typeface="Cambria Math" panose="02040503050406030204" pitchFamily="18" charset="0"/>
                      </a:rPr>
                      <m:t>−</m:t>
                    </m:r>
                    <m:acc>
                      <m:accPr>
                        <m:chr m:val="̅"/>
                        <m:ctrlPr>
                          <a:rPr lang="en-US" altLang="en-US" b="0" i="1" smtClean="0">
                            <a:latin typeface="Cambria Math" panose="02040503050406030204" pitchFamily="18" charset="0"/>
                          </a:rPr>
                        </m:ctrlPr>
                      </m:accPr>
                      <m:e>
                        <m:r>
                          <a:rPr lang="en-US" altLang="en-US" b="0" i="1" smtClean="0">
                            <a:latin typeface="Cambria Math" panose="02040503050406030204" pitchFamily="18" charset="0"/>
                          </a:rPr>
                          <m:t>𝑦</m:t>
                        </m:r>
                      </m:e>
                    </m:acc>
                  </m:oMath>
                </a14:m>
                <a:r>
                  <a:rPr lang="en-US" altLang="en-US" dirty="0"/>
                  <a:t>.                                </a:t>
                </a:r>
              </a:p>
            </p:txBody>
          </p:sp>
        </mc:Choice>
        <mc:Fallback xmlns="">
          <p:sp>
            <p:nvSpPr>
              <p:cNvPr id="86018" name="Rectangle 3"/>
              <p:cNvSpPr>
                <a:spLocks noGrp="1" noRot="1" noChangeAspect="1" noMove="1" noResize="1" noEditPoints="1" noAdjustHandles="1" noChangeArrowheads="1" noChangeShapeType="1" noTextEdit="1"/>
              </p:cNvSpPr>
              <p:nvPr>
                <p:ph type="body" sz="half" idx="4294967295"/>
              </p:nvPr>
            </p:nvSpPr>
            <p:spPr bwMode="auto">
              <a:xfrm>
                <a:off x="763524" y="1563688"/>
                <a:ext cx="7677150" cy="4511675"/>
              </a:xfrm>
              <a:prstGeom prst="rect">
                <a:avLst/>
              </a:prstGeom>
              <a:blipFill>
                <a:blip r:embed="rId2"/>
                <a:stretch>
                  <a:fillRect l="-2778" t="-2297"/>
                </a:stretch>
              </a:blipFill>
              <a:extLs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86022" name="Rectangle 2"/>
          <p:cNvSpPr>
            <a:spLocks noChangeArrowheads="1"/>
          </p:cNvSpPr>
          <p:nvPr/>
        </p:nvSpPr>
        <p:spPr bwMode="auto">
          <a:xfrm>
            <a:off x="914400" y="120650"/>
            <a:ext cx="7924800" cy="78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eaLnBrk="0" hangingPunct="0"/>
            <a:r>
              <a:rPr lang="en-US" altLang="en-US" sz="3200">
                <a:solidFill>
                  <a:schemeClr val="tx1"/>
                </a:solidFill>
                <a:latin typeface="Arial" panose="020B0604020202020204" pitchFamily="34" charset="0"/>
              </a:rPr>
              <a:t>The Squared Correlation</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7042" name="Rectangle 3"/>
              <p:cNvSpPr>
                <a:spLocks noGrp="1" noChangeArrowheads="1"/>
              </p:cNvSpPr>
              <p:nvPr>
                <p:ph type="body" sz="half" idx="4294967295"/>
              </p:nvPr>
            </p:nvSpPr>
            <p:spPr bwMode="auto">
              <a:xfrm>
                <a:off x="685800" y="1600200"/>
                <a:ext cx="8051800" cy="4300538"/>
              </a:xfrm>
              <a:prstGeom prst="rect">
                <a:avLst/>
              </a:prstGeom>
              <a:solidFill>
                <a:srgbClr val="FFFFFF"/>
              </a:solidFill>
              <a:extLst>
                <a:ext uri="{91240B29-F687-4F45-9708-019B960494DF}">
                  <a14:hiddenLine w="9525">
                    <a:solidFill>
                      <a:srgbClr val="000000"/>
                    </a:solidFill>
                    <a:miter lim="800000"/>
                    <a:headEnd/>
                    <a:tailEnd/>
                  </a14:hiddenLine>
                </a:ext>
              </a:extLst>
            </p:spPr>
            <p:txBody>
              <a:bodyPr lIns="0" rIns="0"/>
              <a:lstStyle/>
              <a:p>
                <a:pPr marL="0" indent="0">
                  <a:spcBef>
                    <a:spcPct val="20000"/>
                  </a:spcBef>
                </a:pPr>
                <a:r>
                  <a:rPr lang="en-US" altLang="en-US" dirty="0"/>
                  <a:t>When we predict y using </a:t>
                </a:r>
                <a14:m>
                  <m:oMath xmlns:m="http://schemas.openxmlformats.org/officeDocument/2006/math">
                    <m:acc>
                      <m:accPr>
                        <m:chr m:val="̅"/>
                        <m:ctrlPr>
                          <a:rPr lang="en-US" altLang="en-US" i="1" smtClean="0">
                            <a:latin typeface="Cambria Math" panose="02040503050406030204" pitchFamily="18" charset="0"/>
                          </a:rPr>
                        </m:ctrlPr>
                      </m:accPr>
                      <m:e>
                        <m:r>
                          <a:rPr lang="en-US" altLang="en-US" b="0" i="1" smtClean="0">
                            <a:latin typeface="Cambria Math" panose="02040503050406030204" pitchFamily="18" charset="0"/>
                          </a:rPr>
                          <m:t>𝑦</m:t>
                        </m:r>
                      </m:e>
                    </m:acc>
                  </m:oMath>
                </a14:m>
                <a:r>
                  <a:rPr lang="en-US" altLang="en-US" dirty="0"/>
                  <a:t> (that is, ignoring </a:t>
                </a:r>
                <a:r>
                  <a:rPr lang="en-US" altLang="en-US" i="1" dirty="0">
                    <a:latin typeface="+mj-lt"/>
                  </a:rPr>
                  <a:t>x</a:t>
                </a:r>
                <a:r>
                  <a:rPr lang="en-US" altLang="en-US" dirty="0"/>
                  <a:t>), the error summary equals:</a:t>
                </a:r>
              </a:p>
              <a:p>
                <a:pPr marL="0" indent="0">
                  <a:spcBef>
                    <a:spcPct val="20000"/>
                  </a:spcBef>
                </a:pPr>
                <a:endParaRPr lang="en-US" altLang="en-US" dirty="0"/>
              </a:p>
              <a:p>
                <a:pPr marL="0" indent="0">
                  <a:spcBef>
                    <a:spcPct val="20000"/>
                  </a:spcBef>
                  <a:buNone/>
                </a:pPr>
                <a:endParaRPr lang="en-US" altLang="en-US" dirty="0"/>
              </a:p>
              <a:p>
                <a:pPr marL="0" indent="0">
                  <a:spcBef>
                    <a:spcPct val="20000"/>
                  </a:spcBef>
                </a:pPr>
                <a:r>
                  <a:rPr lang="en-US" altLang="en-US" dirty="0"/>
                  <a:t>This is called the </a:t>
                </a:r>
                <a:r>
                  <a:rPr lang="en-US" altLang="en-US" b="1" dirty="0"/>
                  <a:t>total sum of squares.</a:t>
                </a:r>
              </a:p>
              <a:p>
                <a:pPr marL="0" indent="0">
                  <a:spcBef>
                    <a:spcPct val="20000"/>
                  </a:spcBef>
                </a:pPr>
                <a:endParaRPr lang="en-US" altLang="en-US" dirty="0"/>
              </a:p>
            </p:txBody>
          </p:sp>
        </mc:Choice>
        <mc:Fallback xmlns="">
          <p:sp>
            <p:nvSpPr>
              <p:cNvPr id="87042" name="Rectangle 3"/>
              <p:cNvSpPr>
                <a:spLocks noGrp="1" noRot="1" noChangeAspect="1" noMove="1" noResize="1" noEditPoints="1" noAdjustHandles="1" noChangeArrowheads="1" noChangeShapeType="1" noTextEdit="1"/>
              </p:cNvSpPr>
              <p:nvPr>
                <p:ph type="body" sz="half" idx="4294967295"/>
              </p:nvPr>
            </p:nvSpPr>
            <p:spPr bwMode="auto">
              <a:xfrm>
                <a:off x="685800" y="1600200"/>
                <a:ext cx="8051800" cy="4300538"/>
              </a:xfrm>
              <a:prstGeom prst="rect">
                <a:avLst/>
              </a:prstGeom>
              <a:blipFill>
                <a:blip r:embed="rId2"/>
                <a:stretch>
                  <a:fillRect l="-2727" t="-2411"/>
                </a:stretch>
              </a:blipFill>
              <a:extLs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87045" name="Rectangle 2"/>
          <p:cNvSpPr>
            <a:spLocks noChangeArrowheads="1"/>
          </p:cNvSpPr>
          <p:nvPr/>
        </p:nvSpPr>
        <p:spPr bwMode="auto">
          <a:xfrm>
            <a:off x="914400" y="119063"/>
            <a:ext cx="7924800" cy="78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eaLnBrk="0" hangingPunct="0"/>
            <a:r>
              <a:rPr lang="en-US" altLang="en-US" sz="3200">
                <a:solidFill>
                  <a:schemeClr val="tx1"/>
                </a:solidFill>
                <a:latin typeface="Arial" panose="020B0604020202020204" pitchFamily="34" charset="0"/>
              </a:rPr>
              <a:t>The Squared Correlation</a:t>
            </a:r>
          </a:p>
        </p:txBody>
      </p:sp>
      <p:graphicFrame>
        <p:nvGraphicFramePr>
          <p:cNvPr id="2" name="Object 1"/>
          <p:cNvGraphicFramePr>
            <a:graphicFrameLocks noChangeAspect="1"/>
          </p:cNvGraphicFramePr>
          <p:nvPr/>
        </p:nvGraphicFramePr>
        <p:xfrm>
          <a:off x="3340100" y="2651760"/>
          <a:ext cx="1536700" cy="482600"/>
        </p:xfrm>
        <a:graphic>
          <a:graphicData uri="http://schemas.openxmlformats.org/presentationml/2006/ole">
            <mc:AlternateContent xmlns:mc="http://schemas.openxmlformats.org/markup-compatibility/2006">
              <mc:Choice xmlns:v="urn:schemas-microsoft-com:vml" Requires="v">
                <p:oleObj name="Equation" r:id="rId3" imgW="1536480" imgH="482400" progId="Equation.DSMT4">
                  <p:embed/>
                </p:oleObj>
              </mc:Choice>
              <mc:Fallback>
                <p:oleObj name="Equation" r:id="rId3" imgW="1536480" imgH="482400" progId="Equation.DSMT4">
                  <p:embed/>
                  <p:pic>
                    <p:nvPicPr>
                      <p:cNvPr id="2"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0100" y="2651760"/>
                        <a:ext cx="1536700"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3"/>
          <p:cNvSpPr>
            <a:spLocks noGrp="1" noChangeArrowheads="1"/>
          </p:cNvSpPr>
          <p:nvPr>
            <p:ph type="body" sz="half" idx="4294967295"/>
          </p:nvPr>
        </p:nvSpPr>
        <p:spPr bwMode="auto">
          <a:xfrm>
            <a:off x="718947" y="1600200"/>
            <a:ext cx="7972425" cy="421481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spcBef>
                <a:spcPct val="20000"/>
              </a:spcBef>
              <a:buNone/>
            </a:pPr>
            <a:r>
              <a:rPr lang="en-US" altLang="en-US" dirty="0"/>
              <a:t>When we predict </a:t>
            </a:r>
            <a:r>
              <a:rPr lang="en-US" altLang="en-US" i="1" dirty="0">
                <a:latin typeface="+mj-lt"/>
              </a:rPr>
              <a:t>y</a:t>
            </a:r>
            <a:r>
              <a:rPr lang="en-US" altLang="en-US" dirty="0"/>
              <a:t> using </a:t>
            </a:r>
            <a:r>
              <a:rPr lang="en-US" altLang="en-US" i="1" dirty="0">
                <a:latin typeface="+mj-lt"/>
              </a:rPr>
              <a:t>x</a:t>
            </a:r>
            <a:r>
              <a:rPr lang="en-US" altLang="en-US" dirty="0"/>
              <a:t> with the regression equation, the error summary is:</a:t>
            </a:r>
          </a:p>
          <a:p>
            <a:pPr marL="0" indent="0">
              <a:spcBef>
                <a:spcPct val="20000"/>
              </a:spcBef>
            </a:pPr>
            <a:endParaRPr lang="en-US" altLang="en-US" dirty="0"/>
          </a:p>
          <a:p>
            <a:pPr marL="0" indent="0">
              <a:spcBef>
                <a:spcPct val="20000"/>
              </a:spcBef>
            </a:pPr>
            <a:endParaRPr lang="en-US" altLang="en-US" dirty="0"/>
          </a:p>
          <a:p>
            <a:pPr marL="0" indent="0">
              <a:spcBef>
                <a:spcPct val="20000"/>
              </a:spcBef>
            </a:pPr>
            <a:endParaRPr lang="en-US" altLang="en-US" dirty="0"/>
          </a:p>
          <a:p>
            <a:pPr marL="0" indent="0">
              <a:spcBef>
                <a:spcPct val="20000"/>
              </a:spcBef>
              <a:buNone/>
            </a:pPr>
            <a:r>
              <a:rPr lang="en-US" altLang="en-US" dirty="0"/>
              <a:t>This is called the </a:t>
            </a:r>
            <a:r>
              <a:rPr lang="en-US" altLang="en-US" b="1" dirty="0"/>
              <a:t>residual sum of squares.</a:t>
            </a:r>
          </a:p>
        </p:txBody>
      </p:sp>
      <p:sp>
        <p:nvSpPr>
          <p:cNvPr id="88068" name="Rectangle 2"/>
          <p:cNvSpPr>
            <a:spLocks noChangeArrowheads="1"/>
          </p:cNvSpPr>
          <p:nvPr/>
        </p:nvSpPr>
        <p:spPr bwMode="auto">
          <a:xfrm>
            <a:off x="914400" y="133350"/>
            <a:ext cx="7924800" cy="78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eaLnBrk="0" hangingPunct="0"/>
            <a:r>
              <a:rPr lang="en-US" altLang="en-US" sz="3200">
                <a:solidFill>
                  <a:schemeClr val="tx1"/>
                </a:solidFill>
                <a:latin typeface="Arial" panose="020B0604020202020204" pitchFamily="34" charset="0"/>
              </a:rPr>
              <a:t>The Squared Correlation</a:t>
            </a:r>
          </a:p>
        </p:txBody>
      </p:sp>
      <p:graphicFrame>
        <p:nvGraphicFramePr>
          <p:cNvPr id="5" name="Object 4"/>
          <p:cNvGraphicFramePr>
            <a:graphicFrameLocks noChangeAspect="1"/>
          </p:cNvGraphicFramePr>
          <p:nvPr/>
        </p:nvGraphicFramePr>
        <p:xfrm>
          <a:off x="3483864" y="2729484"/>
          <a:ext cx="1524000" cy="482600"/>
        </p:xfrm>
        <a:graphic>
          <a:graphicData uri="http://schemas.openxmlformats.org/presentationml/2006/ole">
            <mc:AlternateContent xmlns:mc="http://schemas.openxmlformats.org/markup-compatibility/2006">
              <mc:Choice xmlns:v="urn:schemas-microsoft-com:vml" Requires="v">
                <p:oleObj name="Equation" r:id="rId2" imgW="1523880" imgH="482400" progId="Equation.DSMT4">
                  <p:embed/>
                </p:oleObj>
              </mc:Choice>
              <mc:Fallback>
                <p:oleObj name="Equation" r:id="rId2" imgW="1523880" imgH="482400" progId="Equation.DSMT4">
                  <p:embed/>
                  <p:pic>
                    <p:nvPicPr>
                      <p:cNvPr id="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83864" y="2729484"/>
                        <a:ext cx="1524000"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3"/>
          <p:cNvSpPr>
            <a:spLocks noGrp="1" noChangeArrowheads="1"/>
          </p:cNvSpPr>
          <p:nvPr>
            <p:ph type="body" idx="4294967295"/>
          </p:nvPr>
        </p:nvSpPr>
        <p:spPr bwMode="auto">
          <a:xfrm>
            <a:off x="685800" y="1600200"/>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spcBef>
                <a:spcPct val="20000"/>
              </a:spcBef>
              <a:buNone/>
            </a:pPr>
            <a:r>
              <a:rPr lang="en-US" altLang="en-US" dirty="0"/>
              <a:t>When a </a:t>
            </a:r>
            <a:r>
              <a:rPr lang="en-US" altLang="en-US" b="1" dirty="0"/>
              <a:t>strong linear association exists</a:t>
            </a:r>
            <a:r>
              <a:rPr lang="en-US" altLang="en-US" dirty="0"/>
              <a:t>, the regression equation predictions tend to be much better than the predictions using </a:t>
            </a:r>
            <a:r>
              <a:rPr lang="az-Cyrl-AZ" altLang="en-US" i="1" dirty="0">
                <a:latin typeface="Times New Roman" panose="02020603050405020304" pitchFamily="18" charset="0"/>
                <a:cs typeface="Times New Roman" panose="02020603050405020304" pitchFamily="18" charset="0"/>
              </a:rPr>
              <a:t>ӯ</a:t>
            </a:r>
            <a:r>
              <a:rPr lang="en-US" altLang="en-US" dirty="0"/>
              <a:t>. </a:t>
            </a:r>
          </a:p>
          <a:p>
            <a:pPr marL="0" indent="0">
              <a:spcBef>
                <a:spcPct val="20000"/>
              </a:spcBef>
            </a:pPr>
            <a:endParaRPr lang="en-US" altLang="en-US" dirty="0"/>
          </a:p>
          <a:p>
            <a:pPr marL="0" indent="0">
              <a:spcBef>
                <a:spcPct val="20000"/>
              </a:spcBef>
              <a:buNone/>
            </a:pPr>
            <a:r>
              <a:rPr lang="en-US" altLang="en-US" dirty="0"/>
              <a:t>We measure the proportional reduction in error and      call it, </a:t>
            </a:r>
            <a:r>
              <a:rPr lang="en-US" altLang="en-US" i="1" dirty="0">
                <a:latin typeface="+mj-lt"/>
              </a:rPr>
              <a:t>r</a:t>
            </a:r>
            <a:r>
              <a:rPr lang="en-US" altLang="en-US" baseline="30000" dirty="0">
                <a:latin typeface="+mj-lt"/>
              </a:rPr>
              <a:t>2</a:t>
            </a:r>
            <a:r>
              <a:rPr lang="en-US" altLang="en-US" dirty="0"/>
              <a:t> .</a:t>
            </a:r>
            <a:endParaRPr lang="en-US" altLang="en-US" baseline="30000" dirty="0"/>
          </a:p>
        </p:txBody>
      </p:sp>
      <p:sp>
        <p:nvSpPr>
          <p:cNvPr id="89092" name="Rectangle 2"/>
          <p:cNvSpPr>
            <a:spLocks noChangeArrowheads="1"/>
          </p:cNvSpPr>
          <p:nvPr/>
        </p:nvSpPr>
        <p:spPr bwMode="auto">
          <a:xfrm>
            <a:off x="900113" y="133350"/>
            <a:ext cx="7924800" cy="78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eaLnBrk="0" hangingPunct="0"/>
            <a:r>
              <a:rPr lang="en-US" altLang="en-US" sz="3200">
                <a:solidFill>
                  <a:schemeClr val="tx1"/>
                </a:solidFill>
                <a:latin typeface="Arial" panose="020B0604020202020204" pitchFamily="34" charset="0"/>
              </a:rPr>
              <a:t>The Squared Correlation</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3"/>
          <p:cNvSpPr>
            <a:spLocks noGrp="1" noChangeArrowheads="1"/>
          </p:cNvSpPr>
          <p:nvPr>
            <p:ph type="body" sz="half" idx="4294967295"/>
          </p:nvPr>
        </p:nvSpPr>
        <p:spPr bwMode="auto">
          <a:xfrm>
            <a:off x="1146175" y="1903413"/>
            <a:ext cx="7623175" cy="4084637"/>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spcBef>
                <a:spcPct val="20000"/>
              </a:spcBef>
            </a:pPr>
            <a:endParaRPr lang="en-US" altLang="en-US" dirty="0"/>
          </a:p>
          <a:p>
            <a:pPr marL="0" indent="0">
              <a:spcBef>
                <a:spcPct val="20000"/>
              </a:spcBef>
            </a:pPr>
            <a:endParaRPr lang="en-US" altLang="en-US" dirty="0"/>
          </a:p>
          <a:p>
            <a:pPr marL="0" indent="0">
              <a:spcBef>
                <a:spcPct val="20000"/>
              </a:spcBef>
            </a:pPr>
            <a:endParaRPr lang="en-US" altLang="en-US" dirty="0"/>
          </a:p>
          <a:p>
            <a:pPr marL="0" indent="0">
              <a:spcBef>
                <a:spcPct val="20000"/>
              </a:spcBef>
            </a:pPr>
            <a:endParaRPr lang="en-US" altLang="en-US" dirty="0"/>
          </a:p>
          <a:p>
            <a:pPr marL="0" indent="0">
              <a:spcBef>
                <a:spcPct val="20000"/>
              </a:spcBef>
              <a:buNone/>
            </a:pPr>
            <a:r>
              <a:rPr lang="en-US" altLang="en-US" dirty="0"/>
              <a:t>We use the notation </a:t>
            </a:r>
            <a:r>
              <a:rPr lang="en-US" altLang="en-US" i="1" dirty="0">
                <a:latin typeface="+mj-lt"/>
              </a:rPr>
              <a:t>r</a:t>
            </a:r>
            <a:r>
              <a:rPr lang="en-US" altLang="en-US" baseline="30000" dirty="0">
                <a:latin typeface="+mj-lt"/>
              </a:rPr>
              <a:t>2</a:t>
            </a:r>
            <a:r>
              <a:rPr lang="en-US" altLang="en-US" dirty="0"/>
              <a:t> for this measure because it equals the square of the correlation </a:t>
            </a:r>
            <a:r>
              <a:rPr lang="en-US" altLang="en-US" i="1" dirty="0">
                <a:latin typeface="+mj-lt"/>
              </a:rPr>
              <a:t>r</a:t>
            </a:r>
            <a:r>
              <a:rPr lang="en-US" altLang="en-US" dirty="0"/>
              <a:t>.  </a:t>
            </a:r>
          </a:p>
        </p:txBody>
      </p:sp>
      <p:sp>
        <p:nvSpPr>
          <p:cNvPr id="90116" name="Rectangle 2"/>
          <p:cNvSpPr>
            <a:spLocks noChangeArrowheads="1"/>
          </p:cNvSpPr>
          <p:nvPr/>
        </p:nvSpPr>
        <p:spPr bwMode="auto">
          <a:xfrm>
            <a:off x="914400" y="115888"/>
            <a:ext cx="7924800" cy="78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eaLnBrk="0" hangingPunct="0"/>
            <a:r>
              <a:rPr lang="en-US" altLang="en-US" sz="3200">
                <a:solidFill>
                  <a:schemeClr val="tx1"/>
                </a:solidFill>
                <a:latin typeface="Arial" panose="020B0604020202020204" pitchFamily="34" charset="0"/>
              </a:rPr>
              <a:t>The Squared Correlation</a:t>
            </a:r>
          </a:p>
        </p:txBody>
      </p:sp>
      <p:graphicFrame>
        <p:nvGraphicFramePr>
          <p:cNvPr id="2" name="Object 1"/>
          <p:cNvGraphicFramePr>
            <a:graphicFrameLocks noChangeAspect="1"/>
          </p:cNvGraphicFramePr>
          <p:nvPr/>
        </p:nvGraphicFramePr>
        <p:xfrm>
          <a:off x="2395728" y="2340864"/>
          <a:ext cx="3886200" cy="977900"/>
        </p:xfrm>
        <a:graphic>
          <a:graphicData uri="http://schemas.openxmlformats.org/presentationml/2006/ole">
            <mc:AlternateContent xmlns:mc="http://schemas.openxmlformats.org/markup-compatibility/2006">
              <mc:Choice xmlns:v="urn:schemas-microsoft-com:vml" Requires="v">
                <p:oleObj name="Equation" r:id="rId2" imgW="3886200" imgH="977760" progId="Equation.DSMT4">
                  <p:embed/>
                </p:oleObj>
              </mc:Choice>
              <mc:Fallback>
                <p:oleObj name="Equation" r:id="rId2" imgW="3886200" imgH="977760" progId="Equation.DSMT4">
                  <p:embed/>
                  <p:pic>
                    <p:nvPicPr>
                      <p:cNvPr id="2"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5728" y="2340864"/>
                        <a:ext cx="3886200" cy="977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idx="4294967295"/>
          </p:nvPr>
        </p:nvSpPr>
        <p:spPr bwMode="auto">
          <a:xfrm>
            <a:off x="838200" y="149225"/>
            <a:ext cx="8077200" cy="7620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Example: Strength Study</a:t>
            </a:r>
          </a:p>
        </p:txBody>
      </p:sp>
      <p:sp>
        <p:nvSpPr>
          <p:cNvPr id="91139" name="Rectangle 3"/>
          <p:cNvSpPr>
            <a:spLocks noGrp="1" noChangeArrowheads="1"/>
          </p:cNvSpPr>
          <p:nvPr>
            <p:ph type="body" idx="4294967295"/>
          </p:nvPr>
        </p:nvSpPr>
        <p:spPr bwMode="auto">
          <a:xfrm>
            <a:off x="763524" y="1600200"/>
            <a:ext cx="8051800" cy="40798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spcBef>
                <a:spcPct val="20000"/>
              </a:spcBef>
            </a:pPr>
            <a:r>
              <a:rPr lang="en-US" altLang="en-US" dirty="0"/>
              <a:t>For the female athlete strength study:</a:t>
            </a:r>
          </a:p>
          <a:p>
            <a:pPr lvl="1"/>
            <a:r>
              <a:rPr lang="en-US" altLang="en-US" i="1" dirty="0">
                <a:latin typeface="+mj-lt"/>
              </a:rPr>
              <a:t>x</a:t>
            </a:r>
            <a:r>
              <a:rPr lang="en-US" altLang="en-US" dirty="0"/>
              <a:t>: number of 60-pound bench presses</a:t>
            </a:r>
          </a:p>
          <a:p>
            <a:pPr lvl="1"/>
            <a:r>
              <a:rPr lang="en-US" altLang="en-US" i="1" dirty="0">
                <a:latin typeface="+mj-lt"/>
              </a:rPr>
              <a:t>y</a:t>
            </a:r>
            <a:r>
              <a:rPr lang="en-US" altLang="en-US" dirty="0"/>
              <a:t>: maximum bench press</a:t>
            </a:r>
          </a:p>
          <a:p>
            <a:pPr lvl="1"/>
            <a:r>
              <a:rPr lang="en-US" altLang="en-US" dirty="0"/>
              <a:t>The correlation value was found to be </a:t>
            </a:r>
            <a:r>
              <a:rPr lang="en-US" altLang="en-US" i="1" dirty="0">
                <a:latin typeface="+mj-lt"/>
              </a:rPr>
              <a:t>r</a:t>
            </a:r>
            <a:r>
              <a:rPr lang="en-US" altLang="en-US" dirty="0"/>
              <a:t> = 0.80.</a:t>
            </a:r>
          </a:p>
          <a:p>
            <a:pPr lvl="1"/>
            <a:endParaRPr lang="en-US" altLang="en-US" dirty="0"/>
          </a:p>
          <a:p>
            <a:pPr marL="0" indent="0">
              <a:spcBef>
                <a:spcPct val="20000"/>
              </a:spcBef>
            </a:pPr>
            <a:r>
              <a:rPr lang="en-US" altLang="en-US" dirty="0"/>
              <a:t>We can calculate </a:t>
            </a:r>
            <a:r>
              <a:rPr lang="en-US" altLang="en-US" i="1" dirty="0">
                <a:latin typeface="+mj-lt"/>
              </a:rPr>
              <a:t>r</a:t>
            </a:r>
            <a:r>
              <a:rPr lang="en-US" altLang="en-US" baseline="30000" dirty="0">
                <a:latin typeface="+mj-lt"/>
              </a:rPr>
              <a:t>2</a:t>
            </a:r>
            <a:r>
              <a:rPr lang="en-US" altLang="en-US" dirty="0"/>
              <a:t>  from  </a:t>
            </a:r>
            <a:r>
              <a:rPr lang="en-US" altLang="en-US" i="1" dirty="0">
                <a:latin typeface="+mj-lt"/>
              </a:rPr>
              <a:t>r</a:t>
            </a:r>
            <a:r>
              <a:rPr lang="en-US" altLang="en-US" dirty="0">
                <a:sym typeface="Wingdings" panose="05000000000000000000" pitchFamily="2" charset="2"/>
              </a:rPr>
              <a:t>: (0.80)</a:t>
            </a:r>
            <a:r>
              <a:rPr lang="en-US" altLang="en-US" baseline="30000" dirty="0">
                <a:sym typeface="Wingdings" panose="05000000000000000000" pitchFamily="2" charset="2"/>
              </a:rPr>
              <a:t>2</a:t>
            </a:r>
            <a:r>
              <a:rPr lang="en-US" altLang="en-US" dirty="0">
                <a:sym typeface="Wingdings" panose="05000000000000000000" pitchFamily="2" charset="2"/>
              </a:rPr>
              <a:t> = 0.64.</a:t>
            </a:r>
            <a:endParaRPr lang="en-US" altLang="en-US" dirty="0"/>
          </a:p>
          <a:p>
            <a:pPr marL="0" indent="0">
              <a:spcBef>
                <a:spcPct val="20000"/>
              </a:spcBef>
            </a:pPr>
            <a:endParaRPr lang="en-US" altLang="en-US" dirty="0"/>
          </a:p>
          <a:p>
            <a:pPr marL="0" indent="0">
              <a:spcBef>
                <a:spcPct val="20000"/>
              </a:spcBef>
            </a:pPr>
            <a:r>
              <a:rPr lang="en-US" altLang="en-US" dirty="0"/>
              <a:t>For predicting maximum bench press, the regression equation has 64% less error than </a:t>
            </a:r>
            <a:r>
              <a:rPr lang="az-Cyrl-AZ" altLang="en-US" i="1" dirty="0">
                <a:latin typeface="Times New Roman" panose="02020603050405020304" pitchFamily="18" charset="0"/>
                <a:cs typeface="Times New Roman" panose="02020603050405020304" pitchFamily="18" charset="0"/>
              </a:rPr>
              <a:t>ӯ</a:t>
            </a:r>
            <a:r>
              <a:rPr lang="en-US" altLang="en-US" i="1" dirty="0"/>
              <a:t> </a:t>
            </a:r>
            <a:r>
              <a:rPr lang="en-US" altLang="en-US" dirty="0"/>
              <a:t>has.</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idx="4294967295"/>
          </p:nvPr>
        </p:nvSpPr>
        <p:spPr bwMode="auto">
          <a:xfrm>
            <a:off x="717550" y="131763"/>
            <a:ext cx="8153400" cy="792162"/>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The Squared Correlation</a:t>
            </a:r>
          </a:p>
        </p:txBody>
      </p:sp>
      <mc:AlternateContent xmlns:mc="http://schemas.openxmlformats.org/markup-compatibility/2006" xmlns:a14="http://schemas.microsoft.com/office/drawing/2010/main">
        <mc:Choice Requires="a14">
          <p:sp>
            <p:nvSpPr>
              <p:cNvPr id="92163" name="Rectangle 3"/>
              <p:cNvSpPr>
                <a:spLocks noGrp="1" noChangeArrowheads="1"/>
              </p:cNvSpPr>
              <p:nvPr>
                <p:ph type="body" idx="4294967295"/>
              </p:nvPr>
            </p:nvSpPr>
            <p:spPr bwMode="auto">
              <a:xfrm>
                <a:off x="763524" y="1600200"/>
                <a:ext cx="8229600" cy="4648200"/>
              </a:xfrm>
              <a:prstGeom prst="rect">
                <a:avLst/>
              </a:prstGeom>
              <a:solidFill>
                <a:srgbClr val="FFFFFF"/>
              </a:solidFill>
              <a:extLst>
                <a:ext uri="{91240B29-F687-4F45-9708-019B960494DF}">
                  <a14:hiddenLine w="9525">
                    <a:solidFill>
                      <a:srgbClr val="000000"/>
                    </a:solidFill>
                    <a:miter lim="800000"/>
                    <a:headEnd/>
                    <a:tailEnd/>
                  </a14:hiddenLine>
                </a:ext>
              </a:extLst>
            </p:spPr>
            <p:txBody>
              <a:bodyPr lIns="0" rIns="0"/>
              <a:lstStyle/>
              <a:p>
                <a:r>
                  <a:rPr lang="en-US" altLang="en-US" b="1" dirty="0"/>
                  <a:t>SUMMARY: Properties of  </a:t>
                </a:r>
                <a:r>
                  <a:rPr lang="en-US" altLang="en-US" i="1" dirty="0">
                    <a:latin typeface="+mj-lt"/>
                  </a:rPr>
                  <a:t>r</a:t>
                </a:r>
                <a:r>
                  <a:rPr lang="en-US" altLang="en-US" baseline="30000" dirty="0">
                    <a:latin typeface="+mj-lt"/>
                  </a:rPr>
                  <a:t>2</a:t>
                </a:r>
                <a:r>
                  <a:rPr lang="en-US" altLang="en-US" b="1" dirty="0"/>
                  <a:t> :</a:t>
                </a:r>
              </a:p>
              <a:p>
                <a:pPr lvl="1"/>
                <a:r>
                  <a:rPr lang="en-US" altLang="en-US" i="1" dirty="0">
                    <a:latin typeface="+mj-lt"/>
                  </a:rPr>
                  <a:t>r</a:t>
                </a:r>
                <a:r>
                  <a:rPr lang="en-US" altLang="en-US" baseline="30000" dirty="0">
                    <a:latin typeface="+mj-lt"/>
                  </a:rPr>
                  <a:t>2</a:t>
                </a:r>
                <a:r>
                  <a:rPr lang="en-US" altLang="en-US" baseline="30000" dirty="0"/>
                  <a:t>  </a:t>
                </a:r>
                <a:r>
                  <a:rPr lang="en-US" altLang="en-US" dirty="0"/>
                  <a:t>falls between 0 and </a:t>
                </a:r>
                <a:r>
                  <a:rPr lang="en-US" altLang="en-US" dirty="0">
                    <a:solidFill>
                      <a:schemeClr val="tx1"/>
                    </a:solidFill>
                  </a:rPr>
                  <a:t>1.</a:t>
                </a:r>
              </a:p>
              <a:p>
                <a:pPr lvl="1"/>
                <a:r>
                  <a:rPr lang="en-US" altLang="en-US" i="1" dirty="0">
                    <a:latin typeface="+mj-lt"/>
                  </a:rPr>
                  <a:t>r</a:t>
                </a:r>
                <a:r>
                  <a:rPr lang="en-US" altLang="en-US" baseline="30000" dirty="0">
                    <a:latin typeface="+mj-lt"/>
                  </a:rPr>
                  <a:t>2</a:t>
                </a:r>
                <a:r>
                  <a:rPr lang="en-US" altLang="en-US" dirty="0"/>
                  <a:t> = 1  when </a:t>
                </a:r>
                <a14:m>
                  <m:oMath xmlns:m="http://schemas.openxmlformats.org/officeDocument/2006/math">
                    <m:nary>
                      <m:naryPr>
                        <m:chr m:val="∑"/>
                        <m:subHide m:val="on"/>
                        <m:supHide m:val="on"/>
                        <m:ctrlPr>
                          <a:rPr lang="en-US" altLang="en-US" i="1" smtClean="0">
                            <a:latin typeface="Cambria Math" panose="02040503050406030204" pitchFamily="18" charset="0"/>
                          </a:rPr>
                        </m:ctrlPr>
                      </m:naryPr>
                      <m:sub/>
                      <m:sup/>
                      <m:e>
                        <m:d>
                          <m:dPr>
                            <m:ctrlPr>
                              <a:rPr lang="en-US" altLang="en-US" i="1" smtClean="0">
                                <a:latin typeface="Cambria Math" panose="02040503050406030204" pitchFamily="18" charset="0"/>
                              </a:rPr>
                            </m:ctrlPr>
                          </m:dPr>
                          <m:e>
                            <m:r>
                              <a:rPr lang="en-US" altLang="en-US" b="0" i="1" smtClean="0">
                                <a:latin typeface="Cambria Math" panose="02040503050406030204" pitchFamily="18" charset="0"/>
                              </a:rPr>
                              <m:t>𝑦</m:t>
                            </m:r>
                            <m:r>
                              <a:rPr lang="en-US" altLang="en-US" b="0" i="1" smtClean="0">
                                <a:latin typeface="Cambria Math" panose="02040503050406030204" pitchFamily="18" charset="0"/>
                              </a:rPr>
                              <m:t>−</m:t>
                            </m:r>
                            <m:acc>
                              <m:accPr>
                                <m:chr m:val="̂"/>
                                <m:ctrlPr>
                                  <a:rPr lang="en-US" altLang="en-US" b="0" i="1" smtClean="0">
                                    <a:latin typeface="Cambria Math" panose="02040503050406030204" pitchFamily="18" charset="0"/>
                                  </a:rPr>
                                </m:ctrlPr>
                              </m:accPr>
                              <m:e>
                                <m:r>
                                  <a:rPr lang="en-US" altLang="en-US" b="0" i="1" smtClean="0">
                                    <a:latin typeface="Cambria Math" panose="02040503050406030204" pitchFamily="18" charset="0"/>
                                  </a:rPr>
                                  <m:t>𝑦</m:t>
                                </m:r>
                              </m:e>
                            </m:acc>
                          </m:e>
                        </m:d>
                        <m:r>
                          <a:rPr lang="en-US" altLang="en-US" b="0" i="1" baseline="30000" smtClean="0">
                            <a:latin typeface="Cambria Math" panose="02040503050406030204" pitchFamily="18" charset="0"/>
                          </a:rPr>
                          <m:t>2</m:t>
                        </m:r>
                      </m:e>
                    </m:nary>
                    <m:r>
                      <a:rPr lang="en-US" altLang="en-US" b="0" i="1" smtClean="0">
                        <a:latin typeface="Cambria Math" panose="02040503050406030204" pitchFamily="18" charset="0"/>
                      </a:rPr>
                      <m:t>=0</m:t>
                    </m:r>
                  </m:oMath>
                </a14:m>
                <a:r>
                  <a:rPr lang="en-US" altLang="en-US" dirty="0"/>
                  <a:t>, this happens only when all the data points fall exactly on the regression line. </a:t>
                </a:r>
              </a:p>
              <a:p>
                <a:pPr lvl="1"/>
                <a:r>
                  <a:rPr lang="en-US" altLang="en-US" i="1" dirty="0">
                    <a:latin typeface="+mj-lt"/>
                  </a:rPr>
                  <a:t>r</a:t>
                </a:r>
                <a:r>
                  <a:rPr lang="en-US" altLang="en-US" baseline="30000" dirty="0">
                    <a:latin typeface="+mj-lt"/>
                  </a:rPr>
                  <a:t>2</a:t>
                </a:r>
                <a:r>
                  <a:rPr lang="en-US" altLang="en-US" dirty="0"/>
                  <a:t> = 0  when </a:t>
                </a:r>
                <a14:m>
                  <m:oMath xmlns:m="http://schemas.openxmlformats.org/officeDocument/2006/math">
                    <m:nary>
                      <m:naryPr>
                        <m:chr m:val="∑"/>
                        <m:subHide m:val="on"/>
                        <m:supHide m:val="on"/>
                        <m:ctrlPr>
                          <a:rPr lang="en-US" altLang="en-US" i="1">
                            <a:latin typeface="Cambria Math" panose="02040503050406030204" pitchFamily="18" charset="0"/>
                          </a:rPr>
                        </m:ctrlPr>
                      </m:naryPr>
                      <m:sub/>
                      <m:sup/>
                      <m:e>
                        <m:d>
                          <m:dPr>
                            <m:ctrlPr>
                              <a:rPr lang="en-US" altLang="en-US" i="1">
                                <a:latin typeface="Cambria Math" panose="02040503050406030204" pitchFamily="18" charset="0"/>
                              </a:rPr>
                            </m:ctrlPr>
                          </m:dPr>
                          <m:e>
                            <m:r>
                              <a:rPr lang="en-US" altLang="en-US" i="1">
                                <a:latin typeface="Cambria Math" panose="02040503050406030204" pitchFamily="18" charset="0"/>
                              </a:rPr>
                              <m:t>𝑦</m:t>
                            </m:r>
                            <m:r>
                              <a:rPr lang="en-US" altLang="en-US" i="1">
                                <a:latin typeface="Cambria Math" panose="02040503050406030204" pitchFamily="18" charset="0"/>
                              </a:rPr>
                              <m:t>−</m:t>
                            </m:r>
                            <m:acc>
                              <m:accPr>
                                <m:chr m:val="̂"/>
                                <m:ctrlPr>
                                  <a:rPr lang="en-US" altLang="en-US" i="1">
                                    <a:latin typeface="Cambria Math" panose="02040503050406030204" pitchFamily="18" charset="0"/>
                                  </a:rPr>
                                </m:ctrlPr>
                              </m:accPr>
                              <m:e>
                                <m:r>
                                  <a:rPr lang="en-US" altLang="en-US" i="1">
                                    <a:latin typeface="Cambria Math" panose="02040503050406030204" pitchFamily="18" charset="0"/>
                                  </a:rPr>
                                  <m:t>𝑦</m:t>
                                </m:r>
                              </m:e>
                            </m:acc>
                          </m:e>
                        </m:d>
                        <m:r>
                          <a:rPr lang="en-US" altLang="en-US" i="1" baseline="30000">
                            <a:latin typeface="Cambria Math" panose="02040503050406030204" pitchFamily="18" charset="0"/>
                          </a:rPr>
                          <m:t>2</m:t>
                        </m:r>
                      </m:e>
                    </m:nary>
                    <m:r>
                      <a:rPr lang="en-US" altLang="en-US" b="0" i="1" dirty="0" smtClean="0">
                        <a:latin typeface="Cambria Math" panose="02040503050406030204" pitchFamily="18" charset="0"/>
                      </a:rPr>
                      <m:t>=</m:t>
                    </m:r>
                    <m:nary>
                      <m:naryPr>
                        <m:chr m:val="∑"/>
                        <m:subHide m:val="on"/>
                        <m:supHide m:val="on"/>
                        <m:ctrlPr>
                          <a:rPr lang="en-US" altLang="en-US" b="0" i="1" dirty="0" smtClean="0">
                            <a:latin typeface="Cambria Math" panose="02040503050406030204" pitchFamily="18" charset="0"/>
                          </a:rPr>
                        </m:ctrlPr>
                      </m:naryPr>
                      <m:sub/>
                      <m:sup/>
                      <m:e>
                        <m:d>
                          <m:dPr>
                            <m:ctrlPr>
                              <a:rPr lang="en-US" altLang="en-US" b="0" i="1" dirty="0" smtClean="0">
                                <a:latin typeface="Cambria Math" panose="02040503050406030204" pitchFamily="18" charset="0"/>
                              </a:rPr>
                            </m:ctrlPr>
                          </m:dPr>
                          <m:e>
                            <m:r>
                              <a:rPr lang="en-US" altLang="en-US" b="0" i="1" dirty="0" smtClean="0">
                                <a:latin typeface="Cambria Math" panose="02040503050406030204" pitchFamily="18" charset="0"/>
                              </a:rPr>
                              <m:t>𝑦</m:t>
                            </m:r>
                            <m:r>
                              <a:rPr lang="en-US" altLang="en-US" b="0" i="1" dirty="0" smtClean="0">
                                <a:latin typeface="Cambria Math" panose="02040503050406030204" pitchFamily="18" charset="0"/>
                              </a:rPr>
                              <m:t>−</m:t>
                            </m:r>
                            <m:acc>
                              <m:accPr>
                                <m:chr m:val="̅"/>
                                <m:ctrlPr>
                                  <a:rPr lang="en-US" altLang="en-US" b="0" i="1" dirty="0" smtClean="0">
                                    <a:latin typeface="Cambria Math" panose="02040503050406030204" pitchFamily="18" charset="0"/>
                                  </a:rPr>
                                </m:ctrlPr>
                              </m:accPr>
                              <m:e>
                                <m:r>
                                  <a:rPr lang="en-US" altLang="en-US" b="0" i="1" dirty="0" smtClean="0">
                                    <a:latin typeface="Cambria Math" panose="02040503050406030204" pitchFamily="18" charset="0"/>
                                  </a:rPr>
                                  <m:t>𝑦</m:t>
                                </m:r>
                              </m:e>
                            </m:acc>
                          </m:e>
                        </m:d>
                        <m:r>
                          <a:rPr lang="en-US" altLang="en-US" b="0" i="1" baseline="30000" dirty="0" smtClean="0">
                            <a:latin typeface="Cambria Math" panose="02040503050406030204" pitchFamily="18" charset="0"/>
                          </a:rPr>
                          <m:t>2</m:t>
                        </m:r>
                      </m:e>
                    </m:nary>
                    <m:r>
                      <a:rPr lang="en-US" altLang="en-US" b="0" i="1" dirty="0" smtClean="0">
                        <a:latin typeface="Cambria Math" panose="02040503050406030204" pitchFamily="18" charset="0"/>
                      </a:rPr>
                      <m:t>,</m:t>
                    </m:r>
                  </m:oMath>
                </a14:m>
                <a:r>
                  <a:rPr lang="en-US" altLang="en-US" dirty="0"/>
                  <a:t> this happens when the slope</a:t>
                </a:r>
                <a:r>
                  <a:rPr lang="en-US" altLang="en-US" i="1" dirty="0"/>
                  <a:t> </a:t>
                </a:r>
                <a14:m>
                  <m:oMath xmlns:m="http://schemas.openxmlformats.org/officeDocument/2006/math">
                    <m:r>
                      <a:rPr lang="en-US" altLang="en-US" b="0" i="1" smtClean="0">
                        <a:latin typeface="Cambria Math" panose="02040503050406030204" pitchFamily="18" charset="0"/>
                      </a:rPr>
                      <m:t>𝑏</m:t>
                    </m:r>
                    <m:r>
                      <a:rPr lang="en-US" altLang="en-US" b="0" i="1" smtClean="0">
                        <a:latin typeface="Cambria Math" panose="02040503050406030204" pitchFamily="18" charset="0"/>
                      </a:rPr>
                      <m:t>=0</m:t>
                    </m:r>
                  </m:oMath>
                </a14:m>
                <a:r>
                  <a:rPr lang="en-US" altLang="en-US" dirty="0"/>
                  <a:t>, in which case each </a:t>
                </a:r>
                <a14:m>
                  <m:oMath xmlns:m="http://schemas.openxmlformats.org/officeDocument/2006/math">
                    <m:acc>
                      <m:accPr>
                        <m:chr m:val="̂"/>
                        <m:ctrlPr>
                          <a:rPr lang="en-US" altLang="en-US" i="1" smtClean="0">
                            <a:latin typeface="Cambria Math" panose="02040503050406030204" pitchFamily="18" charset="0"/>
                          </a:rPr>
                        </m:ctrlPr>
                      </m:accPr>
                      <m:e>
                        <m:r>
                          <a:rPr lang="en-US" altLang="en-US" b="0" i="1" smtClean="0">
                            <a:latin typeface="Cambria Math" panose="02040503050406030204" pitchFamily="18" charset="0"/>
                          </a:rPr>
                          <m:t>𝑦</m:t>
                        </m:r>
                      </m:e>
                    </m:acc>
                    <m:r>
                      <a:rPr lang="en-US" altLang="en-US" b="0" i="1" smtClean="0">
                        <a:latin typeface="Cambria Math" panose="02040503050406030204" pitchFamily="18" charset="0"/>
                      </a:rPr>
                      <m:t>=</m:t>
                    </m:r>
                    <m:acc>
                      <m:accPr>
                        <m:chr m:val="̅"/>
                        <m:ctrlPr>
                          <a:rPr lang="en-US" altLang="en-US" b="0" i="1" smtClean="0">
                            <a:latin typeface="Cambria Math" panose="02040503050406030204" pitchFamily="18" charset="0"/>
                          </a:rPr>
                        </m:ctrlPr>
                      </m:accPr>
                      <m:e>
                        <m:r>
                          <a:rPr lang="en-US" altLang="en-US" b="0" i="1" smtClean="0">
                            <a:latin typeface="Cambria Math" panose="02040503050406030204" pitchFamily="18" charset="0"/>
                          </a:rPr>
                          <m:t>𝑦</m:t>
                        </m:r>
                      </m:e>
                    </m:acc>
                  </m:oMath>
                </a14:m>
                <a:r>
                  <a:rPr lang="en-US" altLang="en-US" dirty="0"/>
                  <a:t>.</a:t>
                </a:r>
              </a:p>
              <a:p>
                <a:pPr lvl="1"/>
                <a:r>
                  <a:rPr lang="en-US" altLang="en-US" dirty="0"/>
                  <a:t>The closer </a:t>
                </a:r>
                <a:r>
                  <a:rPr lang="en-US" altLang="en-US" i="1" dirty="0">
                    <a:latin typeface="+mj-lt"/>
                  </a:rPr>
                  <a:t>r</a:t>
                </a:r>
                <a:r>
                  <a:rPr lang="en-US" altLang="en-US" baseline="30000" dirty="0">
                    <a:latin typeface="+mj-lt"/>
                  </a:rPr>
                  <a:t>2</a:t>
                </a:r>
                <a:r>
                  <a:rPr lang="en-US" altLang="en-US" dirty="0">
                    <a:latin typeface="+mj-lt"/>
                  </a:rPr>
                  <a:t> </a:t>
                </a:r>
                <a:r>
                  <a:rPr lang="en-US" altLang="en-US" baseline="30000" dirty="0"/>
                  <a:t> </a:t>
                </a:r>
                <a:r>
                  <a:rPr lang="en-US" altLang="en-US" dirty="0"/>
                  <a:t>is to 1, the stronger the linear association: the more effective the regression equation is compared to </a:t>
                </a:r>
                <a14:m>
                  <m:oMath xmlns:m="http://schemas.openxmlformats.org/officeDocument/2006/math">
                    <m:acc>
                      <m:accPr>
                        <m:chr m:val="̅"/>
                        <m:ctrlPr>
                          <a:rPr lang="en-US" altLang="en-US" i="1" smtClean="0">
                            <a:latin typeface="Cambria Math" panose="02040503050406030204" pitchFamily="18" charset="0"/>
                          </a:rPr>
                        </m:ctrlPr>
                      </m:accPr>
                      <m:e>
                        <m:r>
                          <a:rPr lang="en-US" altLang="en-US" b="0" i="1" smtClean="0">
                            <a:latin typeface="Cambria Math" panose="02040503050406030204" pitchFamily="18" charset="0"/>
                          </a:rPr>
                          <m:t>𝑦</m:t>
                        </m:r>
                      </m:e>
                    </m:acc>
                  </m:oMath>
                </a14:m>
                <a:r>
                  <a:rPr lang="en-US" altLang="en-US" dirty="0"/>
                  <a:t> in predicting </a:t>
                </a:r>
                <a:r>
                  <a:rPr lang="en-US" altLang="en-US" i="1" dirty="0">
                    <a:latin typeface="+mj-lt"/>
                  </a:rPr>
                  <a:t>y</a:t>
                </a:r>
                <a:r>
                  <a:rPr lang="en-US" altLang="en-US" i="1" dirty="0"/>
                  <a:t>.</a:t>
                </a:r>
                <a:endParaRPr lang="en-US" altLang="en-US" dirty="0"/>
              </a:p>
            </p:txBody>
          </p:sp>
        </mc:Choice>
        <mc:Fallback xmlns="">
          <p:sp>
            <p:nvSpPr>
              <p:cNvPr id="92163" name="Rectangle 3"/>
              <p:cNvSpPr>
                <a:spLocks noGrp="1" noRot="1" noChangeAspect="1" noMove="1" noResize="1" noEditPoints="1" noAdjustHandles="1" noChangeArrowheads="1" noChangeShapeType="1" noTextEdit="1"/>
              </p:cNvSpPr>
              <p:nvPr>
                <p:ph type="body" idx="4294967295"/>
              </p:nvPr>
            </p:nvSpPr>
            <p:spPr bwMode="auto">
              <a:xfrm>
                <a:off x="763524" y="1600200"/>
                <a:ext cx="8229600" cy="4648200"/>
              </a:xfrm>
              <a:prstGeom prst="rect">
                <a:avLst/>
              </a:prstGeom>
              <a:blipFill>
                <a:blip r:embed="rId3"/>
                <a:stretch>
                  <a:fillRect l="-2444" t="-2231" r="-2963"/>
                </a:stretch>
              </a:blipFill>
              <a:extLs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idx="4294967295"/>
          </p:nvPr>
        </p:nvSpPr>
        <p:spPr bwMode="auto">
          <a:xfrm>
            <a:off x="733425" y="104775"/>
            <a:ext cx="8153400" cy="7921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noAutofit/>
          </a:bodyPr>
          <a:lstStyle/>
          <a:p>
            <a:r>
              <a:rPr lang="en-US" altLang="en-US" sz="3200" b="1" dirty="0">
                <a:latin typeface="Arial" panose="020B0604020202020204" pitchFamily="34" charset="0"/>
              </a:rPr>
              <a:t>SUMMARY: Correlation </a:t>
            </a:r>
            <a:r>
              <a:rPr lang="en-US" altLang="en-US" sz="3200" i="1" dirty="0"/>
              <a:t>r</a:t>
            </a:r>
            <a:r>
              <a:rPr lang="en-US" altLang="en-US" sz="3200" b="1" dirty="0">
                <a:latin typeface="Arial" panose="020B0604020202020204" pitchFamily="34" charset="0"/>
              </a:rPr>
              <a:t> and Its Square </a:t>
            </a:r>
            <a:r>
              <a:rPr lang="en-US" altLang="en-US" sz="3200" i="1" dirty="0"/>
              <a:t>r</a:t>
            </a:r>
            <a:r>
              <a:rPr lang="en-US" altLang="en-US" sz="3200" baseline="30000" dirty="0"/>
              <a:t>2</a:t>
            </a:r>
            <a:r>
              <a:rPr lang="en-US" altLang="en-US" sz="3200" b="1" dirty="0">
                <a:latin typeface="Arial" panose="020B0604020202020204" pitchFamily="34" charset="0"/>
              </a:rPr>
              <a:t> </a:t>
            </a:r>
          </a:p>
        </p:txBody>
      </p:sp>
      <p:sp>
        <p:nvSpPr>
          <p:cNvPr id="93187" name="Rectangle 3"/>
          <p:cNvSpPr>
            <a:spLocks noGrp="1" noChangeArrowheads="1"/>
          </p:cNvSpPr>
          <p:nvPr>
            <p:ph type="body" idx="4294967295"/>
          </p:nvPr>
        </p:nvSpPr>
        <p:spPr bwMode="auto">
          <a:xfrm>
            <a:off x="763524" y="1600200"/>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a:spcBef>
                <a:spcPct val="20000"/>
              </a:spcBef>
            </a:pPr>
            <a:r>
              <a:rPr lang="en-US" altLang="en-US" dirty="0"/>
              <a:t>Both </a:t>
            </a:r>
            <a:r>
              <a:rPr lang="en-US" altLang="en-US" i="1" dirty="0">
                <a:latin typeface="+mj-lt"/>
              </a:rPr>
              <a:t>r</a:t>
            </a:r>
            <a:r>
              <a:rPr lang="en-US" altLang="en-US" dirty="0"/>
              <a:t> and </a:t>
            </a:r>
            <a:r>
              <a:rPr lang="en-US" altLang="en-US" i="1" dirty="0">
                <a:latin typeface="+mj-lt"/>
              </a:rPr>
              <a:t>r</a:t>
            </a:r>
            <a:r>
              <a:rPr lang="en-US" altLang="en-US" baseline="30000" dirty="0">
                <a:latin typeface="+mj-lt"/>
              </a:rPr>
              <a:t>2</a:t>
            </a:r>
            <a:r>
              <a:rPr lang="en-US" altLang="en-US" dirty="0"/>
              <a:t> describe the strength of association.</a:t>
            </a:r>
          </a:p>
          <a:p>
            <a:pPr>
              <a:spcBef>
                <a:spcPct val="20000"/>
              </a:spcBef>
            </a:pPr>
            <a:endParaRPr lang="en-US" altLang="en-US" dirty="0"/>
          </a:p>
          <a:p>
            <a:pPr>
              <a:spcBef>
                <a:spcPct val="20000"/>
              </a:spcBef>
            </a:pPr>
            <a:r>
              <a:rPr lang="en-US" altLang="en-US" dirty="0"/>
              <a:t>‘</a:t>
            </a:r>
            <a:r>
              <a:rPr lang="en-US" altLang="en-US" i="1" dirty="0">
                <a:latin typeface="+mj-lt"/>
              </a:rPr>
              <a:t>r</a:t>
            </a:r>
            <a:r>
              <a:rPr lang="en-US" altLang="en-US" dirty="0"/>
              <a:t>’ falls between –1 and +1.</a:t>
            </a:r>
          </a:p>
          <a:p>
            <a:pPr lvl="1"/>
            <a:r>
              <a:rPr lang="en-US" altLang="en-US" dirty="0"/>
              <a:t>It represents </a:t>
            </a:r>
            <a:r>
              <a:rPr lang="en-US" altLang="en-US" dirty="0">
                <a:solidFill>
                  <a:schemeClr val="tx1"/>
                </a:solidFill>
              </a:rPr>
              <a:t>by how many standard deviations </a:t>
            </a:r>
            <a:r>
              <a:rPr lang="en-US" altLang="en-US" i="1" dirty="0">
                <a:solidFill>
                  <a:schemeClr val="tx1"/>
                </a:solidFill>
                <a:latin typeface="+mj-lt"/>
              </a:rPr>
              <a:t>y</a:t>
            </a:r>
            <a:r>
              <a:rPr lang="en-US" altLang="en-US" i="1" dirty="0">
                <a:solidFill>
                  <a:schemeClr val="tx1"/>
                </a:solidFill>
              </a:rPr>
              <a:t> </a:t>
            </a:r>
            <a:r>
              <a:rPr lang="en-US" altLang="en-US" dirty="0">
                <a:solidFill>
                  <a:schemeClr val="tx1"/>
                </a:solidFill>
              </a:rPr>
              <a:t>is predicted to change when </a:t>
            </a:r>
            <a:r>
              <a:rPr lang="en-US" altLang="en-US" i="1" dirty="0">
                <a:solidFill>
                  <a:schemeClr val="tx1"/>
                </a:solidFill>
                <a:latin typeface="+mj-lt"/>
              </a:rPr>
              <a:t>x</a:t>
            </a:r>
            <a:r>
              <a:rPr lang="en-US" altLang="en-US" dirty="0">
                <a:solidFill>
                  <a:schemeClr val="tx1"/>
                </a:solidFill>
              </a:rPr>
              <a:t> changes by one standard deviation.</a:t>
            </a:r>
          </a:p>
          <a:p>
            <a:pPr>
              <a:spcBef>
                <a:spcPct val="20000"/>
              </a:spcBef>
            </a:pPr>
            <a:endParaRPr lang="en-US" altLang="en-US" dirty="0"/>
          </a:p>
          <a:p>
            <a:pPr>
              <a:spcBef>
                <a:spcPct val="20000"/>
              </a:spcBef>
            </a:pPr>
            <a:r>
              <a:rPr lang="en-US" altLang="en-US" dirty="0"/>
              <a:t>‘</a:t>
            </a:r>
            <a:r>
              <a:rPr lang="en-US" altLang="en-US" i="1" dirty="0"/>
              <a:t>r</a:t>
            </a:r>
            <a:r>
              <a:rPr lang="en-US" altLang="en-US" baseline="30000" dirty="0">
                <a:latin typeface="+mj-lt"/>
              </a:rPr>
              <a:t>2</a:t>
            </a:r>
            <a:r>
              <a:rPr lang="en-US" altLang="en-US" dirty="0"/>
              <a:t> ’ falls between 0 and 1.</a:t>
            </a:r>
          </a:p>
          <a:p>
            <a:pPr lvl="1"/>
            <a:r>
              <a:rPr lang="en-US" altLang="en-US" dirty="0"/>
              <a:t>It summarizes the </a:t>
            </a:r>
            <a:r>
              <a:rPr lang="en-US" altLang="en-US">
                <a:solidFill>
                  <a:schemeClr val="tx1"/>
                </a:solidFill>
              </a:rPr>
              <a:t>reduction in </a:t>
            </a:r>
            <a:r>
              <a:rPr lang="en-US" altLang="en-US" dirty="0">
                <a:solidFill>
                  <a:schemeClr val="tx1"/>
                </a:solidFill>
              </a:rPr>
              <a:t>the prediction error when using the regression equation.</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7AB2D74-68AE-9BE4-8CC0-3F0DC0E76A73}"/>
              </a:ext>
            </a:extLst>
          </p:cNvPr>
          <p:cNvSpPr>
            <a:spLocks noGrp="1"/>
          </p:cNvSpPr>
          <p:nvPr>
            <p:ph type="body" sz="quarter" idx="10"/>
          </p:nvPr>
        </p:nvSpPr>
        <p:spPr/>
        <p:txBody>
          <a:bodyPr/>
          <a:lstStyle/>
          <a:p>
            <a:pPr marL="0" indent="0" algn="ctr">
              <a:buNone/>
            </a:pPr>
            <a:r>
              <a:rPr lang="en-US" sz="4400" dirty="0"/>
              <a:t>How the Data Vary Around the Regression Line</a:t>
            </a:r>
          </a:p>
          <a:p>
            <a:endParaRPr lang="en-US" dirty="0"/>
          </a:p>
        </p:txBody>
      </p:sp>
    </p:spTree>
    <p:extLst>
      <p:ext uri="{BB962C8B-B14F-4D97-AF65-F5344CB8AC3E}">
        <p14:creationId xmlns:p14="http://schemas.microsoft.com/office/powerpoint/2010/main" val="250537964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idx="4294967295"/>
          </p:nvPr>
        </p:nvSpPr>
        <p:spPr bwMode="auto">
          <a:xfrm>
            <a:off x="762000" y="242888"/>
            <a:ext cx="8077200" cy="639762"/>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noAutofit/>
          </a:bodyPr>
          <a:lstStyle/>
          <a:p>
            <a:r>
              <a:rPr lang="en-US" altLang="en-US" sz="3600" b="1" dirty="0">
                <a:latin typeface="Arial" panose="020B0604020202020204" pitchFamily="34" charset="0"/>
              </a:rPr>
              <a:t>Histogram of Residuals</a:t>
            </a:r>
          </a:p>
        </p:txBody>
      </p:sp>
      <p:sp>
        <p:nvSpPr>
          <p:cNvPr id="118787" name="Rectangle 3"/>
          <p:cNvSpPr>
            <a:spLocks noGrp="1" noChangeArrowheads="1"/>
          </p:cNvSpPr>
          <p:nvPr>
            <p:ph type="body" idx="4294967295"/>
          </p:nvPr>
        </p:nvSpPr>
        <p:spPr bwMode="auto">
          <a:xfrm>
            <a:off x="763524" y="1600200"/>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ormAutofit/>
          </a:bodyPr>
          <a:lstStyle/>
          <a:p>
            <a:pPr marL="0" indent="0">
              <a:spcBef>
                <a:spcPct val="20000"/>
              </a:spcBef>
              <a:buNone/>
            </a:pPr>
            <a:r>
              <a:rPr lang="en-US" altLang="en-US" dirty="0"/>
              <a:t>A histogram of residuals is a good way of detecting unusual observations.</a:t>
            </a:r>
          </a:p>
          <a:p>
            <a:pPr marL="0" indent="0">
              <a:spcBef>
                <a:spcPct val="20000"/>
              </a:spcBef>
            </a:pPr>
            <a:endParaRPr lang="en-US" altLang="en-US" dirty="0"/>
          </a:p>
          <a:p>
            <a:pPr marL="0" indent="0">
              <a:spcBef>
                <a:spcPct val="20000"/>
              </a:spcBef>
              <a:buNone/>
            </a:pPr>
            <a:r>
              <a:rPr lang="en-US" altLang="en-US" dirty="0"/>
              <a:t>A histogram is also a good way of checking the assumption that the conditional distribution of </a:t>
            </a:r>
            <a:r>
              <a:rPr lang="en-US" altLang="en-US" i="1" dirty="0">
                <a:latin typeface="+mj-lt"/>
              </a:rPr>
              <a:t>y</a:t>
            </a:r>
            <a:r>
              <a:rPr lang="en-US" altLang="en-US" dirty="0"/>
              <a:t> at each </a:t>
            </a:r>
            <a:r>
              <a:rPr lang="en-US" altLang="en-US" i="1" dirty="0">
                <a:latin typeface="+mj-lt"/>
              </a:rPr>
              <a:t>x</a:t>
            </a:r>
            <a:r>
              <a:rPr lang="en-US" altLang="en-US" dirty="0"/>
              <a:t> value is normal.</a:t>
            </a:r>
          </a:p>
          <a:p>
            <a:pPr marL="0" indent="0">
              <a:spcBef>
                <a:spcPct val="20000"/>
              </a:spcBef>
            </a:pPr>
            <a:endParaRPr lang="en-US" altLang="en-US" sz="2800" dirty="0"/>
          </a:p>
          <a:p>
            <a:pPr marL="0" indent="0">
              <a:spcBef>
                <a:spcPct val="20000"/>
              </a:spcBef>
              <a:buNone/>
            </a:pPr>
            <a:r>
              <a:rPr lang="en-US" altLang="en-US" sz="2800" dirty="0"/>
              <a:t>Look for </a:t>
            </a:r>
            <a:r>
              <a:rPr lang="en-US" altLang="en-US" sz="2800" dirty="0">
                <a:solidFill>
                  <a:schemeClr val="tx1"/>
                </a:solidFill>
              </a:rPr>
              <a:t>an approximately </a:t>
            </a:r>
            <a:r>
              <a:rPr lang="en-US" altLang="en-US" sz="2800" dirty="0"/>
              <a:t>bell-shaped histogram. </a:t>
            </a:r>
          </a:p>
        </p:txBody>
      </p:sp>
    </p:spTree>
    <p:extLst>
      <p:ext uri="{BB962C8B-B14F-4D97-AF65-F5344CB8AC3E}">
        <p14:creationId xmlns:p14="http://schemas.microsoft.com/office/powerpoint/2010/main" val="410363336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3"/>
          <p:cNvSpPr>
            <a:spLocks noGrp="1" noChangeArrowheads="1"/>
          </p:cNvSpPr>
          <p:nvPr>
            <p:ph type="body" idx="4294967295"/>
          </p:nvPr>
        </p:nvSpPr>
        <p:spPr bwMode="auto">
          <a:xfrm>
            <a:off x="763524" y="1600200"/>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ormAutofit/>
          </a:bodyPr>
          <a:lstStyle/>
          <a:p>
            <a:pPr marL="0" indent="0">
              <a:spcBef>
                <a:spcPct val="20000"/>
              </a:spcBef>
              <a:buNone/>
            </a:pPr>
            <a:r>
              <a:rPr lang="en-US" altLang="en-US" dirty="0"/>
              <a:t>Suppose the histogram is not bell-shaped:  </a:t>
            </a:r>
          </a:p>
          <a:p>
            <a:pPr lvl="1"/>
            <a:r>
              <a:rPr lang="en-US" altLang="en-US" sz="2800" dirty="0"/>
              <a:t>The distribution of the residuals is not normal.</a:t>
            </a:r>
          </a:p>
          <a:p>
            <a:pPr lvl="1"/>
            <a:endParaRPr lang="en-US" altLang="en-US" sz="2800" dirty="0"/>
          </a:p>
          <a:p>
            <a:pPr marL="0" lvl="1" indent="0">
              <a:buNone/>
            </a:pPr>
            <a:r>
              <a:rPr lang="en-US" altLang="en-US" sz="2800" dirty="0"/>
              <a:t>However….</a:t>
            </a:r>
          </a:p>
          <a:p>
            <a:pPr lvl="1"/>
            <a:r>
              <a:rPr lang="en-US" altLang="en-US" sz="2800" dirty="0"/>
              <a:t>Two-sided inferences about the slope parameter still work quite well.</a:t>
            </a:r>
          </a:p>
          <a:p>
            <a:pPr lvl="1"/>
            <a:endParaRPr lang="en-US" altLang="en-US" sz="2800" dirty="0"/>
          </a:p>
          <a:p>
            <a:pPr lvl="1"/>
            <a:r>
              <a:rPr lang="en-US" altLang="en-US" sz="2800" dirty="0"/>
              <a:t>The </a:t>
            </a:r>
            <a:r>
              <a:rPr lang="en-US" altLang="en-US" sz="2800" i="1" dirty="0"/>
              <a:t>t</a:t>
            </a:r>
            <a:r>
              <a:rPr lang="en-US" altLang="en-US" sz="2800" dirty="0"/>
              <a:t>-inferences are robust.</a:t>
            </a:r>
          </a:p>
        </p:txBody>
      </p:sp>
      <p:sp>
        <p:nvSpPr>
          <p:cNvPr id="119811" name="Rectangle 2"/>
          <p:cNvSpPr>
            <a:spLocks noChangeArrowheads="1"/>
          </p:cNvSpPr>
          <p:nvPr/>
        </p:nvSpPr>
        <p:spPr bwMode="auto">
          <a:xfrm>
            <a:off x="762000" y="242888"/>
            <a:ext cx="8077200"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eaLnBrk="0" hangingPunct="0"/>
            <a:r>
              <a:rPr lang="en-US" altLang="en-US" sz="3200">
                <a:solidFill>
                  <a:schemeClr val="tx1"/>
                </a:solidFill>
                <a:latin typeface="Arial" panose="020B0604020202020204" pitchFamily="34" charset="0"/>
              </a:rPr>
              <a:t>Histogram of Residuals</a:t>
            </a:r>
          </a:p>
        </p:txBody>
      </p:sp>
    </p:spTree>
    <p:extLst>
      <p:ext uri="{BB962C8B-B14F-4D97-AF65-F5344CB8AC3E}">
        <p14:creationId xmlns:p14="http://schemas.microsoft.com/office/powerpoint/2010/main" val="113574902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idx="4294967295"/>
          </p:nvPr>
        </p:nvSpPr>
        <p:spPr bwMode="auto">
          <a:xfrm>
            <a:off x="762000" y="165100"/>
            <a:ext cx="8153400" cy="71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normAutofit fontScale="90000"/>
          </a:bodyPr>
          <a:lstStyle/>
          <a:p>
            <a:r>
              <a:rPr lang="en-US" altLang="en-US" b="1">
                <a:latin typeface="Arial" panose="020B0604020202020204" pitchFamily="34" charset="0"/>
              </a:rPr>
              <a:t>The Residual Standard Deviation</a:t>
            </a:r>
          </a:p>
        </p:txBody>
      </p:sp>
      <mc:AlternateContent xmlns:mc="http://schemas.openxmlformats.org/markup-compatibility/2006" xmlns:a14="http://schemas.microsoft.com/office/drawing/2010/main">
        <mc:Choice Requires="a14">
          <p:sp>
            <p:nvSpPr>
              <p:cNvPr id="120835" name="Rectangle 3"/>
              <p:cNvSpPr>
                <a:spLocks noGrp="1" noChangeArrowheads="1"/>
              </p:cNvSpPr>
              <p:nvPr>
                <p:ph type="body" idx="4294967295"/>
              </p:nvPr>
            </p:nvSpPr>
            <p:spPr bwMode="auto">
              <a:xfrm>
                <a:off x="763524" y="1600200"/>
                <a:ext cx="7753350" cy="4511675"/>
              </a:xfrm>
              <a:prstGeom prst="rect">
                <a:avLst/>
              </a:prstGeom>
              <a:solidFill>
                <a:srgbClr val="FFFFFF"/>
              </a:solidFill>
              <a:extLst>
                <a:ext uri="{91240B29-F687-4F45-9708-019B960494DF}">
                  <a14:hiddenLine w="9525">
                    <a:solidFill>
                      <a:srgbClr val="000000"/>
                    </a:solidFill>
                    <a:miter lim="800000"/>
                    <a:headEnd/>
                    <a:tailEnd/>
                  </a14:hiddenLine>
                </a:ext>
              </a:extLst>
            </p:spPr>
            <p:txBody>
              <a:bodyPr lIns="0" rIns="0"/>
              <a:lstStyle/>
              <a:p>
                <a:pPr marL="0" indent="0">
                  <a:spcBef>
                    <a:spcPct val="20000"/>
                  </a:spcBef>
                  <a:buNone/>
                </a:pPr>
                <a:r>
                  <a:rPr lang="en-US" altLang="en-US" dirty="0"/>
                  <a:t>For statistical inference, the regression model assumes that the conditional distribution of </a:t>
                </a:r>
                <a:r>
                  <a:rPr lang="en-US" altLang="en-US" i="1" dirty="0">
                    <a:latin typeface="+mj-lt"/>
                  </a:rPr>
                  <a:t>y</a:t>
                </a:r>
                <a:r>
                  <a:rPr lang="en-US" altLang="en-US" dirty="0"/>
                  <a:t> at a fixed value of </a:t>
                </a:r>
                <a:r>
                  <a:rPr lang="en-US" altLang="en-US" i="1" dirty="0">
                    <a:latin typeface="+mj-lt"/>
                  </a:rPr>
                  <a:t>x</a:t>
                </a:r>
                <a:r>
                  <a:rPr lang="en-US" altLang="en-US" dirty="0"/>
                  <a:t> is normal, with the same standard deviation at each </a:t>
                </a:r>
                <a:r>
                  <a:rPr lang="en-US" altLang="en-US" i="1" dirty="0">
                    <a:latin typeface="+mj-lt"/>
                  </a:rPr>
                  <a:t>x</a:t>
                </a:r>
                <a:r>
                  <a:rPr lang="en-US" altLang="en-US" dirty="0"/>
                  <a:t>.</a:t>
                </a:r>
              </a:p>
              <a:p>
                <a:pPr marL="0" indent="0">
                  <a:spcBef>
                    <a:spcPct val="20000"/>
                  </a:spcBef>
                </a:pPr>
                <a:endParaRPr lang="en-US" altLang="en-US" dirty="0"/>
              </a:p>
              <a:p>
                <a:pPr marL="0" indent="0">
                  <a:spcBef>
                    <a:spcPct val="20000"/>
                  </a:spcBef>
                  <a:buNone/>
                </a:pPr>
                <a:r>
                  <a:rPr lang="en-US" altLang="en-US" dirty="0"/>
                  <a:t>This standard deviation, denoted by </a:t>
                </a:r>
                <a14:m>
                  <m:oMath xmlns:m="http://schemas.openxmlformats.org/officeDocument/2006/math">
                    <m:r>
                      <a:rPr lang="en-US" altLang="en-US" i="1" smtClean="0">
                        <a:latin typeface="Cambria Math" panose="02040503050406030204" pitchFamily="18" charset="0"/>
                        <a:ea typeface="Cambria Math" panose="02040503050406030204" pitchFamily="18" charset="0"/>
                      </a:rPr>
                      <m:t>𝜎</m:t>
                    </m:r>
                  </m:oMath>
                </a14:m>
                <a:r>
                  <a:rPr lang="en-US" altLang="en-US" dirty="0"/>
                  <a:t>, refers to the variability of </a:t>
                </a:r>
                <a:r>
                  <a:rPr lang="en-US" altLang="en-US" i="1" dirty="0">
                    <a:latin typeface="+mj-lt"/>
                  </a:rPr>
                  <a:t>y</a:t>
                </a:r>
                <a:r>
                  <a:rPr lang="en-US" altLang="en-US" dirty="0"/>
                  <a:t> values for all subjects with the same </a:t>
                </a:r>
                <a:r>
                  <a:rPr lang="en-US" altLang="en-US" i="1" dirty="0">
                    <a:latin typeface="+mj-lt"/>
                  </a:rPr>
                  <a:t>x</a:t>
                </a:r>
                <a:r>
                  <a:rPr lang="en-US" altLang="en-US" dirty="0"/>
                  <a:t> value.</a:t>
                </a:r>
                <a:endParaRPr lang="el-GR" altLang="en-US" dirty="0"/>
              </a:p>
            </p:txBody>
          </p:sp>
        </mc:Choice>
        <mc:Fallback xmlns="">
          <p:sp>
            <p:nvSpPr>
              <p:cNvPr id="120835" name="Rectangle 3"/>
              <p:cNvSpPr>
                <a:spLocks noGrp="1" noRot="1" noChangeAspect="1" noMove="1" noResize="1" noEditPoints="1" noAdjustHandles="1" noChangeArrowheads="1" noChangeShapeType="1" noTextEdit="1"/>
              </p:cNvSpPr>
              <p:nvPr>
                <p:ph type="body" idx="4294967295"/>
              </p:nvPr>
            </p:nvSpPr>
            <p:spPr bwMode="auto">
              <a:xfrm>
                <a:off x="763524" y="1600200"/>
                <a:ext cx="7753350" cy="4511675"/>
              </a:xfrm>
              <a:prstGeom prst="rect">
                <a:avLst/>
              </a:prstGeom>
              <a:blipFill>
                <a:blip r:embed="rId2"/>
                <a:stretch>
                  <a:fillRect l="-2752" t="-2297" r="-157"/>
                </a:stretch>
              </a:blipFill>
              <a:extLs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268401176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3"/>
          <p:cNvSpPr>
            <a:spLocks noGrp="1" noChangeArrowheads="1"/>
          </p:cNvSpPr>
          <p:nvPr>
            <p:ph type="body" sz="half" idx="4294967295"/>
          </p:nvPr>
        </p:nvSpPr>
        <p:spPr bwMode="auto">
          <a:xfrm>
            <a:off x="763524" y="1600200"/>
            <a:ext cx="7369175"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spcBef>
                <a:spcPct val="20000"/>
              </a:spcBef>
            </a:pPr>
            <a:endParaRPr lang="en-US" altLang="en-US" dirty="0"/>
          </a:p>
          <a:p>
            <a:pPr marL="0" indent="0">
              <a:spcBef>
                <a:spcPct val="20000"/>
              </a:spcBef>
              <a:buNone/>
            </a:pPr>
            <a:r>
              <a:rPr lang="en-US" altLang="en-US" dirty="0"/>
              <a:t>The estimate of </a:t>
            </a:r>
            <a:r>
              <a:rPr lang="en-US" altLang="en-US" dirty="0">
                <a:sym typeface="Symbol" panose="05050102010706020507" pitchFamily="18" charset="2"/>
              </a:rPr>
              <a:t></a:t>
            </a:r>
            <a:r>
              <a:rPr lang="en-US" altLang="en-US" dirty="0"/>
              <a:t>, obtained from the data, is called the </a:t>
            </a:r>
            <a:r>
              <a:rPr lang="en-US" altLang="en-US" b="1" dirty="0"/>
              <a:t>residual standard deviation</a:t>
            </a:r>
            <a:r>
              <a:rPr lang="en-US" altLang="en-US" dirty="0"/>
              <a:t>:</a:t>
            </a:r>
          </a:p>
          <a:p>
            <a:pPr marL="0" indent="0">
              <a:spcBef>
                <a:spcPct val="20000"/>
              </a:spcBef>
            </a:pPr>
            <a:endParaRPr lang="en-US" altLang="en-US" dirty="0"/>
          </a:p>
          <a:p>
            <a:pPr marL="0" indent="0">
              <a:spcBef>
                <a:spcPct val="20000"/>
              </a:spcBef>
            </a:pPr>
            <a:endParaRPr lang="en-US" altLang="en-US" dirty="0"/>
          </a:p>
          <a:p>
            <a:pPr marL="0" indent="0">
              <a:spcBef>
                <a:spcPct val="20000"/>
              </a:spcBef>
              <a:buNone/>
            </a:pPr>
            <a:r>
              <a:rPr lang="en-US" altLang="en-US" dirty="0"/>
              <a:t> </a:t>
            </a:r>
            <a:endParaRPr lang="el-GR" altLang="en-US" dirty="0"/>
          </a:p>
        </p:txBody>
      </p:sp>
      <p:sp>
        <p:nvSpPr>
          <p:cNvPr id="121860" name="Rectangle 2"/>
          <p:cNvSpPr>
            <a:spLocks noChangeArrowheads="1"/>
          </p:cNvSpPr>
          <p:nvPr/>
        </p:nvSpPr>
        <p:spPr bwMode="auto">
          <a:xfrm>
            <a:off x="762000" y="165100"/>
            <a:ext cx="8153400" cy="71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eaLnBrk="0" hangingPunct="0"/>
            <a:r>
              <a:rPr lang="en-US" altLang="en-US" sz="3200">
                <a:solidFill>
                  <a:schemeClr val="tx1"/>
                </a:solidFill>
                <a:latin typeface="Arial" panose="020B0604020202020204" pitchFamily="34" charset="0"/>
              </a:rPr>
              <a:t>The Residual Standard Deviation</a:t>
            </a:r>
          </a:p>
        </p:txBody>
      </p:sp>
      <p:graphicFrame>
        <p:nvGraphicFramePr>
          <p:cNvPr id="2" name="Object 1"/>
          <p:cNvGraphicFramePr>
            <a:graphicFrameLocks noChangeAspect="1"/>
          </p:cNvGraphicFramePr>
          <p:nvPr/>
        </p:nvGraphicFramePr>
        <p:xfrm>
          <a:off x="3172968" y="3273552"/>
          <a:ext cx="2298700" cy="965200"/>
        </p:xfrm>
        <a:graphic>
          <a:graphicData uri="http://schemas.openxmlformats.org/presentationml/2006/ole">
            <mc:AlternateContent xmlns:mc="http://schemas.openxmlformats.org/markup-compatibility/2006">
              <mc:Choice xmlns:v="urn:schemas-microsoft-com:vml" Requires="v">
                <p:oleObj name="Equation" r:id="rId2" imgW="2298600" imgH="965160" progId="Equation.DSMT4">
                  <p:embed/>
                </p:oleObj>
              </mc:Choice>
              <mc:Fallback>
                <p:oleObj name="Equation" r:id="rId2" imgW="2298600" imgH="965160" progId="Equation.DSMT4">
                  <p:embed/>
                  <p:pic>
                    <p:nvPicPr>
                      <p:cNvPr id="2"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2968" y="3273552"/>
                        <a:ext cx="2298700" cy="965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73326090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idx="4294967295"/>
          </p:nvPr>
        </p:nvSpPr>
        <p:spPr bwMode="auto">
          <a:xfrm>
            <a:off x="733425" y="130175"/>
            <a:ext cx="8001000" cy="78898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Confidence Interval for  </a:t>
            </a:r>
            <a:r>
              <a:rPr lang="en-US" altLang="en-US"/>
              <a:t> </a:t>
            </a:r>
          </a:p>
        </p:txBody>
      </p:sp>
      <mc:AlternateContent xmlns:mc="http://schemas.openxmlformats.org/markup-compatibility/2006" xmlns:a14="http://schemas.microsoft.com/office/drawing/2010/main">
        <mc:Choice Requires="a14">
          <p:sp>
            <p:nvSpPr>
              <p:cNvPr id="123907" name="Rectangle 3"/>
              <p:cNvSpPr>
                <a:spLocks noGrp="1" noChangeArrowheads="1"/>
              </p:cNvSpPr>
              <p:nvPr>
                <p:ph type="body" sz="half" idx="4294967295"/>
              </p:nvPr>
            </p:nvSpPr>
            <p:spPr bwMode="auto">
              <a:xfrm>
                <a:off x="763524" y="1600200"/>
                <a:ext cx="7677150" cy="4511675"/>
              </a:xfrm>
              <a:prstGeom prst="rect">
                <a:avLst/>
              </a:prstGeom>
              <a:solidFill>
                <a:srgbClr val="FFFFFF"/>
              </a:solidFill>
              <a:extLst>
                <a:ext uri="{91240B29-F687-4F45-9708-019B960494DF}">
                  <a14:hiddenLine w="9525">
                    <a:solidFill>
                      <a:srgbClr val="000000"/>
                    </a:solidFill>
                    <a:miter lim="800000"/>
                    <a:headEnd/>
                    <a:tailEnd/>
                  </a14:hiddenLine>
                </a:ext>
              </a:extLst>
            </p:spPr>
            <p:txBody>
              <a:bodyPr lIns="0" rIns="0"/>
              <a:lstStyle/>
              <a:p>
                <a:pPr marL="0" indent="0">
                  <a:spcBef>
                    <a:spcPct val="20000"/>
                  </a:spcBef>
                </a:pPr>
                <a:r>
                  <a:rPr lang="en-US" altLang="en-US" dirty="0"/>
                  <a:t>We can estimate </a:t>
                </a:r>
                <a14:m>
                  <m:oMath xmlns:m="http://schemas.openxmlformats.org/officeDocument/2006/math">
                    <m:sSub>
                      <m:sSubPr>
                        <m:ctrlPr>
                          <a:rPr lang="en-US" altLang="en-US" i="1" smtClean="0">
                            <a:latin typeface="Cambria Math" panose="02040503050406030204" pitchFamily="18" charset="0"/>
                          </a:rPr>
                        </m:ctrlPr>
                      </m:sSubPr>
                      <m:e>
                        <m:r>
                          <m:rPr>
                            <m:sty m:val="p"/>
                          </m:rPr>
                          <a:rPr lang="en-US" altLang="en-US" i="0" smtClean="0">
                            <a:latin typeface="Cambria Math" panose="02040503050406030204" pitchFamily="18" charset="0"/>
                            <a:ea typeface="Cambria Math" panose="02040503050406030204" pitchFamily="18" charset="0"/>
                          </a:rPr>
                          <m:t>μ</m:t>
                        </m:r>
                      </m:e>
                      <m:sub>
                        <m:r>
                          <a:rPr lang="en-US" altLang="en-US" b="0" i="1" smtClean="0">
                            <a:latin typeface="Cambria Math" panose="02040503050406030204" pitchFamily="18" charset="0"/>
                          </a:rPr>
                          <m:t>𝑦</m:t>
                        </m:r>
                      </m:sub>
                    </m:sSub>
                  </m:oMath>
                </a14:m>
                <a:r>
                  <a:rPr lang="en-US" altLang="en-US" dirty="0"/>
                  <a:t>, the population mean of </a:t>
                </a:r>
                <a:r>
                  <a:rPr lang="en-US" altLang="en-US" i="1" dirty="0">
                    <a:latin typeface="+mj-lt"/>
                  </a:rPr>
                  <a:t>y</a:t>
                </a:r>
                <a:r>
                  <a:rPr lang="en-US" altLang="en-US" dirty="0"/>
                  <a:t> at a given value of </a:t>
                </a:r>
                <a:r>
                  <a:rPr lang="en-US" altLang="en-US" i="1" dirty="0">
                    <a:latin typeface="+mj-lt"/>
                  </a:rPr>
                  <a:t>x</a:t>
                </a:r>
                <a:r>
                  <a:rPr lang="en-US" altLang="en-US" dirty="0"/>
                  <a:t> by: </a:t>
                </a:r>
                <a:r>
                  <a:rPr lang="cy-GB" altLang="en-US" i="1" dirty="0">
                    <a:latin typeface="Times New Roman" panose="02020603050405020304" pitchFamily="18" charset="0"/>
                    <a:cs typeface="Times New Roman" panose="02020603050405020304" pitchFamily="18" charset="0"/>
                  </a:rPr>
                  <a:t>ŷ </a:t>
                </a:r>
                <a:r>
                  <a:rPr lang="cy-GB" altLang="en-US" dirty="0">
                    <a:latin typeface="Times New Roman" panose="02020603050405020304" pitchFamily="18" charset="0"/>
                    <a:cs typeface="Times New Roman" panose="02020603050405020304" pitchFamily="18" charset="0"/>
                  </a:rPr>
                  <a:t>= </a:t>
                </a:r>
                <a:r>
                  <a:rPr lang="cy-GB" altLang="en-US" i="1" dirty="0">
                    <a:latin typeface="+mj-lt"/>
                    <a:cs typeface="Times New Roman" panose="02020603050405020304" pitchFamily="18" charset="0"/>
                  </a:rPr>
                  <a:t>a </a:t>
                </a:r>
                <a:r>
                  <a:rPr lang="cy-GB" altLang="en-US" dirty="0">
                    <a:latin typeface="+mj-lt"/>
                    <a:cs typeface="Times New Roman" panose="02020603050405020304" pitchFamily="18" charset="0"/>
                  </a:rPr>
                  <a:t>+</a:t>
                </a:r>
                <a:r>
                  <a:rPr lang="cy-GB" altLang="en-US" i="1" dirty="0">
                    <a:latin typeface="+mj-lt"/>
                    <a:cs typeface="Times New Roman" panose="02020603050405020304" pitchFamily="18" charset="0"/>
                  </a:rPr>
                  <a:t> bx.</a:t>
                </a:r>
                <a:endParaRPr lang="en-US" altLang="en-US" i="1" dirty="0">
                  <a:latin typeface="+mj-lt"/>
                </a:endParaRPr>
              </a:p>
              <a:p>
                <a:pPr marL="0" indent="0">
                  <a:spcBef>
                    <a:spcPct val="20000"/>
                  </a:spcBef>
                </a:pPr>
                <a:endParaRPr lang="en-US" altLang="en-US" dirty="0"/>
              </a:p>
              <a:p>
                <a:pPr marL="0" indent="0">
                  <a:spcBef>
                    <a:spcPct val="20000"/>
                  </a:spcBef>
                </a:pPr>
                <a:endParaRPr lang="en-US" altLang="en-US" dirty="0"/>
              </a:p>
              <a:p>
                <a:pPr marL="0" indent="0">
                  <a:spcBef>
                    <a:spcPct val="20000"/>
                  </a:spcBef>
                </a:pPr>
                <a:r>
                  <a:rPr lang="en-US" altLang="en-US" dirty="0"/>
                  <a:t>We can construct a 95% </a:t>
                </a:r>
                <a:r>
                  <a:rPr lang="en-US" altLang="en-US" b="1" dirty="0"/>
                  <a:t>confidence interval for </a:t>
                </a:r>
                <a14:m>
                  <m:oMath xmlns:m="http://schemas.openxmlformats.org/officeDocument/2006/math">
                    <m:r>
                      <a:rPr lang="en-US" altLang="en-US" b="1" i="0" smtClean="0">
                        <a:latin typeface="Cambria Math" panose="02040503050406030204" pitchFamily="18" charset="0"/>
                        <a:ea typeface="Cambria Math" panose="02040503050406030204" pitchFamily="18" charset="0"/>
                      </a:rPr>
                      <m:t>𝛍</m:t>
                    </m:r>
                    <m:r>
                      <a:rPr lang="en-US" altLang="en-US" b="1" i="1" baseline="-25000" smtClean="0">
                        <a:latin typeface="Cambria Math" panose="02040503050406030204" pitchFamily="18" charset="0"/>
                        <a:ea typeface="Cambria Math" panose="02040503050406030204" pitchFamily="18" charset="0"/>
                      </a:rPr>
                      <m:t>𝒚</m:t>
                    </m:r>
                  </m:oMath>
                </a14:m>
                <a:r>
                  <a:rPr lang="en-US" altLang="en-US" b="1" dirty="0"/>
                  <a:t> </a:t>
                </a:r>
                <a:r>
                  <a:rPr lang="en-US" altLang="en-US" dirty="0"/>
                  <a:t> using: </a:t>
                </a:r>
              </a:p>
              <a:p>
                <a:pPr marL="0" indent="0">
                  <a:spcBef>
                    <a:spcPct val="20000"/>
                  </a:spcBef>
                </a:pPr>
                <a:endParaRPr lang="en-US" altLang="en-US" dirty="0"/>
              </a:p>
              <a:p>
                <a:pPr marL="0" indent="0">
                  <a:spcBef>
                    <a:spcPct val="20000"/>
                  </a:spcBef>
                </a:pPr>
                <a:endParaRPr lang="en-US" altLang="en-US" dirty="0"/>
              </a:p>
              <a:p>
                <a:pPr lvl="1"/>
                <a:r>
                  <a:rPr lang="en-US" altLang="en-US" dirty="0"/>
                  <a:t>where the </a:t>
                </a:r>
                <a:r>
                  <a:rPr lang="en-US" altLang="en-US" i="1" dirty="0"/>
                  <a:t>t</a:t>
                </a:r>
                <a:r>
                  <a:rPr lang="en-US" altLang="en-US" dirty="0"/>
                  <a:t>-score has </a:t>
                </a:r>
                <a14:m>
                  <m:oMath xmlns:m="http://schemas.openxmlformats.org/officeDocument/2006/math">
                    <m:r>
                      <a:rPr lang="en-US" altLang="en-US" b="0" i="1" smtClean="0">
                        <a:latin typeface="Cambria Math" panose="02040503050406030204" pitchFamily="18" charset="0"/>
                      </a:rPr>
                      <m:t>𝑑𝑓</m:t>
                    </m:r>
                    <m:r>
                      <a:rPr lang="en-US" altLang="en-US" b="0" i="1" smtClean="0">
                        <a:latin typeface="Cambria Math" panose="02040503050406030204" pitchFamily="18" charset="0"/>
                      </a:rPr>
                      <m:t>=</m:t>
                    </m:r>
                    <m:r>
                      <a:rPr lang="en-US" altLang="en-US" b="0" i="1" smtClean="0">
                        <a:latin typeface="Cambria Math" panose="02040503050406030204" pitchFamily="18" charset="0"/>
                      </a:rPr>
                      <m:t>𝑛</m:t>
                    </m:r>
                    <m:r>
                      <a:rPr lang="en-US" altLang="en-US" b="0" i="1" smtClean="0">
                        <a:latin typeface="Cambria Math" panose="02040503050406030204" pitchFamily="18" charset="0"/>
                      </a:rPr>
                      <m:t>−2.</m:t>
                    </m:r>
                  </m:oMath>
                </a14:m>
                <a:r>
                  <a:rPr lang="en-US" altLang="en-US" i="1" dirty="0"/>
                  <a:t> </a:t>
                </a:r>
              </a:p>
              <a:p>
                <a:pPr marL="0" indent="0">
                  <a:spcBef>
                    <a:spcPct val="20000"/>
                  </a:spcBef>
                </a:pPr>
                <a:endParaRPr lang="en-US" altLang="en-US" dirty="0"/>
              </a:p>
            </p:txBody>
          </p:sp>
        </mc:Choice>
        <mc:Fallback xmlns="">
          <p:sp>
            <p:nvSpPr>
              <p:cNvPr id="123907" name="Rectangle 3"/>
              <p:cNvSpPr>
                <a:spLocks noGrp="1" noRot="1" noChangeAspect="1" noMove="1" noResize="1" noEditPoints="1" noAdjustHandles="1" noChangeArrowheads="1" noChangeShapeType="1" noTextEdit="1"/>
              </p:cNvSpPr>
              <p:nvPr>
                <p:ph type="body" sz="half" idx="4294967295"/>
              </p:nvPr>
            </p:nvSpPr>
            <p:spPr bwMode="auto">
              <a:xfrm>
                <a:off x="763524" y="1600200"/>
                <a:ext cx="7677150" cy="4511675"/>
              </a:xfrm>
              <a:prstGeom prst="rect">
                <a:avLst/>
              </a:prstGeom>
              <a:blipFill>
                <a:blip r:embed="rId2"/>
                <a:stretch>
                  <a:fillRect l="-2778" t="-2027" r="-397"/>
                </a:stretch>
              </a:blipFill>
              <a:extLs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aphicFrame>
        <p:nvGraphicFramePr>
          <p:cNvPr id="123910" name="Object 7"/>
          <p:cNvGraphicFramePr>
            <a:graphicFrameLocks noChangeAspect="1"/>
          </p:cNvGraphicFramePr>
          <p:nvPr>
            <p:extLst>
              <p:ext uri="{D42A27DB-BD31-4B8C-83A1-F6EECF244321}">
                <p14:modId xmlns:p14="http://schemas.microsoft.com/office/powerpoint/2010/main" val="2328729377"/>
              </p:ext>
            </p:extLst>
          </p:nvPr>
        </p:nvGraphicFramePr>
        <p:xfrm>
          <a:off x="7020272" y="246063"/>
          <a:ext cx="534988" cy="673100"/>
        </p:xfrm>
        <a:graphic>
          <a:graphicData uri="http://schemas.openxmlformats.org/presentationml/2006/ole">
            <mc:AlternateContent xmlns:mc="http://schemas.openxmlformats.org/markup-compatibility/2006">
              <mc:Choice xmlns:v="urn:schemas-microsoft-com:vml" Requires="v">
                <p:oleObj name="Equation" r:id="rId3" imgW="393480" imgH="495000" progId="Equation.DSMT4">
                  <p:embed/>
                </p:oleObj>
              </mc:Choice>
              <mc:Fallback>
                <p:oleObj name="Equation" r:id="rId3" imgW="393480" imgH="495000" progId="Equation.DSMT4">
                  <p:embed/>
                  <p:pic>
                    <p:nvPicPr>
                      <p:cNvPr id="12391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20272" y="246063"/>
                        <a:ext cx="534988" cy="6731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2" name="Object 1"/>
              <p:cNvSpPr txBox="1"/>
              <p:nvPr/>
            </p:nvSpPr>
            <p:spPr bwMode="auto">
              <a:xfrm>
                <a:off x="3167062" y="4041774"/>
                <a:ext cx="2917106" cy="863390"/>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acc>
                        <m:accPr>
                          <m:chr m:val="̂"/>
                          <m:ctrlPr>
                            <a:rPr lang="en-US" sz="2400" i="1">
                              <a:solidFill>
                                <a:srgbClr val="000000"/>
                              </a:solidFill>
                              <a:latin typeface="Cambria Math" panose="02040503050406030204" pitchFamily="18" charset="0"/>
                            </a:rPr>
                          </m:ctrlPr>
                        </m:accPr>
                        <m:e>
                          <m:r>
                            <a:rPr lang="en-US" sz="2400" i="1">
                              <a:solidFill>
                                <a:srgbClr val="000000"/>
                              </a:solidFill>
                              <a:latin typeface="Cambria Math" panose="02040503050406030204" pitchFamily="18" charset="0"/>
                            </a:rPr>
                            <m:t>𝑦</m:t>
                          </m:r>
                        </m:e>
                      </m:acc>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𝑡</m:t>
                          </m:r>
                        </m:e>
                        <m:sub>
                          <m:r>
                            <a:rPr lang="en-US" sz="2400" i="1">
                              <a:solidFill>
                                <a:srgbClr val="000000"/>
                              </a:solidFill>
                              <a:latin typeface="Cambria Math" panose="02040503050406030204" pitchFamily="18" charset="0"/>
                            </a:rPr>
                            <m:t>.025</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𝑠𝑒</m:t>
                      </m:r>
                      <m:r>
                        <m:rPr>
                          <m:nor/>
                        </m:rPr>
                        <a:rPr lang="en-US" sz="2400" i="0">
                          <a:solidFill>
                            <a:srgbClr val="000000"/>
                          </a:solidFill>
                          <a:latin typeface="Cambria Math" panose="02040503050406030204" pitchFamily="18" charset="0"/>
                        </a:rPr>
                        <m:t> </m:t>
                      </m:r>
                      <m:r>
                        <m:rPr>
                          <m:nor/>
                        </m:rPr>
                        <a:rPr lang="en-US" sz="2400" i="0">
                          <a:solidFill>
                            <a:srgbClr val="000000"/>
                          </a:solidFill>
                          <a:latin typeface="Cambria Math" panose="02040503050406030204" pitchFamily="18" charset="0"/>
                        </a:rPr>
                        <m:t>of</m:t>
                      </m:r>
                      <m:r>
                        <m:rPr>
                          <m:nor/>
                        </m:rPr>
                        <a:rPr lang="en-US" sz="2400" i="0">
                          <a:solidFill>
                            <a:srgbClr val="000000"/>
                          </a:solidFill>
                          <a:latin typeface="Cambria Math" panose="02040503050406030204" pitchFamily="18" charset="0"/>
                        </a:rPr>
                        <m:t> </m:t>
                      </m:r>
                      <m:acc>
                        <m:accPr>
                          <m:chr m:val="̂"/>
                          <m:ctrlPr>
                            <a:rPr lang="en-US" sz="2400" i="1">
                              <a:solidFill>
                                <a:srgbClr val="000000"/>
                              </a:solidFill>
                              <a:latin typeface="Cambria Math" panose="02040503050406030204" pitchFamily="18" charset="0"/>
                            </a:rPr>
                          </m:ctrlPr>
                        </m:accPr>
                        <m:e>
                          <m:r>
                            <a:rPr lang="en-US" sz="2400" i="1">
                              <a:solidFill>
                                <a:srgbClr val="000000"/>
                              </a:solidFill>
                              <a:latin typeface="Cambria Math" panose="02040503050406030204" pitchFamily="18" charset="0"/>
                            </a:rPr>
                            <m:t>𝑦</m:t>
                          </m:r>
                        </m:e>
                      </m:acc>
                      <m:r>
                        <a:rPr lang="en-US" sz="2400" i="1">
                          <a:solidFill>
                            <a:srgbClr val="000000"/>
                          </a:solidFill>
                          <a:latin typeface="Cambria Math" panose="02040503050406030204" pitchFamily="18" charset="0"/>
                        </a:rPr>
                        <m:t>).</m:t>
                      </m:r>
                    </m:oMath>
                  </m:oMathPara>
                </a14:m>
                <a:endParaRPr lang="en-US" dirty="0"/>
              </a:p>
            </p:txBody>
          </p:sp>
        </mc:Choice>
        <mc:Fallback xmlns="">
          <p:sp>
            <p:nvSpPr>
              <p:cNvPr id="2" name="Object 1"/>
              <p:cNvSpPr txBox="1">
                <a:spLocks noRot="1" noChangeAspect="1" noMove="1" noResize="1" noEditPoints="1" noAdjustHandles="1" noChangeArrowheads="1" noChangeShapeType="1" noTextEdit="1"/>
              </p:cNvSpPr>
              <p:nvPr/>
            </p:nvSpPr>
            <p:spPr bwMode="auto">
              <a:xfrm>
                <a:off x="3167062" y="4041774"/>
                <a:ext cx="2917106" cy="863390"/>
              </a:xfrm>
              <a:prstGeom prst="rect">
                <a:avLst/>
              </a:prstGeom>
              <a:blipFill>
                <a:blip r:embed="rId6"/>
                <a:stretch>
                  <a:fillRect l="-628" t="-704"/>
                </a:stretch>
              </a:blipFill>
            </p:spPr>
            <p:txBody>
              <a:bodyPr/>
              <a:lstStyle/>
              <a:p>
                <a:r>
                  <a:rPr lang="en-US">
                    <a:noFill/>
                  </a:rPr>
                  <a:t> </a:t>
                </a:r>
              </a:p>
            </p:txBody>
          </p:sp>
        </mc:Fallback>
      </mc:AlternateContent>
    </p:spTree>
    <p:extLst>
      <p:ext uri="{BB962C8B-B14F-4D97-AF65-F5344CB8AC3E}">
        <p14:creationId xmlns:p14="http://schemas.microsoft.com/office/powerpoint/2010/main" val="84913530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idx="4294967295"/>
          </p:nvPr>
        </p:nvSpPr>
        <p:spPr bwMode="auto">
          <a:xfrm>
            <a:off x="762000" y="320675"/>
            <a:ext cx="7848600" cy="56038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normAutofit fontScale="90000"/>
          </a:bodyPr>
          <a:lstStyle/>
          <a:p>
            <a:r>
              <a:rPr lang="en-US" altLang="en-US" b="1" dirty="0">
                <a:latin typeface="Arial" panose="020B0604020202020204" pitchFamily="34" charset="0"/>
              </a:rPr>
              <a:t>Prediction Interval for </a:t>
            </a:r>
            <a:r>
              <a:rPr lang="en-US" altLang="en-US" b="1" i="1" dirty="0"/>
              <a:t>y</a:t>
            </a:r>
            <a:endParaRPr lang="en-US" altLang="en-US" b="1" i="1" baseline="-25000" dirty="0"/>
          </a:p>
        </p:txBody>
      </p:sp>
      <mc:AlternateContent xmlns:mc="http://schemas.openxmlformats.org/markup-compatibility/2006" xmlns:a14="http://schemas.microsoft.com/office/drawing/2010/main">
        <mc:Choice Requires="a14">
          <p:sp>
            <p:nvSpPr>
              <p:cNvPr id="124931" name="Rectangle 3"/>
              <p:cNvSpPr>
                <a:spLocks noGrp="1" noChangeArrowheads="1"/>
              </p:cNvSpPr>
              <p:nvPr>
                <p:ph type="body" sz="half" idx="4294967295"/>
              </p:nvPr>
            </p:nvSpPr>
            <p:spPr bwMode="auto">
              <a:xfrm>
                <a:off x="762000" y="1524000"/>
                <a:ext cx="7848600" cy="4724400"/>
              </a:xfrm>
              <a:prstGeom prst="rect">
                <a:avLst/>
              </a:prstGeom>
              <a:solidFill>
                <a:srgbClr val="FFFFFF"/>
              </a:solidFill>
              <a:extLst>
                <a:ext uri="{91240B29-F687-4F45-9708-019B960494DF}">
                  <a14:hiddenLine w="9525">
                    <a:solidFill>
                      <a:srgbClr val="000000"/>
                    </a:solidFill>
                    <a:miter lim="800000"/>
                    <a:headEnd/>
                    <a:tailEnd/>
                  </a14:hiddenLine>
                </a:ext>
              </a:extLst>
            </p:spPr>
            <p:txBody>
              <a:bodyPr lIns="0" rIns="0"/>
              <a:lstStyle/>
              <a:p>
                <a:pPr marL="0" indent="0">
                  <a:spcBef>
                    <a:spcPct val="20000"/>
                  </a:spcBef>
                </a:pPr>
                <a:r>
                  <a:rPr lang="en-US" altLang="en-US" dirty="0"/>
                  <a:t>The estimate </a:t>
                </a:r>
                <a:r>
                  <a:rPr lang="cy-GB" altLang="en-US" i="1" dirty="0">
                    <a:latin typeface="Times New Roman" panose="02020603050405020304" pitchFamily="18" charset="0"/>
                    <a:cs typeface="Times New Roman" panose="02020603050405020304" pitchFamily="18" charset="0"/>
                  </a:rPr>
                  <a:t>ŷ</a:t>
                </a:r>
                <a:r>
                  <a:rPr lang="cy-GB" altLang="en-US" dirty="0">
                    <a:latin typeface="Times New Roman" panose="02020603050405020304" pitchFamily="18" charset="0"/>
                    <a:cs typeface="Times New Roman" panose="02020603050405020304" pitchFamily="18" charset="0"/>
                  </a:rPr>
                  <a:t> = </a:t>
                </a:r>
                <a:r>
                  <a:rPr lang="cy-GB" altLang="en-US" i="1" dirty="0">
                    <a:latin typeface="+mj-lt"/>
                    <a:cs typeface="Times New Roman" panose="02020603050405020304" pitchFamily="18" charset="0"/>
                  </a:rPr>
                  <a:t>a</a:t>
                </a:r>
                <a:r>
                  <a:rPr lang="cy-GB" altLang="en-US" i="1" dirty="0">
                    <a:cs typeface="Times New Roman" panose="02020603050405020304" pitchFamily="18" charset="0"/>
                  </a:rPr>
                  <a:t> </a:t>
                </a:r>
                <a:r>
                  <a:rPr lang="cy-GB" altLang="en-US" dirty="0">
                    <a:latin typeface="+mj-lt"/>
                    <a:cs typeface="Times New Roman" panose="02020603050405020304" pitchFamily="18" charset="0"/>
                  </a:rPr>
                  <a:t>+ </a:t>
                </a:r>
                <a:r>
                  <a:rPr lang="cy-GB" altLang="en-US" i="1" dirty="0">
                    <a:latin typeface="+mj-lt"/>
                    <a:cs typeface="Times New Roman" panose="02020603050405020304" pitchFamily="18" charset="0"/>
                  </a:rPr>
                  <a:t>bx</a:t>
                </a:r>
                <a:r>
                  <a:rPr lang="en-US" altLang="en-US" dirty="0">
                    <a:latin typeface="+mj-lt"/>
                  </a:rPr>
                  <a:t> </a:t>
                </a:r>
                <a:r>
                  <a:rPr lang="en-US" altLang="en-US" dirty="0"/>
                  <a:t>for the mean of </a:t>
                </a:r>
                <a:r>
                  <a:rPr lang="en-US" altLang="en-US" i="1" dirty="0">
                    <a:latin typeface="+mj-lt"/>
                  </a:rPr>
                  <a:t>y</a:t>
                </a:r>
                <a:r>
                  <a:rPr lang="en-US" altLang="en-US" dirty="0"/>
                  <a:t> at a fixed value of </a:t>
                </a:r>
                <a:r>
                  <a:rPr lang="en-US" altLang="en-US" i="1" dirty="0">
                    <a:latin typeface="+mj-lt"/>
                  </a:rPr>
                  <a:t>x</a:t>
                </a:r>
                <a:r>
                  <a:rPr lang="en-US" altLang="en-US" dirty="0"/>
                  <a:t> is also a prediction for an individual outcome </a:t>
                </a:r>
                <a:r>
                  <a:rPr lang="en-US" altLang="en-US" i="1" dirty="0">
                    <a:latin typeface="+mj-lt"/>
                  </a:rPr>
                  <a:t>y</a:t>
                </a:r>
                <a:r>
                  <a:rPr lang="en-US" altLang="en-US" dirty="0"/>
                  <a:t> at the fixed value of </a:t>
                </a:r>
                <a:r>
                  <a:rPr lang="en-US" altLang="en-US" i="1" dirty="0">
                    <a:latin typeface="+mj-lt"/>
                  </a:rPr>
                  <a:t>x</a:t>
                </a:r>
                <a:r>
                  <a:rPr lang="en-US" altLang="en-US" dirty="0"/>
                  <a:t>.</a:t>
                </a:r>
                <a:endParaRPr lang="en-US" altLang="en-US" i="1" dirty="0"/>
              </a:p>
              <a:p>
                <a:pPr marL="0" indent="0">
                  <a:spcBef>
                    <a:spcPct val="20000"/>
                  </a:spcBef>
                </a:pPr>
                <a:endParaRPr lang="en-US" altLang="en-US" dirty="0"/>
              </a:p>
              <a:p>
                <a:pPr marL="0" indent="0">
                  <a:spcBef>
                    <a:spcPct val="20000"/>
                  </a:spcBef>
                </a:pPr>
                <a:endParaRPr lang="en-US" altLang="en-US" dirty="0"/>
              </a:p>
              <a:p>
                <a:pPr marL="0" indent="0">
                  <a:spcBef>
                    <a:spcPct val="20000"/>
                  </a:spcBef>
                </a:pPr>
                <a:r>
                  <a:rPr lang="en-US" altLang="en-US" dirty="0">
                    <a:solidFill>
                      <a:schemeClr val="tx1"/>
                    </a:solidFill>
                  </a:rPr>
                  <a:t>With most regression software you can </a:t>
                </a:r>
                <a:r>
                  <a:rPr lang="en-US" altLang="en-US" dirty="0"/>
                  <a:t>form this interval within which an outcome </a:t>
                </a:r>
                <a:r>
                  <a:rPr lang="en-US" altLang="en-US" i="1" dirty="0">
                    <a:latin typeface="+mj-lt"/>
                  </a:rPr>
                  <a:t>y</a:t>
                </a:r>
                <a:r>
                  <a:rPr lang="en-US" altLang="en-US" dirty="0"/>
                  <a:t> is likely to fall.</a:t>
                </a:r>
              </a:p>
              <a:p>
                <a:pPr marL="457200" lvl="1" indent="0">
                  <a:buNone/>
                </a:pPr>
                <a:r>
                  <a:rPr lang="en-US" altLang="en-US" dirty="0"/>
                  <a:t>                       </a:t>
                </a:r>
                <a:r>
                  <a:rPr lang="en-US" altLang="en-US" dirty="0">
                    <a:solidFill>
                      <a:schemeClr val="tx1"/>
                    </a:solidFill>
                  </a:rPr>
                  <a:t>approximately</a:t>
                </a:r>
                <a:r>
                  <a:rPr lang="en-US" altLang="en-US" dirty="0"/>
                  <a:t> </a:t>
                </a:r>
                <a14:m>
                  <m:oMath xmlns:m="http://schemas.openxmlformats.org/officeDocument/2006/math">
                    <m:acc>
                      <m:accPr>
                        <m:chr m:val="̂"/>
                        <m:ctrlPr>
                          <a:rPr lang="en-US" altLang="en-US" i="1" smtClean="0">
                            <a:latin typeface="Cambria Math" panose="02040503050406030204" pitchFamily="18" charset="0"/>
                          </a:rPr>
                        </m:ctrlPr>
                      </m:accPr>
                      <m:e>
                        <m:r>
                          <a:rPr lang="en-US" altLang="en-US" b="0" i="1" smtClean="0">
                            <a:latin typeface="Cambria Math" panose="02040503050406030204" pitchFamily="18" charset="0"/>
                          </a:rPr>
                          <m:t>𝑦</m:t>
                        </m:r>
                      </m:e>
                    </m:acc>
                    <m:r>
                      <a:rPr lang="en-US" altLang="en-US" i="1" smtClean="0">
                        <a:latin typeface="Cambria Math" panose="02040503050406030204" pitchFamily="18" charset="0"/>
                        <a:ea typeface="Cambria Math" panose="02040503050406030204" pitchFamily="18" charset="0"/>
                      </a:rPr>
                      <m:t>±</m:t>
                    </m:r>
                    <m:r>
                      <a:rPr lang="en-US" altLang="en-US" b="0" i="1" smtClean="0">
                        <a:latin typeface="Cambria Math" panose="02040503050406030204" pitchFamily="18" charset="0"/>
                        <a:ea typeface="Cambria Math" panose="02040503050406030204" pitchFamily="18" charset="0"/>
                      </a:rPr>
                      <m:t>2</m:t>
                    </m:r>
                    <m:r>
                      <a:rPr lang="en-US" altLang="en-US" b="0" i="1" smtClean="0">
                        <a:latin typeface="Cambria Math" panose="02040503050406030204" pitchFamily="18" charset="0"/>
                        <a:ea typeface="Cambria Math" panose="02040503050406030204" pitchFamily="18" charset="0"/>
                      </a:rPr>
                      <m:t>𝑠</m:t>
                    </m:r>
                  </m:oMath>
                </a14:m>
                <a:r>
                  <a:rPr lang="en-US" altLang="en-US" dirty="0"/>
                  <a:t>,</a:t>
                </a:r>
              </a:p>
              <a:p>
                <a:pPr marL="457200" lvl="1" indent="0">
                  <a:buNone/>
                </a:pPr>
                <a:r>
                  <a:rPr lang="en-US" altLang="en-US" dirty="0"/>
                  <a:t>where </a:t>
                </a:r>
                <a:r>
                  <a:rPr lang="en-US" altLang="en-US" i="1" dirty="0">
                    <a:latin typeface="+mj-lt"/>
                  </a:rPr>
                  <a:t>s</a:t>
                </a:r>
                <a:r>
                  <a:rPr lang="en-US" altLang="en-US" dirty="0"/>
                  <a:t> is the residual standard deviation.</a:t>
                </a:r>
              </a:p>
            </p:txBody>
          </p:sp>
        </mc:Choice>
        <mc:Fallback xmlns="">
          <p:sp>
            <p:nvSpPr>
              <p:cNvPr id="124931" name="Rectangle 3"/>
              <p:cNvSpPr>
                <a:spLocks noGrp="1" noRot="1" noChangeAspect="1" noMove="1" noResize="1" noEditPoints="1" noAdjustHandles="1" noChangeArrowheads="1" noChangeShapeType="1" noTextEdit="1"/>
              </p:cNvSpPr>
              <p:nvPr>
                <p:ph type="body" sz="half" idx="4294967295"/>
              </p:nvPr>
            </p:nvSpPr>
            <p:spPr bwMode="auto">
              <a:xfrm>
                <a:off x="762000" y="1524000"/>
                <a:ext cx="7848600" cy="4724400"/>
              </a:xfrm>
              <a:prstGeom prst="rect">
                <a:avLst/>
              </a:prstGeom>
              <a:blipFill>
                <a:blip r:embed="rId3" cstate="print"/>
                <a:stretch>
                  <a:fillRect l="-2329" t="-1032" r="-543"/>
                </a:stretch>
              </a:blipFill>
              <a:extLst>
                <a:ext uri="{91240B29-F687-4F45-9708-019B960494DF}">
                  <a14:hiddenLine xmlns=""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107880387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title" idx="4294967295"/>
          </p:nvPr>
        </p:nvSpPr>
        <p:spPr bwMode="auto">
          <a:xfrm>
            <a:off x="762000" y="76200"/>
            <a:ext cx="7848600" cy="11430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normAutofit fontScale="90000"/>
          </a:bodyPr>
          <a:lstStyle/>
          <a:p>
            <a:r>
              <a:rPr lang="en-US" altLang="en-US" b="1" dirty="0">
                <a:latin typeface="Arial" panose="020B0604020202020204" pitchFamily="34" charset="0"/>
              </a:rPr>
              <a:t>Prediction Interval for </a:t>
            </a:r>
            <a:r>
              <a:rPr lang="en-US" altLang="en-US" b="1" i="1" dirty="0"/>
              <a:t>y</a:t>
            </a:r>
            <a:r>
              <a:rPr lang="en-US" altLang="en-US" b="1" dirty="0">
                <a:latin typeface="Arial" panose="020B0604020202020204" pitchFamily="34" charset="0"/>
              </a:rPr>
              <a:t> vs. Confidence Interval for  </a:t>
            </a:r>
            <a:r>
              <a:rPr lang="en-US" altLang="en-US" dirty="0"/>
              <a:t> </a:t>
            </a:r>
          </a:p>
        </p:txBody>
      </p:sp>
      <p:sp>
        <p:nvSpPr>
          <p:cNvPr id="125955" name="Rectangle 3"/>
          <p:cNvSpPr>
            <a:spLocks noGrp="1" noChangeArrowheads="1"/>
          </p:cNvSpPr>
          <p:nvPr>
            <p:ph type="body" idx="4294967295"/>
          </p:nvPr>
        </p:nvSpPr>
        <p:spPr bwMode="auto">
          <a:xfrm>
            <a:off x="763524" y="1600200"/>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spcBef>
                <a:spcPct val="20000"/>
              </a:spcBef>
            </a:pPr>
            <a:r>
              <a:rPr lang="en-US" altLang="en-US" dirty="0"/>
              <a:t>The prediction interval for </a:t>
            </a:r>
            <a:r>
              <a:rPr lang="en-US" altLang="en-US" i="1" dirty="0">
                <a:latin typeface="+mj-lt"/>
              </a:rPr>
              <a:t>y</a:t>
            </a:r>
            <a:r>
              <a:rPr lang="en-US" altLang="en-US" dirty="0"/>
              <a:t> is an inference about where individual observations fall.</a:t>
            </a:r>
          </a:p>
          <a:p>
            <a:pPr marL="0" indent="0">
              <a:spcBef>
                <a:spcPct val="20000"/>
              </a:spcBef>
            </a:pPr>
            <a:endParaRPr lang="en-US" altLang="en-US" dirty="0"/>
          </a:p>
          <a:p>
            <a:pPr lvl="1"/>
            <a:r>
              <a:rPr lang="en-US" altLang="en-US" dirty="0"/>
              <a:t>Use a prediction interval for </a:t>
            </a:r>
            <a:r>
              <a:rPr lang="en-US" altLang="en-US" i="1" dirty="0">
                <a:latin typeface="+mj-lt"/>
              </a:rPr>
              <a:t>y</a:t>
            </a:r>
            <a:r>
              <a:rPr lang="en-US" altLang="en-US" dirty="0"/>
              <a:t> if you want to predict where a single observation on </a:t>
            </a:r>
            <a:r>
              <a:rPr lang="en-US" altLang="en-US" i="1" dirty="0">
                <a:latin typeface="+mj-lt"/>
              </a:rPr>
              <a:t>y</a:t>
            </a:r>
            <a:r>
              <a:rPr lang="en-US" altLang="en-US" dirty="0"/>
              <a:t> will fall for a particular </a:t>
            </a:r>
            <a:r>
              <a:rPr lang="en-US" altLang="en-US" i="1" dirty="0">
                <a:latin typeface="+mj-lt"/>
              </a:rPr>
              <a:t>x</a:t>
            </a:r>
            <a:r>
              <a:rPr lang="en-US" altLang="en-US" dirty="0"/>
              <a:t> value.</a:t>
            </a:r>
          </a:p>
        </p:txBody>
      </p:sp>
      <p:graphicFrame>
        <p:nvGraphicFramePr>
          <p:cNvPr id="125956" name="Object 5"/>
          <p:cNvGraphicFramePr>
            <a:graphicFrameLocks noChangeAspect="1"/>
          </p:cNvGraphicFramePr>
          <p:nvPr>
            <p:extLst>
              <p:ext uri="{D42A27DB-BD31-4B8C-83A1-F6EECF244321}">
                <p14:modId xmlns:p14="http://schemas.microsoft.com/office/powerpoint/2010/main" val="3882162176"/>
              </p:ext>
            </p:extLst>
          </p:nvPr>
        </p:nvGraphicFramePr>
        <p:xfrm>
          <a:off x="6660232" y="638724"/>
          <a:ext cx="455613" cy="571500"/>
        </p:xfrm>
        <a:graphic>
          <a:graphicData uri="http://schemas.openxmlformats.org/presentationml/2006/ole">
            <mc:AlternateContent xmlns:mc="http://schemas.openxmlformats.org/markup-compatibility/2006">
              <mc:Choice xmlns:v="urn:schemas-microsoft-com:vml" Requires="v">
                <p:oleObj name="Equation" r:id="rId2" imgW="393480" imgH="495000" progId="Equation.DSMT4">
                  <p:embed/>
                </p:oleObj>
              </mc:Choice>
              <mc:Fallback>
                <p:oleObj name="Equation" r:id="rId2" imgW="393480" imgH="495000" progId="Equation.DSMT4">
                  <p:embed/>
                  <p:pic>
                    <p:nvPicPr>
                      <p:cNvPr id="125956"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0232" y="638724"/>
                        <a:ext cx="455613" cy="5715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26113265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6978" name="Rectangle 2"/>
              <p:cNvSpPr>
                <a:spLocks noGrp="1" noChangeArrowheads="1"/>
              </p:cNvSpPr>
              <p:nvPr>
                <p:ph type="body" idx="4294967295"/>
              </p:nvPr>
            </p:nvSpPr>
            <p:spPr bwMode="auto">
              <a:xfrm>
                <a:off x="763524" y="1600200"/>
                <a:ext cx="7753350" cy="4511675"/>
              </a:xfrm>
              <a:prstGeom prst="rect">
                <a:avLst/>
              </a:prstGeom>
              <a:solidFill>
                <a:srgbClr val="FFFFFF"/>
              </a:solidFill>
              <a:extLst>
                <a:ext uri="{91240B29-F687-4F45-9708-019B960494DF}">
                  <a14:hiddenLine w="9525">
                    <a:solidFill>
                      <a:srgbClr val="000000"/>
                    </a:solidFill>
                    <a:miter lim="800000"/>
                    <a:headEnd/>
                    <a:tailEnd/>
                  </a14:hiddenLine>
                </a:ext>
              </a:extLst>
            </p:spPr>
            <p:txBody>
              <a:bodyPr lIns="0" rIns="0"/>
              <a:lstStyle/>
              <a:p>
                <a:pPr marL="0" indent="0">
                  <a:spcBef>
                    <a:spcPct val="20000"/>
                  </a:spcBef>
                </a:pPr>
                <a:r>
                  <a:rPr lang="en-US" altLang="en-US" dirty="0"/>
                  <a:t>The confidence interval for </a:t>
                </a:r>
                <a14:m>
                  <m:oMath xmlns:m="http://schemas.openxmlformats.org/officeDocument/2006/math">
                    <m:sSub>
                      <m:sSubPr>
                        <m:ctrlPr>
                          <a:rPr lang="en-US" altLang="en-US" i="1" smtClean="0">
                            <a:latin typeface="Cambria Math" panose="02040503050406030204" pitchFamily="18" charset="0"/>
                          </a:rPr>
                        </m:ctrlPr>
                      </m:sSubPr>
                      <m:e>
                        <m:r>
                          <m:rPr>
                            <m:sty m:val="p"/>
                          </m:rPr>
                          <a:rPr lang="en-US" altLang="en-US" i="0" smtClean="0">
                            <a:latin typeface="Cambria Math" panose="02040503050406030204" pitchFamily="18" charset="0"/>
                            <a:ea typeface="Cambria Math" panose="02040503050406030204" pitchFamily="18" charset="0"/>
                          </a:rPr>
                          <m:t>μ</m:t>
                        </m:r>
                      </m:e>
                      <m:sub>
                        <m:r>
                          <a:rPr lang="en-US" altLang="en-US" b="0" i="1" smtClean="0">
                            <a:latin typeface="Cambria Math" panose="02040503050406030204" pitchFamily="18" charset="0"/>
                          </a:rPr>
                          <m:t>𝑦</m:t>
                        </m:r>
                      </m:sub>
                    </m:sSub>
                  </m:oMath>
                </a14:m>
                <a:r>
                  <a:rPr lang="en-US" altLang="en-US" i="1" dirty="0"/>
                  <a:t> </a:t>
                </a:r>
                <a:r>
                  <a:rPr lang="en-US" altLang="en-US" dirty="0"/>
                  <a:t>is an inference about where a population mean falls.</a:t>
                </a:r>
              </a:p>
              <a:p>
                <a:pPr marL="0" indent="0">
                  <a:spcBef>
                    <a:spcPct val="20000"/>
                  </a:spcBef>
                </a:pPr>
                <a:endParaRPr lang="en-US" altLang="en-US" dirty="0"/>
              </a:p>
              <a:p>
                <a:pPr lvl="1">
                  <a:spcBef>
                    <a:spcPct val="20000"/>
                  </a:spcBef>
                </a:pPr>
                <a:r>
                  <a:rPr lang="en-US" altLang="en-US" dirty="0"/>
                  <a:t>Use a confidence interval for </a:t>
                </a:r>
                <a14:m>
                  <m:oMath xmlns:m="http://schemas.openxmlformats.org/officeDocument/2006/math">
                    <m:sSub>
                      <m:sSubPr>
                        <m:ctrlPr>
                          <a:rPr lang="en-US" altLang="en-US" i="1">
                            <a:latin typeface="Cambria Math" panose="02040503050406030204" pitchFamily="18" charset="0"/>
                          </a:rPr>
                        </m:ctrlPr>
                      </m:sSubPr>
                      <m:e>
                        <m:r>
                          <m:rPr>
                            <m:sty m:val="p"/>
                          </m:rPr>
                          <a:rPr lang="en-US" altLang="en-US" i="0">
                            <a:latin typeface="Cambria Math" panose="02040503050406030204" pitchFamily="18" charset="0"/>
                            <a:ea typeface="Cambria Math" panose="02040503050406030204" pitchFamily="18" charset="0"/>
                          </a:rPr>
                          <m:t>μ</m:t>
                        </m:r>
                      </m:e>
                      <m:sub>
                        <m:r>
                          <a:rPr lang="en-US" altLang="en-US" i="1">
                            <a:latin typeface="Cambria Math" panose="02040503050406030204" pitchFamily="18" charset="0"/>
                          </a:rPr>
                          <m:t>𝑦</m:t>
                        </m:r>
                      </m:sub>
                    </m:sSub>
                  </m:oMath>
                </a14:m>
                <a:r>
                  <a:rPr lang="en-US" altLang="en-US" dirty="0"/>
                  <a:t> if you want to estimate the mean of </a:t>
                </a:r>
                <a:r>
                  <a:rPr lang="en-US" altLang="en-US" i="1" dirty="0">
                    <a:latin typeface="+mj-lt"/>
                  </a:rPr>
                  <a:t>y</a:t>
                </a:r>
                <a:r>
                  <a:rPr lang="en-US" altLang="en-US" dirty="0"/>
                  <a:t> for all individuals having a particular </a:t>
                </a:r>
                <a:r>
                  <a:rPr lang="en-US" altLang="en-US" i="1" dirty="0">
                    <a:latin typeface="+mj-lt"/>
                  </a:rPr>
                  <a:t>x</a:t>
                </a:r>
                <a:r>
                  <a:rPr lang="en-US" altLang="en-US" dirty="0"/>
                  <a:t> value.</a:t>
                </a:r>
              </a:p>
              <a:p>
                <a:pPr marL="457200" lvl="1" indent="0">
                  <a:spcBef>
                    <a:spcPct val="20000"/>
                  </a:spcBef>
                  <a:buNone/>
                </a:pPr>
                <a:endParaRPr lang="en-US" altLang="en-US" dirty="0"/>
              </a:p>
              <a:p>
                <a:pPr marL="457200" lvl="1" indent="0">
                  <a:spcBef>
                    <a:spcPct val="20000"/>
                  </a:spcBef>
                  <a:buNone/>
                </a:pPr>
                <a:r>
                  <a:rPr lang="en-US" altLang="en-US" dirty="0"/>
                  <a:t>         </a:t>
                </a:r>
                <a14:m>
                  <m:oMath xmlns:m="http://schemas.openxmlformats.org/officeDocument/2006/math">
                    <m:r>
                      <a:rPr lang="en-US" altLang="en-US" b="0" i="0" smtClean="0">
                        <a:latin typeface="Cambria Math" panose="02040503050406030204" pitchFamily="18" charset="0"/>
                      </a:rPr>
                      <m:t>                   </m:t>
                    </m:r>
                    <m:r>
                      <m:rPr>
                        <m:sty m:val="p"/>
                      </m:rPr>
                      <a:rPr lang="en-US" altLang="en-US" b="0" i="0" smtClean="0">
                        <a:solidFill>
                          <a:schemeClr val="tx1"/>
                        </a:solidFill>
                        <a:latin typeface="Cambria Math" panose="02040503050406030204" pitchFamily="18" charset="0"/>
                      </a:rPr>
                      <m:t>approximately</m:t>
                    </m:r>
                    <m:r>
                      <a:rPr lang="en-US" altLang="en-US" b="1" i="0" smtClean="0">
                        <a:solidFill>
                          <a:srgbClr val="FF0000"/>
                        </a:solidFill>
                        <a:latin typeface="Cambria Math" panose="02040503050406030204" pitchFamily="18" charset="0"/>
                      </a:rPr>
                      <m:t> </m:t>
                    </m:r>
                    <m:r>
                      <a:rPr lang="en-US" altLang="en-US" b="0" i="0" smtClean="0">
                        <a:latin typeface="Cambria Math" panose="02040503050406030204" pitchFamily="18" charset="0"/>
                      </a:rPr>
                      <m:t> </m:t>
                    </m:r>
                    <m:acc>
                      <m:accPr>
                        <m:chr m:val="̂"/>
                        <m:ctrlPr>
                          <a:rPr lang="en-US" altLang="en-US" i="1" smtClean="0">
                            <a:latin typeface="Cambria Math" panose="02040503050406030204" pitchFamily="18" charset="0"/>
                          </a:rPr>
                        </m:ctrlPr>
                      </m:accPr>
                      <m:e>
                        <m:r>
                          <a:rPr lang="en-US" altLang="en-US" b="0" i="1" smtClean="0">
                            <a:latin typeface="Cambria Math" panose="02040503050406030204" pitchFamily="18" charset="0"/>
                          </a:rPr>
                          <m:t>𝑦</m:t>
                        </m:r>
                      </m:e>
                    </m:acc>
                    <m:r>
                      <a:rPr lang="en-US" altLang="en-US" i="1" smtClean="0">
                        <a:latin typeface="Cambria Math" panose="02040503050406030204" pitchFamily="18" charset="0"/>
                        <a:ea typeface="Cambria Math" panose="02040503050406030204" pitchFamily="18" charset="0"/>
                      </a:rPr>
                      <m:t>±</m:t>
                    </m:r>
                    <m:r>
                      <a:rPr lang="en-US" altLang="en-US" b="0" i="1" smtClean="0">
                        <a:latin typeface="Cambria Math" panose="02040503050406030204" pitchFamily="18" charset="0"/>
                        <a:ea typeface="Cambria Math" panose="02040503050406030204" pitchFamily="18" charset="0"/>
                      </a:rPr>
                      <m:t>2</m:t>
                    </m:r>
                    <m:d>
                      <m:dPr>
                        <m:ctrlPr>
                          <a:rPr lang="en-US" altLang="en-US" b="0" i="1" smtClean="0">
                            <a:latin typeface="Cambria Math" panose="02040503050406030204" pitchFamily="18" charset="0"/>
                            <a:ea typeface="Cambria Math" panose="02040503050406030204" pitchFamily="18" charset="0"/>
                          </a:rPr>
                        </m:ctrlPr>
                      </m:dPr>
                      <m:e>
                        <m:f>
                          <m:fPr>
                            <m:ctrlPr>
                              <a:rPr lang="en-US" altLang="en-US" b="0" i="1" smtClean="0">
                                <a:latin typeface="Cambria Math" panose="02040503050406030204" pitchFamily="18" charset="0"/>
                                <a:ea typeface="Cambria Math" panose="02040503050406030204" pitchFamily="18" charset="0"/>
                              </a:rPr>
                            </m:ctrlPr>
                          </m:fPr>
                          <m:num>
                            <m:r>
                              <a:rPr lang="en-US" altLang="en-US" b="0" i="1" smtClean="0">
                                <a:latin typeface="Cambria Math" panose="02040503050406030204" pitchFamily="18" charset="0"/>
                                <a:ea typeface="Cambria Math" panose="02040503050406030204" pitchFamily="18" charset="0"/>
                              </a:rPr>
                              <m:t>𝑠</m:t>
                            </m:r>
                          </m:num>
                          <m:den>
                            <m:rad>
                              <m:radPr>
                                <m:degHide m:val="on"/>
                                <m:ctrlPr>
                                  <a:rPr lang="en-US" altLang="en-US" b="0" i="1" smtClean="0">
                                    <a:latin typeface="Cambria Math" panose="02040503050406030204" pitchFamily="18" charset="0"/>
                                    <a:ea typeface="Cambria Math" panose="02040503050406030204" pitchFamily="18" charset="0"/>
                                  </a:rPr>
                                </m:ctrlPr>
                              </m:radPr>
                              <m:deg/>
                              <m:e>
                                <m:r>
                                  <a:rPr lang="en-US" altLang="en-US" b="0" i="1" smtClean="0">
                                    <a:latin typeface="Cambria Math" panose="02040503050406030204" pitchFamily="18" charset="0"/>
                                    <a:ea typeface="Cambria Math" panose="02040503050406030204" pitchFamily="18" charset="0"/>
                                  </a:rPr>
                                  <m:t>𝑛</m:t>
                                </m:r>
                              </m:e>
                            </m:rad>
                          </m:den>
                        </m:f>
                      </m:e>
                    </m:d>
                    <m:r>
                      <a:rPr lang="en-US" altLang="en-US" b="0" i="1" smtClean="0">
                        <a:latin typeface="Cambria Math" panose="02040503050406030204" pitchFamily="18" charset="0"/>
                        <a:ea typeface="Cambria Math" panose="02040503050406030204" pitchFamily="18" charset="0"/>
                      </a:rPr>
                      <m:t>,</m:t>
                    </m:r>
                  </m:oMath>
                </a14:m>
                <a:endParaRPr lang="en-US" altLang="en-US" dirty="0"/>
              </a:p>
              <a:p>
                <a:pPr marL="457200" lvl="1" indent="0">
                  <a:spcBef>
                    <a:spcPct val="20000"/>
                  </a:spcBef>
                  <a:buNone/>
                </a:pPr>
                <a:r>
                  <a:rPr lang="en-US" altLang="en-US" dirty="0"/>
                  <a:t>      where </a:t>
                </a:r>
                <a:r>
                  <a:rPr lang="en-US" altLang="en-US" i="1" dirty="0">
                    <a:latin typeface="+mj-lt"/>
                  </a:rPr>
                  <a:t>s</a:t>
                </a:r>
                <a:r>
                  <a:rPr lang="en-US" altLang="en-US" dirty="0"/>
                  <a:t> is the residual standard deviation.</a:t>
                </a:r>
              </a:p>
              <a:p>
                <a:pPr marL="0" indent="0">
                  <a:spcBef>
                    <a:spcPct val="20000"/>
                  </a:spcBef>
                </a:pPr>
                <a:endParaRPr lang="en-US" altLang="en-US" dirty="0"/>
              </a:p>
            </p:txBody>
          </p:sp>
        </mc:Choice>
        <mc:Fallback xmlns="">
          <p:sp>
            <p:nvSpPr>
              <p:cNvPr id="126978" name="Rectangle 2"/>
              <p:cNvSpPr>
                <a:spLocks noGrp="1" noRot="1" noChangeAspect="1" noMove="1" noResize="1" noEditPoints="1" noAdjustHandles="1" noChangeArrowheads="1" noChangeShapeType="1" noTextEdit="1"/>
              </p:cNvSpPr>
              <p:nvPr>
                <p:ph type="body" idx="4294967295"/>
              </p:nvPr>
            </p:nvSpPr>
            <p:spPr bwMode="auto">
              <a:xfrm>
                <a:off x="763524" y="1600200"/>
                <a:ext cx="7753350" cy="4511675"/>
              </a:xfrm>
              <a:prstGeom prst="rect">
                <a:avLst/>
              </a:prstGeom>
              <a:blipFill>
                <a:blip r:embed="rId3"/>
                <a:stretch>
                  <a:fillRect l="-2752" t="-2027" r="-1258"/>
                </a:stretch>
              </a:blipFill>
              <a:extLs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26980" name="Rectangle 2"/>
          <p:cNvSpPr>
            <a:spLocks noChangeArrowheads="1"/>
          </p:cNvSpPr>
          <p:nvPr/>
        </p:nvSpPr>
        <p:spPr bwMode="auto">
          <a:xfrm>
            <a:off x="762000" y="76200"/>
            <a:ext cx="7848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eaLnBrk="0" hangingPunct="0"/>
            <a:r>
              <a:rPr lang="en-US" altLang="en-US" sz="3200" dirty="0">
                <a:solidFill>
                  <a:schemeClr val="tx1"/>
                </a:solidFill>
                <a:latin typeface="Arial" panose="020B0604020202020204" pitchFamily="34" charset="0"/>
              </a:rPr>
              <a:t>Prediction Interval for </a:t>
            </a:r>
            <a:r>
              <a:rPr lang="en-US" altLang="en-US" sz="3200" i="1" dirty="0">
                <a:solidFill>
                  <a:schemeClr val="tx1"/>
                </a:solidFill>
                <a:latin typeface="+mj-lt"/>
              </a:rPr>
              <a:t>y</a:t>
            </a:r>
            <a:r>
              <a:rPr lang="en-US" altLang="en-US" sz="3200" dirty="0">
                <a:solidFill>
                  <a:schemeClr val="tx1"/>
                </a:solidFill>
                <a:latin typeface="Arial" panose="020B0604020202020204" pitchFamily="34" charset="0"/>
              </a:rPr>
              <a:t> vs. Confidence Interval for  </a:t>
            </a:r>
            <a:r>
              <a:rPr lang="en-US" altLang="en-US" sz="3200" b="0" dirty="0">
                <a:solidFill>
                  <a:schemeClr val="tx1"/>
                </a:solidFill>
              </a:rPr>
              <a:t> </a:t>
            </a:r>
          </a:p>
        </p:txBody>
      </p:sp>
      <p:graphicFrame>
        <p:nvGraphicFramePr>
          <p:cNvPr id="126981" name="Object 7"/>
          <p:cNvGraphicFramePr>
            <a:graphicFrameLocks noChangeAspect="1"/>
          </p:cNvGraphicFramePr>
          <p:nvPr>
            <p:extLst>
              <p:ext uri="{D42A27DB-BD31-4B8C-83A1-F6EECF244321}">
                <p14:modId xmlns:p14="http://schemas.microsoft.com/office/powerpoint/2010/main" val="4160197690"/>
              </p:ext>
            </p:extLst>
          </p:nvPr>
        </p:nvGraphicFramePr>
        <p:xfrm>
          <a:off x="2807804" y="649482"/>
          <a:ext cx="455613" cy="571500"/>
        </p:xfrm>
        <a:graphic>
          <a:graphicData uri="http://schemas.openxmlformats.org/presentationml/2006/ole">
            <mc:AlternateContent xmlns:mc="http://schemas.openxmlformats.org/markup-compatibility/2006">
              <mc:Choice xmlns:v="urn:schemas-microsoft-com:vml" Requires="v">
                <p:oleObj name="Equation" r:id="rId4" imgW="393480" imgH="495000" progId="Equation.DSMT4">
                  <p:embed/>
                </p:oleObj>
              </mc:Choice>
              <mc:Fallback>
                <p:oleObj name="Equation" r:id="rId4" imgW="393480" imgH="495000" progId="Equation.DSMT4">
                  <p:embed/>
                  <p:pic>
                    <p:nvPicPr>
                      <p:cNvPr id="126981"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07804" y="649482"/>
                        <a:ext cx="455613" cy="5715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08572751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3"/>
          <p:cNvSpPr>
            <a:spLocks noGrp="1" noChangeArrowheads="1"/>
          </p:cNvSpPr>
          <p:nvPr>
            <p:ph type="body" idx="4294967295"/>
          </p:nvPr>
        </p:nvSpPr>
        <p:spPr bwMode="auto">
          <a:xfrm>
            <a:off x="763524" y="1600200"/>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spcBef>
                <a:spcPct val="20000"/>
              </a:spcBef>
            </a:pPr>
            <a:r>
              <a:rPr lang="en-US" altLang="en-US" dirty="0"/>
              <a:t>Note that the prediction interval is wider than the confidence interval - you can estimate a population mean more precisely than you can predict a single observation.</a:t>
            </a:r>
          </a:p>
          <a:p>
            <a:pPr marL="0" indent="0">
              <a:spcBef>
                <a:spcPct val="20000"/>
              </a:spcBef>
            </a:pPr>
            <a:endParaRPr lang="en-US" altLang="en-US" dirty="0"/>
          </a:p>
          <a:p>
            <a:pPr marL="0" indent="0">
              <a:spcBef>
                <a:spcPct val="20000"/>
              </a:spcBef>
            </a:pPr>
            <a:r>
              <a:rPr lang="en-US" altLang="en-US" b="1" dirty="0"/>
              <a:t>Caution: </a:t>
            </a:r>
            <a:r>
              <a:rPr lang="en-US" altLang="en-US" dirty="0"/>
              <a:t>In order for these intervals to be valid, the true relationship must be close to linear with about the same variability of </a:t>
            </a:r>
            <a:r>
              <a:rPr lang="en-US" altLang="en-US" i="1" dirty="0">
                <a:solidFill>
                  <a:schemeClr val="tx1"/>
                </a:solidFill>
                <a:latin typeface="+mj-lt"/>
              </a:rPr>
              <a:t>y</a:t>
            </a:r>
            <a:r>
              <a:rPr lang="en-US" altLang="en-US" dirty="0">
                <a:solidFill>
                  <a:schemeClr val="tx1"/>
                </a:solidFill>
              </a:rPr>
              <a:t> values at each fixed </a:t>
            </a:r>
            <a:r>
              <a:rPr lang="en-US" altLang="en-US" i="1" dirty="0">
                <a:solidFill>
                  <a:schemeClr val="tx1"/>
                </a:solidFill>
                <a:latin typeface="+mj-lt"/>
              </a:rPr>
              <a:t>x</a:t>
            </a:r>
            <a:r>
              <a:rPr lang="en-US" altLang="en-US" dirty="0">
                <a:solidFill>
                  <a:schemeClr val="tx1"/>
                </a:solidFill>
              </a:rPr>
              <a:t> value</a:t>
            </a:r>
            <a:r>
              <a:rPr lang="en-US" altLang="en-US" dirty="0"/>
              <a:t>.</a:t>
            </a:r>
          </a:p>
          <a:p>
            <a:pPr marL="0" indent="0">
              <a:spcBef>
                <a:spcPct val="20000"/>
              </a:spcBef>
            </a:pPr>
            <a:endParaRPr lang="en-US" altLang="en-US" dirty="0"/>
          </a:p>
        </p:txBody>
      </p:sp>
      <p:sp>
        <p:nvSpPr>
          <p:cNvPr id="128003" name="Rectangle 2"/>
          <p:cNvSpPr>
            <a:spLocks noChangeArrowheads="1"/>
          </p:cNvSpPr>
          <p:nvPr/>
        </p:nvSpPr>
        <p:spPr bwMode="auto">
          <a:xfrm>
            <a:off x="762000" y="76200"/>
            <a:ext cx="7848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eaLnBrk="0" hangingPunct="0"/>
            <a:r>
              <a:rPr lang="en-US" altLang="en-US" sz="3200" dirty="0">
                <a:solidFill>
                  <a:schemeClr val="tx1"/>
                </a:solidFill>
                <a:latin typeface="Arial" panose="020B0604020202020204" pitchFamily="34" charset="0"/>
              </a:rPr>
              <a:t>Prediction Interval for </a:t>
            </a:r>
            <a:r>
              <a:rPr lang="en-US" altLang="en-US" sz="3200" i="1" dirty="0">
                <a:solidFill>
                  <a:schemeClr val="tx1"/>
                </a:solidFill>
                <a:latin typeface="+mj-lt"/>
              </a:rPr>
              <a:t>y</a:t>
            </a:r>
            <a:r>
              <a:rPr lang="en-US" altLang="en-US" sz="3200" dirty="0">
                <a:solidFill>
                  <a:schemeClr val="tx1"/>
                </a:solidFill>
                <a:latin typeface="Arial" panose="020B0604020202020204" pitchFamily="34" charset="0"/>
              </a:rPr>
              <a:t> vs. Confidence Interval for  </a:t>
            </a:r>
            <a:r>
              <a:rPr lang="en-US" altLang="en-US" sz="3200" b="0" dirty="0">
                <a:solidFill>
                  <a:schemeClr val="tx1"/>
                </a:solidFill>
              </a:rPr>
              <a:t> </a:t>
            </a:r>
          </a:p>
        </p:txBody>
      </p:sp>
      <p:graphicFrame>
        <p:nvGraphicFramePr>
          <p:cNvPr id="128004" name="Object 6"/>
          <p:cNvGraphicFramePr>
            <a:graphicFrameLocks noChangeAspect="1"/>
          </p:cNvGraphicFramePr>
          <p:nvPr>
            <p:extLst>
              <p:ext uri="{D42A27DB-BD31-4B8C-83A1-F6EECF244321}">
                <p14:modId xmlns:p14="http://schemas.microsoft.com/office/powerpoint/2010/main" val="3062423216"/>
              </p:ext>
            </p:extLst>
          </p:nvPr>
        </p:nvGraphicFramePr>
        <p:xfrm>
          <a:off x="2807804" y="663535"/>
          <a:ext cx="455613" cy="571500"/>
        </p:xfrm>
        <a:graphic>
          <a:graphicData uri="http://schemas.openxmlformats.org/presentationml/2006/ole">
            <mc:AlternateContent xmlns:mc="http://schemas.openxmlformats.org/markup-compatibility/2006">
              <mc:Choice xmlns:v="urn:schemas-microsoft-com:vml" Requires="v">
                <p:oleObj name="Equation" r:id="rId3" imgW="393480" imgH="495000" progId="Equation.DSMT4">
                  <p:embed/>
                </p:oleObj>
              </mc:Choice>
              <mc:Fallback>
                <p:oleObj name="Equation" r:id="rId3" imgW="393480" imgH="495000" progId="Equation.DSMT4">
                  <p:embed/>
                  <p:pic>
                    <p:nvPicPr>
                      <p:cNvPr id="128004"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7804" y="663535"/>
                        <a:ext cx="455613" cy="5715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30606696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p:txBody>
          <a:bodyPr>
            <a:normAutofit/>
          </a:bodyPr>
          <a:lstStyle/>
          <a:p>
            <a:pPr marL="0" indent="0"/>
            <a:r>
              <a:rPr lang="en-US" sz="2000" dirty="0"/>
              <a:t>Software reports the sums of squares (SS) used in estimating standard deviations and variances (their squares) in an </a:t>
            </a:r>
            <a:r>
              <a:rPr lang="en-US" sz="2000" b="1" dirty="0"/>
              <a:t>analysis of variance (ANOVA) table</a:t>
            </a:r>
            <a:r>
              <a:rPr lang="en-US" sz="2000" dirty="0"/>
              <a:t>.</a:t>
            </a:r>
          </a:p>
        </p:txBody>
      </p:sp>
      <p:sp>
        <p:nvSpPr>
          <p:cNvPr id="4" name="Title 3"/>
          <p:cNvSpPr>
            <a:spLocks noGrp="1"/>
          </p:cNvSpPr>
          <p:nvPr>
            <p:ph type="title"/>
          </p:nvPr>
        </p:nvSpPr>
        <p:spPr>
          <a:xfrm>
            <a:off x="762000" y="164592"/>
            <a:ext cx="7924800" cy="1143000"/>
          </a:xfrm>
        </p:spPr>
        <p:txBody>
          <a:bodyPr>
            <a:normAutofit fontScale="90000"/>
          </a:bodyPr>
          <a:lstStyle/>
          <a:p>
            <a:r>
              <a:rPr lang="en-US" b="1" dirty="0">
                <a:latin typeface="+mn-lt"/>
              </a:rPr>
              <a:t>The Analysis of Variance (ANOVA) Table Summarizes Variability</a:t>
            </a:r>
          </a:p>
        </p:txBody>
      </p:sp>
      <p:sp>
        <p:nvSpPr>
          <p:cNvPr id="10" name="Rectangle 9"/>
          <p:cNvSpPr/>
          <p:nvPr/>
        </p:nvSpPr>
        <p:spPr>
          <a:xfrm>
            <a:off x="1008652" y="4701478"/>
            <a:ext cx="7431495" cy="338554"/>
          </a:xfrm>
          <a:prstGeom prst="rect">
            <a:avLst/>
          </a:prstGeom>
        </p:spPr>
        <p:txBody>
          <a:bodyPr wrap="square">
            <a:spAutoFit/>
          </a:bodyPr>
          <a:lstStyle/>
          <a:p>
            <a:r>
              <a:rPr lang="en-US" sz="1600" dirty="0">
                <a:solidFill>
                  <a:schemeClr val="tx1"/>
                </a:solidFill>
                <a:latin typeface="HelveticaNeueLTPro-Hv"/>
              </a:rPr>
              <a:t>Table 12.6 </a:t>
            </a:r>
            <a:r>
              <a:rPr lang="en-US" sz="1600" dirty="0">
                <a:solidFill>
                  <a:srgbClr val="000000"/>
                </a:solidFill>
                <a:latin typeface="HelveticaNeueLTPro-Md"/>
              </a:rPr>
              <a:t>Analysis of Variance (ANOVA) Table for the Strength Study</a:t>
            </a:r>
            <a:endParaRPr lang="en-US" sz="1600" dirty="0"/>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4420" y="2663948"/>
            <a:ext cx="6592598" cy="2017809"/>
          </a:xfrm>
          <a:prstGeom prst="rect">
            <a:avLst/>
          </a:prstGeom>
        </p:spPr>
      </p:pic>
      <mc:AlternateContent xmlns:mc="http://schemas.openxmlformats.org/markup-compatibility/2006" xmlns:a14="http://schemas.microsoft.com/office/drawing/2010/main">
        <mc:Choice Requires="a14">
          <p:sp>
            <p:nvSpPr>
              <p:cNvPr id="3" name="Object 2"/>
              <p:cNvSpPr txBox="1"/>
              <p:nvPr/>
            </p:nvSpPr>
            <p:spPr bwMode="auto">
              <a:xfrm>
                <a:off x="649288" y="5529263"/>
                <a:ext cx="7442200" cy="431800"/>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m:rPr>
                          <m:nor/>
                        </m:rPr>
                        <a:rPr lang="en-US" i="0">
                          <a:solidFill>
                            <a:srgbClr val="000000"/>
                          </a:solidFill>
                          <a:latin typeface="Cambria Math" panose="02040503050406030204" pitchFamily="18" charset="0"/>
                        </a:rPr>
                        <m:t>regressions</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SS</m:t>
                      </m:r>
                      <m:r>
                        <m:rPr>
                          <m:nor/>
                        </m:rP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m:t>
                      </m:r>
                      <m:nary>
                        <m:naryPr>
                          <m:chr m:val="∑"/>
                          <m:subHide m:val="on"/>
                          <m:supHide m:val="on"/>
                          <m:ctrlPr>
                            <a:rPr lang="en-US" i="1">
                              <a:solidFill>
                                <a:srgbClr val="000000"/>
                              </a:solidFill>
                              <a:latin typeface="Cambria Math" panose="02040503050406030204" pitchFamily="18" charset="0"/>
                            </a:rPr>
                          </m:ctrlPr>
                        </m:naryPr>
                        <m:sub/>
                        <m:sup/>
                        <m:e>
                          <m:sSup>
                            <m:sSupPr>
                              <m:ctrlPr>
                                <a:rPr lang="en-US" i="1">
                                  <a:solidFill>
                                    <a:srgbClr val="000000"/>
                                  </a:solidFill>
                                  <a:latin typeface="Cambria Math" panose="02040503050406030204" pitchFamily="18" charset="0"/>
                                </a:rPr>
                              </m:ctrlPr>
                            </m:sSupPr>
                            <m:e>
                              <m:d>
                                <m:dPr>
                                  <m:ctrlPr>
                                    <a:rPr lang="en-US" i="1">
                                      <a:solidFill>
                                        <a:srgbClr val="000000"/>
                                      </a:solidFill>
                                      <a:latin typeface="Cambria Math" panose="02040503050406030204" pitchFamily="18" charset="0"/>
                                    </a:rPr>
                                  </m:ctrlPr>
                                </m:dPr>
                                <m:e>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𝑦</m:t>
                                      </m:r>
                                    </m:e>
                                  </m:acc>
                                  <m:r>
                                    <a:rPr lang="en-US" i="1">
                                      <a:solidFill>
                                        <a:srgbClr val="000000"/>
                                      </a:solidFill>
                                      <a:latin typeface="Cambria Math" panose="02040503050406030204" pitchFamily="18" charset="0"/>
                                    </a:rPr>
                                    <m:t>−</m:t>
                                  </m:r>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𝑦</m:t>
                                      </m:r>
                                    </m:e>
                                  </m:acc>
                                </m:e>
                              </m:d>
                            </m:e>
                            <m:sup>
                              <m:r>
                                <a:rPr lang="en-US" i="1">
                                  <a:solidFill>
                                    <a:srgbClr val="000000"/>
                                  </a:solidFill>
                                  <a:latin typeface="Cambria Math" panose="02040503050406030204" pitchFamily="18" charset="0"/>
                                </a:rPr>
                                <m:t>2</m:t>
                              </m:r>
                            </m:sup>
                          </m:sSup>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and</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it</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equals</m:t>
                          </m:r>
                        </m:e>
                      </m:nary>
                      <m:r>
                        <a:rPr lang="en-US" i="0">
                          <a:solidFill>
                            <a:srgbClr val="000000"/>
                          </a:solidFill>
                          <a:latin typeface="Cambria Math" panose="02040503050406030204" pitchFamily="18" charset="0"/>
                        </a:rPr>
                        <m:t> </m:t>
                      </m:r>
                      <m:nary>
                        <m:naryPr>
                          <m:chr m:val="∑"/>
                          <m:subHide m:val="on"/>
                          <m:supHide m:val="on"/>
                          <m:ctrlPr>
                            <a:rPr lang="en-US" i="1">
                              <a:solidFill>
                                <a:srgbClr val="000000"/>
                              </a:solidFill>
                              <a:latin typeface="Cambria Math" panose="02040503050406030204" pitchFamily="18" charset="0"/>
                            </a:rPr>
                          </m:ctrlPr>
                        </m:naryPr>
                        <m:sub/>
                        <m:sup/>
                        <m:e>
                          <m:sSup>
                            <m:sSupPr>
                              <m:ctrlPr>
                                <a:rPr lang="en-US" i="1">
                                  <a:solidFill>
                                    <a:srgbClr val="000000"/>
                                  </a:solidFill>
                                  <a:latin typeface="Cambria Math" panose="02040503050406030204" pitchFamily="18" charset="0"/>
                                </a:rPr>
                              </m:ctrlPr>
                            </m:sSupPr>
                            <m:e>
                              <m:d>
                                <m:dPr>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𝑦</m:t>
                                  </m:r>
                                  <m:r>
                                    <a:rPr lang="en-US" i="1">
                                      <a:solidFill>
                                        <a:srgbClr val="000000"/>
                                      </a:solidFill>
                                      <a:latin typeface="Cambria Math" panose="02040503050406030204" pitchFamily="18" charset="0"/>
                                    </a:rPr>
                                    <m:t>−</m:t>
                                  </m:r>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𝑦</m:t>
                                      </m:r>
                                    </m:e>
                                  </m:acc>
                                </m:e>
                              </m:d>
                            </m:e>
                            <m:sup>
                              <m:r>
                                <a:rPr lang="en-US" i="1">
                                  <a:solidFill>
                                    <a:srgbClr val="000000"/>
                                  </a:solidFill>
                                  <a:latin typeface="Cambria Math" panose="02040503050406030204" pitchFamily="18" charset="0"/>
                                </a:rPr>
                                <m:t>2</m:t>
                              </m:r>
                            </m:sup>
                          </m:sSup>
                        </m:e>
                      </m:nary>
                      <m:r>
                        <a:rPr lang="en-US" i="1">
                          <a:solidFill>
                            <a:srgbClr val="000000"/>
                          </a:solidFill>
                          <a:latin typeface="Cambria Math" panose="02040503050406030204" pitchFamily="18" charset="0"/>
                        </a:rPr>
                        <m:t>−</m:t>
                      </m:r>
                      <m:nary>
                        <m:naryPr>
                          <m:chr m:val="∑"/>
                          <m:subHide m:val="on"/>
                          <m:supHide m:val="on"/>
                          <m:ctrlPr>
                            <a:rPr lang="en-US" i="1">
                              <a:solidFill>
                                <a:srgbClr val="000000"/>
                              </a:solidFill>
                              <a:latin typeface="Cambria Math" panose="02040503050406030204" pitchFamily="18" charset="0"/>
                            </a:rPr>
                          </m:ctrlPr>
                        </m:naryPr>
                        <m:sub/>
                        <m:sup/>
                        <m:e>
                          <m:sSup>
                            <m:sSupPr>
                              <m:ctrlPr>
                                <a:rPr lang="en-US" i="1">
                                  <a:solidFill>
                                    <a:srgbClr val="000000"/>
                                  </a:solidFill>
                                  <a:latin typeface="Cambria Math" panose="02040503050406030204" pitchFamily="18" charset="0"/>
                                </a:rPr>
                              </m:ctrlPr>
                            </m:sSupPr>
                            <m:e>
                              <m:d>
                                <m:dPr>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𝑦</m:t>
                                  </m:r>
                                  <m:r>
                                    <a:rPr lang="en-US" i="1">
                                      <a:solidFill>
                                        <a:srgbClr val="000000"/>
                                      </a:solidFill>
                                      <a:latin typeface="Cambria Math" panose="02040503050406030204" pitchFamily="18" charset="0"/>
                                    </a:rPr>
                                    <m:t>−</m:t>
                                  </m:r>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𝑦</m:t>
                                      </m:r>
                                    </m:e>
                                  </m:acc>
                                </m:e>
                              </m:d>
                            </m:e>
                            <m:sup>
                              <m:r>
                                <a:rPr lang="en-US" i="1">
                                  <a:solidFill>
                                    <a:srgbClr val="000000"/>
                                  </a:solidFill>
                                  <a:latin typeface="Cambria Math" panose="02040503050406030204" pitchFamily="18" charset="0"/>
                                </a:rPr>
                                <m:t>2</m:t>
                              </m:r>
                            </m:sup>
                          </m:sSup>
                        </m:e>
                      </m:nary>
                      <m:r>
                        <a:rPr lang="en-US" i="1">
                          <a:solidFill>
                            <a:srgbClr val="000000"/>
                          </a:solidFill>
                          <a:latin typeface="Cambria Math" panose="02040503050406030204" pitchFamily="18" charset="0"/>
                        </a:rPr>
                        <m:t>.</m:t>
                      </m:r>
                    </m:oMath>
                  </m:oMathPara>
                </a14:m>
                <a:endParaRPr lang="en-US" sz="2000" dirty="0"/>
              </a:p>
            </p:txBody>
          </p:sp>
        </mc:Choice>
        <mc:Fallback xmlns="">
          <p:sp>
            <p:nvSpPr>
              <p:cNvPr id="3" name="Object 2"/>
              <p:cNvSpPr txBox="1">
                <a:spLocks noRot="1" noChangeAspect="1" noMove="1" noResize="1" noEditPoints="1" noAdjustHandles="1" noChangeArrowheads="1" noChangeShapeType="1" noTextEdit="1"/>
              </p:cNvSpPr>
              <p:nvPr/>
            </p:nvSpPr>
            <p:spPr bwMode="auto">
              <a:xfrm>
                <a:off x="649288" y="5529263"/>
                <a:ext cx="7442200" cy="431800"/>
              </a:xfrm>
              <a:prstGeom prst="rect">
                <a:avLst/>
              </a:prstGeom>
              <a:blipFill>
                <a:blip r:embed="rId3"/>
                <a:stretch>
                  <a:fillRect b="-32394"/>
                </a:stretch>
              </a:blipFill>
            </p:spPr>
            <p:txBody>
              <a:bodyPr/>
              <a:lstStyle/>
              <a:p>
                <a:r>
                  <a:rPr lang="en-US">
                    <a:noFill/>
                  </a:rPr>
                  <a:t> </a:t>
                </a:r>
              </a:p>
            </p:txBody>
          </p:sp>
        </mc:Fallback>
      </mc:AlternateContent>
    </p:spTree>
    <p:extLst>
      <p:ext uri="{BB962C8B-B14F-4D97-AF65-F5344CB8AC3E}">
        <p14:creationId xmlns:p14="http://schemas.microsoft.com/office/powerpoint/2010/main" val="197011565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8848" y="1600200"/>
            <a:ext cx="7924800" cy="4480560"/>
          </a:xfrm>
        </p:spPr>
        <p:txBody>
          <a:bodyPr/>
          <a:lstStyle/>
          <a:p>
            <a:pPr marL="0" indent="0">
              <a:buNone/>
            </a:pPr>
            <a:r>
              <a:rPr lang="en-US" dirty="0"/>
              <a:t>These three types of sums of squares are connected by the basic </a:t>
            </a:r>
            <a:r>
              <a:rPr lang="en-US" b="1" dirty="0"/>
              <a:t>ANOVA identity</a:t>
            </a:r>
          </a:p>
          <a:p>
            <a:pPr marL="0" indent="0"/>
            <a:endParaRPr lang="en-US" b="1" dirty="0"/>
          </a:p>
          <a:p>
            <a:pPr marL="0" indent="0" algn="ctr">
              <a:buNone/>
            </a:pPr>
            <a:r>
              <a:rPr lang="en-US" dirty="0"/>
              <a:t>Total SS = Regression SS + Residual </a:t>
            </a:r>
            <a:r>
              <a:rPr lang="en-US" dirty="0">
                <a:solidFill>
                  <a:schemeClr val="tx1"/>
                </a:solidFill>
              </a:rPr>
              <a:t>SS.</a:t>
            </a:r>
          </a:p>
          <a:p>
            <a:pPr marL="0" indent="0" algn="ctr">
              <a:buNone/>
            </a:pPr>
            <a:r>
              <a:rPr lang="en-US" dirty="0">
                <a:solidFill>
                  <a:schemeClr val="tx1"/>
                </a:solidFill>
              </a:rPr>
              <a:t>Regression SS + Residual SS = </a:t>
            </a:r>
          </a:p>
          <a:p>
            <a:pPr marL="0" indent="0" algn="ctr">
              <a:buNone/>
            </a:pPr>
            <a:r>
              <a:rPr lang="en-US" dirty="0">
                <a:solidFill>
                  <a:schemeClr val="tx1"/>
                </a:solidFill>
              </a:rPr>
              <a:t>6351.8 + 3522.8 = 9874.6, the Total SS</a:t>
            </a:r>
            <a:r>
              <a:rPr lang="en-US" dirty="0"/>
              <a:t>.</a:t>
            </a:r>
          </a:p>
        </p:txBody>
      </p:sp>
      <p:sp>
        <p:nvSpPr>
          <p:cNvPr id="4" name="Title 3"/>
          <p:cNvSpPr>
            <a:spLocks noGrp="1"/>
          </p:cNvSpPr>
          <p:nvPr>
            <p:ph type="title"/>
          </p:nvPr>
        </p:nvSpPr>
        <p:spPr>
          <a:xfrm>
            <a:off x="762000" y="164592"/>
            <a:ext cx="7924800" cy="1143000"/>
          </a:xfrm>
        </p:spPr>
        <p:txBody>
          <a:bodyPr>
            <a:normAutofit fontScale="90000"/>
          </a:bodyPr>
          <a:lstStyle/>
          <a:p>
            <a:r>
              <a:rPr lang="en-US" b="1" dirty="0">
                <a:latin typeface="+mn-lt"/>
              </a:rPr>
              <a:t>The Analysis of Variance (ANOVA) Table Summarizes Variability</a:t>
            </a:r>
            <a:endParaRPr lang="en-US" dirty="0">
              <a:latin typeface="+mn-lt"/>
            </a:endParaRPr>
          </a:p>
        </p:txBody>
      </p:sp>
    </p:spTree>
    <p:extLst>
      <p:ext uri="{BB962C8B-B14F-4D97-AF65-F5344CB8AC3E}">
        <p14:creationId xmlns:p14="http://schemas.microsoft.com/office/powerpoint/2010/main" val="111770961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p:txBody>
          <a:bodyPr>
            <a:normAutofit/>
          </a:bodyPr>
          <a:lstStyle/>
          <a:p>
            <a:pPr marL="0" indent="0">
              <a:buNone/>
            </a:pPr>
            <a:r>
              <a:rPr lang="en-US" dirty="0"/>
              <a:t>The ratio of a sum of squares to its </a:t>
            </a:r>
            <a:r>
              <a:rPr lang="en-US" i="1" dirty="0" err="1">
                <a:latin typeface="+mj-lt"/>
              </a:rPr>
              <a:t>df</a:t>
            </a:r>
            <a:r>
              <a:rPr lang="en-US" i="1" dirty="0"/>
              <a:t> </a:t>
            </a:r>
            <a:r>
              <a:rPr lang="en-US" dirty="0"/>
              <a:t>value is called a </a:t>
            </a:r>
            <a:r>
              <a:rPr lang="en-US" b="1" dirty="0"/>
              <a:t>mean square</a:t>
            </a:r>
            <a:r>
              <a:rPr lang="en-US" dirty="0"/>
              <a:t>. It is listed in the ANOVA table under the heading MS.</a:t>
            </a:r>
          </a:p>
          <a:p>
            <a:pPr marL="0" indent="0"/>
            <a:endParaRPr lang="en-US" dirty="0"/>
          </a:p>
          <a:p>
            <a:pPr marL="0" indent="0">
              <a:buNone/>
            </a:pPr>
            <a:r>
              <a:rPr lang="en-US" dirty="0"/>
              <a:t>The ratio of residual sum of squares = 3522.8 to its </a:t>
            </a:r>
            <a:r>
              <a:rPr lang="en-US" i="1" dirty="0" err="1">
                <a:latin typeface="+mj-lt"/>
              </a:rPr>
              <a:t>df</a:t>
            </a:r>
            <a:r>
              <a:rPr lang="en-US" i="1" dirty="0"/>
              <a:t> </a:t>
            </a:r>
            <a:r>
              <a:rPr lang="en-US" dirty="0"/>
              <a:t>= 55 gives 64.1. This ratio is the </a:t>
            </a:r>
            <a:r>
              <a:rPr lang="en-US" b="1" dirty="0"/>
              <a:t>mean square error, </a:t>
            </a:r>
            <a:r>
              <a:rPr lang="en-US" dirty="0"/>
              <a:t>often abbreviated as </a:t>
            </a:r>
            <a:r>
              <a:rPr lang="en-US" b="1" dirty="0"/>
              <a:t>MS error </a:t>
            </a:r>
            <a:r>
              <a:rPr lang="en-US" dirty="0"/>
              <a:t>or as </a:t>
            </a:r>
            <a:r>
              <a:rPr lang="en-US" b="1" dirty="0"/>
              <a:t>MSE.</a:t>
            </a:r>
          </a:p>
          <a:p>
            <a:pPr marL="0" indent="0"/>
            <a:endParaRPr lang="en-US" b="1" dirty="0"/>
          </a:p>
          <a:p>
            <a:pPr marL="0" indent="0">
              <a:buNone/>
            </a:pPr>
            <a:r>
              <a:rPr lang="en-US" dirty="0"/>
              <a:t>The square root of MSE, </a:t>
            </a:r>
            <a:r>
              <a:rPr lang="en-US" i="1" dirty="0">
                <a:latin typeface="+mj-lt"/>
              </a:rPr>
              <a:t>s</a:t>
            </a:r>
            <a:r>
              <a:rPr lang="en-US" i="1" dirty="0"/>
              <a:t>, </a:t>
            </a:r>
            <a:r>
              <a:rPr lang="en-US" dirty="0"/>
              <a:t>(the residual standard deviation) is a typical size of a residual (that is, a prediction error).</a:t>
            </a:r>
          </a:p>
        </p:txBody>
      </p:sp>
      <p:sp>
        <p:nvSpPr>
          <p:cNvPr id="4" name="Title 3"/>
          <p:cNvSpPr>
            <a:spLocks noGrp="1"/>
          </p:cNvSpPr>
          <p:nvPr>
            <p:ph type="title"/>
          </p:nvPr>
        </p:nvSpPr>
        <p:spPr>
          <a:xfrm>
            <a:off x="762000" y="86868"/>
            <a:ext cx="7924800" cy="1143000"/>
          </a:xfrm>
        </p:spPr>
        <p:txBody>
          <a:bodyPr>
            <a:normAutofit fontScale="90000"/>
          </a:bodyPr>
          <a:lstStyle/>
          <a:p>
            <a:r>
              <a:rPr lang="en-US" b="1" dirty="0">
                <a:latin typeface="+mn-lt"/>
              </a:rPr>
              <a:t>Mean Square and Mean Square Error</a:t>
            </a:r>
          </a:p>
        </p:txBody>
      </p:sp>
    </p:spTree>
    <p:extLst>
      <p:ext uri="{BB962C8B-B14F-4D97-AF65-F5344CB8AC3E}">
        <p14:creationId xmlns:p14="http://schemas.microsoft.com/office/powerpoint/2010/main" val="382706278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 Placeholder 4"/>
              <p:cNvSpPr>
                <a:spLocks noGrp="1"/>
              </p:cNvSpPr>
              <p:nvPr>
                <p:ph type="body" sz="quarter" idx="10"/>
              </p:nvPr>
            </p:nvSpPr>
            <p:spPr/>
            <p:txBody>
              <a:bodyPr>
                <a:noAutofit/>
              </a:bodyPr>
              <a:lstStyle/>
              <a:p>
                <a:pPr marL="0" indent="0">
                  <a:buNone/>
                </a:pPr>
                <a:r>
                  <a:rPr lang="en-US" dirty="0"/>
                  <a:t>The ANOVA table contains values labeled </a:t>
                </a:r>
                <a:r>
                  <a:rPr lang="en-US" i="1" dirty="0"/>
                  <a:t>F </a:t>
                </a:r>
                <a:r>
                  <a:rPr lang="en-US" dirty="0"/>
                  <a:t>and P. The </a:t>
                </a:r>
                <a:r>
                  <a:rPr lang="en-US" i="1" dirty="0"/>
                  <a:t>F </a:t>
                </a:r>
                <a:r>
                  <a:rPr lang="en-US" dirty="0"/>
                  <a:t>value is the ratio of the mean squares,</a:t>
                </a:r>
              </a:p>
              <a:p>
                <a:pPr marL="0" indent="0"/>
                <a:endParaRPr lang="en-US" dirty="0"/>
              </a:p>
              <a:p>
                <a:pPr marL="0" indent="0" algn="ctr">
                  <a:buNone/>
                </a:pPr>
                <a:r>
                  <a:rPr lang="en-US" i="1" dirty="0"/>
                  <a:t>F</a:t>
                </a:r>
                <a:r>
                  <a:rPr lang="en-US" dirty="0"/>
                  <a:t> = </a:t>
                </a:r>
                <a14:m>
                  <m:oMath xmlns:m="http://schemas.openxmlformats.org/officeDocument/2006/math">
                    <m:f>
                      <m:fPr>
                        <m:ctrlPr>
                          <a:rPr lang="en-US" i="1" smtClean="0">
                            <a:latin typeface="Cambria Math" panose="02040503050406030204" pitchFamily="18" charset="0"/>
                          </a:rPr>
                        </m:ctrlPr>
                      </m:fPr>
                      <m:num>
                        <m:r>
                          <m:rPr>
                            <m:sty m:val="p"/>
                          </m:rPr>
                          <a:rPr lang="en-US" b="0" i="0" smtClean="0">
                            <a:latin typeface="Cambria Math" panose="02040503050406030204" pitchFamily="18" charset="0"/>
                          </a:rPr>
                          <m:t>Mean</m:t>
                        </m:r>
                        <m:r>
                          <a:rPr lang="en-US" b="0" i="0" smtClean="0">
                            <a:latin typeface="Cambria Math" panose="02040503050406030204" pitchFamily="18" charset="0"/>
                          </a:rPr>
                          <m:t> </m:t>
                        </m:r>
                        <m:r>
                          <m:rPr>
                            <m:sty m:val="p"/>
                          </m:rPr>
                          <a:rPr lang="en-US" b="0" i="0" smtClean="0">
                            <a:latin typeface="Cambria Math" panose="02040503050406030204" pitchFamily="18" charset="0"/>
                          </a:rPr>
                          <m:t>square</m:t>
                        </m:r>
                        <m:r>
                          <a:rPr lang="en-US" b="0" i="0" smtClean="0">
                            <a:latin typeface="Cambria Math" panose="02040503050406030204" pitchFamily="18" charset="0"/>
                          </a:rPr>
                          <m:t> </m:t>
                        </m:r>
                        <m:r>
                          <m:rPr>
                            <m:sty m:val="p"/>
                          </m:rPr>
                          <a:rPr lang="en-US" b="0" i="0" smtClean="0">
                            <a:latin typeface="Cambria Math" panose="02040503050406030204" pitchFamily="18" charset="0"/>
                          </a:rPr>
                          <m:t>of</m:t>
                        </m:r>
                        <m:r>
                          <a:rPr lang="en-US" b="0" i="0" smtClean="0">
                            <a:latin typeface="Cambria Math" panose="02040503050406030204" pitchFamily="18" charset="0"/>
                          </a:rPr>
                          <m:t> </m:t>
                        </m:r>
                        <m:r>
                          <m:rPr>
                            <m:sty m:val="p"/>
                          </m:rPr>
                          <a:rPr lang="en-US" b="0" i="0" smtClean="0">
                            <a:latin typeface="Cambria Math" panose="02040503050406030204" pitchFamily="18" charset="0"/>
                          </a:rPr>
                          <m:t>regression</m:t>
                        </m:r>
                      </m:num>
                      <m:den>
                        <m:r>
                          <m:rPr>
                            <m:sty m:val="p"/>
                          </m:rPr>
                          <a:rPr lang="en-US" b="0" i="0" smtClean="0">
                            <a:latin typeface="Cambria Math" panose="02040503050406030204" pitchFamily="18" charset="0"/>
                          </a:rPr>
                          <m:t>Mean</m:t>
                        </m:r>
                        <m:r>
                          <a:rPr lang="en-US" b="0" i="0" smtClean="0">
                            <a:latin typeface="Cambria Math" panose="02040503050406030204" pitchFamily="18" charset="0"/>
                          </a:rPr>
                          <m:t> </m:t>
                        </m:r>
                        <m:r>
                          <m:rPr>
                            <m:sty m:val="p"/>
                          </m:rPr>
                          <a:rPr lang="en-US" b="0" i="0" smtClean="0">
                            <a:latin typeface="Cambria Math" panose="02040503050406030204" pitchFamily="18" charset="0"/>
                          </a:rPr>
                          <m:t>square</m:t>
                        </m:r>
                        <m:r>
                          <a:rPr lang="en-US" b="0" i="0" smtClean="0">
                            <a:latin typeface="Cambria Math" panose="02040503050406030204" pitchFamily="18" charset="0"/>
                          </a:rPr>
                          <m:t> </m:t>
                        </m:r>
                        <m:r>
                          <m:rPr>
                            <m:sty m:val="p"/>
                          </m:rPr>
                          <a:rPr lang="en-US" b="0" i="0" smtClean="0">
                            <a:latin typeface="Cambria Math" panose="02040503050406030204" pitchFamily="18" charset="0"/>
                          </a:rPr>
                          <m:t>error</m:t>
                        </m:r>
                      </m:den>
                    </m:f>
                  </m:oMath>
                </a14:m>
                <a:endParaRPr lang="en-US" dirty="0"/>
              </a:p>
              <a:p>
                <a:pPr marL="0" indent="0" algn="ctr"/>
                <a:endParaRPr lang="en-US" dirty="0"/>
              </a:p>
              <a:p>
                <a:pPr marL="0" indent="0">
                  <a:buNone/>
                </a:pPr>
                <a:r>
                  <a:rPr lang="en-US" dirty="0"/>
                  <a:t>This is an alternative test statistic for testing </a:t>
                </a:r>
                <a14:m>
                  <m:oMath xmlns:m="http://schemas.openxmlformats.org/officeDocument/2006/math">
                    <m:sSub>
                      <m:sSubPr>
                        <m:ctrlPr>
                          <a:rPr lang="en-US" altLang="en-US" i="1">
                            <a:solidFill>
                              <a:schemeClr val="tx1"/>
                            </a:solidFill>
                            <a:latin typeface="Cambria Math" panose="02040503050406030204" pitchFamily="18" charset="0"/>
                          </a:rPr>
                        </m:ctrlPr>
                      </m:sSubPr>
                      <m:e>
                        <m:r>
                          <m:rPr>
                            <m:sty m:val="p"/>
                          </m:rPr>
                          <a:rPr lang="en-US" altLang="en-US" i="0">
                            <a:solidFill>
                              <a:schemeClr val="tx1"/>
                            </a:solidFill>
                            <a:latin typeface="Cambria Math" panose="02040503050406030204" pitchFamily="18" charset="0"/>
                          </a:rPr>
                          <m:t>H</m:t>
                        </m:r>
                      </m:e>
                      <m:sub>
                        <m:r>
                          <a:rPr lang="en-US" altLang="en-US" i="1">
                            <a:solidFill>
                              <a:schemeClr val="tx1"/>
                            </a:solidFill>
                            <a:latin typeface="Cambria Math" panose="02040503050406030204" pitchFamily="18" charset="0"/>
                          </a:rPr>
                          <m:t>0</m:t>
                        </m:r>
                      </m:sub>
                    </m:sSub>
                  </m:oMath>
                </a14:m>
                <a:r>
                  <a:rPr lang="en-US" altLang="en-US" dirty="0">
                    <a:solidFill>
                      <a:schemeClr val="tx1"/>
                    </a:solidFill>
                  </a:rPr>
                  <a:t>: </a:t>
                </a:r>
                <a:r>
                  <a:rPr lang="en-US" altLang="en-US" dirty="0">
                    <a:solidFill>
                      <a:schemeClr val="tx1"/>
                    </a:solidFill>
                    <a:sym typeface="Symbol" panose="05050102010706020507" pitchFamily="18" charset="2"/>
                  </a:rPr>
                  <a:t> = 0 </a:t>
                </a:r>
                <a:r>
                  <a:rPr lang="en-US" dirty="0"/>
                  <a:t>against </a:t>
                </a:r>
                <a14:m>
                  <m:oMath xmlns:m="http://schemas.openxmlformats.org/officeDocument/2006/math">
                    <m:sSub>
                      <m:sSubPr>
                        <m:ctrlPr>
                          <a:rPr lang="en-US" altLang="en-US" i="1">
                            <a:solidFill>
                              <a:schemeClr val="tx1"/>
                            </a:solidFill>
                            <a:latin typeface="Cambria Math" panose="02040503050406030204" pitchFamily="18" charset="0"/>
                          </a:rPr>
                        </m:ctrlPr>
                      </m:sSubPr>
                      <m:e>
                        <m:r>
                          <m:rPr>
                            <m:sty m:val="p"/>
                          </m:rPr>
                          <a:rPr lang="en-US" altLang="en-US" i="0">
                            <a:solidFill>
                              <a:schemeClr val="tx1"/>
                            </a:solidFill>
                            <a:latin typeface="Cambria Math" panose="02040503050406030204" pitchFamily="18" charset="0"/>
                          </a:rPr>
                          <m:t>H</m:t>
                        </m:r>
                      </m:e>
                      <m:sub>
                        <m:r>
                          <a:rPr lang="en-US" altLang="en-US" i="1">
                            <a:solidFill>
                              <a:schemeClr val="tx1"/>
                            </a:solidFill>
                            <a:latin typeface="Cambria Math" panose="02040503050406030204" pitchFamily="18" charset="0"/>
                          </a:rPr>
                          <m:t>𝑎</m:t>
                        </m:r>
                      </m:sub>
                    </m:sSub>
                  </m:oMath>
                </a14:m>
                <a:r>
                  <a:rPr lang="en-US" altLang="en-US" dirty="0">
                    <a:solidFill>
                      <a:schemeClr val="tx1"/>
                    </a:solidFill>
                  </a:rPr>
                  <a:t>: </a:t>
                </a:r>
                <a:r>
                  <a:rPr lang="en-US" altLang="en-US" dirty="0">
                    <a:solidFill>
                      <a:schemeClr val="tx1"/>
                    </a:solidFill>
                    <a:sym typeface="Symbol" panose="05050102010706020507" pitchFamily="18" charset="2"/>
                  </a:rPr>
                  <a:t> ≠ 0</a:t>
                </a:r>
                <a:r>
                  <a:rPr lang="en-US" dirty="0"/>
                  <a:t>. In fact, it can be shown that </a:t>
                </a:r>
                <a:r>
                  <a:rPr lang="en-US" i="1" dirty="0"/>
                  <a:t>F is the square of the t statistic </a:t>
                </a:r>
                <a:r>
                  <a:rPr lang="en-US" dirty="0"/>
                  <a:t>for this null hypothesis.</a:t>
                </a:r>
              </a:p>
            </p:txBody>
          </p:sp>
        </mc:Choice>
        <mc:Fallback xmlns="">
          <p:sp>
            <p:nvSpPr>
              <p:cNvPr id="5" name="Text Placeholder 4"/>
              <p:cNvSpPr>
                <a:spLocks noGrp="1" noRot="1" noChangeAspect="1" noMove="1" noResize="1" noEditPoints="1" noAdjustHandles="1" noChangeArrowheads="1" noChangeShapeType="1" noTextEdit="1"/>
              </p:cNvSpPr>
              <p:nvPr>
                <p:ph type="body" sz="quarter" idx="10"/>
              </p:nvPr>
            </p:nvSpPr>
            <p:spPr>
              <a:blipFill>
                <a:blip r:embed="rId2"/>
                <a:stretch>
                  <a:fillRect l="-2308" t="-1905" r="-1538"/>
                </a:stretch>
              </a:blipFill>
            </p:spPr>
            <p:txBody>
              <a:bodyPr/>
              <a:lstStyle/>
              <a:p>
                <a:r>
                  <a:rPr lang="en-US">
                    <a:noFill/>
                  </a:rPr>
                  <a:t> </a:t>
                </a:r>
              </a:p>
            </p:txBody>
          </p:sp>
        </mc:Fallback>
      </mc:AlternateContent>
      <p:sp>
        <p:nvSpPr>
          <p:cNvPr id="4" name="Title 3"/>
          <p:cNvSpPr>
            <a:spLocks noGrp="1"/>
          </p:cNvSpPr>
          <p:nvPr>
            <p:ph type="title"/>
          </p:nvPr>
        </p:nvSpPr>
        <p:spPr>
          <a:xfrm>
            <a:off x="772935" y="164592"/>
            <a:ext cx="7924800" cy="1143000"/>
          </a:xfrm>
        </p:spPr>
        <p:txBody>
          <a:bodyPr>
            <a:noAutofit/>
          </a:bodyPr>
          <a:lstStyle/>
          <a:p>
            <a:r>
              <a:rPr lang="en-US" sz="3600" b="1" dirty="0">
                <a:latin typeface="+mn-lt"/>
              </a:rPr>
              <a:t>The ANOVA </a:t>
            </a:r>
            <a:r>
              <a:rPr lang="en-US" sz="3600" b="1" i="1" dirty="0">
                <a:latin typeface="+mn-lt"/>
              </a:rPr>
              <a:t>F </a:t>
            </a:r>
            <a:r>
              <a:rPr lang="en-US" sz="3600" b="1" dirty="0">
                <a:latin typeface="+mn-lt"/>
              </a:rPr>
              <a:t>Statistic Also Tests for an Association</a:t>
            </a:r>
          </a:p>
        </p:txBody>
      </p:sp>
    </p:spTree>
    <p:extLst>
      <p:ext uri="{BB962C8B-B14F-4D97-AF65-F5344CB8AC3E}">
        <p14:creationId xmlns:p14="http://schemas.microsoft.com/office/powerpoint/2010/main" val="325508085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CBE5160-545F-A7BE-A8E8-615D3E82CDF4}"/>
              </a:ext>
            </a:extLst>
          </p:cNvPr>
          <p:cNvSpPr>
            <a:spLocks noGrp="1"/>
          </p:cNvSpPr>
          <p:nvPr>
            <p:ph type="body" sz="quarter" idx="10"/>
          </p:nvPr>
        </p:nvSpPr>
        <p:spPr/>
        <p:txBody>
          <a:bodyPr/>
          <a:lstStyle/>
          <a:p>
            <a:pPr marL="0" indent="0" algn="ctr">
              <a:buNone/>
            </a:pPr>
            <a:r>
              <a:rPr lang="en-US" sz="4000" dirty="0"/>
              <a:t>Exponential Regression: A Model for Nonlinearity</a:t>
            </a:r>
          </a:p>
          <a:p>
            <a:endParaRPr lang="en-US" dirty="0"/>
          </a:p>
        </p:txBody>
      </p:sp>
    </p:spTree>
    <p:extLst>
      <p:ext uri="{BB962C8B-B14F-4D97-AF65-F5344CB8AC3E}">
        <p14:creationId xmlns:p14="http://schemas.microsoft.com/office/powerpoint/2010/main" val="307682007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idx="4294967295"/>
          </p:nvPr>
        </p:nvSpPr>
        <p:spPr bwMode="auto">
          <a:xfrm>
            <a:off x="762000" y="242888"/>
            <a:ext cx="8001000" cy="639762"/>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normAutofit fontScale="90000"/>
          </a:bodyPr>
          <a:lstStyle/>
          <a:p>
            <a:r>
              <a:rPr lang="en-US" altLang="en-US" b="1">
                <a:latin typeface="Arial" panose="020B0604020202020204" pitchFamily="34" charset="0"/>
              </a:rPr>
              <a:t>Nonlinear Regression Models</a:t>
            </a:r>
          </a:p>
        </p:txBody>
      </p:sp>
      <p:sp>
        <p:nvSpPr>
          <p:cNvPr id="133123" name="Rectangle 3"/>
          <p:cNvSpPr>
            <a:spLocks noGrp="1" noChangeArrowheads="1"/>
          </p:cNvSpPr>
          <p:nvPr>
            <p:ph type="body" idx="4294967295"/>
          </p:nvPr>
        </p:nvSpPr>
        <p:spPr bwMode="auto">
          <a:xfrm>
            <a:off x="685800" y="1600200"/>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spcBef>
                <a:spcPct val="20000"/>
              </a:spcBef>
            </a:pPr>
            <a:r>
              <a:rPr lang="en-US" altLang="en-US" dirty="0"/>
              <a:t>If a scatterplot indicates substantial curvature in a relationship, then equations that provide curvature are needed.</a:t>
            </a:r>
          </a:p>
          <a:p>
            <a:pPr lvl="1"/>
            <a:r>
              <a:rPr lang="en-US" altLang="en-US" dirty="0"/>
              <a:t>Occasionally a scatterplot has a parabolic appearance: as </a:t>
            </a:r>
            <a:r>
              <a:rPr lang="en-US" altLang="en-US" i="1" dirty="0">
                <a:latin typeface="+mj-lt"/>
              </a:rPr>
              <a:t>x</a:t>
            </a:r>
            <a:r>
              <a:rPr lang="en-US" altLang="en-US" dirty="0"/>
              <a:t> increases, </a:t>
            </a:r>
            <a:r>
              <a:rPr lang="en-US" altLang="en-US" i="1" dirty="0">
                <a:latin typeface="+mj-lt"/>
              </a:rPr>
              <a:t>y</a:t>
            </a:r>
            <a:r>
              <a:rPr lang="en-US" altLang="en-US" dirty="0"/>
              <a:t> increases then it goes back down.</a:t>
            </a:r>
          </a:p>
          <a:p>
            <a:pPr lvl="2"/>
            <a:endParaRPr lang="en-US" altLang="en-US" dirty="0"/>
          </a:p>
          <a:p>
            <a:pPr lvl="1"/>
            <a:r>
              <a:rPr lang="en-US" altLang="en-US" dirty="0"/>
              <a:t>More often, </a:t>
            </a:r>
            <a:r>
              <a:rPr lang="en-US" altLang="en-US" i="1" dirty="0">
                <a:latin typeface="+mj-lt"/>
              </a:rPr>
              <a:t>y</a:t>
            </a:r>
            <a:r>
              <a:rPr lang="en-US" altLang="en-US" dirty="0"/>
              <a:t> tends to continually increase or continually decrease but the trend shows curvature.</a:t>
            </a:r>
          </a:p>
          <a:p>
            <a:pPr lvl="1"/>
            <a:endParaRPr lang="en-US" altLang="en-US"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idx="4294967295"/>
          </p:nvPr>
        </p:nvSpPr>
        <p:spPr bwMode="auto">
          <a:xfrm>
            <a:off x="762000" y="76200"/>
            <a:ext cx="7924800" cy="11430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normAutofit fontScale="90000"/>
          </a:bodyPr>
          <a:lstStyle/>
          <a:p>
            <a:r>
              <a:rPr lang="en-US" altLang="en-US" b="1">
                <a:latin typeface="Arial" panose="020B0604020202020204" pitchFamily="34" charset="0"/>
              </a:rPr>
              <a:t>Example: Exponential Growth in Population Size</a:t>
            </a:r>
          </a:p>
        </p:txBody>
      </p:sp>
      <mc:AlternateContent xmlns:mc="http://schemas.openxmlformats.org/markup-compatibility/2006" xmlns:a14="http://schemas.microsoft.com/office/drawing/2010/main">
        <mc:Choice Requires="a14">
          <p:sp>
            <p:nvSpPr>
              <p:cNvPr id="134147" name="Rectangle 3"/>
              <p:cNvSpPr>
                <a:spLocks noGrp="1" noChangeArrowheads="1"/>
              </p:cNvSpPr>
              <p:nvPr>
                <p:ph type="body" idx="4294967295"/>
              </p:nvPr>
            </p:nvSpPr>
            <p:spPr bwMode="auto">
              <a:xfrm>
                <a:off x="685800" y="1600200"/>
                <a:ext cx="7753350" cy="4511675"/>
              </a:xfrm>
              <a:prstGeom prst="rect">
                <a:avLst/>
              </a:prstGeom>
              <a:solidFill>
                <a:srgbClr val="FFFFFF"/>
              </a:solidFill>
              <a:extLst>
                <a:ext uri="{91240B29-F687-4F45-9708-019B960494DF}">
                  <a14:hiddenLine w="9525">
                    <a:solidFill>
                      <a:srgbClr val="000000"/>
                    </a:solidFill>
                    <a:miter lim="800000"/>
                    <a:headEnd/>
                    <a:tailEnd/>
                  </a14:hiddenLine>
                </a:ext>
              </a:extLst>
            </p:spPr>
            <p:txBody>
              <a:bodyPr lIns="0" rIns="0"/>
              <a:lstStyle/>
              <a:p>
                <a:pPr marL="0" indent="0">
                  <a:spcBef>
                    <a:spcPct val="20000"/>
                  </a:spcBef>
                </a:pPr>
                <a:r>
                  <a:rPr lang="en-US" altLang="en-US" dirty="0"/>
                  <a:t>Since 2000, the population of the U.S. has been growing at a rate of 2% a year.</a:t>
                </a:r>
              </a:p>
              <a:p>
                <a:pPr marL="0" indent="0">
                  <a:spcBef>
                    <a:spcPct val="20000"/>
                  </a:spcBef>
                </a:pPr>
                <a:endParaRPr lang="en-US" altLang="en-US" dirty="0"/>
              </a:p>
              <a:p>
                <a:pPr lvl="1"/>
                <a:r>
                  <a:rPr lang="en-US" altLang="en-US" dirty="0"/>
                  <a:t>The population size in 2010 was 309 million</a:t>
                </a:r>
              </a:p>
              <a:p>
                <a:pPr lvl="1"/>
                <a:r>
                  <a:rPr lang="en-US" altLang="en-US" dirty="0"/>
                  <a:t>The population size in 2011 was 309 </a:t>
                </a:r>
                <a14:m>
                  <m:oMath xmlns:m="http://schemas.openxmlformats.org/officeDocument/2006/math">
                    <m:r>
                      <a:rPr lang="en-US" altLang="en-US" i="1" smtClean="0">
                        <a:latin typeface="Cambria Math" panose="02040503050406030204" pitchFamily="18" charset="0"/>
                        <a:ea typeface="Cambria Math" panose="02040503050406030204" pitchFamily="18" charset="0"/>
                      </a:rPr>
                      <m:t>×</m:t>
                    </m:r>
                  </m:oMath>
                </a14:m>
                <a:r>
                  <a:rPr lang="en-US" altLang="en-US" dirty="0"/>
                  <a:t> 1.02</a:t>
                </a:r>
              </a:p>
              <a:p>
                <a:pPr lvl="1"/>
                <a:r>
                  <a:rPr lang="en-US" altLang="en-US" dirty="0"/>
                  <a:t>The population size in 2012 was 309 </a:t>
                </a:r>
                <a14:m>
                  <m:oMath xmlns:m="http://schemas.openxmlformats.org/officeDocument/2006/math">
                    <m:r>
                      <a:rPr lang="en-US" altLang="en-US" i="1" smtClean="0">
                        <a:latin typeface="Cambria Math" panose="02040503050406030204" pitchFamily="18" charset="0"/>
                        <a:ea typeface="Cambria Math" panose="02040503050406030204" pitchFamily="18" charset="0"/>
                      </a:rPr>
                      <m:t>×</m:t>
                    </m:r>
                  </m:oMath>
                </a14:m>
                <a:r>
                  <a:rPr lang="en-US" altLang="en-US" dirty="0"/>
                  <a:t> (1.02)</a:t>
                </a:r>
                <a:r>
                  <a:rPr lang="en-US" altLang="en-US" baseline="30000" dirty="0"/>
                  <a:t>2</a:t>
                </a:r>
              </a:p>
              <a:p>
                <a:pPr lvl="1"/>
                <a:r>
                  <a:rPr lang="en-US" altLang="en-US" dirty="0"/>
                  <a:t>… </a:t>
                </a:r>
              </a:p>
              <a:p>
                <a:pPr lvl="1"/>
                <a:r>
                  <a:rPr lang="en-US" altLang="en-US" dirty="0"/>
                  <a:t>The population size in 2020 is estimated to be</a:t>
                </a:r>
              </a:p>
              <a:p>
                <a:pPr lvl="1"/>
                <a:r>
                  <a:rPr lang="en-US" altLang="en-US" dirty="0"/>
                  <a:t>309 </a:t>
                </a:r>
                <a14:m>
                  <m:oMath xmlns:m="http://schemas.openxmlformats.org/officeDocument/2006/math">
                    <m:r>
                      <a:rPr lang="en-US" altLang="en-US" i="1" smtClean="0">
                        <a:latin typeface="Cambria Math" panose="02040503050406030204" pitchFamily="18" charset="0"/>
                        <a:ea typeface="Cambria Math" panose="02040503050406030204" pitchFamily="18" charset="0"/>
                      </a:rPr>
                      <m:t>×</m:t>
                    </m:r>
                  </m:oMath>
                </a14:m>
                <a:r>
                  <a:rPr lang="en-US" altLang="en-US" dirty="0"/>
                  <a:t> (1.02)</a:t>
                </a:r>
                <a:r>
                  <a:rPr lang="en-US" altLang="en-US" baseline="30000" dirty="0"/>
                  <a:t>10</a:t>
                </a:r>
              </a:p>
              <a:p>
                <a:pPr lvl="1"/>
                <a:r>
                  <a:rPr lang="en-US" altLang="en-US" dirty="0"/>
                  <a:t>This is called </a:t>
                </a:r>
                <a:r>
                  <a:rPr lang="en-US" altLang="en-US" b="1" dirty="0"/>
                  <a:t>exponential growth.</a:t>
                </a:r>
              </a:p>
            </p:txBody>
          </p:sp>
        </mc:Choice>
        <mc:Fallback xmlns="">
          <p:sp>
            <p:nvSpPr>
              <p:cNvPr id="134147" name="Rectangle 3"/>
              <p:cNvSpPr>
                <a:spLocks noGrp="1" noRot="1" noChangeAspect="1" noMove="1" noResize="1" noEditPoints="1" noAdjustHandles="1" noChangeArrowheads="1" noChangeShapeType="1" noTextEdit="1"/>
              </p:cNvSpPr>
              <p:nvPr>
                <p:ph type="body" idx="4294967295"/>
              </p:nvPr>
            </p:nvSpPr>
            <p:spPr bwMode="auto">
              <a:xfrm>
                <a:off x="685800" y="1600200"/>
                <a:ext cx="7753350" cy="4511675"/>
              </a:xfrm>
              <a:prstGeom prst="rect">
                <a:avLst/>
              </a:prstGeom>
              <a:blipFill>
                <a:blip r:embed="rId2" cstate="print"/>
                <a:stretch>
                  <a:fillRect l="-2439" t="-946" r="-1888" b="-1622"/>
                </a:stretch>
              </a:blipFill>
              <a:extLst>
                <a:ext uri="{91240B29-F687-4F45-9708-019B960494DF}">
                  <a14:hiddenLine xmlns=""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5170" name="Rectangle 3"/>
              <p:cNvSpPr>
                <a:spLocks noGrp="1" noChangeArrowheads="1"/>
              </p:cNvSpPr>
              <p:nvPr>
                <p:ph type="body" sz="half" idx="4294967295"/>
              </p:nvPr>
            </p:nvSpPr>
            <p:spPr bwMode="auto">
              <a:xfrm>
                <a:off x="685800" y="1600200"/>
                <a:ext cx="7445375" cy="4511675"/>
              </a:xfrm>
              <a:prstGeom prst="rect">
                <a:avLst/>
              </a:prstGeom>
              <a:solidFill>
                <a:srgbClr val="FFFFFF"/>
              </a:solidFill>
              <a:extLst>
                <a:ext uri="{91240B29-F687-4F45-9708-019B960494DF}">
                  <a14:hiddenLine w="9525">
                    <a:solidFill>
                      <a:srgbClr val="000000"/>
                    </a:solidFill>
                    <a:miter lim="800000"/>
                    <a:headEnd/>
                    <a:tailEnd/>
                  </a14:hiddenLine>
                </a:ext>
              </a:extLst>
            </p:spPr>
            <p:txBody>
              <a:bodyPr lIns="0" rIns="0"/>
              <a:lstStyle/>
              <a:p>
                <a:pPr marL="0" indent="0">
                  <a:spcBef>
                    <a:spcPct val="20000"/>
                  </a:spcBef>
                </a:pPr>
                <a:r>
                  <a:rPr lang="en-US" altLang="en-US" dirty="0"/>
                  <a:t>An exponential regression model has the formula:</a:t>
                </a:r>
              </a:p>
              <a:p>
                <a:pPr marL="0" indent="0">
                  <a:spcBef>
                    <a:spcPct val="20000"/>
                  </a:spcBef>
                </a:pPr>
                <a:endParaRPr lang="en-US" altLang="en-US" dirty="0"/>
              </a:p>
              <a:p>
                <a:pPr marL="0" indent="0">
                  <a:spcBef>
                    <a:spcPct val="20000"/>
                  </a:spcBef>
                </a:pPr>
                <a:endParaRPr lang="en-US" altLang="en-US" dirty="0"/>
              </a:p>
              <a:p>
                <a:pPr marL="0" indent="0">
                  <a:spcBef>
                    <a:spcPct val="20000"/>
                  </a:spcBef>
                </a:pPr>
                <a:endParaRPr lang="en-US" altLang="en-US" dirty="0"/>
              </a:p>
              <a:p>
                <a:pPr lvl="1"/>
                <a:r>
                  <a:rPr lang="en-US" altLang="en-US" dirty="0"/>
                  <a:t>For the mean </a:t>
                </a:r>
                <a14:m>
                  <m:oMath xmlns:m="http://schemas.openxmlformats.org/officeDocument/2006/math">
                    <m:sSub>
                      <m:sSubPr>
                        <m:ctrlPr>
                          <a:rPr lang="en-US" altLang="en-US" i="1" smtClean="0">
                            <a:latin typeface="Cambria Math" panose="02040503050406030204" pitchFamily="18" charset="0"/>
                          </a:rPr>
                        </m:ctrlPr>
                      </m:sSubPr>
                      <m:e>
                        <m:r>
                          <m:rPr>
                            <m:sty m:val="p"/>
                          </m:rPr>
                          <a:rPr lang="en-US" altLang="en-US" i="0" smtClean="0">
                            <a:latin typeface="Cambria Math" panose="02040503050406030204" pitchFamily="18" charset="0"/>
                            <a:ea typeface="Cambria Math" panose="02040503050406030204" pitchFamily="18" charset="0"/>
                          </a:rPr>
                          <m:t>μ</m:t>
                        </m:r>
                      </m:e>
                      <m:sub>
                        <m:r>
                          <a:rPr lang="en-US" altLang="en-US" b="0" i="1" smtClean="0">
                            <a:latin typeface="Cambria Math" panose="02040503050406030204" pitchFamily="18" charset="0"/>
                          </a:rPr>
                          <m:t>𝑦</m:t>
                        </m:r>
                      </m:sub>
                    </m:sSub>
                  </m:oMath>
                </a14:m>
                <a:r>
                  <a:rPr lang="en-US" altLang="en-US" dirty="0"/>
                  <a:t> of </a:t>
                </a:r>
                <a:r>
                  <a:rPr lang="en-US" altLang="en-US" i="1" dirty="0">
                    <a:latin typeface="+mj-lt"/>
                  </a:rPr>
                  <a:t>y</a:t>
                </a:r>
                <a:r>
                  <a:rPr lang="en-US" altLang="en-US" dirty="0"/>
                  <a:t> at a given value of </a:t>
                </a:r>
                <a:r>
                  <a:rPr lang="en-US" altLang="en-US" i="1" dirty="0">
                    <a:latin typeface="+mj-lt"/>
                  </a:rPr>
                  <a:t>x</a:t>
                </a:r>
                <a:r>
                  <a:rPr lang="en-US" altLang="en-US" dirty="0"/>
                  <a:t>,</a:t>
                </a:r>
              </a:p>
              <a:p>
                <a:pPr lvl="1">
                  <a:buFont typeface="Wingdings" panose="05000000000000000000" pitchFamily="2" charset="2"/>
                  <a:buNone/>
                </a:pPr>
                <a:r>
                  <a:rPr lang="en-US" altLang="en-US" dirty="0"/>
                  <a:t>	where </a:t>
                </a:r>
                <a:r>
                  <a:rPr lang="en-US" altLang="en-US" dirty="0">
                    <a:sym typeface="Symbol" panose="05050102010706020507" pitchFamily="18" charset="2"/>
                  </a:rPr>
                  <a:t></a:t>
                </a:r>
                <a:r>
                  <a:rPr lang="en-US" altLang="en-US" dirty="0"/>
                  <a:t> and </a:t>
                </a:r>
                <a:r>
                  <a:rPr lang="en-US" altLang="en-US" dirty="0">
                    <a:sym typeface="Symbol" panose="05050102010706020507" pitchFamily="18" charset="2"/>
                  </a:rPr>
                  <a:t> </a:t>
                </a:r>
                <a:r>
                  <a:rPr lang="en-US" altLang="en-US" dirty="0"/>
                  <a:t>are parameters.</a:t>
                </a:r>
                <a:endParaRPr lang="el-GR" altLang="en-US" dirty="0"/>
              </a:p>
            </p:txBody>
          </p:sp>
        </mc:Choice>
        <mc:Fallback xmlns="">
          <p:sp>
            <p:nvSpPr>
              <p:cNvPr id="135170" name="Rectangle 3"/>
              <p:cNvSpPr>
                <a:spLocks noGrp="1" noRot="1" noChangeAspect="1" noMove="1" noResize="1" noEditPoints="1" noAdjustHandles="1" noChangeArrowheads="1" noChangeShapeType="1" noTextEdit="1"/>
              </p:cNvSpPr>
              <p:nvPr>
                <p:ph type="body" sz="half" idx="4294967295"/>
              </p:nvPr>
            </p:nvSpPr>
            <p:spPr bwMode="auto">
              <a:xfrm>
                <a:off x="685800" y="1600200"/>
                <a:ext cx="7445375" cy="4511675"/>
              </a:xfrm>
              <a:prstGeom prst="rect">
                <a:avLst/>
              </a:prstGeom>
              <a:blipFill>
                <a:blip r:embed="rId3" cstate="print"/>
                <a:stretch>
                  <a:fillRect l="-2539" t="-946"/>
                </a:stretch>
              </a:blipFill>
              <a:extLst>
                <a:ext uri="{91240B29-F687-4F45-9708-019B960494DF}">
                  <a14:hiddenLine xmlns=""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35172" name="Rectangle 2"/>
          <p:cNvSpPr>
            <a:spLocks noGrp="1" noChangeArrowheads="1"/>
          </p:cNvSpPr>
          <p:nvPr>
            <p:ph type="title" idx="4294967295"/>
          </p:nvPr>
        </p:nvSpPr>
        <p:spPr bwMode="auto">
          <a:xfrm>
            <a:off x="762000" y="165100"/>
            <a:ext cx="8153400" cy="71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Exponential Regression Model</a:t>
            </a:r>
          </a:p>
        </p:txBody>
      </p:sp>
      <p:graphicFrame>
        <p:nvGraphicFramePr>
          <p:cNvPr id="2" name="Object 1"/>
          <p:cNvGraphicFramePr>
            <a:graphicFrameLocks noChangeAspect="1"/>
          </p:cNvGraphicFramePr>
          <p:nvPr/>
        </p:nvGraphicFramePr>
        <p:xfrm>
          <a:off x="3722687" y="2263140"/>
          <a:ext cx="1371600" cy="508000"/>
        </p:xfrm>
        <a:graphic>
          <a:graphicData uri="http://schemas.openxmlformats.org/presentationml/2006/ole">
            <mc:AlternateContent xmlns:mc="http://schemas.openxmlformats.org/markup-compatibility/2006">
              <mc:Choice xmlns:v="urn:schemas-microsoft-com:vml" Requires="v">
                <p:oleObj name="Equation" r:id="rId4" imgW="1371600" imgH="507960" progId="Equation.DSMT4">
                  <p:embed/>
                </p:oleObj>
              </mc:Choice>
              <mc:Fallback>
                <p:oleObj name="Equation" r:id="rId4" imgW="1371600" imgH="507960" progId="Equation.DSMT4">
                  <p:embed/>
                  <p:pic>
                    <p:nvPicPr>
                      <p:cNvPr id="2"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22687" y="2263140"/>
                        <a:ext cx="1371600"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6194" name="Rectangle 3"/>
              <p:cNvSpPr>
                <a:spLocks noGrp="1" noChangeArrowheads="1"/>
              </p:cNvSpPr>
              <p:nvPr>
                <p:ph type="body" idx="4294967295"/>
              </p:nvPr>
            </p:nvSpPr>
            <p:spPr bwMode="auto">
              <a:xfrm>
                <a:off x="685800" y="1600200"/>
                <a:ext cx="7753350" cy="4511675"/>
              </a:xfrm>
              <a:prstGeom prst="rect">
                <a:avLst/>
              </a:prstGeom>
              <a:solidFill>
                <a:srgbClr val="FFFFFF"/>
              </a:solidFill>
              <a:extLst>
                <a:ext uri="{91240B29-F687-4F45-9708-019B960494DF}">
                  <a14:hiddenLine w="9525">
                    <a:solidFill>
                      <a:srgbClr val="000000"/>
                    </a:solidFill>
                    <a:miter lim="800000"/>
                    <a:headEnd/>
                    <a:tailEnd/>
                  </a14:hiddenLine>
                </a:ext>
              </a:extLst>
            </p:spPr>
            <p:txBody>
              <a:bodyPr lIns="0" rIns="0"/>
              <a:lstStyle/>
              <a:p>
                <a:pPr marL="0" indent="0">
                  <a:spcBef>
                    <a:spcPct val="20000"/>
                  </a:spcBef>
                </a:pPr>
                <a:r>
                  <a:rPr lang="en-US" altLang="en-US" dirty="0"/>
                  <a:t>In the exponential regression equation, the explanatory variable </a:t>
                </a:r>
                <a:r>
                  <a:rPr lang="en-US" altLang="en-US" i="1" dirty="0">
                    <a:latin typeface="+mj-lt"/>
                  </a:rPr>
                  <a:t>x</a:t>
                </a:r>
                <a:r>
                  <a:rPr lang="en-US" altLang="en-US" dirty="0"/>
                  <a:t> appears as the exponent of a parameter.</a:t>
                </a:r>
              </a:p>
              <a:p>
                <a:pPr marL="0" indent="0">
                  <a:spcBef>
                    <a:spcPct val="20000"/>
                  </a:spcBef>
                </a:pPr>
                <a:endParaRPr lang="en-US" altLang="en-US" dirty="0"/>
              </a:p>
              <a:p>
                <a:pPr marL="0" indent="0">
                  <a:spcBef>
                    <a:spcPct val="20000"/>
                  </a:spcBef>
                </a:pPr>
                <a:r>
                  <a:rPr lang="en-US" altLang="en-US" dirty="0"/>
                  <a:t>The mean </a:t>
                </a:r>
                <a14:m>
                  <m:oMath xmlns:m="http://schemas.openxmlformats.org/officeDocument/2006/math">
                    <m:sSub>
                      <m:sSubPr>
                        <m:ctrlPr>
                          <a:rPr lang="en-US" altLang="en-US" i="1">
                            <a:latin typeface="Cambria Math" panose="02040503050406030204" pitchFamily="18" charset="0"/>
                          </a:rPr>
                        </m:ctrlPr>
                      </m:sSubPr>
                      <m:e>
                        <m:r>
                          <m:rPr>
                            <m:sty m:val="p"/>
                          </m:rPr>
                          <a:rPr lang="en-US" altLang="en-US" i="0">
                            <a:latin typeface="Cambria Math" panose="02040503050406030204" pitchFamily="18" charset="0"/>
                            <a:ea typeface="Cambria Math" panose="02040503050406030204" pitchFamily="18" charset="0"/>
                          </a:rPr>
                          <m:t>μ</m:t>
                        </m:r>
                      </m:e>
                      <m:sub>
                        <m:r>
                          <a:rPr lang="en-US" altLang="en-US" i="1">
                            <a:latin typeface="Cambria Math" panose="02040503050406030204" pitchFamily="18" charset="0"/>
                          </a:rPr>
                          <m:t>𝑦</m:t>
                        </m:r>
                      </m:sub>
                    </m:sSub>
                  </m:oMath>
                </a14:m>
                <a:r>
                  <a:rPr lang="en-US" altLang="en-US" dirty="0"/>
                  <a:t> and the parameter </a:t>
                </a:r>
                <a:r>
                  <a:rPr lang="en-US" altLang="en-US" dirty="0">
                    <a:sym typeface="Symbol" panose="05050102010706020507" pitchFamily="18" charset="2"/>
                  </a:rPr>
                  <a:t></a:t>
                </a:r>
                <a:r>
                  <a:rPr lang="en-US" altLang="en-US" dirty="0"/>
                  <a:t> can take only positive values.</a:t>
                </a:r>
              </a:p>
            </p:txBody>
          </p:sp>
        </mc:Choice>
        <mc:Fallback xmlns="">
          <p:sp>
            <p:nvSpPr>
              <p:cNvPr id="136194" name="Rectangle 3"/>
              <p:cNvSpPr>
                <a:spLocks noGrp="1" noRot="1" noChangeAspect="1" noMove="1" noResize="1" noEditPoints="1" noAdjustHandles="1" noChangeArrowheads="1" noChangeShapeType="1" noTextEdit="1"/>
              </p:cNvSpPr>
              <p:nvPr>
                <p:ph type="body" idx="4294967295"/>
              </p:nvPr>
            </p:nvSpPr>
            <p:spPr bwMode="auto">
              <a:xfrm>
                <a:off x="685800" y="1600200"/>
                <a:ext cx="7753350" cy="4511675"/>
              </a:xfrm>
              <a:prstGeom prst="rect">
                <a:avLst/>
              </a:prstGeom>
              <a:blipFill>
                <a:blip r:embed="rId2" cstate="print"/>
                <a:stretch>
                  <a:fillRect l="-2439" t="-946" r="-1652"/>
                </a:stretch>
              </a:blipFill>
              <a:extLst>
                <a:ext uri="{91240B29-F687-4F45-9708-019B960494DF}">
                  <a14:hiddenLine xmlns=""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36195" name="Rectangle 2"/>
          <p:cNvSpPr>
            <a:spLocks noChangeArrowheads="1"/>
          </p:cNvSpPr>
          <p:nvPr/>
        </p:nvSpPr>
        <p:spPr bwMode="auto">
          <a:xfrm>
            <a:off x="762000" y="165100"/>
            <a:ext cx="8153400" cy="71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eaLnBrk="0" hangingPunct="0"/>
            <a:r>
              <a:rPr lang="en-US" altLang="en-US" sz="3200">
                <a:solidFill>
                  <a:schemeClr val="tx1"/>
                </a:solidFill>
                <a:latin typeface="Arial" panose="020B0604020202020204" pitchFamily="34" charset="0"/>
              </a:rPr>
              <a:t>Exponential Regression Model</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7228" name="Picture 17" descr="Agresti_3e_Chapter12-4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65263" y="2590800"/>
            <a:ext cx="5926137" cy="309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137218" name="Rectangle 4"/>
              <p:cNvSpPr>
                <a:spLocks noChangeArrowheads="1"/>
              </p:cNvSpPr>
              <p:nvPr/>
            </p:nvSpPr>
            <p:spPr bwMode="auto">
              <a:xfrm>
                <a:off x="685800" y="1600200"/>
                <a:ext cx="7461504" cy="93821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lIns="0" rIns="0"/>
              <a:lstStyle>
                <a:lvl1pPr marL="342900" indent="-342900" eaLnBrk="0" hangingPunct="0">
                  <a:defRPr sz="2400">
                    <a:solidFill>
                      <a:schemeClr val="bg1"/>
                    </a:solidFill>
                    <a:latin typeface="Times New Roman" panose="02020603050405020304" pitchFamily="18" charset="0"/>
                    <a:ea typeface="Microsoft YaHei" panose="020B0503020204020204" pitchFamily="34" charset="-122"/>
                  </a:defRPr>
                </a:lvl1pPr>
                <a:lvl2pPr eaLnBrk="0" hangingPunct="0">
                  <a:defRPr sz="2400">
                    <a:solidFill>
                      <a:schemeClr val="bg1"/>
                    </a:solidFill>
                    <a:latin typeface="Times New Roman" panose="02020603050405020304" pitchFamily="18" charset="0"/>
                    <a:ea typeface="Microsoft YaHei" panose="020B0503020204020204" pitchFamily="34" charset="-122"/>
                  </a:defRPr>
                </a:lvl2pPr>
                <a:lvl3pPr eaLnBrk="0" hangingPunct="0">
                  <a:defRPr sz="2400">
                    <a:solidFill>
                      <a:schemeClr val="bg1"/>
                    </a:solidFill>
                    <a:latin typeface="Times New Roman" panose="02020603050405020304" pitchFamily="18" charset="0"/>
                    <a:ea typeface="Microsoft YaHei" panose="020B0503020204020204" pitchFamily="34" charset="-122"/>
                  </a:defRPr>
                </a:lvl3pPr>
                <a:lvl4pPr eaLnBrk="0" hangingPunct="0">
                  <a:defRPr sz="2400">
                    <a:solidFill>
                      <a:schemeClr val="bg1"/>
                    </a:solidFill>
                    <a:latin typeface="Times New Roman" panose="02020603050405020304" pitchFamily="18" charset="0"/>
                    <a:ea typeface="Microsoft YaHei" panose="020B0503020204020204" pitchFamily="34" charset="-122"/>
                  </a:defRPr>
                </a:lvl4pPr>
                <a:lvl5pPr eaLnBrk="0" hangingPunct="0">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icrosoft YaHei" panose="020B0503020204020204" pitchFamily="34" charset="-122"/>
                  </a:defRPr>
                </a:lvl9pPr>
              </a:lstStyle>
              <a:p>
                <a:pPr>
                  <a:spcBef>
                    <a:spcPct val="20000"/>
                  </a:spcBef>
                  <a:buFont typeface="Wingdings" panose="05000000000000000000" pitchFamily="2" charset="2"/>
                  <a:buChar char="§"/>
                </a:pPr>
                <a:r>
                  <a:rPr lang="en-US" altLang="en-US" b="0" dirty="0">
                    <a:solidFill>
                      <a:srgbClr val="000000"/>
                    </a:solidFill>
                    <a:latin typeface="Arial" panose="020B0604020202020204" pitchFamily="34" charset="0"/>
                  </a:rPr>
                  <a:t>As </a:t>
                </a:r>
                <a:r>
                  <a:rPr lang="en-US" altLang="en-US" b="0" i="1" dirty="0">
                    <a:solidFill>
                      <a:srgbClr val="000000"/>
                    </a:solidFill>
                    <a:latin typeface="+mj-lt"/>
                  </a:rPr>
                  <a:t>x</a:t>
                </a:r>
                <a:r>
                  <a:rPr lang="en-US" altLang="en-US" b="0" dirty="0">
                    <a:solidFill>
                      <a:srgbClr val="000000"/>
                    </a:solidFill>
                    <a:latin typeface="Arial" panose="020B0604020202020204" pitchFamily="34" charset="0"/>
                  </a:rPr>
                  <a:t> increases, the mean</a:t>
                </a:r>
                <a:r>
                  <a:rPr lang="en-US" altLang="en-US" b="0" dirty="0">
                    <a:solidFill>
                      <a:schemeClr val="tx1"/>
                    </a:solidFill>
                    <a:latin typeface="Arial" panose="020B0604020202020204" pitchFamily="34" charset="0"/>
                  </a:rPr>
                  <a:t> </a:t>
                </a:r>
                <a14:m>
                  <m:oMath xmlns:m="http://schemas.openxmlformats.org/officeDocument/2006/math">
                    <m:r>
                      <m:rPr>
                        <m:sty m:val="p"/>
                      </m:rPr>
                      <a:rPr lang="en-US" altLang="en-US" b="0" i="0" smtClean="0">
                        <a:solidFill>
                          <a:schemeClr val="tx1"/>
                        </a:solidFill>
                        <a:latin typeface="Cambria Math" panose="02040503050406030204" pitchFamily="18" charset="0"/>
                        <a:ea typeface="Cambria Math" panose="02040503050406030204" pitchFamily="18" charset="0"/>
                      </a:rPr>
                      <m:t>μ</m:t>
                    </m:r>
                    <m:r>
                      <a:rPr lang="en-US" altLang="en-US" b="0" i="1" baseline="-25000" smtClean="0">
                        <a:solidFill>
                          <a:schemeClr val="tx1"/>
                        </a:solidFill>
                        <a:latin typeface="Cambria Math" panose="02040503050406030204" pitchFamily="18" charset="0"/>
                        <a:ea typeface="Cambria Math" panose="02040503050406030204" pitchFamily="18" charset="0"/>
                      </a:rPr>
                      <m:t>𝑦</m:t>
                    </m:r>
                  </m:oMath>
                </a14:m>
                <a:r>
                  <a:rPr lang="en-US" altLang="en-US" b="0" dirty="0">
                    <a:solidFill>
                      <a:schemeClr val="tx1"/>
                    </a:solidFill>
                  </a:rPr>
                  <a:t> </a:t>
                </a:r>
                <a:r>
                  <a:rPr lang="en-US" altLang="en-US" b="0" dirty="0">
                    <a:solidFill>
                      <a:srgbClr val="000000"/>
                    </a:solidFill>
                    <a:latin typeface="Arial" panose="020B0604020202020204" pitchFamily="34" charset="0"/>
                  </a:rPr>
                  <a:t>increases when </a:t>
                </a:r>
                <a14:m>
                  <m:oMath xmlns:m="http://schemas.openxmlformats.org/officeDocument/2006/math">
                    <m:r>
                      <m:rPr>
                        <m:sty m:val="p"/>
                      </m:rPr>
                      <a:rPr lang="en-US" altLang="en-US" b="0" i="0" smtClean="0">
                        <a:solidFill>
                          <a:srgbClr val="000000"/>
                        </a:solidFill>
                        <a:latin typeface="Cambria Math" panose="02040503050406030204" pitchFamily="18" charset="0"/>
                        <a:ea typeface="Cambria Math" panose="02040503050406030204" pitchFamily="18" charset="0"/>
                      </a:rPr>
                      <m:t>β</m:t>
                    </m:r>
                    <m:r>
                      <a:rPr lang="en-US" altLang="en-US" b="0" i="1" smtClean="0">
                        <a:solidFill>
                          <a:srgbClr val="000000"/>
                        </a:solidFill>
                        <a:latin typeface="Cambria Math" panose="02040503050406030204" pitchFamily="18" charset="0"/>
                        <a:ea typeface="Cambria Math" panose="02040503050406030204" pitchFamily="18" charset="0"/>
                      </a:rPr>
                      <m:t>&gt;1.</m:t>
                    </m:r>
                  </m:oMath>
                </a14:m>
                <a:r>
                  <a:rPr lang="en-US" altLang="en-US" b="0" dirty="0">
                    <a:solidFill>
                      <a:srgbClr val="000000"/>
                    </a:solidFill>
                    <a:latin typeface="Arial" panose="020B0604020202020204" pitchFamily="34" charset="0"/>
                  </a:rPr>
                  <a:t>  </a:t>
                </a:r>
              </a:p>
              <a:p>
                <a:pPr>
                  <a:spcBef>
                    <a:spcPct val="20000"/>
                  </a:spcBef>
                  <a:buFont typeface="Wingdings" panose="05000000000000000000" pitchFamily="2" charset="2"/>
                  <a:buChar char="§"/>
                </a:pPr>
                <a:r>
                  <a:rPr lang="en-US" altLang="en-US" b="0" dirty="0">
                    <a:solidFill>
                      <a:srgbClr val="000000"/>
                    </a:solidFill>
                    <a:latin typeface="Arial" panose="020B0604020202020204" pitchFamily="34" charset="0"/>
                  </a:rPr>
                  <a:t>It continually decreases when </a:t>
                </a:r>
                <a14:m>
                  <m:oMath xmlns:m="http://schemas.openxmlformats.org/officeDocument/2006/math">
                    <m:r>
                      <a:rPr lang="en-US" altLang="en-US" b="0" i="1" smtClean="0">
                        <a:solidFill>
                          <a:srgbClr val="000000"/>
                        </a:solidFill>
                        <a:latin typeface="Cambria Math" panose="02040503050406030204" pitchFamily="18" charset="0"/>
                      </a:rPr>
                      <m:t>0&lt;</m:t>
                    </m:r>
                    <m:r>
                      <m:rPr>
                        <m:sty m:val="p"/>
                      </m:rPr>
                      <a:rPr lang="en-US" altLang="en-US" b="0" i="0" smtClean="0">
                        <a:solidFill>
                          <a:srgbClr val="000000"/>
                        </a:solidFill>
                        <a:latin typeface="Cambria Math" panose="02040503050406030204" pitchFamily="18" charset="0"/>
                        <a:ea typeface="Cambria Math" panose="02040503050406030204" pitchFamily="18" charset="0"/>
                      </a:rPr>
                      <m:t>β</m:t>
                    </m:r>
                    <m:r>
                      <a:rPr lang="en-US" altLang="en-US" b="0" i="1" smtClean="0">
                        <a:solidFill>
                          <a:srgbClr val="000000"/>
                        </a:solidFill>
                        <a:latin typeface="Cambria Math" panose="02040503050406030204" pitchFamily="18" charset="0"/>
                        <a:ea typeface="Cambria Math" panose="02040503050406030204" pitchFamily="18" charset="0"/>
                      </a:rPr>
                      <m:t>&lt;1.</m:t>
                    </m:r>
                  </m:oMath>
                </a14:m>
                <a:r>
                  <a:rPr lang="en-US" altLang="en-US" b="0" dirty="0">
                    <a:solidFill>
                      <a:srgbClr val="000000"/>
                    </a:solidFill>
                    <a:latin typeface="Arial" panose="020B0604020202020204" pitchFamily="34" charset="0"/>
                  </a:rPr>
                  <a:t> </a:t>
                </a:r>
                <a:endParaRPr lang="el-GR" altLang="en-US" b="0" dirty="0">
                  <a:solidFill>
                    <a:srgbClr val="000000"/>
                  </a:solidFill>
                  <a:latin typeface="Arial" panose="020B0604020202020204" pitchFamily="34" charset="0"/>
                </a:endParaRPr>
              </a:p>
            </p:txBody>
          </p:sp>
        </mc:Choice>
        <mc:Fallback xmlns="">
          <p:sp>
            <p:nvSpPr>
              <p:cNvPr id="137218" name="Rectangle 4"/>
              <p:cNvSpPr>
                <a:spLocks noRot="1" noChangeAspect="1" noMove="1" noResize="1" noEditPoints="1" noAdjustHandles="1" noChangeArrowheads="1" noChangeShapeType="1" noTextEdit="1"/>
              </p:cNvSpPr>
              <p:nvPr/>
            </p:nvSpPr>
            <p:spPr bwMode="auto">
              <a:xfrm>
                <a:off x="685800" y="1600200"/>
                <a:ext cx="7461504" cy="938213"/>
              </a:xfrm>
              <a:prstGeom prst="rect">
                <a:avLst/>
              </a:prstGeom>
              <a:blipFill>
                <a:blip r:embed="rId4" cstate="print"/>
                <a:stretch>
                  <a:fillRect l="-2369" t="-5229" b="-11111"/>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7219" name="TextBox 1"/>
              <p:cNvSpPr txBox="1">
                <a:spLocks noChangeArrowheads="1"/>
              </p:cNvSpPr>
              <p:nvPr/>
            </p:nvSpPr>
            <p:spPr bwMode="auto">
              <a:xfrm>
                <a:off x="304800" y="5816600"/>
                <a:ext cx="8534400" cy="58102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p>
                <a:r>
                  <a:rPr lang="en-US" altLang="en-US" sz="1600" dirty="0">
                    <a:solidFill>
                      <a:schemeClr val="tx1"/>
                    </a:solidFill>
                    <a:latin typeface="Arial" panose="020B0604020202020204" pitchFamily="34" charset="0"/>
                  </a:rPr>
                  <a:t>Figure 12.11 The Exponential Regression Curve for                .  Question: </a:t>
                </a:r>
                <a:r>
                  <a:rPr lang="en-US" altLang="en-US" sz="1600" b="0" dirty="0">
                    <a:solidFill>
                      <a:schemeClr val="tx1"/>
                    </a:solidFill>
                    <a:latin typeface="Arial" panose="020B0604020202020204" pitchFamily="34" charset="0"/>
                  </a:rPr>
                  <a:t>Why does </a:t>
                </a:r>
                <a14:m>
                  <m:oMath xmlns:m="http://schemas.openxmlformats.org/officeDocument/2006/math">
                    <m:r>
                      <m:rPr>
                        <m:sty m:val="p"/>
                      </m:rPr>
                      <a:rPr lang="en-US" altLang="en-US" sz="1600" b="0" i="0" smtClean="0">
                        <a:solidFill>
                          <a:schemeClr val="tx1"/>
                        </a:solidFill>
                        <a:latin typeface="Cambria Math" panose="02040503050406030204" pitchFamily="18" charset="0"/>
                        <a:ea typeface="Cambria Math" panose="02040503050406030204" pitchFamily="18" charset="0"/>
                      </a:rPr>
                      <m:t>μ</m:t>
                    </m:r>
                    <m:r>
                      <a:rPr lang="en-US" altLang="en-US" sz="1600" b="0" i="1" baseline="-25000" smtClean="0">
                        <a:solidFill>
                          <a:schemeClr val="tx1"/>
                        </a:solidFill>
                        <a:latin typeface="Cambria Math" panose="02040503050406030204" pitchFamily="18" charset="0"/>
                        <a:ea typeface="Cambria Math" panose="02040503050406030204" pitchFamily="18" charset="0"/>
                      </a:rPr>
                      <m:t>𝑦</m:t>
                    </m:r>
                  </m:oMath>
                </a14:m>
                <a:r>
                  <a:rPr lang="en-US" altLang="en-US" sz="1600" b="0" dirty="0">
                    <a:solidFill>
                      <a:schemeClr val="tx1"/>
                    </a:solidFill>
                    <a:latin typeface="Arial" panose="020B0604020202020204" pitchFamily="34" charset="0"/>
                  </a:rPr>
                  <a:t>  decrease if </a:t>
                </a:r>
                <a14:m>
                  <m:oMath xmlns:m="http://schemas.openxmlformats.org/officeDocument/2006/math">
                    <m:r>
                      <m:rPr>
                        <m:sty m:val="p"/>
                      </m:rPr>
                      <a:rPr lang="en-US" altLang="en-US" sz="1600" b="0" i="0" smtClean="0">
                        <a:solidFill>
                          <a:schemeClr val="tx1"/>
                        </a:solidFill>
                        <a:latin typeface="Cambria Math" panose="02040503050406030204" pitchFamily="18" charset="0"/>
                        <a:ea typeface="Cambria Math" panose="02040503050406030204" pitchFamily="18" charset="0"/>
                      </a:rPr>
                      <m:t>β</m:t>
                    </m:r>
                    <m:r>
                      <a:rPr lang="en-US" altLang="en-US" sz="1600" b="0" i="1" smtClean="0">
                        <a:solidFill>
                          <a:schemeClr val="tx1"/>
                        </a:solidFill>
                        <a:latin typeface="Cambria Math" panose="02040503050406030204" pitchFamily="18" charset="0"/>
                        <a:ea typeface="Cambria Math" panose="02040503050406030204" pitchFamily="18" charset="0"/>
                      </a:rPr>
                      <m:t>=0.5</m:t>
                    </m:r>
                  </m:oMath>
                </a14:m>
                <a:r>
                  <a:rPr lang="en-US" altLang="en-US" sz="1600" b="0" dirty="0">
                    <a:solidFill>
                      <a:schemeClr val="tx1"/>
                    </a:solidFill>
                    <a:latin typeface="Arial" panose="020B0604020202020204" pitchFamily="34" charset="0"/>
                  </a:rPr>
                  <a:t>, even though </a:t>
                </a:r>
                <a14:m>
                  <m:oMath xmlns:m="http://schemas.openxmlformats.org/officeDocument/2006/math">
                    <m:r>
                      <m:rPr>
                        <m:sty m:val="p"/>
                      </m:rPr>
                      <a:rPr lang="en-US" altLang="en-US" sz="1600" b="0" i="0" smtClean="0">
                        <a:solidFill>
                          <a:schemeClr val="tx1"/>
                        </a:solidFill>
                        <a:latin typeface="Cambria Math" panose="02040503050406030204" pitchFamily="18" charset="0"/>
                        <a:ea typeface="Cambria Math" panose="02040503050406030204" pitchFamily="18" charset="0"/>
                      </a:rPr>
                      <m:t>β</m:t>
                    </m:r>
                    <m:r>
                      <a:rPr lang="en-US" altLang="en-US" sz="1600" b="0" i="1" smtClean="0">
                        <a:solidFill>
                          <a:schemeClr val="tx1"/>
                        </a:solidFill>
                        <a:latin typeface="Cambria Math" panose="02040503050406030204" pitchFamily="18" charset="0"/>
                        <a:ea typeface="Cambria Math" panose="02040503050406030204" pitchFamily="18" charset="0"/>
                      </a:rPr>
                      <m:t>&gt;0</m:t>
                    </m:r>
                  </m:oMath>
                </a14:m>
                <a:r>
                  <a:rPr lang="en-US" altLang="en-US" sz="1600" b="0" dirty="0">
                    <a:solidFill>
                      <a:schemeClr val="tx1"/>
                    </a:solidFill>
                    <a:latin typeface="Arial" panose="020B0604020202020204" pitchFamily="34" charset="0"/>
                  </a:rPr>
                  <a:t>?</a:t>
                </a:r>
              </a:p>
            </p:txBody>
          </p:sp>
        </mc:Choice>
        <mc:Fallback xmlns="">
          <p:sp>
            <p:nvSpPr>
              <p:cNvPr id="137219" name="TextBox 1"/>
              <p:cNvSpPr txBox="1">
                <a:spLocks noRot="1" noChangeAspect="1" noMove="1" noResize="1" noEditPoints="1" noAdjustHandles="1" noChangeArrowheads="1" noChangeShapeType="1" noTextEdit="1"/>
              </p:cNvSpPr>
              <p:nvPr/>
            </p:nvSpPr>
            <p:spPr bwMode="auto">
              <a:xfrm>
                <a:off x="304800" y="5816600"/>
                <a:ext cx="8534400" cy="581025"/>
              </a:xfrm>
              <a:prstGeom prst="rect">
                <a:avLst/>
              </a:prstGeom>
              <a:blipFill>
                <a:blip r:embed="rId5" cstate="print"/>
                <a:stretch>
                  <a:fillRect l="-357" t="-3158" b="-13684"/>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37220" name="Rectangle 2"/>
          <p:cNvSpPr>
            <a:spLocks noChangeArrowheads="1"/>
          </p:cNvSpPr>
          <p:nvPr/>
        </p:nvSpPr>
        <p:spPr bwMode="auto">
          <a:xfrm>
            <a:off x="762000" y="165100"/>
            <a:ext cx="8153400" cy="71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eaLnBrk="0" hangingPunct="0"/>
            <a:r>
              <a:rPr lang="en-US" altLang="en-US" sz="3200">
                <a:solidFill>
                  <a:schemeClr val="tx1"/>
                </a:solidFill>
                <a:latin typeface="Arial" panose="020B0604020202020204" pitchFamily="34" charset="0"/>
              </a:rPr>
              <a:t>Exponential Regression Model</a:t>
            </a:r>
          </a:p>
        </p:txBody>
      </p:sp>
      <p:graphicFrame>
        <p:nvGraphicFramePr>
          <p:cNvPr id="137224" name="Object 13"/>
          <p:cNvGraphicFramePr>
            <a:graphicFrameLocks noChangeAspect="1"/>
          </p:cNvGraphicFramePr>
          <p:nvPr/>
        </p:nvGraphicFramePr>
        <p:xfrm>
          <a:off x="5373688" y="5816600"/>
          <a:ext cx="809625" cy="323850"/>
        </p:xfrm>
        <a:graphic>
          <a:graphicData uri="http://schemas.openxmlformats.org/presentationml/2006/ole">
            <mc:AlternateContent xmlns:mc="http://schemas.openxmlformats.org/markup-compatibility/2006">
              <mc:Choice xmlns:v="urn:schemas-microsoft-com:vml" Requires="v">
                <p:oleObj name="Equation" r:id="rId6" imgW="1371600" imgH="545760" progId="Equation.DSMT4">
                  <p:embed/>
                </p:oleObj>
              </mc:Choice>
              <mc:Fallback>
                <p:oleObj name="Equation" r:id="rId6" imgW="1371600" imgH="545760" progId="Equation.DSMT4">
                  <p:embed/>
                  <p:pic>
                    <p:nvPicPr>
                      <p:cNvPr id="137224" name="Object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73688" y="5816600"/>
                        <a:ext cx="809625" cy="32385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3"/>
          <p:cNvSpPr>
            <a:spLocks noGrp="1" noChangeArrowheads="1"/>
          </p:cNvSpPr>
          <p:nvPr>
            <p:ph type="body" idx="4294967295"/>
          </p:nvPr>
        </p:nvSpPr>
        <p:spPr bwMode="auto">
          <a:xfrm>
            <a:off x="763524" y="1600200"/>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a:spcBef>
                <a:spcPct val="20000"/>
              </a:spcBef>
            </a:pPr>
            <a:r>
              <a:rPr lang="en-US" altLang="en-US" dirty="0"/>
              <a:t>For exponential regression, the logarithm of the mean is </a:t>
            </a:r>
          </a:p>
          <a:p>
            <a:pPr>
              <a:spcBef>
                <a:spcPct val="20000"/>
              </a:spcBef>
            </a:pPr>
            <a:r>
              <a:rPr lang="en-US" altLang="en-US" dirty="0"/>
              <a:t>a linear function of </a:t>
            </a:r>
            <a:r>
              <a:rPr lang="en-US" altLang="en-US" i="1" dirty="0">
                <a:latin typeface="+mj-lt"/>
              </a:rPr>
              <a:t>x</a:t>
            </a:r>
            <a:r>
              <a:rPr lang="en-US" altLang="en-US" i="1" dirty="0"/>
              <a:t>.</a:t>
            </a:r>
          </a:p>
          <a:p>
            <a:pPr>
              <a:spcBef>
                <a:spcPct val="20000"/>
              </a:spcBef>
            </a:pPr>
            <a:endParaRPr lang="en-US" altLang="en-US" i="1" dirty="0"/>
          </a:p>
          <a:p>
            <a:pPr>
              <a:spcBef>
                <a:spcPct val="20000"/>
              </a:spcBef>
            </a:pPr>
            <a:r>
              <a:rPr lang="en-US" altLang="en-US" dirty="0"/>
              <a:t>When the exponential regression model holds, a plot of </a:t>
            </a:r>
          </a:p>
          <a:p>
            <a:pPr>
              <a:spcBef>
                <a:spcPct val="20000"/>
              </a:spcBef>
            </a:pPr>
            <a:r>
              <a:rPr lang="en-US" altLang="en-US" dirty="0"/>
              <a:t>the log of the </a:t>
            </a:r>
            <a:r>
              <a:rPr lang="en-US" altLang="en-US" i="1" dirty="0">
                <a:latin typeface="+mj-lt"/>
              </a:rPr>
              <a:t>y</a:t>
            </a:r>
            <a:r>
              <a:rPr lang="en-US" altLang="en-US" dirty="0"/>
              <a:t> values versus </a:t>
            </a:r>
            <a:r>
              <a:rPr lang="en-US" altLang="en-US" i="1" dirty="0">
                <a:latin typeface="+mj-lt"/>
              </a:rPr>
              <a:t>x</a:t>
            </a:r>
            <a:r>
              <a:rPr lang="en-US" altLang="en-US" dirty="0"/>
              <a:t> should show an </a:t>
            </a:r>
          </a:p>
          <a:p>
            <a:pPr>
              <a:spcBef>
                <a:spcPct val="20000"/>
              </a:spcBef>
            </a:pPr>
            <a:r>
              <a:rPr lang="en-US" altLang="en-US" dirty="0"/>
              <a:t>approximate straight-line relation with </a:t>
            </a:r>
            <a:r>
              <a:rPr lang="en-US" altLang="en-US" i="1" dirty="0">
                <a:latin typeface="+mj-lt"/>
              </a:rPr>
              <a:t>x</a:t>
            </a:r>
            <a:r>
              <a:rPr lang="en-US" altLang="en-US" i="1" dirty="0"/>
              <a:t>.</a:t>
            </a:r>
          </a:p>
        </p:txBody>
      </p:sp>
      <p:sp>
        <p:nvSpPr>
          <p:cNvPr id="138243" name="Rectangle 2"/>
          <p:cNvSpPr>
            <a:spLocks noChangeArrowheads="1"/>
          </p:cNvSpPr>
          <p:nvPr/>
        </p:nvSpPr>
        <p:spPr bwMode="auto">
          <a:xfrm>
            <a:off x="762000" y="165100"/>
            <a:ext cx="8153400" cy="71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eaLnBrk="0" hangingPunct="0"/>
            <a:r>
              <a:rPr lang="en-US" altLang="en-US" sz="3200">
                <a:solidFill>
                  <a:schemeClr val="tx1"/>
                </a:solidFill>
                <a:latin typeface="Arial" panose="020B0604020202020204" pitchFamily="34" charset="0"/>
              </a:rPr>
              <a:t>Exponential Regression Model</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idx="4294967295"/>
          </p:nvPr>
        </p:nvSpPr>
        <p:spPr bwMode="auto">
          <a:xfrm>
            <a:off x="695325" y="31750"/>
            <a:ext cx="8229600" cy="1143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sz="3300" b="1" dirty="0">
                <a:latin typeface="Arial" panose="020B0604020202020204" pitchFamily="34" charset="0"/>
              </a:rPr>
              <a:t>Example: Moore’s Law</a:t>
            </a:r>
          </a:p>
        </p:txBody>
      </p:sp>
      <p:sp>
        <p:nvSpPr>
          <p:cNvPr id="139267" name="TextBox 1"/>
          <p:cNvSpPr txBox="1">
            <a:spLocks noChangeArrowheads="1"/>
          </p:cNvSpPr>
          <p:nvPr/>
        </p:nvSpPr>
        <p:spPr bwMode="auto">
          <a:xfrm>
            <a:off x="996696" y="4905756"/>
            <a:ext cx="71628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1600" dirty="0">
                <a:solidFill>
                  <a:schemeClr val="tx1"/>
                </a:solidFill>
                <a:latin typeface="+mj-lt"/>
                <a:ea typeface="Segoe UI Historic" panose="020B0502040204020203" pitchFamily="34" charset="0"/>
                <a:cs typeface="Segoe UI Historic" panose="020B0502040204020203" pitchFamily="34" charset="0"/>
              </a:rPr>
              <a:t>Table 12.7 Number of Components Per Square Inch on Microchips Produced Between 1959 and 1965</a:t>
            </a:r>
            <a:endParaRPr lang="en-US" altLang="en-US" sz="1100" dirty="0">
              <a:solidFill>
                <a:schemeClr val="tx1"/>
              </a:solidFill>
              <a:latin typeface="+mj-lt"/>
              <a:ea typeface="Segoe UI Historic" panose="020B0502040204020203" pitchFamily="34" charset="0"/>
              <a:cs typeface="Segoe UI Historic" panose="020B0502040204020203" pitchFamily="34" charset="0"/>
            </a:endParaRP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5325" y="1719072"/>
            <a:ext cx="7816459" cy="2875788"/>
          </a:xfrm>
          <a:prstGeom prst="rect">
            <a:avLst/>
          </a:prstGeom>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TextBox 1"/>
          <p:cNvSpPr txBox="1">
            <a:spLocks noChangeArrowheads="1"/>
          </p:cNvSpPr>
          <p:nvPr/>
        </p:nvSpPr>
        <p:spPr bwMode="auto">
          <a:xfrm>
            <a:off x="685800" y="4517136"/>
            <a:ext cx="82296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1600" dirty="0">
                <a:solidFill>
                  <a:schemeClr val="tx1"/>
                </a:solidFill>
                <a:latin typeface="+mn-lt"/>
              </a:rPr>
              <a:t>Figure 12.12 Plot of Number of Components on a Microchip Over the Years.</a:t>
            </a:r>
          </a:p>
          <a:p>
            <a:r>
              <a:rPr lang="en-US" sz="1600" b="0" dirty="0">
                <a:solidFill>
                  <a:schemeClr val="tx1"/>
                </a:solidFill>
                <a:latin typeface="+mn-lt"/>
              </a:rPr>
              <a:t>The first graph shows the data from Table 12.7 for the years 1959 to 1965 and overlays</a:t>
            </a:r>
          </a:p>
          <a:p>
            <a:r>
              <a:rPr lang="en-US" sz="1600" b="0" dirty="0">
                <a:solidFill>
                  <a:schemeClr val="tx1"/>
                </a:solidFill>
                <a:latin typeface="+mn-lt"/>
              </a:rPr>
              <a:t>the prediction curve from an exponential regression model. The second graph shows the</a:t>
            </a:r>
          </a:p>
          <a:p>
            <a:r>
              <a:rPr lang="en-US" sz="1600" b="0" dirty="0">
                <a:solidFill>
                  <a:schemeClr val="tx1"/>
                </a:solidFill>
                <a:latin typeface="+mn-lt"/>
              </a:rPr>
              <a:t>same data but now displays what would happen if the exponential trend would continue</a:t>
            </a:r>
          </a:p>
          <a:p>
            <a:r>
              <a:rPr lang="en-US" sz="1600" b="0" dirty="0">
                <a:solidFill>
                  <a:schemeClr val="tx1"/>
                </a:solidFill>
                <a:latin typeface="+mn-lt"/>
              </a:rPr>
              <a:t>for 10 years after 1965, to 1975. The circles for 1970 and 1975 shown in the plot are</a:t>
            </a:r>
          </a:p>
          <a:p>
            <a:r>
              <a:rPr lang="en-US" sz="1600" b="0" dirty="0">
                <a:solidFill>
                  <a:schemeClr val="tx1"/>
                </a:solidFill>
                <a:latin typeface="+mn-lt"/>
              </a:rPr>
              <a:t>predictions beyond the observed range of the data.</a:t>
            </a:r>
            <a:endParaRPr lang="en-US" altLang="en-US" sz="1100" b="0" dirty="0">
              <a:solidFill>
                <a:schemeClr val="tx1"/>
              </a:solidFill>
              <a:latin typeface="+mn-lt"/>
            </a:endParaRPr>
          </a:p>
        </p:txBody>
      </p:sp>
      <p:sp>
        <p:nvSpPr>
          <p:cNvPr id="140291" name="Rectangle 2"/>
          <p:cNvSpPr>
            <a:spLocks noChangeArrowheads="1"/>
          </p:cNvSpPr>
          <p:nvPr/>
        </p:nvSpPr>
        <p:spPr bwMode="auto">
          <a:xfrm>
            <a:off x="685800" y="31750"/>
            <a:ext cx="7924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eaLnBrk="0" hangingPunct="0"/>
            <a:r>
              <a:rPr lang="en-US" altLang="en-US" sz="3300" dirty="0">
                <a:solidFill>
                  <a:schemeClr val="tx1"/>
                </a:solidFill>
                <a:latin typeface="Arial" panose="020B0604020202020204" pitchFamily="34" charset="0"/>
              </a:rPr>
              <a:t>Example: Moore’s Law</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5548" y="1485900"/>
            <a:ext cx="8547126" cy="2845972"/>
          </a:xfrm>
          <a:prstGeom prst="rect">
            <a:avLst/>
          </a:prstGeom>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2338" name="Rectangle 2"/>
              <p:cNvSpPr>
                <a:spLocks noGrp="1" noChangeArrowheads="1"/>
              </p:cNvSpPr>
              <p:nvPr>
                <p:ph type="body" sz="half" idx="4294967295"/>
              </p:nvPr>
            </p:nvSpPr>
            <p:spPr bwMode="auto">
              <a:xfrm>
                <a:off x="763524" y="1600200"/>
                <a:ext cx="7677150" cy="4511675"/>
              </a:xfrm>
              <a:prstGeom prst="rect">
                <a:avLst/>
              </a:prstGeom>
              <a:solidFill>
                <a:srgbClr val="FFFFFF"/>
              </a:solidFill>
              <a:extLst>
                <a:ext uri="{91240B29-F687-4F45-9708-019B960494DF}">
                  <a14:hiddenLine w="9525">
                    <a:solidFill>
                      <a:srgbClr val="000000"/>
                    </a:solidFill>
                    <a:miter lim="800000"/>
                    <a:headEnd/>
                    <a:tailEnd/>
                  </a14:hiddenLine>
                </a:ext>
              </a:extLst>
            </p:spPr>
            <p:txBody>
              <a:bodyPr lIns="0" rIns="0"/>
              <a:lstStyle/>
              <a:p>
                <a:pPr marL="0" indent="0"/>
                <a:r>
                  <a:rPr lang="en-US" dirty="0"/>
                  <a:t>Let </a:t>
                </a:r>
                <a:r>
                  <a:rPr lang="en-US" i="1" dirty="0"/>
                  <a:t>x </a:t>
                </a:r>
                <a:r>
                  <a:rPr lang="en-US" dirty="0"/>
                  <a:t>denote the years since the invention of the microchip in 1959 (</a:t>
                </a:r>
                <a:r>
                  <a:rPr lang="en-US" i="1" dirty="0">
                    <a:latin typeface="+mj-lt"/>
                  </a:rPr>
                  <a:t>x</a:t>
                </a:r>
                <a:r>
                  <a:rPr lang="en-US" i="1" dirty="0"/>
                  <a:t> </a:t>
                </a:r>
                <a:r>
                  <a:rPr lang="en-US" dirty="0"/>
                  <a:t>= 0 for 1959, </a:t>
                </a:r>
                <a:r>
                  <a:rPr lang="en-US" i="1" dirty="0">
                    <a:latin typeface="+mj-lt"/>
                  </a:rPr>
                  <a:t>x</a:t>
                </a:r>
                <a:r>
                  <a:rPr lang="en-US" i="1" dirty="0"/>
                  <a:t> </a:t>
                </a:r>
                <a:r>
                  <a:rPr lang="en-US" dirty="0"/>
                  <a:t>= 3 for 1962, </a:t>
                </a:r>
                <a:r>
                  <a:rPr lang="en-US" i="1" dirty="0">
                    <a:latin typeface="+mj-lt"/>
                  </a:rPr>
                  <a:t>x</a:t>
                </a:r>
                <a:r>
                  <a:rPr lang="en-US" i="1" dirty="0"/>
                  <a:t> </a:t>
                </a:r>
                <a:r>
                  <a:rPr lang="en-US" dirty="0"/>
                  <a:t>= 4 for 1964, etc.) and let </a:t>
                </a:r>
                <a:r>
                  <a:rPr lang="en-US" i="1" dirty="0">
                    <a:latin typeface="+mj-lt"/>
                  </a:rPr>
                  <a:t>y</a:t>
                </a:r>
                <a:r>
                  <a:rPr lang="en-US" i="1" dirty="0"/>
                  <a:t> </a:t>
                </a:r>
                <a:r>
                  <a:rPr lang="en-US" dirty="0"/>
                  <a:t>be the number of components on a chip </a:t>
                </a:r>
                <a:r>
                  <a:rPr lang="en-US" i="1" dirty="0">
                    <a:latin typeface="+mj-lt"/>
                  </a:rPr>
                  <a:t>x</a:t>
                </a:r>
                <a:r>
                  <a:rPr lang="en-US" i="1" dirty="0"/>
                  <a:t> </a:t>
                </a:r>
                <a:r>
                  <a:rPr lang="en-US" dirty="0"/>
                  <a:t>years after the invention of the first chip. </a:t>
                </a:r>
              </a:p>
              <a:p>
                <a:pPr marL="0" indent="0"/>
                <a:r>
                  <a:rPr lang="en-US" dirty="0"/>
                  <a:t>Using software to fit the exponential regression model for the mean of </a:t>
                </a:r>
                <a:r>
                  <a:rPr lang="en-US" i="1" dirty="0">
                    <a:latin typeface="+mj-lt"/>
                  </a:rPr>
                  <a:t>y</a:t>
                </a:r>
                <a:r>
                  <a:rPr lang="en-US" dirty="0"/>
                  <a:t>, we obtain</a:t>
                </a:r>
              </a:p>
              <a:p>
                <a:pPr marL="0" indent="0"/>
                <a:endParaRPr lang="en-US" dirty="0"/>
              </a:p>
              <a:p>
                <a:pPr marL="0" indent="0" algn="ctr">
                  <a:buNone/>
                </a:pPr>
                <a:r>
                  <a:rPr lang="cy-GB" dirty="0">
                    <a:latin typeface="Times New Roman" panose="02020603050405020304" pitchFamily="18" charset="0"/>
                    <a:cs typeface="Times New Roman" panose="02020603050405020304" pitchFamily="18" charset="0"/>
                  </a:rPr>
                  <a:t>ŷ</a:t>
                </a:r>
                <a:r>
                  <a:rPr lang="en-US" dirty="0">
                    <a:latin typeface="Times New Roman" panose="02020603050405020304" pitchFamily="18" charset="0"/>
                    <a:cs typeface="Times New Roman" panose="02020603050405020304" pitchFamily="18" charset="0"/>
                  </a:rPr>
                  <a:t> = 0.973 </a:t>
                </a:r>
                <a14:m>
                  <m:oMath xmlns:m="http://schemas.openxmlformats.org/officeDocument/2006/math">
                    <m:r>
                      <a:rPr lang="en-US" i="1" smtClean="0">
                        <a:latin typeface="Cambria Math" panose="02040503050406030204" pitchFamily="18" charset="0"/>
                        <a:ea typeface="Cambria Math" panose="02040503050406030204" pitchFamily="18" charset="0"/>
                        <a:cs typeface="Times New Roman" panose="02020603050405020304" pitchFamily="18" charset="0"/>
                      </a:rPr>
                      <m:t>×</m:t>
                    </m:r>
                    <m:r>
                      <a:rPr lang="en-US" b="0" i="1" smtClean="0">
                        <a:latin typeface="Cambria Math" panose="02040503050406030204" pitchFamily="18" charset="0"/>
                        <a:ea typeface="Cambria Math" panose="02040503050406030204" pitchFamily="18" charset="0"/>
                        <a:cs typeface="Times New Roman" panose="02020603050405020304" pitchFamily="18" charset="0"/>
                      </a:rPr>
                      <m:t> </m:t>
                    </m:r>
                  </m:oMath>
                </a14:m>
                <a:r>
                  <a:rPr lang="en-US" dirty="0">
                    <a:latin typeface="Times New Roman" panose="02020603050405020304" pitchFamily="18" charset="0"/>
                    <a:cs typeface="Times New Roman" panose="02020603050405020304" pitchFamily="18" charset="0"/>
                  </a:rPr>
                  <a:t>2.006</a:t>
                </a:r>
                <a:r>
                  <a:rPr lang="en-US" i="1" baseline="30000" dirty="0">
                    <a:latin typeface="Times New Roman" panose="02020603050405020304" pitchFamily="18" charset="0"/>
                    <a:cs typeface="Times New Roman" panose="02020603050405020304" pitchFamily="18" charset="0"/>
                  </a:rPr>
                  <a:t>x</a:t>
                </a:r>
                <a:r>
                  <a:rPr lang="en-US" dirty="0"/>
                  <a:t>.</a:t>
                </a:r>
                <a:endParaRPr lang="en-US" i="1" baseline="30000" dirty="0"/>
              </a:p>
            </p:txBody>
          </p:sp>
        </mc:Choice>
        <mc:Fallback xmlns="">
          <p:sp>
            <p:nvSpPr>
              <p:cNvPr id="142338" name="Rectangle 2"/>
              <p:cNvSpPr>
                <a:spLocks noGrp="1" noRot="1" noChangeAspect="1" noMove="1" noResize="1" noEditPoints="1" noAdjustHandles="1" noChangeArrowheads="1" noChangeShapeType="1" noTextEdit="1"/>
              </p:cNvSpPr>
              <p:nvPr>
                <p:ph type="body" sz="half" idx="4294967295"/>
              </p:nvPr>
            </p:nvSpPr>
            <p:spPr bwMode="auto">
              <a:xfrm>
                <a:off x="763524" y="1600200"/>
                <a:ext cx="7677150" cy="4511675"/>
              </a:xfrm>
              <a:prstGeom prst="rect">
                <a:avLst/>
              </a:prstGeom>
              <a:blipFill>
                <a:blip r:embed="rId2"/>
                <a:stretch>
                  <a:fillRect l="-2778" t="-2297" r="-952"/>
                </a:stretch>
              </a:blipFill>
              <a:extLs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42340" name="Rectangle 2"/>
          <p:cNvSpPr>
            <a:spLocks noChangeArrowheads="1"/>
          </p:cNvSpPr>
          <p:nvPr/>
        </p:nvSpPr>
        <p:spPr bwMode="auto">
          <a:xfrm>
            <a:off x="685800" y="31750"/>
            <a:ext cx="7924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eaLnBrk="0" hangingPunct="0"/>
            <a:r>
              <a:rPr lang="en-US" altLang="en-US" sz="3300" dirty="0">
                <a:solidFill>
                  <a:schemeClr val="tx1"/>
                </a:solidFill>
                <a:latin typeface="Arial" panose="020B0604020202020204" pitchFamily="34" charset="0"/>
              </a:rPr>
              <a:t>Example: Moore’s Law</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idx="4294967295"/>
          </p:nvPr>
        </p:nvSpPr>
        <p:spPr bwMode="auto">
          <a:xfrm>
            <a:off x="685800" y="76200"/>
            <a:ext cx="8305800" cy="10668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noAutofit/>
          </a:bodyPr>
          <a:lstStyle/>
          <a:p>
            <a:r>
              <a:rPr lang="en-US" altLang="en-US" sz="3200" b="1" dirty="0">
                <a:latin typeface="Arial" panose="020B0604020202020204" pitchFamily="34" charset="0"/>
              </a:rPr>
              <a:t>Interpreting Exponential Regression Models</a:t>
            </a:r>
          </a:p>
        </p:txBody>
      </p:sp>
      <p:sp>
        <p:nvSpPr>
          <p:cNvPr id="143363" name="Rectangle 3"/>
          <p:cNvSpPr>
            <a:spLocks noGrp="1" noChangeArrowheads="1"/>
          </p:cNvSpPr>
          <p:nvPr>
            <p:ph type="body" sz="half" idx="4294967295"/>
          </p:nvPr>
        </p:nvSpPr>
        <p:spPr bwMode="auto">
          <a:xfrm>
            <a:off x="763524" y="1600200"/>
            <a:ext cx="76009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spcBef>
                <a:spcPct val="20000"/>
              </a:spcBef>
              <a:buClr>
                <a:srgbClr val="000000"/>
              </a:buClr>
            </a:pPr>
            <a:r>
              <a:rPr lang="en-US" altLang="en-US" dirty="0">
                <a:solidFill>
                  <a:schemeClr val="tx1"/>
                </a:solidFill>
              </a:rPr>
              <a:t>In the exponential regression model, </a:t>
            </a:r>
          </a:p>
          <a:p>
            <a:pPr marL="0" indent="0">
              <a:spcBef>
                <a:spcPct val="20000"/>
              </a:spcBef>
              <a:buClr>
                <a:srgbClr val="000000"/>
              </a:buClr>
            </a:pPr>
            <a:endParaRPr lang="en-US" altLang="en-US" dirty="0">
              <a:solidFill>
                <a:schemeClr val="tx1"/>
              </a:solidFill>
            </a:endParaRPr>
          </a:p>
          <a:p>
            <a:pPr marL="0" indent="0">
              <a:spcBef>
                <a:spcPct val="20000"/>
              </a:spcBef>
              <a:buClr>
                <a:srgbClr val="000000"/>
              </a:buClr>
            </a:pPr>
            <a:endParaRPr lang="en-US" altLang="en-US" dirty="0">
              <a:solidFill>
                <a:schemeClr val="tx1"/>
              </a:solidFill>
            </a:endParaRPr>
          </a:p>
          <a:p>
            <a:pPr marL="0" indent="0">
              <a:spcBef>
                <a:spcPct val="20000"/>
              </a:spcBef>
              <a:buClr>
                <a:srgbClr val="000000"/>
              </a:buClr>
            </a:pPr>
            <a:endParaRPr lang="en-US" altLang="en-US" dirty="0">
              <a:solidFill>
                <a:schemeClr val="tx1"/>
              </a:solidFill>
            </a:endParaRPr>
          </a:p>
          <a:p>
            <a:pPr marL="571500" lvl="1">
              <a:spcBef>
                <a:spcPct val="20000"/>
              </a:spcBef>
              <a:buClr>
                <a:srgbClr val="000000"/>
              </a:buClr>
            </a:pPr>
            <a:r>
              <a:rPr lang="en-US" altLang="en-US" dirty="0">
                <a:solidFill>
                  <a:schemeClr val="tx1"/>
                </a:solidFill>
              </a:rPr>
              <a:t>the parameter </a:t>
            </a:r>
            <a:r>
              <a:rPr lang="en-US" altLang="en-US" dirty="0">
                <a:solidFill>
                  <a:schemeClr val="tx1"/>
                </a:solidFill>
                <a:sym typeface="Symbol" panose="05050102010706020507" pitchFamily="18" charset="2"/>
              </a:rPr>
              <a:t></a:t>
            </a:r>
            <a:r>
              <a:rPr lang="en-US" altLang="en-US" dirty="0">
                <a:solidFill>
                  <a:schemeClr val="tx1"/>
                </a:solidFill>
              </a:rPr>
              <a:t> represents the mean value of </a:t>
            </a:r>
            <a:r>
              <a:rPr lang="en-US" altLang="en-US" i="1" dirty="0">
                <a:solidFill>
                  <a:schemeClr val="tx1"/>
                </a:solidFill>
                <a:latin typeface="+mj-lt"/>
              </a:rPr>
              <a:t>y</a:t>
            </a:r>
            <a:r>
              <a:rPr lang="en-US" altLang="en-US" dirty="0">
                <a:solidFill>
                  <a:schemeClr val="tx1"/>
                </a:solidFill>
              </a:rPr>
              <a:t> when </a:t>
            </a:r>
            <a:r>
              <a:rPr lang="en-US" altLang="en-US" i="1" dirty="0">
                <a:solidFill>
                  <a:schemeClr val="tx1"/>
                </a:solidFill>
                <a:latin typeface="+mj-lt"/>
              </a:rPr>
              <a:t>x</a:t>
            </a:r>
            <a:r>
              <a:rPr lang="en-US" altLang="en-US" dirty="0">
                <a:solidFill>
                  <a:schemeClr val="tx1"/>
                </a:solidFill>
              </a:rPr>
              <a:t> = 0;</a:t>
            </a:r>
          </a:p>
          <a:p>
            <a:pPr marL="571500" lvl="1">
              <a:spcBef>
                <a:spcPct val="20000"/>
              </a:spcBef>
              <a:buClr>
                <a:srgbClr val="000000"/>
              </a:buClr>
            </a:pPr>
            <a:endParaRPr lang="en-US" altLang="en-US" dirty="0">
              <a:solidFill>
                <a:schemeClr val="tx1"/>
              </a:solidFill>
            </a:endParaRPr>
          </a:p>
          <a:p>
            <a:pPr marL="571500" lvl="1">
              <a:spcBef>
                <a:spcPct val="20000"/>
              </a:spcBef>
              <a:buClr>
                <a:srgbClr val="000000"/>
              </a:buClr>
            </a:pPr>
            <a:r>
              <a:rPr lang="en-US" altLang="en-US" dirty="0">
                <a:solidFill>
                  <a:schemeClr val="tx1"/>
                </a:solidFill>
              </a:rPr>
              <a:t>the parameter </a:t>
            </a:r>
            <a:r>
              <a:rPr lang="en-US" altLang="en-US" dirty="0">
                <a:solidFill>
                  <a:schemeClr val="tx1"/>
                </a:solidFill>
                <a:sym typeface="Symbol" panose="05050102010706020507" pitchFamily="18" charset="2"/>
              </a:rPr>
              <a:t></a:t>
            </a:r>
            <a:r>
              <a:rPr lang="en-US" altLang="en-US" dirty="0">
                <a:solidFill>
                  <a:schemeClr val="tx1"/>
                </a:solidFill>
              </a:rPr>
              <a:t> represents the multiplicative effect on the mean of </a:t>
            </a:r>
            <a:r>
              <a:rPr lang="en-US" altLang="en-US" i="1" dirty="0">
                <a:solidFill>
                  <a:schemeClr val="tx1"/>
                </a:solidFill>
                <a:latin typeface="+mj-lt"/>
              </a:rPr>
              <a:t>y</a:t>
            </a:r>
            <a:r>
              <a:rPr lang="en-US" altLang="en-US" dirty="0">
                <a:solidFill>
                  <a:schemeClr val="tx1"/>
                </a:solidFill>
              </a:rPr>
              <a:t> for a one-unit increase in </a:t>
            </a:r>
            <a:r>
              <a:rPr lang="en-US" altLang="en-US" i="1" dirty="0">
                <a:solidFill>
                  <a:schemeClr val="tx1"/>
                </a:solidFill>
                <a:latin typeface="+mj-lt"/>
              </a:rPr>
              <a:t>x</a:t>
            </a:r>
            <a:r>
              <a:rPr lang="en-US" altLang="en-US" dirty="0">
                <a:solidFill>
                  <a:schemeClr val="tx1"/>
                </a:solidFill>
              </a:rPr>
              <a:t>.</a:t>
            </a:r>
          </a:p>
        </p:txBody>
      </p:sp>
      <p:graphicFrame>
        <p:nvGraphicFramePr>
          <p:cNvPr id="2" name="Object 1"/>
          <p:cNvGraphicFramePr>
            <a:graphicFrameLocks noChangeAspect="1"/>
          </p:cNvGraphicFramePr>
          <p:nvPr/>
        </p:nvGraphicFramePr>
        <p:xfrm>
          <a:off x="3794760" y="2263140"/>
          <a:ext cx="1295400" cy="508000"/>
        </p:xfrm>
        <a:graphic>
          <a:graphicData uri="http://schemas.openxmlformats.org/presentationml/2006/ole">
            <mc:AlternateContent xmlns:mc="http://schemas.openxmlformats.org/markup-compatibility/2006">
              <mc:Choice xmlns:v="urn:schemas-microsoft-com:vml" Requires="v">
                <p:oleObj name="Equation" r:id="rId2" imgW="1295280" imgH="507960" progId="Equation.DSMT4">
                  <p:embed/>
                </p:oleObj>
              </mc:Choice>
              <mc:Fallback>
                <p:oleObj name="Equation" r:id="rId2" imgW="1295280" imgH="507960" progId="Equation.DSMT4">
                  <p:embed/>
                  <p:pic>
                    <p:nvPicPr>
                      <p:cNvPr id="2"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4760" y="2263140"/>
                        <a:ext cx="1295400"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4386" name="Rectangle 3"/>
              <p:cNvSpPr>
                <a:spLocks noGrp="1" noChangeArrowheads="1"/>
              </p:cNvSpPr>
              <p:nvPr>
                <p:ph type="body" sz="half" idx="4294967295"/>
              </p:nvPr>
            </p:nvSpPr>
            <p:spPr bwMode="auto">
              <a:xfrm>
                <a:off x="763524" y="1563624"/>
                <a:ext cx="7753350" cy="4511675"/>
              </a:xfrm>
              <a:prstGeom prst="rect">
                <a:avLst/>
              </a:prstGeom>
              <a:solidFill>
                <a:srgbClr val="FFFFFF"/>
              </a:solidFill>
              <a:extLst>
                <a:ext uri="{91240B29-F687-4F45-9708-019B960494DF}">
                  <a14:hiddenLine w="9525">
                    <a:solidFill>
                      <a:srgbClr val="000000"/>
                    </a:solidFill>
                    <a:miter lim="800000"/>
                    <a:headEnd/>
                    <a:tailEnd/>
                  </a14:hiddenLine>
                </a:ext>
              </a:extLst>
            </p:spPr>
            <p:txBody>
              <a:bodyPr lIns="0" rIns="0">
                <a:normAutofit fontScale="92500"/>
              </a:bodyPr>
              <a:lstStyle/>
              <a:p>
                <a:pPr marL="0" indent="0">
                  <a:spcBef>
                    <a:spcPct val="20000"/>
                  </a:spcBef>
                  <a:buClr>
                    <a:srgbClr val="000000"/>
                  </a:buClr>
                  <a:buNone/>
                </a:pPr>
                <a:r>
                  <a:rPr lang="en-US" altLang="en-US" dirty="0">
                    <a:solidFill>
                      <a:schemeClr val="tx1"/>
                    </a:solidFill>
                  </a:rPr>
                  <a:t>In this model: </a:t>
                </a:r>
                <a:r>
                  <a:rPr lang="cy-GB" i="1" dirty="0">
                    <a:latin typeface="Times New Roman" panose="02020603050405020304" pitchFamily="18" charset="0"/>
                    <a:cs typeface="Times New Roman" panose="02020603050405020304" pitchFamily="18" charset="0"/>
                  </a:rPr>
                  <a:t>ŷ</a:t>
                </a:r>
                <a:r>
                  <a:rPr lang="en-US"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0.973 </a:t>
                </a:r>
                <a14:m>
                  <m:oMath xmlns:m="http://schemas.openxmlformats.org/officeDocument/2006/math">
                    <m:r>
                      <a:rPr lang="en-US"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US" dirty="0">
                    <a:latin typeface="Times New Roman" panose="02020603050405020304" pitchFamily="18" charset="0"/>
                    <a:cs typeface="Times New Roman" panose="02020603050405020304" pitchFamily="18" charset="0"/>
                  </a:rPr>
                  <a:t> 2.006</a:t>
                </a:r>
                <a:r>
                  <a:rPr lang="en-US" i="1" baseline="30000" dirty="0">
                    <a:latin typeface="Times New Roman" panose="02020603050405020304" pitchFamily="18" charset="0"/>
                    <a:cs typeface="Times New Roman" panose="02020603050405020304" pitchFamily="18" charset="0"/>
                  </a:rPr>
                  <a:t>x</a:t>
                </a:r>
                <a:endParaRPr lang="en-US" altLang="en-US" dirty="0">
                  <a:solidFill>
                    <a:schemeClr val="tx1"/>
                  </a:solidFill>
                </a:endParaRPr>
              </a:p>
              <a:p>
                <a:pPr marL="0" indent="0">
                  <a:buNone/>
                </a:pPr>
                <a:endParaRPr lang="en-US" dirty="0">
                  <a:solidFill>
                    <a:schemeClr val="tx1"/>
                  </a:solidFill>
                </a:endParaRPr>
              </a:p>
              <a:p>
                <a:pPr marL="0" indent="0">
                  <a:buNone/>
                </a:pPr>
                <a:r>
                  <a:rPr lang="en-US" dirty="0">
                    <a:solidFill>
                      <a:schemeClr val="tx1"/>
                    </a:solidFill>
                  </a:rPr>
                  <a:t>w</a:t>
                </a:r>
                <a:r>
                  <a:rPr lang="en-US" dirty="0"/>
                  <a:t>hat is the predicted number of components in 1975, </a:t>
                </a:r>
                <a:r>
                  <a:rPr lang="en-US" i="1" dirty="0">
                    <a:latin typeface="+mj-lt"/>
                  </a:rPr>
                  <a:t>x</a:t>
                </a:r>
                <a:r>
                  <a:rPr lang="en-US" i="1" dirty="0"/>
                  <a:t> </a:t>
                </a:r>
                <a:r>
                  <a:rPr lang="en-US" dirty="0"/>
                  <a:t>= 16 years after the invention of the first chip and the year for which Moore predicted 65,000 components?</a:t>
                </a:r>
              </a:p>
              <a:p>
                <a:pPr marL="0" indent="0"/>
                <a:endParaRPr lang="en-US" altLang="en-US" baseline="30000" dirty="0">
                  <a:solidFill>
                    <a:schemeClr val="tx1"/>
                  </a:solidFill>
                </a:endParaRPr>
              </a:p>
              <a:p>
                <a:pPr marL="0" indent="0">
                  <a:buNone/>
                </a:pPr>
                <a:r>
                  <a:rPr lang="en-US" dirty="0"/>
                  <a:t>Ten years later, in 1975 and </a:t>
                </a:r>
                <a:r>
                  <a:rPr lang="en-US" i="1" dirty="0">
                    <a:latin typeface="+mj-lt"/>
                  </a:rPr>
                  <a:t>x</a:t>
                </a:r>
                <a:r>
                  <a:rPr lang="en-US" i="1" dirty="0"/>
                  <a:t> </a:t>
                </a:r>
                <a:r>
                  <a:rPr lang="en-US" dirty="0"/>
                  <a:t>= 16 years after the invention of the first chip, we obtain </a:t>
                </a:r>
                <a:r>
                  <a:rPr lang="cy-GB" i="1" dirty="0">
                    <a:latin typeface="Times New Roman" panose="02020603050405020304" pitchFamily="18" charset="0"/>
                    <a:cs typeface="Times New Roman" panose="02020603050405020304" pitchFamily="18" charset="0"/>
                  </a:rPr>
                  <a:t>ŷ</a:t>
                </a:r>
                <a:r>
                  <a:rPr lang="cy-GB" dirty="0">
                    <a:latin typeface="Times New Roman" panose="02020603050405020304" pitchFamily="18" charset="0"/>
                    <a:cs typeface="Times New Roman" panose="02020603050405020304" pitchFamily="18" charset="0"/>
                  </a:rPr>
                  <a:t> </a:t>
                </a:r>
                <a:r>
                  <a:rPr lang="en-US" dirty="0"/>
                  <a:t>= 0.973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2.006</a:t>
                </a:r>
                <a:r>
                  <a:rPr lang="en-US" baseline="30000" dirty="0"/>
                  <a:t>16</a:t>
                </a:r>
                <a:r>
                  <a:rPr lang="en-US" dirty="0"/>
                  <a:t> </a:t>
                </a:r>
                <a:br>
                  <a:rPr lang="en-US" dirty="0"/>
                </a:br>
                <a:r>
                  <a:rPr lang="en-US" dirty="0"/>
                  <a:t>= 66,897 as a prediction for the mean number of components that would fit on a microchip.</a:t>
                </a:r>
                <a:endParaRPr lang="en-US" altLang="en-US" baseline="30000" dirty="0">
                  <a:solidFill>
                    <a:schemeClr val="tx1"/>
                  </a:solidFill>
                </a:endParaRPr>
              </a:p>
            </p:txBody>
          </p:sp>
        </mc:Choice>
        <mc:Fallback xmlns="">
          <p:sp>
            <p:nvSpPr>
              <p:cNvPr id="144386" name="Rectangle 3"/>
              <p:cNvSpPr>
                <a:spLocks noGrp="1" noRot="1" noChangeAspect="1" noMove="1" noResize="1" noEditPoints="1" noAdjustHandles="1" noChangeArrowheads="1" noChangeShapeType="1" noTextEdit="1"/>
              </p:cNvSpPr>
              <p:nvPr>
                <p:ph type="body" sz="half" idx="4294967295"/>
              </p:nvPr>
            </p:nvSpPr>
            <p:spPr bwMode="auto">
              <a:xfrm>
                <a:off x="763524" y="1563624"/>
                <a:ext cx="7753350" cy="4511675"/>
              </a:xfrm>
              <a:prstGeom prst="rect">
                <a:avLst/>
              </a:prstGeom>
              <a:blipFill>
                <a:blip r:embed="rId3"/>
                <a:stretch>
                  <a:fillRect l="-2594" t="-2297" r="-2358"/>
                </a:stretch>
              </a:blipFill>
              <a:extLs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44388" name="Rectangle 2"/>
          <p:cNvSpPr>
            <a:spLocks noChangeArrowheads="1"/>
          </p:cNvSpPr>
          <p:nvPr/>
        </p:nvSpPr>
        <p:spPr bwMode="auto">
          <a:xfrm>
            <a:off x="762000" y="76200"/>
            <a:ext cx="7924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eaLnBrk="0" hangingPunct="0"/>
            <a:r>
              <a:rPr lang="en-US" altLang="en-US" sz="3300" dirty="0">
                <a:solidFill>
                  <a:schemeClr val="tx1"/>
                </a:solidFill>
                <a:latin typeface="Arial" panose="020B0604020202020204" pitchFamily="34" charset="0"/>
              </a:rPr>
              <a:t>Example: Moore’s Law</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USEAMSFONTS" val="Wahr"/>
  <p:tag name="USEBOLDAMS" val="Falsch"/>
  <p:tag name="TEX2PS" val="latex $(base).tex; dvips -D $(res) -E -o $(base).ps $(base).dvi"/>
  <p:tag name="EXTERNALEDITCOMMAND" val="notepad %"/>
  <p:tag name="GHOSTSCRIPTCOMMAND" val="gswin32c"/>
  <p:tag name="DEFAULTBITMAP" val="pngmono"/>
  <p:tag name="DEFAULTBLEND" val="Falsch"/>
  <p:tag name="DEFAULTTRANSPARENT" val="Falsch"/>
  <p:tag name="DEFAULTWORKAROUNDTRANSPARENCYBUG" val="Falsch"/>
  <p:tag name="DEFAULTRESOLUTION" val="1200"/>
  <p:tag name="DEFAULTMAGNIFICATION" val="1,1"/>
  <p:tag name="DEFAULTFONTSIZE" val="10"/>
  <p:tag name="DEFAULTWIDTH" val="348"/>
  <p:tag name="DEFAULTHEIGHT" val="200"/>
  <p:tag name="FIRSTBIEWEN@8SHAIKMFUVWYY577" val="3552"/>
  <p:tag name="FIRSTBIEWEN@LDFYIHPX46WYY57I" val="3573"/>
  <p:tag name="DEFAULTDISPLAYSOURCE" val="\documentclass{slides}\pagestyle{empty}&#10;\begin{document}&#10;&#10;\end{document}&#10;"/>
  <p:tag name="EMBEDFONTS" val="0"/>
  <p:tag name="FIRSTWWGBI01@LDFYIHPX46WYY57I" val="3573"/>
</p:tagLst>
</file>

<file path=ppt/theme/theme1.xml><?xml version="1.0" encoding="utf-8"?>
<a:theme xmlns:a="http://schemas.openxmlformats.org/drawingml/2006/main" name="3_Content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Times New Roman"/>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2400" b="0" i="0" u="none" strike="noStrike" cap="none" normalizeH="0" baseline="0" smtClean="0">
            <a:ln>
              <a:noFill/>
            </a:ln>
            <a:solidFill>
              <a:schemeClr val="bg1"/>
            </a:solidFill>
            <a:effectLst/>
            <a:latin typeface="Times New Roman" pitchFamily="16" charset="0"/>
            <a:ea typeface="Microsoft YaHei"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2400" b="0" i="0" u="none" strike="noStrike" cap="none" normalizeH="0" baseline="0" smtClean="0">
            <a:ln>
              <a:noFill/>
            </a:ln>
            <a:solidFill>
              <a:schemeClr val="bg1"/>
            </a:solidFill>
            <a:effectLst/>
            <a:latin typeface="Times New Roman" pitchFamily="16" charset="0"/>
            <a:ea typeface="Microsoft YaHei" charset="-122"/>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Larissa-Design">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Blends</Template>
  <TotalTime>883</TotalTime>
  <Words>5796</Words>
  <Application>Microsoft Office PowerPoint</Application>
  <PresentationFormat>On-screen Show (4:3)</PresentationFormat>
  <Paragraphs>667</Paragraphs>
  <Slides>109</Slides>
  <Notes>18</Notes>
  <HiddenSlides>0</HiddenSlides>
  <MMClips>0</MMClips>
  <ScaleCrop>false</ScaleCrop>
  <HeadingPairs>
    <vt:vector size="8" baseType="variant">
      <vt:variant>
        <vt:lpstr>Fonts Used</vt:lpstr>
      </vt:variant>
      <vt:variant>
        <vt:i4>11</vt:i4>
      </vt:variant>
      <vt:variant>
        <vt:lpstr>Theme</vt:lpstr>
      </vt:variant>
      <vt:variant>
        <vt:i4>2</vt:i4>
      </vt:variant>
      <vt:variant>
        <vt:lpstr>Embedded OLE Servers</vt:lpstr>
      </vt:variant>
      <vt:variant>
        <vt:i4>1</vt:i4>
      </vt:variant>
      <vt:variant>
        <vt:lpstr>Slide Titles</vt:lpstr>
      </vt:variant>
      <vt:variant>
        <vt:i4>109</vt:i4>
      </vt:variant>
    </vt:vector>
  </HeadingPairs>
  <TitlesOfParts>
    <vt:vector size="123" baseType="lpstr">
      <vt:lpstr>HelveticaNeueLTPro-Hv</vt:lpstr>
      <vt:lpstr>HelveticaNeueLTPro-Md</vt:lpstr>
      <vt:lpstr>新細明體</vt:lpstr>
      <vt:lpstr>Arial</vt:lpstr>
      <vt:lpstr>Calibri</vt:lpstr>
      <vt:lpstr>Calibri Light</vt:lpstr>
      <vt:lpstr>Cambria Math</vt:lpstr>
      <vt:lpstr>Symbol</vt:lpstr>
      <vt:lpstr>Tahoma</vt:lpstr>
      <vt:lpstr>Times New Roman</vt:lpstr>
      <vt:lpstr>Wingdings</vt:lpstr>
      <vt:lpstr>3_Content Theme</vt:lpstr>
      <vt:lpstr>Office Theme</vt:lpstr>
      <vt:lpstr>Equation</vt:lpstr>
      <vt:lpstr>Econ 7900 Statistics for Data Science </vt:lpstr>
      <vt:lpstr>The Nature of Economic Data</vt:lpstr>
      <vt:lpstr>Steps in Econometric Analysis </vt:lpstr>
      <vt:lpstr>Economic model Example 1 </vt:lpstr>
      <vt:lpstr>Economic model Example 2</vt:lpstr>
      <vt:lpstr>Econometric model Example 1</vt:lpstr>
      <vt:lpstr>Econometric model Example 2 </vt:lpstr>
      <vt:lpstr>Economic Data</vt:lpstr>
      <vt:lpstr>Cross-sectional Data </vt:lpstr>
      <vt:lpstr>Example of Cross-sectional Data </vt:lpstr>
      <vt:lpstr>Example of Cross-sectional Data 2</vt:lpstr>
      <vt:lpstr>Time Series Data </vt:lpstr>
      <vt:lpstr>Example of Time Series Data </vt:lpstr>
      <vt:lpstr>Pooled Cross Sections Data </vt:lpstr>
      <vt:lpstr>Example of Pooled Cross Sections  Data </vt:lpstr>
      <vt:lpstr>Panel Data </vt:lpstr>
      <vt:lpstr>Example of Panel Data</vt:lpstr>
      <vt:lpstr>Causality and Ceteris Paribus</vt:lpstr>
      <vt:lpstr>Example of Causality 1 </vt:lpstr>
      <vt:lpstr>Example of Causality 2 </vt:lpstr>
      <vt:lpstr>Example of Causality 3</vt:lpstr>
      <vt:lpstr>Group Project (20%)</vt:lpstr>
      <vt:lpstr>Group Project (20%)</vt:lpstr>
      <vt:lpstr>Grading – Individual Presentation Skills (10%)</vt:lpstr>
      <vt:lpstr>Grading – Team Presentation Content (team 10%)</vt:lpstr>
      <vt:lpstr>What should you include in the final report?</vt:lpstr>
      <vt:lpstr>Past email conversation with the students</vt:lpstr>
      <vt:lpstr>Past email conversation with the students</vt:lpstr>
      <vt:lpstr>What is a scientific method?</vt:lpstr>
      <vt:lpstr>PowerPoint Presentation</vt:lpstr>
      <vt:lpstr>Regression Analysis</vt:lpstr>
      <vt:lpstr>The Scatterplot</vt:lpstr>
      <vt:lpstr>Example: The Strength Study</vt:lpstr>
      <vt:lpstr>PowerPoint Presentation</vt:lpstr>
      <vt:lpstr>PowerPoint Presentation</vt:lpstr>
      <vt:lpstr>PowerPoint Presentation</vt:lpstr>
      <vt:lpstr>Describing the Association in the Scatterplot by the Correlation</vt:lpstr>
      <vt:lpstr>The Regression Line Equation</vt:lpstr>
      <vt:lpstr>Example: Regression Line Predicting Maximum Bench Press</vt:lpstr>
      <vt:lpstr>PowerPoint Presentation</vt:lpstr>
      <vt:lpstr>Outliers</vt:lpstr>
      <vt:lpstr>Influential Points</vt:lpstr>
      <vt:lpstr>Residuals are Prediction Errors</vt:lpstr>
      <vt:lpstr>SUMMARY: Review of Residuals</vt:lpstr>
      <vt:lpstr>PowerPoint Presentation</vt:lpstr>
      <vt:lpstr>Regression Model: A Line Describes How the Mean of y Depends on x</vt:lpstr>
      <vt:lpstr>SUMMARY: The Regression Line</vt:lpstr>
      <vt:lpstr>The Population Regression Equation</vt:lpstr>
      <vt:lpstr>PowerPoint Presentation</vt:lpstr>
      <vt:lpstr>PowerPoint Presentation</vt:lpstr>
      <vt:lpstr>The Regression Model</vt:lpstr>
      <vt:lpstr>PowerPoint Presentation</vt:lpstr>
      <vt:lpstr>The Regression Model Also Allows Variability About the Line</vt:lpstr>
      <vt:lpstr>A Statistical Model </vt:lpstr>
      <vt:lpstr>PowerPoint Presentation</vt:lpstr>
      <vt:lpstr>Assumptions for Regression Analysis</vt:lpstr>
      <vt:lpstr>PowerPoint Presentation</vt:lpstr>
      <vt:lpstr>PowerPoint Presentation</vt:lpstr>
      <vt:lpstr>Testing Independence between Quantitative Variables</vt:lpstr>
      <vt:lpstr>PowerPoint Presentation</vt:lpstr>
      <vt:lpstr>PowerPoint Presentation</vt:lpstr>
      <vt:lpstr>PowerPoint Presentation</vt:lpstr>
      <vt:lpstr>PowerPoint Presentation</vt:lpstr>
      <vt:lpstr>Example: 60-Pound Strength and Bench Presses</vt:lpstr>
      <vt:lpstr>PowerPoint Presentation</vt:lpstr>
      <vt:lpstr>PowerPoint Presentation</vt:lpstr>
      <vt:lpstr>A Confidence Interval Tells Us How Precisely We Can Estimate Slope </vt:lpstr>
      <vt:lpstr>Example: Estimating the Slope for Predicting Maximum Bench Press</vt:lpstr>
      <vt:lpstr>PowerPoint Presentation</vt:lpstr>
      <vt:lpstr>PowerPoint Presentation</vt:lpstr>
      <vt:lpstr>PowerPoint Presentation</vt:lpstr>
      <vt:lpstr>PowerPoint Presentation</vt:lpstr>
      <vt:lpstr>Example: Predicting Strength</vt:lpstr>
      <vt:lpstr>PowerPoint Presentation</vt:lpstr>
      <vt:lpstr>The Squared Correlation</vt:lpstr>
      <vt:lpstr>PowerPoint Presentation</vt:lpstr>
      <vt:lpstr>PowerPoint Presentation</vt:lpstr>
      <vt:lpstr>PowerPoint Presentation</vt:lpstr>
      <vt:lpstr>PowerPoint Presentation</vt:lpstr>
      <vt:lpstr>PowerPoint Presentation</vt:lpstr>
      <vt:lpstr>Example: Strength Study</vt:lpstr>
      <vt:lpstr>The Squared Correlation</vt:lpstr>
      <vt:lpstr>SUMMARY: Correlation r and Its Square r2 </vt:lpstr>
      <vt:lpstr>PowerPoint Presentation</vt:lpstr>
      <vt:lpstr>Histogram of Residuals</vt:lpstr>
      <vt:lpstr>PowerPoint Presentation</vt:lpstr>
      <vt:lpstr>The Residual Standard Deviation</vt:lpstr>
      <vt:lpstr>PowerPoint Presentation</vt:lpstr>
      <vt:lpstr>Confidence Interval for   </vt:lpstr>
      <vt:lpstr>Prediction Interval for y</vt:lpstr>
      <vt:lpstr>Prediction Interval for y vs. Confidence Interval for   </vt:lpstr>
      <vt:lpstr>PowerPoint Presentation</vt:lpstr>
      <vt:lpstr>PowerPoint Presentation</vt:lpstr>
      <vt:lpstr>The Analysis of Variance (ANOVA) Table Summarizes Variability</vt:lpstr>
      <vt:lpstr>The Analysis of Variance (ANOVA) Table Summarizes Variability</vt:lpstr>
      <vt:lpstr>Mean Square and Mean Square Error</vt:lpstr>
      <vt:lpstr>The ANOVA F Statistic Also Tests for an Association</vt:lpstr>
      <vt:lpstr>PowerPoint Presentation</vt:lpstr>
      <vt:lpstr>Nonlinear Regression Models</vt:lpstr>
      <vt:lpstr>Example: Exponential Growth in Population Size</vt:lpstr>
      <vt:lpstr>Exponential Regression Model</vt:lpstr>
      <vt:lpstr>PowerPoint Presentation</vt:lpstr>
      <vt:lpstr>PowerPoint Presentation</vt:lpstr>
      <vt:lpstr>PowerPoint Presentation</vt:lpstr>
      <vt:lpstr>Example: Moore’s Law</vt:lpstr>
      <vt:lpstr>PowerPoint Presentation</vt:lpstr>
      <vt:lpstr>PowerPoint Presentation</vt:lpstr>
      <vt:lpstr>Interpreting Exponential Regression Models</vt:lpstr>
      <vt:lpstr>PowerPoint Presentation</vt:lpstr>
    </vt:vector>
  </TitlesOfParts>
  <Company>Johannes Gutenberg Universität Mainz</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Folie 1</dc:title>
  <dc:creator>Martin Biewen</dc:creator>
  <cp:lastModifiedBy>Kang Hua CAO</cp:lastModifiedBy>
  <cp:revision>493</cp:revision>
  <cp:lastPrinted>2014-09-10T08:11:03Z</cp:lastPrinted>
  <dcterms:created xsi:type="dcterms:W3CDTF">2007-09-04T09:14:36Z</dcterms:created>
  <dcterms:modified xsi:type="dcterms:W3CDTF">2025-10-30T06:38:57Z</dcterms:modified>
</cp:coreProperties>
</file>