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050" r:id="rId1"/>
    <p:sldMasterId id="2147484052" r:id="rId2"/>
    <p:sldMasterId id="2147484110" r:id="rId3"/>
  </p:sldMasterIdLst>
  <p:notesMasterIdLst>
    <p:notesMasterId r:id="rId61"/>
  </p:notesMasterIdLst>
  <p:sldIdLst>
    <p:sldId id="397" r:id="rId4"/>
    <p:sldId id="411" r:id="rId5"/>
    <p:sldId id="412" r:id="rId6"/>
    <p:sldId id="413" r:id="rId7"/>
    <p:sldId id="414" r:id="rId8"/>
    <p:sldId id="415" r:id="rId9"/>
    <p:sldId id="416" r:id="rId10"/>
    <p:sldId id="417" r:id="rId11"/>
    <p:sldId id="419" r:id="rId12"/>
    <p:sldId id="420" r:id="rId13"/>
    <p:sldId id="421" r:id="rId14"/>
    <p:sldId id="422" r:id="rId15"/>
    <p:sldId id="423" r:id="rId16"/>
    <p:sldId id="424" r:id="rId17"/>
    <p:sldId id="425" r:id="rId18"/>
    <p:sldId id="426" r:id="rId19"/>
    <p:sldId id="427" r:id="rId20"/>
    <p:sldId id="428" r:id="rId21"/>
    <p:sldId id="429" r:id="rId22"/>
    <p:sldId id="430" r:id="rId23"/>
    <p:sldId id="431" r:id="rId24"/>
    <p:sldId id="432" r:id="rId25"/>
    <p:sldId id="433" r:id="rId26"/>
    <p:sldId id="434" r:id="rId27"/>
    <p:sldId id="435" r:id="rId28"/>
    <p:sldId id="436" r:id="rId29"/>
    <p:sldId id="437" r:id="rId30"/>
    <p:sldId id="438" r:id="rId31"/>
    <p:sldId id="439" r:id="rId32"/>
    <p:sldId id="441" r:id="rId33"/>
    <p:sldId id="442" r:id="rId34"/>
    <p:sldId id="443" r:id="rId35"/>
    <p:sldId id="444" r:id="rId36"/>
    <p:sldId id="445" r:id="rId37"/>
    <p:sldId id="446" r:id="rId38"/>
    <p:sldId id="447" r:id="rId39"/>
    <p:sldId id="448" r:id="rId40"/>
    <p:sldId id="449" r:id="rId41"/>
    <p:sldId id="450" r:id="rId42"/>
    <p:sldId id="451" r:id="rId43"/>
    <p:sldId id="453" r:id="rId44"/>
    <p:sldId id="454" r:id="rId45"/>
    <p:sldId id="455" r:id="rId46"/>
    <p:sldId id="456" r:id="rId47"/>
    <p:sldId id="458" r:id="rId48"/>
    <p:sldId id="459" r:id="rId49"/>
    <p:sldId id="461" r:id="rId50"/>
    <p:sldId id="462" r:id="rId51"/>
    <p:sldId id="463" r:id="rId52"/>
    <p:sldId id="466" r:id="rId53"/>
    <p:sldId id="467" r:id="rId54"/>
    <p:sldId id="468" r:id="rId55"/>
    <p:sldId id="471" r:id="rId56"/>
    <p:sldId id="472" r:id="rId57"/>
    <p:sldId id="473" r:id="rId58"/>
    <p:sldId id="474" r:id="rId59"/>
    <p:sldId id="470" r:id="rId60"/>
  </p:sldIdLst>
  <p:sldSz cx="9144000" cy="6858000" type="screen4x3"/>
  <p:notesSz cx="6797675" cy="9928225"/>
  <p:defaultTextStyle>
    <a:defPPr>
      <a:defRPr lang="en-GB"/>
    </a:defPPr>
    <a:lvl1pPr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1pPr>
    <a:lvl2pPr marL="742950" indent="-28575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2pPr>
    <a:lvl3pPr marL="11430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3pPr>
    <a:lvl4pPr marL="16002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4pPr>
    <a:lvl5pPr marL="20574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5pPr>
    <a:lvl6pPr marL="22860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6pPr>
    <a:lvl7pPr marL="27432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7pPr>
    <a:lvl8pPr marL="32004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8pPr>
    <a:lvl9pPr marL="36576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495"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076">
          <p15:clr>
            <a:srgbClr val="A4A3A4"/>
          </p15:clr>
        </p15:guide>
        <p15:guide id="2" pos="209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20FB87-0987-44C1-8C50-EF3DF8C772D6}" v="2" dt="2022-09-23T10:45:09.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92" autoAdjust="0"/>
    <p:restoredTop sz="94504" autoAdjust="0"/>
  </p:normalViewPr>
  <p:slideViewPr>
    <p:cSldViewPr>
      <p:cViewPr varScale="1">
        <p:scale>
          <a:sx n="104" d="100"/>
          <a:sy n="104" d="100"/>
        </p:scale>
        <p:origin x="1740" y="102"/>
      </p:cViewPr>
      <p:guideLst>
        <p:guide orient="horz" pos="495"/>
        <p:guide pos="2880"/>
      </p:guideLst>
    </p:cSldViewPr>
  </p:slideViewPr>
  <p:outlineViewPr>
    <p:cViewPr varScale="1">
      <p:scale>
        <a:sx n="170" d="200"/>
        <a:sy n="170" d="200"/>
      </p:scale>
      <p:origin x="0" y="0"/>
    </p:cViewPr>
  </p:outlineViewPr>
  <p:notesTextViewPr>
    <p:cViewPr>
      <p:scale>
        <a:sx n="1" d="1"/>
        <a:sy n="1" d="1"/>
      </p:scale>
      <p:origin x="0" y="0"/>
    </p:cViewPr>
  </p:notesTextViewPr>
  <p:sorterViewPr>
    <p:cViewPr>
      <p:scale>
        <a:sx n="66" d="100"/>
        <a:sy n="66" d="100"/>
      </p:scale>
      <p:origin x="0" y="-2244"/>
    </p:cViewPr>
  </p:sorterViewPr>
  <p:notesViewPr>
    <p:cSldViewPr>
      <p:cViewPr varScale="1">
        <p:scale>
          <a:sx n="59" d="100"/>
          <a:sy n="59" d="100"/>
        </p:scale>
        <p:origin x="-1752" y="-72"/>
      </p:cViewPr>
      <p:guideLst>
        <p:guide orient="horz" pos="3076"/>
        <p:guide pos="2095"/>
      </p:guideLst>
    </p:cSldViewPr>
  </p:notesViewPr>
  <p:gridSpacing cx="77724" cy="77724"/>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microsoft.com/office/2016/11/relationships/changesInfo" Target="changesInfos/changesInfo1.xml"/><Relationship Id="rId5" Type="http://schemas.openxmlformats.org/officeDocument/2006/relationships/slide" Target="slides/slide2.xml"/><Relationship Id="rId61" Type="http://schemas.openxmlformats.org/officeDocument/2006/relationships/notesMaster" Target="notesMasters/notesMaster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microsoft.com/office/2015/10/relationships/revisionInfo" Target="revisionInfo.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g Hua CAO" userId="80a060e7-d5a6-4feb-883e-c28f76a39cea" providerId="ADAL" clId="{6920FB87-0987-44C1-8C50-EF3DF8C772D6}"/>
    <pc:docChg chg="addSld delSld modSld">
      <pc:chgData name="Kang Hua CAO" userId="80a060e7-d5a6-4feb-883e-c28f76a39cea" providerId="ADAL" clId="{6920FB87-0987-44C1-8C50-EF3DF8C772D6}" dt="2022-09-23T10:45:34.163" v="9" actId="5793"/>
      <pc:docMkLst>
        <pc:docMk/>
      </pc:docMkLst>
      <pc:sldChg chg="modSp mod">
        <pc:chgData name="Kang Hua CAO" userId="80a060e7-d5a6-4feb-883e-c28f76a39cea" providerId="ADAL" clId="{6920FB87-0987-44C1-8C50-EF3DF8C772D6}" dt="2022-09-23T10:45:29.075" v="5" actId="5793"/>
        <pc:sldMkLst>
          <pc:docMk/>
          <pc:sldMk cId="0" sldId="459"/>
        </pc:sldMkLst>
        <pc:spChg chg="mod">
          <ac:chgData name="Kang Hua CAO" userId="80a060e7-d5a6-4feb-883e-c28f76a39cea" providerId="ADAL" clId="{6920FB87-0987-44C1-8C50-EF3DF8C772D6}" dt="2022-09-23T10:45:29.075" v="5" actId="5793"/>
          <ac:spMkLst>
            <pc:docMk/>
            <pc:sldMk cId="0" sldId="459"/>
            <ac:spMk id="69634" creationId="{00000000-0000-0000-0000-000000000000}"/>
          </ac:spMkLst>
        </pc:spChg>
      </pc:sldChg>
      <pc:sldChg chg="modSp mod">
        <pc:chgData name="Kang Hua CAO" userId="80a060e7-d5a6-4feb-883e-c28f76a39cea" providerId="ADAL" clId="{6920FB87-0987-44C1-8C50-EF3DF8C772D6}" dt="2022-09-23T10:45:34.163" v="9" actId="5793"/>
        <pc:sldMkLst>
          <pc:docMk/>
          <pc:sldMk cId="0" sldId="461"/>
        </pc:sldMkLst>
        <pc:spChg chg="mod">
          <ac:chgData name="Kang Hua CAO" userId="80a060e7-d5a6-4feb-883e-c28f76a39cea" providerId="ADAL" clId="{6920FB87-0987-44C1-8C50-EF3DF8C772D6}" dt="2022-09-23T10:45:34.163" v="9" actId="5793"/>
          <ac:spMkLst>
            <pc:docMk/>
            <pc:sldMk cId="0" sldId="461"/>
            <ac:spMk id="71682" creationId="{00000000-0000-0000-0000-000000000000}"/>
          </ac:spMkLst>
        </pc:spChg>
      </pc:sldChg>
      <pc:sldChg chg="add">
        <pc:chgData name="Kang Hua CAO" userId="80a060e7-d5a6-4feb-883e-c28f76a39cea" providerId="ADAL" clId="{6920FB87-0987-44C1-8C50-EF3DF8C772D6}" dt="2022-09-23T10:45:09.389" v="2"/>
        <pc:sldMkLst>
          <pc:docMk/>
          <pc:sldMk cId="340212010" sldId="471"/>
        </pc:sldMkLst>
      </pc:sldChg>
      <pc:sldChg chg="modSp del">
        <pc:chgData name="Kang Hua CAO" userId="80a060e7-d5a6-4feb-883e-c28f76a39cea" providerId="ADAL" clId="{6920FB87-0987-44C1-8C50-EF3DF8C772D6}" dt="2022-09-23T10:45:06.053" v="1" actId="2696"/>
        <pc:sldMkLst>
          <pc:docMk/>
          <pc:sldMk cId="622718093" sldId="471"/>
        </pc:sldMkLst>
        <pc:spChg chg="mod">
          <ac:chgData name="Kang Hua CAO" userId="80a060e7-d5a6-4feb-883e-c28f76a39cea" providerId="ADAL" clId="{6920FB87-0987-44C1-8C50-EF3DF8C772D6}" dt="2022-09-23T10:41:09.045" v="0" actId="20577"/>
          <ac:spMkLst>
            <pc:docMk/>
            <pc:sldMk cId="622718093" sldId="471"/>
            <ac:spMk id="3" creationId="{00000000-0000-0000-0000-000000000000}"/>
          </ac:spMkLst>
        </pc:spChg>
      </pc:sldChg>
      <pc:sldChg chg="del">
        <pc:chgData name="Kang Hua CAO" userId="80a060e7-d5a6-4feb-883e-c28f76a39cea" providerId="ADAL" clId="{6920FB87-0987-44C1-8C50-EF3DF8C772D6}" dt="2022-09-23T10:45:06.053" v="1" actId="2696"/>
        <pc:sldMkLst>
          <pc:docMk/>
          <pc:sldMk cId="268520024" sldId="472"/>
        </pc:sldMkLst>
      </pc:sldChg>
      <pc:sldChg chg="add">
        <pc:chgData name="Kang Hua CAO" userId="80a060e7-d5a6-4feb-883e-c28f76a39cea" providerId="ADAL" clId="{6920FB87-0987-44C1-8C50-EF3DF8C772D6}" dt="2022-09-23T10:45:09.389" v="2"/>
        <pc:sldMkLst>
          <pc:docMk/>
          <pc:sldMk cId="3106418668" sldId="472"/>
        </pc:sldMkLst>
      </pc:sldChg>
      <pc:sldChg chg="del">
        <pc:chgData name="Kang Hua CAO" userId="80a060e7-d5a6-4feb-883e-c28f76a39cea" providerId="ADAL" clId="{6920FB87-0987-44C1-8C50-EF3DF8C772D6}" dt="2022-09-23T10:45:06.053" v="1" actId="2696"/>
        <pc:sldMkLst>
          <pc:docMk/>
          <pc:sldMk cId="873473305" sldId="473"/>
        </pc:sldMkLst>
      </pc:sldChg>
      <pc:sldChg chg="add">
        <pc:chgData name="Kang Hua CAO" userId="80a060e7-d5a6-4feb-883e-c28f76a39cea" providerId="ADAL" clId="{6920FB87-0987-44C1-8C50-EF3DF8C772D6}" dt="2022-09-23T10:45:09.389" v="2"/>
        <pc:sldMkLst>
          <pc:docMk/>
          <pc:sldMk cId="1384583611" sldId="473"/>
        </pc:sldMkLst>
      </pc:sldChg>
      <pc:sldChg chg="del">
        <pc:chgData name="Kang Hua CAO" userId="80a060e7-d5a6-4feb-883e-c28f76a39cea" providerId="ADAL" clId="{6920FB87-0987-44C1-8C50-EF3DF8C772D6}" dt="2022-09-23T10:45:06.053" v="1" actId="2696"/>
        <pc:sldMkLst>
          <pc:docMk/>
          <pc:sldMk cId="1775551487" sldId="474"/>
        </pc:sldMkLst>
      </pc:sldChg>
      <pc:sldChg chg="add">
        <pc:chgData name="Kang Hua CAO" userId="80a060e7-d5a6-4feb-883e-c28f76a39cea" providerId="ADAL" clId="{6920FB87-0987-44C1-8C50-EF3DF8C772D6}" dt="2022-09-23T10:45:09.389" v="2"/>
        <pc:sldMkLst>
          <pc:docMk/>
          <pc:sldMk cId="3876833762" sldId="4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AutoShape 1"/>
          <p:cNvSpPr>
            <a:spLocks noChangeArrowheads="1"/>
          </p:cNvSpPr>
          <p:nvPr/>
        </p:nvSpPr>
        <p:spPr bwMode="auto">
          <a:xfrm>
            <a:off x="0" y="0"/>
            <a:ext cx="6797675" cy="9928225"/>
          </a:xfrm>
          <a:prstGeom prst="roundRect">
            <a:avLst>
              <a:gd name="adj" fmla="val 19"/>
            </a:avLst>
          </a:prstGeom>
          <a:solidFill>
            <a:srgbClr val="FFFFFF"/>
          </a:solidFill>
          <a:ln>
            <a:noFill/>
          </a:ln>
          <a:extLst>
            <a:ext uri="{91240B29-F687-4F45-9708-019B960494DF}">
              <a14:hiddenLine xmlns:a14="http://schemas.microsoft.com/office/drawing/2010/main" w="9360">
                <a:solidFill>
                  <a:srgbClr val="000000"/>
                </a:solidFill>
                <a:miter lim="800000"/>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75" name="AutoShape 2"/>
          <p:cNvSpPr>
            <a:spLocks noChangeArrowheads="1"/>
          </p:cNvSpPr>
          <p:nvPr/>
        </p:nvSpPr>
        <p:spPr bwMode="auto">
          <a:xfrm>
            <a:off x="0" y="0"/>
            <a:ext cx="6797675" cy="9928225"/>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76" name="AutoShape 3"/>
          <p:cNvSpPr>
            <a:spLocks noChangeArrowheads="1"/>
          </p:cNvSpPr>
          <p:nvPr/>
        </p:nvSpPr>
        <p:spPr bwMode="auto">
          <a:xfrm>
            <a:off x="0" y="0"/>
            <a:ext cx="6797675" cy="9928225"/>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77" name="AutoShape 4"/>
          <p:cNvSpPr>
            <a:spLocks noChangeArrowheads="1"/>
          </p:cNvSpPr>
          <p:nvPr/>
        </p:nvSpPr>
        <p:spPr bwMode="auto">
          <a:xfrm>
            <a:off x="0" y="0"/>
            <a:ext cx="6797675" cy="9928225"/>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78" name="AutoShape 5"/>
          <p:cNvSpPr>
            <a:spLocks noChangeArrowheads="1"/>
          </p:cNvSpPr>
          <p:nvPr/>
        </p:nvSpPr>
        <p:spPr bwMode="auto">
          <a:xfrm>
            <a:off x="0" y="0"/>
            <a:ext cx="6797675" cy="9928225"/>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 name="Rectangle 6"/>
          <p:cNvSpPr>
            <a:spLocks noGrp="1" noChangeArrowheads="1"/>
          </p:cNvSpPr>
          <p:nvPr>
            <p:ph type="hdr"/>
          </p:nvPr>
        </p:nvSpPr>
        <p:spPr bwMode="auto">
          <a:xfrm>
            <a:off x="0" y="0"/>
            <a:ext cx="2938463" cy="488950"/>
          </a:xfrm>
          <a:prstGeom prst="rect">
            <a:avLst/>
          </a:prstGeom>
          <a:noFill/>
          <a:ln>
            <a:noFill/>
          </a:ln>
          <a:effectLst/>
        </p:spPr>
        <p:txBody>
          <a:bodyPr vert="horz" wrap="square" lIns="90000" tIns="46800" rIns="90000" bIns="46800" numCol="1" anchor="t" anchorCtr="0" compatLnSpc="1">
            <a:prstTxWarp prst="textNoShape">
              <a:avLst/>
            </a:prstTxWarp>
          </a:bodyPr>
          <a:lstStyle>
            <a:lvl1pP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ea typeface="Arial Unicode MS" panose="020B0604020202020204" pitchFamily="34" charset="-128"/>
                <a:cs typeface="Arial Unicode MS" panose="020B0604020202020204" pitchFamily="34" charset="-128"/>
              </a:defRPr>
            </a:lvl1pPr>
          </a:lstStyle>
          <a:p>
            <a:pPr>
              <a:defRPr/>
            </a:pPr>
            <a:endParaRPr lang="en-US" altLang="en-US"/>
          </a:p>
        </p:txBody>
      </p:sp>
      <p:sp>
        <p:nvSpPr>
          <p:cNvPr id="4103" name="Rectangle 7"/>
          <p:cNvSpPr>
            <a:spLocks noGrp="1" noChangeArrowheads="1"/>
          </p:cNvSpPr>
          <p:nvPr>
            <p:ph type="dt"/>
          </p:nvPr>
        </p:nvSpPr>
        <p:spPr bwMode="auto">
          <a:xfrm>
            <a:off x="3851275" y="0"/>
            <a:ext cx="2938463" cy="488950"/>
          </a:xfrm>
          <a:prstGeom prst="rect">
            <a:avLst/>
          </a:prstGeom>
          <a:noFill/>
          <a:ln>
            <a:noFill/>
          </a:ln>
          <a:effectLst/>
        </p:spPr>
        <p:txBody>
          <a:bodyPr vert="horz" wrap="square" lIns="90000" tIns="46800" rIns="90000" bIns="46800" numCol="1" anchor="t" anchorCtr="0" compatLnSpc="1">
            <a:prstTxWarp prst="textNoShape">
              <a:avLst/>
            </a:prstTxWarp>
          </a:bodyPr>
          <a:lstStyle>
            <a:lvl1pPr algn="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ea typeface="Arial Unicode MS" panose="020B0604020202020204" pitchFamily="34" charset="-128"/>
                <a:cs typeface="Arial Unicode MS" panose="020B0604020202020204" pitchFamily="34" charset="-128"/>
              </a:defRPr>
            </a:lvl1pPr>
          </a:lstStyle>
          <a:p>
            <a:pPr>
              <a:defRPr/>
            </a:pPr>
            <a:endParaRPr lang="en-US" altLang="en-US"/>
          </a:p>
        </p:txBody>
      </p:sp>
      <p:sp>
        <p:nvSpPr>
          <p:cNvPr id="3081" name="Rectangle 8"/>
          <p:cNvSpPr>
            <a:spLocks noGrp="1" noRot="1" noChangeAspect="1" noChangeArrowheads="1"/>
          </p:cNvSpPr>
          <p:nvPr>
            <p:ph type="sldImg"/>
          </p:nvPr>
        </p:nvSpPr>
        <p:spPr bwMode="auto">
          <a:xfrm>
            <a:off x="920750" y="744538"/>
            <a:ext cx="4953000" cy="3714750"/>
          </a:xfrm>
          <a:prstGeom prst="rect">
            <a:avLst/>
          </a:prstGeom>
          <a:solidFill>
            <a:srgbClr val="FFFFFF"/>
          </a:solidFill>
          <a:ln w="9360">
            <a:solidFill>
              <a:srgbClr val="000000"/>
            </a:solidFill>
            <a:miter lim="800000"/>
            <a:headEnd/>
            <a:tailEnd/>
          </a:ln>
        </p:spPr>
      </p:sp>
      <p:sp>
        <p:nvSpPr>
          <p:cNvPr id="3" name="Rectangle 9"/>
          <p:cNvSpPr>
            <a:spLocks noGrp="1" noChangeArrowheads="1"/>
          </p:cNvSpPr>
          <p:nvPr>
            <p:ph type="body"/>
          </p:nvPr>
        </p:nvSpPr>
        <p:spPr bwMode="auto">
          <a:xfrm>
            <a:off x="681038" y="4718050"/>
            <a:ext cx="5429250" cy="4459288"/>
          </a:xfrm>
          <a:prstGeom prst="rect">
            <a:avLst/>
          </a:prstGeom>
          <a:noFill/>
          <a:ln>
            <a:noFill/>
          </a:ln>
          <a:effectLst/>
        </p:spPr>
        <p:txBody>
          <a:bodyPr vert="horz" wrap="square" lIns="90000" tIns="46800" rIns="90000" bIns="46800" numCol="1" anchor="t" anchorCtr="0" compatLnSpc="1">
            <a:prstTxWarp prst="textNoShape">
              <a:avLst/>
            </a:prstTxWarp>
          </a:bodyPr>
          <a:lstStyle/>
          <a:p>
            <a:pPr lvl="0"/>
            <a:endParaRPr lang="en-US" noProof="0"/>
          </a:p>
        </p:txBody>
      </p:sp>
      <p:sp>
        <p:nvSpPr>
          <p:cNvPr id="4106" name="Rectangle 10"/>
          <p:cNvSpPr>
            <a:spLocks noGrp="1" noChangeArrowheads="1"/>
          </p:cNvSpPr>
          <p:nvPr>
            <p:ph type="ftr"/>
          </p:nvPr>
        </p:nvSpPr>
        <p:spPr bwMode="auto">
          <a:xfrm>
            <a:off x="0" y="9431338"/>
            <a:ext cx="2938463" cy="488950"/>
          </a:xfrm>
          <a:prstGeom prst="rect">
            <a:avLst/>
          </a:prstGeom>
          <a:noFill/>
          <a:ln>
            <a:noFill/>
          </a:ln>
          <a:effectLst/>
        </p:spPr>
        <p:txBody>
          <a:bodyPr vert="horz" wrap="square" lIns="90000" tIns="46800" rIns="90000" bIns="46800" numCol="1" anchor="b" anchorCtr="0" compatLnSpc="1">
            <a:prstTxWarp prst="textNoShape">
              <a:avLst/>
            </a:prstTxWarp>
          </a:bodyPr>
          <a:lstStyle>
            <a:lvl1pP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ea typeface="Arial Unicode MS" panose="020B0604020202020204" pitchFamily="34" charset="-128"/>
                <a:cs typeface="Arial Unicode MS" panose="020B0604020202020204" pitchFamily="34" charset="-128"/>
              </a:defRPr>
            </a:lvl1pPr>
          </a:lstStyle>
          <a:p>
            <a:pPr>
              <a:defRPr/>
            </a:pPr>
            <a:endParaRPr lang="en-US" altLang="en-US"/>
          </a:p>
        </p:txBody>
      </p:sp>
      <p:sp>
        <p:nvSpPr>
          <p:cNvPr id="4107" name="Rectangle 11"/>
          <p:cNvSpPr>
            <a:spLocks noGrp="1" noChangeArrowheads="1"/>
          </p:cNvSpPr>
          <p:nvPr>
            <p:ph type="sldNum"/>
          </p:nvPr>
        </p:nvSpPr>
        <p:spPr bwMode="auto">
          <a:xfrm>
            <a:off x="3851275" y="9431338"/>
            <a:ext cx="2938463" cy="488950"/>
          </a:xfrm>
          <a:prstGeom prst="rect">
            <a:avLst/>
          </a:prstGeom>
          <a:noFill/>
          <a:ln>
            <a:noFill/>
          </a:ln>
          <a:effectLst/>
        </p:spPr>
        <p:txBody>
          <a:bodyPr vert="horz" wrap="square" lIns="90000" tIns="46800" rIns="90000" bIns="46800" numCol="1" anchor="b" anchorCtr="0" compatLnSpc="1">
            <a:prstTxWarp prst="textNoShape">
              <a:avLst/>
            </a:prstTxWarp>
          </a:bodyPr>
          <a:lstStyle>
            <a:lvl1pPr algn="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defRPr>
            </a:lvl1pPr>
          </a:lstStyle>
          <a:p>
            <a:pPr>
              <a:defRPr/>
            </a:pPr>
            <a:fld id="{F01218B4-6E43-4A22-8159-A45DDA09CA4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1182688" y="696913"/>
            <a:ext cx="4637087" cy="3478212"/>
          </a:xfrm>
          <a:ln/>
        </p:spPr>
      </p:sp>
      <p:sp>
        <p:nvSpPr>
          <p:cNvPr id="6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6148"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DB6857CC-F16A-4EA2-80A9-C574251A0502}" type="slidenum">
              <a:rPr lang="en-US" altLang="en-US" sz="1200" smtClean="0">
                <a:solidFill>
                  <a:srgbClr val="000000"/>
                </a:solidFill>
              </a:rPr>
              <a:pPr/>
              <a:t>2</a:t>
            </a:fld>
            <a:endParaRPr lang="en-US" altLang="en-US" sz="1200">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xfrm>
            <a:off x="1182688" y="696913"/>
            <a:ext cx="4637087" cy="3478212"/>
          </a:xfrm>
          <a:ln/>
        </p:spPr>
      </p:sp>
      <p:sp>
        <p:nvSpPr>
          <p:cNvPr id="92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9220"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11F358D1-93A2-4F05-8772-BD7A3802979F}" type="slidenum">
              <a:rPr lang="en-US" altLang="en-US" sz="1200" smtClean="0">
                <a:solidFill>
                  <a:srgbClr val="000000"/>
                </a:solidFill>
              </a:rPr>
              <a:pPr/>
              <a:t>4</a:t>
            </a:fld>
            <a:endParaRPr lang="en-US" altLang="en-US" sz="1200">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xfrm>
            <a:off x="1182688" y="696913"/>
            <a:ext cx="4637087" cy="3478212"/>
          </a:xfrm>
          <a:ln/>
        </p:spPr>
      </p:sp>
      <p:sp>
        <p:nvSpPr>
          <p:cNvPr id="276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7652"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426FE5A6-32C1-4E5B-AB29-59B6671490FE}" type="slidenum">
              <a:rPr lang="en-US" altLang="en-US" sz="1200" smtClean="0">
                <a:solidFill>
                  <a:srgbClr val="000000"/>
                </a:solidFill>
              </a:rPr>
              <a:pPr/>
              <a:t>21</a:t>
            </a:fld>
            <a:endParaRPr lang="en-US" altLang="en-US" sz="1200">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xfrm>
            <a:off x="1182688" y="696913"/>
            <a:ext cx="4637087" cy="3478212"/>
          </a:xfrm>
          <a:ln/>
        </p:spPr>
      </p:sp>
      <p:sp>
        <p:nvSpPr>
          <p:cNvPr id="29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9700"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D7F33961-9529-4B37-A121-12E3879C9794}" type="slidenum">
              <a:rPr lang="en-US" altLang="en-US" sz="1200" smtClean="0">
                <a:solidFill>
                  <a:srgbClr val="000000"/>
                </a:solidFill>
              </a:rPr>
              <a:pPr/>
              <a:t>22</a:t>
            </a:fld>
            <a:endParaRPr lang="en-US" altLang="en-US" sz="1200">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1182688" y="696913"/>
            <a:ext cx="4637087" cy="3478212"/>
          </a:xfrm>
          <a:ln/>
        </p:spPr>
      </p:sp>
      <p:sp>
        <p:nvSpPr>
          <p:cNvPr id="327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2772"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AA48A063-3230-4FD1-98F8-7EF43C7DCD3A}" type="slidenum">
              <a:rPr lang="en-US" altLang="en-US" sz="1200" smtClean="0">
                <a:solidFill>
                  <a:srgbClr val="000000"/>
                </a:solidFill>
              </a:rPr>
              <a:pPr/>
              <a:t>24</a:t>
            </a:fld>
            <a:endParaRPr lang="en-US" altLang="en-US" sz="1200">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6A4C2D26-0F63-4D36-A8F6-F4341CF03317}" type="slidenum">
              <a:rPr lang="en-US" altLang="en-US" sz="1200">
                <a:solidFill>
                  <a:srgbClr val="000000"/>
                </a:solidFill>
              </a:rPr>
              <a:pPr algn="r" eaLnBrk="1" hangingPunct="1">
                <a:buSzPct val="45000"/>
              </a:pPr>
              <a:t>28</a:t>
            </a:fld>
            <a:endParaRPr lang="en-US" altLang="en-US" sz="1200">
              <a:solidFill>
                <a:srgbClr val="000000"/>
              </a:solidFill>
            </a:endParaRPr>
          </a:p>
        </p:txBody>
      </p:sp>
      <p:sp>
        <p:nvSpPr>
          <p:cNvPr id="37891" name="Rectangle 2"/>
          <p:cNvSpPr>
            <a:spLocks noGrp="1" noRot="1" noChangeAspect="1" noChangeArrowheads="1" noTextEdit="1"/>
          </p:cNvSpPr>
          <p:nvPr>
            <p:ph type="sldImg"/>
          </p:nvPr>
        </p:nvSpPr>
        <p:spPr>
          <a:xfrm>
            <a:off x="1181100" y="696913"/>
            <a:ext cx="4649788" cy="3486150"/>
          </a:xfrm>
          <a:ln/>
        </p:spPr>
      </p:sp>
      <p:sp>
        <p:nvSpPr>
          <p:cNvPr id="378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7EC52592-521D-479C-96A2-5AD1278DF86C}" type="slidenum">
              <a:rPr lang="en-US" altLang="en-US" sz="1200">
                <a:solidFill>
                  <a:srgbClr val="000000"/>
                </a:solidFill>
              </a:rPr>
              <a:pPr algn="r" eaLnBrk="1" hangingPunct="1">
                <a:buSzPct val="45000"/>
              </a:pPr>
              <a:t>29</a:t>
            </a:fld>
            <a:endParaRPr lang="en-US" altLang="en-US" sz="1200">
              <a:solidFill>
                <a:srgbClr val="000000"/>
              </a:solidFill>
            </a:endParaRPr>
          </a:p>
        </p:txBody>
      </p:sp>
      <p:sp>
        <p:nvSpPr>
          <p:cNvPr id="39939" name="Rectangle 2"/>
          <p:cNvSpPr>
            <a:spLocks noGrp="1" noRot="1" noChangeAspect="1" noChangeArrowheads="1" noTextEdit="1"/>
          </p:cNvSpPr>
          <p:nvPr>
            <p:ph type="sldImg"/>
          </p:nvPr>
        </p:nvSpPr>
        <p:spPr>
          <a:xfrm>
            <a:off x="1181100" y="696913"/>
            <a:ext cx="4649788" cy="3486150"/>
          </a:xfrm>
          <a:ln/>
        </p:spPr>
      </p:sp>
      <p:sp>
        <p:nvSpPr>
          <p:cNvPr id="399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D4270C9E-7E5A-4105-B60D-62F1569F93D2}" type="slidenum">
              <a:rPr lang="en-US" altLang="en-US" sz="1200">
                <a:solidFill>
                  <a:srgbClr val="000000"/>
                </a:solidFill>
              </a:rPr>
              <a:pPr algn="r" eaLnBrk="1" hangingPunct="1">
                <a:buSzPct val="45000"/>
              </a:pPr>
              <a:t>34</a:t>
            </a:fld>
            <a:endParaRPr lang="en-US" altLang="en-US" sz="1200">
              <a:solidFill>
                <a:srgbClr val="000000"/>
              </a:solidFill>
            </a:endParaRPr>
          </a:p>
        </p:txBody>
      </p:sp>
      <p:sp>
        <p:nvSpPr>
          <p:cNvPr id="46083" name="Rectangle 2"/>
          <p:cNvSpPr>
            <a:spLocks noGrp="1" noRot="1" noChangeAspect="1" noChangeArrowheads="1" noTextEdit="1"/>
          </p:cNvSpPr>
          <p:nvPr>
            <p:ph type="sldImg"/>
          </p:nvPr>
        </p:nvSpPr>
        <p:spPr>
          <a:xfrm>
            <a:off x="1181100" y="696913"/>
            <a:ext cx="4649788" cy="3486150"/>
          </a:xfrm>
          <a:ln/>
        </p:spPr>
      </p:sp>
      <p:sp>
        <p:nvSpPr>
          <p:cNvPr id="460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F4D28382-100F-45FA-A667-E23243876A3D}" type="slidenum">
              <a:rPr lang="en-US" altLang="en-US" sz="1200">
                <a:solidFill>
                  <a:srgbClr val="000000"/>
                </a:solidFill>
              </a:rPr>
              <a:pPr algn="r" eaLnBrk="1" hangingPunct="1">
                <a:buSzPct val="45000"/>
              </a:pPr>
              <a:t>35</a:t>
            </a:fld>
            <a:endParaRPr lang="en-US" altLang="en-US" sz="1200">
              <a:solidFill>
                <a:srgbClr val="000000"/>
              </a:solidFill>
            </a:endParaRPr>
          </a:p>
        </p:txBody>
      </p:sp>
      <p:sp>
        <p:nvSpPr>
          <p:cNvPr id="48131" name="Rectangle 2"/>
          <p:cNvSpPr>
            <a:spLocks noGrp="1" noRot="1" noChangeAspect="1" noChangeArrowheads="1" noTextEdit="1"/>
          </p:cNvSpPr>
          <p:nvPr>
            <p:ph type="sldImg"/>
          </p:nvPr>
        </p:nvSpPr>
        <p:spPr>
          <a:xfrm>
            <a:off x="1181100" y="696913"/>
            <a:ext cx="4649788" cy="3486150"/>
          </a:xfrm>
          <a:ln/>
        </p:spPr>
      </p:sp>
      <p:sp>
        <p:nvSpPr>
          <p:cNvPr id="481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9BB3A3A1-7048-4DE7-8F0B-A1DA5760FF92}" type="slidenum">
              <a:rPr lang="en-US" altLang="en-US" sz="1200">
                <a:solidFill>
                  <a:srgbClr val="000000"/>
                </a:solidFill>
              </a:rPr>
              <a:pPr algn="r" eaLnBrk="1" hangingPunct="1">
                <a:buSzPct val="45000"/>
              </a:pPr>
              <a:t>36</a:t>
            </a:fld>
            <a:endParaRPr lang="en-US" altLang="en-US" sz="1200">
              <a:solidFill>
                <a:srgbClr val="000000"/>
              </a:solidFill>
            </a:endParaRPr>
          </a:p>
        </p:txBody>
      </p:sp>
      <p:sp>
        <p:nvSpPr>
          <p:cNvPr id="50179" name="Rectangle 2"/>
          <p:cNvSpPr>
            <a:spLocks noGrp="1" noRot="1" noChangeAspect="1" noChangeArrowheads="1" noTextEdit="1"/>
          </p:cNvSpPr>
          <p:nvPr>
            <p:ph type="sldImg"/>
          </p:nvPr>
        </p:nvSpPr>
        <p:spPr>
          <a:xfrm>
            <a:off x="1181100" y="696913"/>
            <a:ext cx="4649788" cy="3486150"/>
          </a:xfrm>
          <a:ln/>
        </p:spPr>
      </p:sp>
      <p:sp>
        <p:nvSpPr>
          <p:cNvPr id="501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A8E19B9E-2A17-49DC-819F-AFB239CBF6BA}" type="slidenum">
              <a:rPr lang="en-US" altLang="en-US" sz="1200">
                <a:solidFill>
                  <a:srgbClr val="000000"/>
                </a:solidFill>
              </a:rPr>
              <a:pPr algn="r" eaLnBrk="1" hangingPunct="1">
                <a:buSzPct val="45000"/>
              </a:pPr>
              <a:t>37</a:t>
            </a:fld>
            <a:endParaRPr lang="en-US" altLang="en-US" sz="1200">
              <a:solidFill>
                <a:srgbClr val="000000"/>
              </a:solidFill>
            </a:endParaRPr>
          </a:p>
        </p:txBody>
      </p:sp>
      <p:sp>
        <p:nvSpPr>
          <p:cNvPr id="52227" name="Rectangle 2"/>
          <p:cNvSpPr>
            <a:spLocks noGrp="1" noRot="1" noChangeAspect="1" noChangeArrowheads="1" noTextEdit="1"/>
          </p:cNvSpPr>
          <p:nvPr>
            <p:ph type="sldImg"/>
          </p:nvPr>
        </p:nvSpPr>
        <p:spPr>
          <a:xfrm>
            <a:off x="1181100" y="696913"/>
            <a:ext cx="4649788" cy="3486150"/>
          </a:xfrm>
          <a:ln/>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A6D12A8E-730D-4840-88CE-0923DFDEC63C}" type="slidenum">
              <a:rPr lang="en-US" altLang="en-US" sz="1200">
                <a:solidFill>
                  <a:srgbClr val="000000"/>
                </a:solidFill>
              </a:rPr>
              <a:pPr algn="r" eaLnBrk="1" hangingPunct="1">
                <a:buSzPct val="45000"/>
              </a:pPr>
              <a:t>38</a:t>
            </a:fld>
            <a:endParaRPr lang="en-US" altLang="en-US" sz="1200">
              <a:solidFill>
                <a:srgbClr val="000000"/>
              </a:solidFill>
            </a:endParaRPr>
          </a:p>
        </p:txBody>
      </p:sp>
      <p:sp>
        <p:nvSpPr>
          <p:cNvPr id="54275" name="Rectangle 2"/>
          <p:cNvSpPr>
            <a:spLocks noGrp="1" noRot="1" noChangeAspect="1" noChangeArrowheads="1" noTextEdit="1"/>
          </p:cNvSpPr>
          <p:nvPr>
            <p:ph type="sldImg"/>
          </p:nvPr>
        </p:nvSpPr>
        <p:spPr>
          <a:xfrm>
            <a:off x="1181100" y="696913"/>
            <a:ext cx="4649788" cy="3486150"/>
          </a:xfrm>
          <a:ln/>
        </p:spPr>
      </p:sp>
      <p:sp>
        <p:nvSpPr>
          <p:cNvPr id="542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C50EFFEB-DC77-4A70-96BC-CB6AD821D02E}" type="slidenum">
              <a:rPr lang="en-US" altLang="en-US" sz="1200">
                <a:solidFill>
                  <a:srgbClr val="000000"/>
                </a:solidFill>
              </a:rPr>
              <a:pPr algn="r" eaLnBrk="1" hangingPunct="1">
                <a:buSzPct val="45000"/>
              </a:pPr>
              <a:t>39</a:t>
            </a:fld>
            <a:endParaRPr lang="en-US" altLang="en-US" sz="1200">
              <a:solidFill>
                <a:srgbClr val="000000"/>
              </a:solidFill>
            </a:endParaRPr>
          </a:p>
        </p:txBody>
      </p:sp>
      <p:sp>
        <p:nvSpPr>
          <p:cNvPr id="56323" name="Rectangle 2"/>
          <p:cNvSpPr>
            <a:spLocks noGrp="1" noRot="1" noChangeAspect="1" noChangeArrowheads="1" noTextEdit="1"/>
          </p:cNvSpPr>
          <p:nvPr>
            <p:ph type="sldImg"/>
          </p:nvPr>
        </p:nvSpPr>
        <p:spPr>
          <a:xfrm>
            <a:off x="1181100" y="696913"/>
            <a:ext cx="4649788" cy="3486150"/>
          </a:xfrm>
          <a:ln/>
        </p:spPr>
      </p:sp>
      <p:sp>
        <p:nvSpPr>
          <p:cNvPr id="563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85B252D9-AB81-4BE5-B3E3-A6F62DD0291A}" type="slidenum">
              <a:rPr lang="en-US" altLang="en-US" sz="1200">
                <a:solidFill>
                  <a:srgbClr val="000000"/>
                </a:solidFill>
              </a:rPr>
              <a:pPr algn="r" eaLnBrk="1" hangingPunct="1">
                <a:buSzPct val="45000"/>
              </a:pPr>
              <a:t>40</a:t>
            </a:fld>
            <a:endParaRPr lang="en-US" altLang="en-US" sz="1200">
              <a:solidFill>
                <a:srgbClr val="000000"/>
              </a:solidFill>
            </a:endParaRPr>
          </a:p>
        </p:txBody>
      </p:sp>
      <p:sp>
        <p:nvSpPr>
          <p:cNvPr id="58371" name="Rectangle 2"/>
          <p:cNvSpPr>
            <a:spLocks noGrp="1" noRot="1" noChangeAspect="1" noChangeArrowheads="1" noTextEdit="1"/>
          </p:cNvSpPr>
          <p:nvPr>
            <p:ph type="sldImg"/>
          </p:nvPr>
        </p:nvSpPr>
        <p:spPr>
          <a:xfrm>
            <a:off x="1181100" y="696913"/>
            <a:ext cx="4649788" cy="3486150"/>
          </a:xfrm>
          <a:ln/>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B282017E-FE0A-4E02-B81F-6110814DEBE1}" type="slidenum">
              <a:rPr lang="en-US" altLang="en-US" sz="1200">
                <a:solidFill>
                  <a:srgbClr val="000000"/>
                </a:solidFill>
              </a:rPr>
              <a:pPr algn="r" eaLnBrk="1" hangingPunct="1">
                <a:buSzPct val="45000"/>
              </a:pPr>
              <a:t>41</a:t>
            </a:fld>
            <a:endParaRPr lang="en-US" altLang="en-US" sz="1200">
              <a:solidFill>
                <a:srgbClr val="000000"/>
              </a:solidFill>
            </a:endParaRPr>
          </a:p>
        </p:txBody>
      </p:sp>
      <p:sp>
        <p:nvSpPr>
          <p:cNvPr id="60419" name="Rectangle 2"/>
          <p:cNvSpPr>
            <a:spLocks noGrp="1" noRot="1" noChangeAspect="1" noChangeArrowheads="1" noTextEdit="1"/>
          </p:cNvSpPr>
          <p:nvPr>
            <p:ph type="sldImg"/>
          </p:nvPr>
        </p:nvSpPr>
        <p:spPr>
          <a:xfrm>
            <a:off x="1181100" y="696913"/>
            <a:ext cx="4649788" cy="3486150"/>
          </a:xfrm>
          <a:ln/>
        </p:spPr>
      </p:sp>
      <p:sp>
        <p:nvSpPr>
          <p:cNvPr id="60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D2D86590-4749-4920-BD06-CC3F22C27CD2}" type="slidenum">
              <a:rPr lang="en-US" altLang="en-US" sz="1200">
                <a:solidFill>
                  <a:srgbClr val="000000"/>
                </a:solidFill>
              </a:rPr>
              <a:pPr algn="r" eaLnBrk="1" hangingPunct="1">
                <a:buSzPct val="45000"/>
              </a:pPr>
              <a:t>42</a:t>
            </a:fld>
            <a:endParaRPr lang="en-US" altLang="en-US" sz="1200">
              <a:solidFill>
                <a:srgbClr val="000000"/>
              </a:solidFill>
            </a:endParaRPr>
          </a:p>
        </p:txBody>
      </p:sp>
      <p:sp>
        <p:nvSpPr>
          <p:cNvPr id="62467" name="Rectangle 2"/>
          <p:cNvSpPr>
            <a:spLocks noGrp="1" noRot="1" noChangeAspect="1" noChangeArrowheads="1" noTextEdit="1"/>
          </p:cNvSpPr>
          <p:nvPr>
            <p:ph type="sldImg"/>
          </p:nvPr>
        </p:nvSpPr>
        <p:spPr>
          <a:xfrm>
            <a:off x="1181100" y="696913"/>
            <a:ext cx="4649788" cy="3486150"/>
          </a:xfrm>
          <a:ln/>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4A60C30A-A3AF-43B1-80AB-3D9E7095971C}" type="slidenum">
              <a:rPr lang="en-US" altLang="en-US" sz="1200">
                <a:solidFill>
                  <a:srgbClr val="000000"/>
                </a:solidFill>
              </a:rPr>
              <a:pPr algn="r" eaLnBrk="1" hangingPunct="1">
                <a:buSzPct val="45000"/>
              </a:pPr>
              <a:t>43</a:t>
            </a:fld>
            <a:endParaRPr lang="en-US" altLang="en-US" sz="1200">
              <a:solidFill>
                <a:srgbClr val="000000"/>
              </a:solidFill>
            </a:endParaRPr>
          </a:p>
        </p:txBody>
      </p:sp>
      <p:sp>
        <p:nvSpPr>
          <p:cNvPr id="64515" name="Rectangle 2"/>
          <p:cNvSpPr>
            <a:spLocks noGrp="1" noRot="1" noChangeAspect="1" noChangeArrowheads="1" noTextEdit="1"/>
          </p:cNvSpPr>
          <p:nvPr>
            <p:ph type="sldImg"/>
          </p:nvPr>
        </p:nvSpPr>
        <p:spPr>
          <a:xfrm>
            <a:off x="1181100" y="696913"/>
            <a:ext cx="4649788" cy="3486150"/>
          </a:xfrm>
          <a:ln/>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CDFD296E-85D0-43AE-99EC-860A2CACD2EE}" type="slidenum">
              <a:rPr lang="en-US" altLang="en-US" sz="1200">
                <a:solidFill>
                  <a:srgbClr val="000000"/>
                </a:solidFill>
              </a:rPr>
              <a:pPr algn="r" eaLnBrk="1" hangingPunct="1">
                <a:buSzPct val="45000"/>
              </a:pPr>
              <a:t>44</a:t>
            </a:fld>
            <a:endParaRPr lang="en-US" altLang="en-US" sz="1200">
              <a:solidFill>
                <a:srgbClr val="000000"/>
              </a:solidFill>
            </a:endParaRPr>
          </a:p>
        </p:txBody>
      </p:sp>
      <p:sp>
        <p:nvSpPr>
          <p:cNvPr id="66563" name="Rectangle 2"/>
          <p:cNvSpPr>
            <a:spLocks noGrp="1" noRot="1" noChangeAspect="1" noChangeArrowheads="1" noTextEdit="1"/>
          </p:cNvSpPr>
          <p:nvPr>
            <p:ph type="sldImg"/>
          </p:nvPr>
        </p:nvSpPr>
        <p:spPr>
          <a:xfrm>
            <a:off x="1181100" y="696913"/>
            <a:ext cx="4649788" cy="3486150"/>
          </a:xfrm>
          <a:ln/>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91F2E870-D4F8-4556-9E95-EDC46DAC28D6}" type="slidenum">
              <a:rPr lang="en-US" altLang="en-US" sz="1200">
                <a:solidFill>
                  <a:srgbClr val="000000"/>
                </a:solidFill>
              </a:rPr>
              <a:pPr algn="r" eaLnBrk="1" hangingPunct="1">
                <a:buSzPct val="45000"/>
              </a:pPr>
              <a:t>45</a:t>
            </a:fld>
            <a:endParaRPr lang="en-US" altLang="en-US" sz="1200">
              <a:solidFill>
                <a:srgbClr val="000000"/>
              </a:solidFill>
            </a:endParaRPr>
          </a:p>
        </p:txBody>
      </p:sp>
      <p:sp>
        <p:nvSpPr>
          <p:cNvPr id="68611" name="Rectangle 2"/>
          <p:cNvSpPr>
            <a:spLocks noGrp="1" noRot="1" noChangeAspect="1" noChangeArrowheads="1" noTextEdit="1"/>
          </p:cNvSpPr>
          <p:nvPr>
            <p:ph type="sldImg"/>
          </p:nvPr>
        </p:nvSpPr>
        <p:spPr>
          <a:xfrm>
            <a:off x="1181100" y="696913"/>
            <a:ext cx="4649788" cy="3486150"/>
          </a:xfrm>
          <a:ln/>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C4858F55-CCA4-4C3D-8009-EAB112C2E14B}" type="slidenum">
              <a:rPr lang="en-US" altLang="en-US" sz="1200">
                <a:solidFill>
                  <a:srgbClr val="000000"/>
                </a:solidFill>
              </a:rPr>
              <a:pPr algn="r" eaLnBrk="1" hangingPunct="1">
                <a:buSzPct val="45000"/>
              </a:pPr>
              <a:t>46</a:t>
            </a:fld>
            <a:endParaRPr lang="en-US" altLang="en-US" sz="1200">
              <a:solidFill>
                <a:srgbClr val="000000"/>
              </a:solidFill>
            </a:endParaRPr>
          </a:p>
        </p:txBody>
      </p:sp>
      <p:sp>
        <p:nvSpPr>
          <p:cNvPr id="70659" name="Rectangle 2"/>
          <p:cNvSpPr>
            <a:spLocks noGrp="1" noRot="1" noChangeAspect="1" noChangeArrowheads="1" noTextEdit="1"/>
          </p:cNvSpPr>
          <p:nvPr>
            <p:ph type="sldImg"/>
          </p:nvPr>
        </p:nvSpPr>
        <p:spPr>
          <a:xfrm>
            <a:off x="1181100" y="696913"/>
            <a:ext cx="4649788" cy="3486150"/>
          </a:xfrm>
          <a:ln/>
        </p:spPr>
      </p:sp>
      <p:sp>
        <p:nvSpPr>
          <p:cNvPr id="706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8A542339-9A8D-4FF0-B1FB-0E7962586877}" type="slidenum">
              <a:rPr lang="en-US" altLang="en-US" sz="1200">
                <a:solidFill>
                  <a:srgbClr val="000000"/>
                </a:solidFill>
              </a:rPr>
              <a:pPr algn="r" eaLnBrk="1" hangingPunct="1">
                <a:buSzPct val="45000"/>
              </a:pPr>
              <a:t>47</a:t>
            </a:fld>
            <a:endParaRPr lang="en-US" altLang="en-US" sz="1200">
              <a:solidFill>
                <a:srgbClr val="000000"/>
              </a:solidFill>
            </a:endParaRPr>
          </a:p>
        </p:txBody>
      </p:sp>
      <p:sp>
        <p:nvSpPr>
          <p:cNvPr id="72707" name="Rectangle 2"/>
          <p:cNvSpPr>
            <a:spLocks noGrp="1" noRot="1" noChangeAspect="1" noChangeArrowheads="1" noTextEdit="1"/>
          </p:cNvSpPr>
          <p:nvPr>
            <p:ph type="sldImg"/>
          </p:nvPr>
        </p:nvSpPr>
        <p:spPr>
          <a:xfrm>
            <a:off x="1181100" y="696913"/>
            <a:ext cx="4649788" cy="3486150"/>
          </a:xfrm>
          <a:ln/>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4" name="Rectangle 1"/>
          <p:cNvSpPr>
            <a:spLocks noChangeArrowheads="1"/>
          </p:cNvSpPr>
          <p:nvPr userDrawn="1"/>
        </p:nvSpPr>
        <p:spPr bwMode="auto">
          <a:xfrm>
            <a:off x="-3175" y="6405563"/>
            <a:ext cx="9147175" cy="457200"/>
          </a:xfrm>
          <a:prstGeom prst="rect">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sz="2400"/>
          </a:p>
        </p:txBody>
      </p:sp>
      <p:pic>
        <p:nvPicPr>
          <p:cNvPr id="5" name="Picture 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488239" y="6400800"/>
            <a:ext cx="1536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6" name="Text Box 10"/>
          <p:cNvSpPr txBox="1">
            <a:spLocks noChangeArrowheads="1"/>
          </p:cNvSpPr>
          <p:nvPr userDrawn="1"/>
        </p:nvSpPr>
        <p:spPr bwMode="auto">
          <a:xfrm>
            <a:off x="2495550" y="6392863"/>
            <a:ext cx="4287838" cy="455612"/>
          </a:xfrm>
          <a:prstGeom prst="rect">
            <a:avLst/>
          </a:prstGeom>
          <a:noFill/>
          <a:ln>
            <a:noFill/>
          </a:ln>
          <a:effectLst/>
        </p:spPr>
        <p:txBody>
          <a:bodyPr lIns="90000" tIns="46800" rIns="90000" bIns="468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ctr" eaLnBrk="1" hangingPunct="1">
              <a:buSzPct val="100000"/>
              <a:defRPr/>
            </a:pPr>
            <a:endParaRPr lang="en-US" altLang="en-US" sz="1000" dirty="0">
              <a:solidFill>
                <a:srgbClr val="000000"/>
              </a:solidFill>
              <a:latin typeface="Arial" panose="020B0604020202020204" pitchFamily="34" charset="0"/>
            </a:endParaRPr>
          </a:p>
          <a:p>
            <a:pPr algn="ctr" eaLnBrk="1" hangingPunct="1">
              <a:buSzPct val="100000"/>
              <a:defRPr/>
            </a:pPr>
            <a:r>
              <a:rPr lang="en-US" altLang="en-US" sz="1000" dirty="0">
                <a:solidFill>
                  <a:srgbClr val="FFFFFF"/>
                </a:solidFill>
                <a:latin typeface="Arial" panose="020B0604020202020204" pitchFamily="34" charset="0"/>
              </a:rPr>
              <a:t>Copyright © 2017,  Pearson Education, Ltd. All Rights Reserved</a:t>
            </a:r>
          </a:p>
        </p:txBody>
      </p:sp>
      <p:pic>
        <p:nvPicPr>
          <p:cNvPr id="7" name="Picture 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488239" y="6400800"/>
            <a:ext cx="1536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9" name="Text Box 11"/>
          <p:cNvSpPr txBox="1">
            <a:spLocks noChangeArrowheads="1"/>
          </p:cNvSpPr>
          <p:nvPr userDrawn="1"/>
        </p:nvSpPr>
        <p:spPr bwMode="auto">
          <a:xfrm>
            <a:off x="92075" y="6537325"/>
            <a:ext cx="904875" cy="254000"/>
          </a:xfrm>
          <a:prstGeom prst="rect">
            <a:avLst/>
          </a:prstGeom>
          <a:noFill/>
          <a:ln>
            <a:noFill/>
          </a:ln>
          <a:effectLst/>
        </p:spPr>
        <p:txBody>
          <a:bodyPr lIns="90000" tIns="46800" rIns="90000" bIns="468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defRPr/>
            </a:pPr>
            <a:r>
              <a:rPr lang="en-US" altLang="en-US" sz="1400" b="1">
                <a:solidFill>
                  <a:srgbClr val="FFFFFF"/>
                </a:solidFill>
                <a:latin typeface="Arial" panose="020B0604020202020204" pitchFamily="34" charset="0"/>
              </a:rPr>
              <a:t> 3-</a:t>
            </a:r>
            <a:fld id="{AE022335-BAE3-466C-9419-D1D3D11A299E}" type="slidenum">
              <a:rPr lang="en-US" altLang="en-US" sz="1400" b="1" smtClean="0">
                <a:solidFill>
                  <a:srgbClr val="FFFFFF"/>
                </a:solidFill>
                <a:latin typeface="Arial" panose="020B0604020202020204" pitchFamily="34" charset="0"/>
              </a:rPr>
              <a:pPr eaLnBrk="1" hangingPunct="1">
                <a:buSzPct val="100000"/>
                <a:defRPr/>
              </a:pPr>
              <a:t>‹#›</a:t>
            </a:fld>
            <a:endParaRPr lang="en-US" altLang="en-US" sz="1400" b="1">
              <a:solidFill>
                <a:srgbClr val="FFFFFF"/>
              </a:solidFill>
              <a:latin typeface="Arial" panose="020B0604020202020204" pitchFamily="34" charset="0"/>
            </a:endParaRPr>
          </a:p>
        </p:txBody>
      </p:sp>
      <p:pic>
        <p:nvPicPr>
          <p:cNvPr id="10" name="Picture 17" descr="0321997832_Agresti_bookcov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84164" y="476252"/>
            <a:ext cx="4287837"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2057401" y="762002"/>
            <a:ext cx="6602413" cy="2563813"/>
          </a:xfrm>
          <a:prstGeom prst="rect">
            <a:avLst/>
          </a:prstGeom>
        </p:spPr>
        <p:txBody>
          <a:bodyPr lIns="0" rIns="0" anchor="b" anchorCtr="0"/>
          <a:lstStyle>
            <a:lvl1pPr algn="l">
              <a:defRPr sz="4000"/>
            </a:lvl1pPr>
          </a:lstStyle>
          <a:p>
            <a:r>
              <a:rPr lang="en-US" dirty="0"/>
              <a:t>Click to edit Master title style</a:t>
            </a:r>
          </a:p>
        </p:txBody>
      </p:sp>
      <p:sp>
        <p:nvSpPr>
          <p:cNvPr id="8" name="Text Placeholder 7"/>
          <p:cNvSpPr>
            <a:spLocks noGrp="1"/>
          </p:cNvSpPr>
          <p:nvPr>
            <p:ph type="body" sz="quarter" idx="10"/>
          </p:nvPr>
        </p:nvSpPr>
        <p:spPr>
          <a:xfrm>
            <a:off x="1371600" y="3962400"/>
            <a:ext cx="6884988" cy="1600200"/>
          </a:xfrm>
          <a:prstGeom prst="rect">
            <a:avLst/>
          </a:prstGeom>
        </p:spPr>
        <p:txBody>
          <a:bodyPr/>
          <a:lstStyle>
            <a:lvl1pPr algn="ctr">
              <a:defRPr/>
            </a:lvl1pPr>
          </a:lstStyle>
          <a:p>
            <a:pPr lvl="0"/>
            <a:r>
              <a:rPr lang="en-US" dirty="0"/>
              <a:t>Click to edit Master text styles</a:t>
            </a:r>
          </a:p>
        </p:txBody>
      </p:sp>
    </p:spTree>
    <p:extLst>
      <p:ext uri="{BB962C8B-B14F-4D97-AF65-F5344CB8AC3E}">
        <p14:creationId xmlns:p14="http://schemas.microsoft.com/office/powerpoint/2010/main" val="4232464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tLang="zh-HK"/>
              <a:t>Click to edit Master title style</a:t>
            </a:r>
            <a:endParaRPr lang="zh-HK"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HK"/>
              <a:t>Click to edit Master subtitle style</a:t>
            </a:r>
            <a:endParaRPr lang="zh-HK" altLang="en-US"/>
          </a:p>
        </p:txBody>
      </p:sp>
      <p:sp>
        <p:nvSpPr>
          <p:cNvPr id="4" name="Date Placeholder 3"/>
          <p:cNvSpPr>
            <a:spLocks noGrp="1"/>
          </p:cNvSpPr>
          <p:nvPr>
            <p:ph type="dt" sz="half" idx="10"/>
          </p:nvPr>
        </p:nvSpPr>
        <p:spPr/>
        <p:txBody>
          <a:bodyPr/>
          <a:lstStyle>
            <a:lvl1pPr>
              <a:defRPr/>
            </a:lvl1pPr>
          </a:lstStyle>
          <a:p>
            <a:pPr>
              <a:defRPr/>
            </a:pPr>
            <a:fld id="{21BBB724-5830-4FAD-9D63-7621DFB4278A}" type="datetimeFigureOut">
              <a:rPr lang="zh-HK" altLang="en-US"/>
              <a:pPr>
                <a:defRPr/>
              </a:pPr>
              <a:t>23/9/2022</a:t>
            </a:fld>
            <a:endParaRPr lang="zh-HK" altLang="en-US"/>
          </a:p>
        </p:txBody>
      </p:sp>
      <p:sp>
        <p:nvSpPr>
          <p:cNvPr id="5" name="Footer Placeholder 4"/>
          <p:cNvSpPr>
            <a:spLocks noGrp="1"/>
          </p:cNvSpPr>
          <p:nvPr>
            <p:ph type="ftr" sz="quarter" idx="11"/>
          </p:nvPr>
        </p:nvSpPr>
        <p:spPr/>
        <p:txBody>
          <a:bodyPr/>
          <a:lstStyle>
            <a:lvl1pPr>
              <a:defRPr/>
            </a:lvl1pPr>
          </a:lstStyle>
          <a:p>
            <a:pPr>
              <a:defRPr/>
            </a:pPr>
            <a:endParaRPr lang="zh-HK" altLang="en-US"/>
          </a:p>
        </p:txBody>
      </p:sp>
      <p:sp>
        <p:nvSpPr>
          <p:cNvPr id="6" name="Slide Number Placeholder 5"/>
          <p:cNvSpPr>
            <a:spLocks noGrp="1"/>
          </p:cNvSpPr>
          <p:nvPr>
            <p:ph type="sldNum" sz="quarter" idx="12"/>
          </p:nvPr>
        </p:nvSpPr>
        <p:spPr/>
        <p:txBody>
          <a:bodyPr/>
          <a:lstStyle>
            <a:lvl1pPr>
              <a:defRPr/>
            </a:lvl1pPr>
          </a:lstStyle>
          <a:p>
            <a:pPr>
              <a:defRPr/>
            </a:pPr>
            <a:fld id="{A0F8F094-72EB-4802-B5C6-9A73F9429C17}" type="slidenum">
              <a:rPr lang="zh-HK" altLang="en-US"/>
              <a:pPr>
                <a:defRPr/>
              </a:pPr>
              <a:t>‹#›</a:t>
            </a:fld>
            <a:endParaRPr lang="zh-HK" altLang="en-US"/>
          </a:p>
        </p:txBody>
      </p:sp>
    </p:spTree>
    <p:extLst>
      <p:ext uri="{BB962C8B-B14F-4D97-AF65-F5344CB8AC3E}">
        <p14:creationId xmlns:p14="http://schemas.microsoft.com/office/powerpoint/2010/main" val="646685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zh-HK" altLang="en-US"/>
          </a:p>
        </p:txBody>
      </p:sp>
      <p:sp>
        <p:nvSpPr>
          <p:cNvPr id="3" name="Content Placeholder 2"/>
          <p:cNvSpPr>
            <a:spLocks noGrp="1"/>
          </p:cNvSpPr>
          <p:nvPr>
            <p:ph idx="1"/>
          </p:nvPr>
        </p:nvSpPr>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p:cNvSpPr>
            <a:spLocks noGrp="1"/>
          </p:cNvSpPr>
          <p:nvPr>
            <p:ph type="dt" sz="half" idx="10"/>
          </p:nvPr>
        </p:nvSpPr>
        <p:spPr/>
        <p:txBody>
          <a:bodyPr/>
          <a:lstStyle>
            <a:lvl1pPr>
              <a:defRPr/>
            </a:lvl1pPr>
          </a:lstStyle>
          <a:p>
            <a:pPr>
              <a:defRPr/>
            </a:pPr>
            <a:fld id="{AB50CE7D-31F3-44BC-AC5A-20ACCE6A99E7}" type="datetimeFigureOut">
              <a:rPr lang="zh-HK" altLang="en-US"/>
              <a:pPr>
                <a:defRPr/>
              </a:pPr>
              <a:t>23/9/2022</a:t>
            </a:fld>
            <a:endParaRPr lang="zh-HK" altLang="en-US"/>
          </a:p>
        </p:txBody>
      </p:sp>
      <p:sp>
        <p:nvSpPr>
          <p:cNvPr id="5" name="Footer Placeholder 4"/>
          <p:cNvSpPr>
            <a:spLocks noGrp="1"/>
          </p:cNvSpPr>
          <p:nvPr>
            <p:ph type="ftr" sz="quarter" idx="11"/>
          </p:nvPr>
        </p:nvSpPr>
        <p:spPr/>
        <p:txBody>
          <a:bodyPr/>
          <a:lstStyle>
            <a:lvl1pPr>
              <a:defRPr/>
            </a:lvl1pPr>
          </a:lstStyle>
          <a:p>
            <a:pPr>
              <a:defRPr/>
            </a:pPr>
            <a:endParaRPr lang="zh-HK" altLang="en-US"/>
          </a:p>
        </p:txBody>
      </p:sp>
      <p:sp>
        <p:nvSpPr>
          <p:cNvPr id="6" name="Slide Number Placeholder 5"/>
          <p:cNvSpPr>
            <a:spLocks noGrp="1"/>
          </p:cNvSpPr>
          <p:nvPr>
            <p:ph type="sldNum" sz="quarter" idx="12"/>
          </p:nvPr>
        </p:nvSpPr>
        <p:spPr/>
        <p:txBody>
          <a:bodyPr/>
          <a:lstStyle>
            <a:lvl1pPr>
              <a:defRPr/>
            </a:lvl1pPr>
          </a:lstStyle>
          <a:p>
            <a:pPr>
              <a:defRPr/>
            </a:pPr>
            <a:fld id="{6E8D1917-CC6A-425B-83BF-6BFB9199F647}" type="slidenum">
              <a:rPr lang="zh-HK" altLang="en-US"/>
              <a:pPr>
                <a:defRPr/>
              </a:pPr>
              <a:t>‹#›</a:t>
            </a:fld>
            <a:endParaRPr lang="zh-HK" altLang="en-US"/>
          </a:p>
        </p:txBody>
      </p:sp>
    </p:spTree>
    <p:extLst>
      <p:ext uri="{BB962C8B-B14F-4D97-AF65-F5344CB8AC3E}">
        <p14:creationId xmlns:p14="http://schemas.microsoft.com/office/powerpoint/2010/main" val="1609025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ltLang="zh-HK"/>
              <a:t>Click to edit Master title style</a:t>
            </a:r>
            <a:endParaRPr lang="zh-HK"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Click to edit Master text styles</a:t>
            </a:r>
          </a:p>
        </p:txBody>
      </p:sp>
      <p:sp>
        <p:nvSpPr>
          <p:cNvPr id="4" name="Date Placeholder 3"/>
          <p:cNvSpPr>
            <a:spLocks noGrp="1"/>
          </p:cNvSpPr>
          <p:nvPr>
            <p:ph type="dt" sz="half" idx="10"/>
          </p:nvPr>
        </p:nvSpPr>
        <p:spPr/>
        <p:txBody>
          <a:bodyPr/>
          <a:lstStyle>
            <a:lvl1pPr>
              <a:defRPr/>
            </a:lvl1pPr>
          </a:lstStyle>
          <a:p>
            <a:pPr>
              <a:defRPr/>
            </a:pPr>
            <a:fld id="{67B2F200-2795-4CC6-8E18-72396C788E7E}" type="datetimeFigureOut">
              <a:rPr lang="zh-HK" altLang="en-US"/>
              <a:pPr>
                <a:defRPr/>
              </a:pPr>
              <a:t>23/9/2022</a:t>
            </a:fld>
            <a:endParaRPr lang="zh-HK" altLang="en-US"/>
          </a:p>
        </p:txBody>
      </p:sp>
      <p:sp>
        <p:nvSpPr>
          <p:cNvPr id="5" name="Footer Placeholder 4"/>
          <p:cNvSpPr>
            <a:spLocks noGrp="1"/>
          </p:cNvSpPr>
          <p:nvPr>
            <p:ph type="ftr" sz="quarter" idx="11"/>
          </p:nvPr>
        </p:nvSpPr>
        <p:spPr/>
        <p:txBody>
          <a:bodyPr/>
          <a:lstStyle>
            <a:lvl1pPr>
              <a:defRPr/>
            </a:lvl1pPr>
          </a:lstStyle>
          <a:p>
            <a:pPr>
              <a:defRPr/>
            </a:pPr>
            <a:endParaRPr lang="zh-HK" altLang="en-US"/>
          </a:p>
        </p:txBody>
      </p:sp>
      <p:sp>
        <p:nvSpPr>
          <p:cNvPr id="6" name="Slide Number Placeholder 5"/>
          <p:cNvSpPr>
            <a:spLocks noGrp="1"/>
          </p:cNvSpPr>
          <p:nvPr>
            <p:ph type="sldNum" sz="quarter" idx="12"/>
          </p:nvPr>
        </p:nvSpPr>
        <p:spPr/>
        <p:txBody>
          <a:bodyPr/>
          <a:lstStyle>
            <a:lvl1pPr>
              <a:defRPr/>
            </a:lvl1pPr>
          </a:lstStyle>
          <a:p>
            <a:pPr>
              <a:defRPr/>
            </a:pPr>
            <a:fld id="{CAE6EA63-B20E-41B9-AE52-121A99906DDB}" type="slidenum">
              <a:rPr lang="zh-HK" altLang="en-US"/>
              <a:pPr>
                <a:defRPr/>
              </a:pPr>
              <a:t>‹#›</a:t>
            </a:fld>
            <a:endParaRPr lang="zh-HK" altLang="en-US"/>
          </a:p>
        </p:txBody>
      </p:sp>
    </p:spTree>
    <p:extLst>
      <p:ext uri="{BB962C8B-B14F-4D97-AF65-F5344CB8AC3E}">
        <p14:creationId xmlns:p14="http://schemas.microsoft.com/office/powerpoint/2010/main" val="132400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zh-HK" altLang="en-US"/>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5" name="Date Placeholder 3"/>
          <p:cNvSpPr>
            <a:spLocks noGrp="1"/>
          </p:cNvSpPr>
          <p:nvPr>
            <p:ph type="dt" sz="half" idx="10"/>
          </p:nvPr>
        </p:nvSpPr>
        <p:spPr/>
        <p:txBody>
          <a:bodyPr/>
          <a:lstStyle>
            <a:lvl1pPr>
              <a:defRPr/>
            </a:lvl1pPr>
          </a:lstStyle>
          <a:p>
            <a:pPr>
              <a:defRPr/>
            </a:pPr>
            <a:fld id="{D1E787B2-E588-44C8-A6DA-E07CBBB69110}" type="datetimeFigureOut">
              <a:rPr lang="zh-HK" altLang="en-US"/>
              <a:pPr>
                <a:defRPr/>
              </a:pPr>
              <a:t>23/9/2022</a:t>
            </a:fld>
            <a:endParaRPr lang="zh-HK" altLang="en-US"/>
          </a:p>
        </p:txBody>
      </p:sp>
      <p:sp>
        <p:nvSpPr>
          <p:cNvPr id="6" name="Footer Placeholder 4"/>
          <p:cNvSpPr>
            <a:spLocks noGrp="1"/>
          </p:cNvSpPr>
          <p:nvPr>
            <p:ph type="ftr" sz="quarter" idx="11"/>
          </p:nvPr>
        </p:nvSpPr>
        <p:spPr/>
        <p:txBody>
          <a:bodyPr/>
          <a:lstStyle>
            <a:lvl1pPr>
              <a:defRPr/>
            </a:lvl1pPr>
          </a:lstStyle>
          <a:p>
            <a:pPr>
              <a:defRPr/>
            </a:pPr>
            <a:endParaRPr lang="zh-HK" altLang="en-US"/>
          </a:p>
        </p:txBody>
      </p:sp>
      <p:sp>
        <p:nvSpPr>
          <p:cNvPr id="7" name="Slide Number Placeholder 5"/>
          <p:cNvSpPr>
            <a:spLocks noGrp="1"/>
          </p:cNvSpPr>
          <p:nvPr>
            <p:ph type="sldNum" sz="quarter" idx="12"/>
          </p:nvPr>
        </p:nvSpPr>
        <p:spPr/>
        <p:txBody>
          <a:bodyPr/>
          <a:lstStyle>
            <a:lvl1pPr>
              <a:defRPr/>
            </a:lvl1pPr>
          </a:lstStyle>
          <a:p>
            <a:pPr>
              <a:defRPr/>
            </a:pPr>
            <a:fld id="{5560EA52-AC2C-4F52-B620-6DA6EAAD7AF6}" type="slidenum">
              <a:rPr lang="zh-HK" altLang="en-US"/>
              <a:pPr>
                <a:defRPr/>
              </a:pPr>
              <a:t>‹#›</a:t>
            </a:fld>
            <a:endParaRPr lang="zh-HK" altLang="en-US"/>
          </a:p>
        </p:txBody>
      </p:sp>
    </p:spTree>
    <p:extLst>
      <p:ext uri="{BB962C8B-B14F-4D97-AF65-F5344CB8AC3E}">
        <p14:creationId xmlns:p14="http://schemas.microsoft.com/office/powerpoint/2010/main" val="3897875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HK"/>
              <a:t>Click to edit Master title style</a:t>
            </a:r>
            <a:endParaRPr lang="zh-HK"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7" name="Date Placeholder 3"/>
          <p:cNvSpPr>
            <a:spLocks noGrp="1"/>
          </p:cNvSpPr>
          <p:nvPr>
            <p:ph type="dt" sz="half" idx="10"/>
          </p:nvPr>
        </p:nvSpPr>
        <p:spPr/>
        <p:txBody>
          <a:bodyPr/>
          <a:lstStyle>
            <a:lvl1pPr>
              <a:defRPr/>
            </a:lvl1pPr>
          </a:lstStyle>
          <a:p>
            <a:pPr>
              <a:defRPr/>
            </a:pPr>
            <a:fld id="{79EB1576-6E1D-4744-A170-02C7E3298EA9}" type="datetimeFigureOut">
              <a:rPr lang="zh-HK" altLang="en-US"/>
              <a:pPr>
                <a:defRPr/>
              </a:pPr>
              <a:t>23/9/2022</a:t>
            </a:fld>
            <a:endParaRPr lang="zh-HK" altLang="en-US"/>
          </a:p>
        </p:txBody>
      </p:sp>
      <p:sp>
        <p:nvSpPr>
          <p:cNvPr id="8" name="Footer Placeholder 4"/>
          <p:cNvSpPr>
            <a:spLocks noGrp="1"/>
          </p:cNvSpPr>
          <p:nvPr>
            <p:ph type="ftr" sz="quarter" idx="11"/>
          </p:nvPr>
        </p:nvSpPr>
        <p:spPr/>
        <p:txBody>
          <a:bodyPr/>
          <a:lstStyle>
            <a:lvl1pPr>
              <a:defRPr/>
            </a:lvl1pPr>
          </a:lstStyle>
          <a:p>
            <a:pPr>
              <a:defRPr/>
            </a:pPr>
            <a:endParaRPr lang="zh-HK" altLang="en-US"/>
          </a:p>
        </p:txBody>
      </p:sp>
      <p:sp>
        <p:nvSpPr>
          <p:cNvPr id="9" name="Slide Number Placeholder 5"/>
          <p:cNvSpPr>
            <a:spLocks noGrp="1"/>
          </p:cNvSpPr>
          <p:nvPr>
            <p:ph type="sldNum" sz="quarter" idx="12"/>
          </p:nvPr>
        </p:nvSpPr>
        <p:spPr/>
        <p:txBody>
          <a:bodyPr/>
          <a:lstStyle>
            <a:lvl1pPr>
              <a:defRPr/>
            </a:lvl1pPr>
          </a:lstStyle>
          <a:p>
            <a:pPr>
              <a:defRPr/>
            </a:pPr>
            <a:fld id="{3CDF1318-C836-45BC-8160-105D0C47AADD}" type="slidenum">
              <a:rPr lang="zh-HK" altLang="en-US"/>
              <a:pPr>
                <a:defRPr/>
              </a:pPr>
              <a:t>‹#›</a:t>
            </a:fld>
            <a:endParaRPr lang="zh-HK" altLang="en-US"/>
          </a:p>
        </p:txBody>
      </p:sp>
    </p:spTree>
    <p:extLst>
      <p:ext uri="{BB962C8B-B14F-4D97-AF65-F5344CB8AC3E}">
        <p14:creationId xmlns:p14="http://schemas.microsoft.com/office/powerpoint/2010/main" val="3099490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zh-HK" altLang="en-US"/>
          </a:p>
        </p:txBody>
      </p:sp>
      <p:sp>
        <p:nvSpPr>
          <p:cNvPr id="3" name="Date Placeholder 3"/>
          <p:cNvSpPr>
            <a:spLocks noGrp="1"/>
          </p:cNvSpPr>
          <p:nvPr>
            <p:ph type="dt" sz="half" idx="10"/>
          </p:nvPr>
        </p:nvSpPr>
        <p:spPr/>
        <p:txBody>
          <a:bodyPr/>
          <a:lstStyle>
            <a:lvl1pPr>
              <a:defRPr/>
            </a:lvl1pPr>
          </a:lstStyle>
          <a:p>
            <a:pPr>
              <a:defRPr/>
            </a:pPr>
            <a:fld id="{2BE6744A-F0AD-4099-9A40-AA06BE5BBA1E}" type="datetimeFigureOut">
              <a:rPr lang="zh-HK" altLang="en-US"/>
              <a:pPr>
                <a:defRPr/>
              </a:pPr>
              <a:t>23/9/2022</a:t>
            </a:fld>
            <a:endParaRPr lang="zh-HK" altLang="en-US"/>
          </a:p>
        </p:txBody>
      </p:sp>
      <p:sp>
        <p:nvSpPr>
          <p:cNvPr id="4" name="Footer Placeholder 4"/>
          <p:cNvSpPr>
            <a:spLocks noGrp="1"/>
          </p:cNvSpPr>
          <p:nvPr>
            <p:ph type="ftr" sz="quarter" idx="11"/>
          </p:nvPr>
        </p:nvSpPr>
        <p:spPr/>
        <p:txBody>
          <a:bodyPr/>
          <a:lstStyle>
            <a:lvl1pPr>
              <a:defRPr/>
            </a:lvl1pPr>
          </a:lstStyle>
          <a:p>
            <a:pPr>
              <a:defRPr/>
            </a:pPr>
            <a:endParaRPr lang="zh-HK" altLang="en-US"/>
          </a:p>
        </p:txBody>
      </p:sp>
      <p:sp>
        <p:nvSpPr>
          <p:cNvPr id="5" name="Slide Number Placeholder 5"/>
          <p:cNvSpPr>
            <a:spLocks noGrp="1"/>
          </p:cNvSpPr>
          <p:nvPr>
            <p:ph type="sldNum" sz="quarter" idx="12"/>
          </p:nvPr>
        </p:nvSpPr>
        <p:spPr/>
        <p:txBody>
          <a:bodyPr/>
          <a:lstStyle>
            <a:lvl1pPr>
              <a:defRPr/>
            </a:lvl1pPr>
          </a:lstStyle>
          <a:p>
            <a:pPr>
              <a:defRPr/>
            </a:pPr>
            <a:fld id="{D73BF5BC-6AAA-443A-9DF3-08CC12BE360D}" type="slidenum">
              <a:rPr lang="zh-HK" altLang="en-US"/>
              <a:pPr>
                <a:defRPr/>
              </a:pPr>
              <a:t>‹#›</a:t>
            </a:fld>
            <a:endParaRPr lang="zh-HK" altLang="en-US"/>
          </a:p>
        </p:txBody>
      </p:sp>
    </p:spTree>
    <p:extLst>
      <p:ext uri="{BB962C8B-B14F-4D97-AF65-F5344CB8AC3E}">
        <p14:creationId xmlns:p14="http://schemas.microsoft.com/office/powerpoint/2010/main" val="1564894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F5EDB34-503C-48EF-A225-E77B76C203BB}" type="datetimeFigureOut">
              <a:rPr lang="zh-HK" altLang="en-US"/>
              <a:pPr>
                <a:defRPr/>
              </a:pPr>
              <a:t>23/9/2022</a:t>
            </a:fld>
            <a:endParaRPr lang="zh-HK" altLang="en-US"/>
          </a:p>
        </p:txBody>
      </p:sp>
      <p:sp>
        <p:nvSpPr>
          <p:cNvPr id="3" name="Footer Placeholder 4"/>
          <p:cNvSpPr>
            <a:spLocks noGrp="1"/>
          </p:cNvSpPr>
          <p:nvPr>
            <p:ph type="ftr" sz="quarter" idx="11"/>
          </p:nvPr>
        </p:nvSpPr>
        <p:spPr/>
        <p:txBody>
          <a:bodyPr/>
          <a:lstStyle>
            <a:lvl1pPr>
              <a:defRPr/>
            </a:lvl1pPr>
          </a:lstStyle>
          <a:p>
            <a:pPr>
              <a:defRPr/>
            </a:pPr>
            <a:endParaRPr lang="zh-HK" altLang="en-US"/>
          </a:p>
        </p:txBody>
      </p:sp>
      <p:sp>
        <p:nvSpPr>
          <p:cNvPr id="4" name="Slide Number Placeholder 5"/>
          <p:cNvSpPr>
            <a:spLocks noGrp="1"/>
          </p:cNvSpPr>
          <p:nvPr>
            <p:ph type="sldNum" sz="quarter" idx="12"/>
          </p:nvPr>
        </p:nvSpPr>
        <p:spPr/>
        <p:txBody>
          <a:bodyPr/>
          <a:lstStyle>
            <a:lvl1pPr>
              <a:defRPr/>
            </a:lvl1pPr>
          </a:lstStyle>
          <a:p>
            <a:pPr>
              <a:defRPr/>
            </a:pPr>
            <a:fld id="{FD28D11B-DB57-4E34-B2C4-11D7E72D8C9A}" type="slidenum">
              <a:rPr lang="zh-HK" altLang="en-US"/>
              <a:pPr>
                <a:defRPr/>
              </a:pPr>
              <a:t>‹#›</a:t>
            </a:fld>
            <a:endParaRPr lang="zh-HK" altLang="en-US"/>
          </a:p>
        </p:txBody>
      </p:sp>
    </p:spTree>
    <p:extLst>
      <p:ext uri="{BB962C8B-B14F-4D97-AF65-F5344CB8AC3E}">
        <p14:creationId xmlns:p14="http://schemas.microsoft.com/office/powerpoint/2010/main" val="3273183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ltLang="zh-HK"/>
              <a:t>Click to edit Master title style</a:t>
            </a:r>
            <a:endParaRPr lang="zh-HK" alt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HK"/>
              <a:t>Click to edit Master text styles</a:t>
            </a:r>
          </a:p>
        </p:txBody>
      </p:sp>
      <p:sp>
        <p:nvSpPr>
          <p:cNvPr id="5" name="Date Placeholder 3"/>
          <p:cNvSpPr>
            <a:spLocks noGrp="1"/>
          </p:cNvSpPr>
          <p:nvPr>
            <p:ph type="dt" sz="half" idx="10"/>
          </p:nvPr>
        </p:nvSpPr>
        <p:spPr/>
        <p:txBody>
          <a:bodyPr/>
          <a:lstStyle>
            <a:lvl1pPr>
              <a:defRPr/>
            </a:lvl1pPr>
          </a:lstStyle>
          <a:p>
            <a:pPr>
              <a:defRPr/>
            </a:pPr>
            <a:fld id="{FA2CDA26-DE70-4AA9-ACD0-BB373EA4F9F5}" type="datetimeFigureOut">
              <a:rPr lang="zh-HK" altLang="en-US"/>
              <a:pPr>
                <a:defRPr/>
              </a:pPr>
              <a:t>23/9/2022</a:t>
            </a:fld>
            <a:endParaRPr lang="zh-HK" altLang="en-US"/>
          </a:p>
        </p:txBody>
      </p:sp>
      <p:sp>
        <p:nvSpPr>
          <p:cNvPr id="6" name="Footer Placeholder 4"/>
          <p:cNvSpPr>
            <a:spLocks noGrp="1"/>
          </p:cNvSpPr>
          <p:nvPr>
            <p:ph type="ftr" sz="quarter" idx="11"/>
          </p:nvPr>
        </p:nvSpPr>
        <p:spPr/>
        <p:txBody>
          <a:bodyPr/>
          <a:lstStyle>
            <a:lvl1pPr>
              <a:defRPr/>
            </a:lvl1pPr>
          </a:lstStyle>
          <a:p>
            <a:pPr>
              <a:defRPr/>
            </a:pPr>
            <a:endParaRPr lang="zh-HK" altLang="en-US"/>
          </a:p>
        </p:txBody>
      </p:sp>
      <p:sp>
        <p:nvSpPr>
          <p:cNvPr id="7" name="Slide Number Placeholder 5"/>
          <p:cNvSpPr>
            <a:spLocks noGrp="1"/>
          </p:cNvSpPr>
          <p:nvPr>
            <p:ph type="sldNum" sz="quarter" idx="12"/>
          </p:nvPr>
        </p:nvSpPr>
        <p:spPr/>
        <p:txBody>
          <a:bodyPr/>
          <a:lstStyle>
            <a:lvl1pPr>
              <a:defRPr/>
            </a:lvl1pPr>
          </a:lstStyle>
          <a:p>
            <a:pPr>
              <a:defRPr/>
            </a:pPr>
            <a:fld id="{DA7ACA07-A0C2-4BA9-AF94-DDBA17118F17}" type="slidenum">
              <a:rPr lang="zh-HK" altLang="en-US"/>
              <a:pPr>
                <a:defRPr/>
              </a:pPr>
              <a:t>‹#›</a:t>
            </a:fld>
            <a:endParaRPr lang="zh-HK" altLang="en-US"/>
          </a:p>
        </p:txBody>
      </p:sp>
    </p:spTree>
    <p:extLst>
      <p:ext uri="{BB962C8B-B14F-4D97-AF65-F5344CB8AC3E}">
        <p14:creationId xmlns:p14="http://schemas.microsoft.com/office/powerpoint/2010/main" val="429396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HK"/>
              <a:t>Click to edit Master title style</a:t>
            </a:r>
            <a:endParaRPr lang="zh-HK" alt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HK" alt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HK"/>
              <a:t>Click to edit Master text styles</a:t>
            </a:r>
          </a:p>
        </p:txBody>
      </p:sp>
      <p:sp>
        <p:nvSpPr>
          <p:cNvPr id="5" name="Date Placeholder 3"/>
          <p:cNvSpPr>
            <a:spLocks noGrp="1"/>
          </p:cNvSpPr>
          <p:nvPr>
            <p:ph type="dt" sz="half" idx="10"/>
          </p:nvPr>
        </p:nvSpPr>
        <p:spPr/>
        <p:txBody>
          <a:bodyPr/>
          <a:lstStyle>
            <a:lvl1pPr>
              <a:defRPr/>
            </a:lvl1pPr>
          </a:lstStyle>
          <a:p>
            <a:pPr>
              <a:defRPr/>
            </a:pPr>
            <a:fld id="{909CC396-5C2A-4BB6-9514-A4F705EFAD53}" type="datetimeFigureOut">
              <a:rPr lang="zh-HK" altLang="en-US"/>
              <a:pPr>
                <a:defRPr/>
              </a:pPr>
              <a:t>23/9/2022</a:t>
            </a:fld>
            <a:endParaRPr lang="zh-HK" altLang="en-US"/>
          </a:p>
        </p:txBody>
      </p:sp>
      <p:sp>
        <p:nvSpPr>
          <p:cNvPr id="6" name="Footer Placeholder 4"/>
          <p:cNvSpPr>
            <a:spLocks noGrp="1"/>
          </p:cNvSpPr>
          <p:nvPr>
            <p:ph type="ftr" sz="quarter" idx="11"/>
          </p:nvPr>
        </p:nvSpPr>
        <p:spPr/>
        <p:txBody>
          <a:bodyPr/>
          <a:lstStyle>
            <a:lvl1pPr>
              <a:defRPr/>
            </a:lvl1pPr>
          </a:lstStyle>
          <a:p>
            <a:pPr>
              <a:defRPr/>
            </a:pPr>
            <a:endParaRPr lang="zh-HK" altLang="en-US"/>
          </a:p>
        </p:txBody>
      </p:sp>
      <p:sp>
        <p:nvSpPr>
          <p:cNvPr id="7" name="Slide Number Placeholder 5"/>
          <p:cNvSpPr>
            <a:spLocks noGrp="1"/>
          </p:cNvSpPr>
          <p:nvPr>
            <p:ph type="sldNum" sz="quarter" idx="12"/>
          </p:nvPr>
        </p:nvSpPr>
        <p:spPr/>
        <p:txBody>
          <a:bodyPr/>
          <a:lstStyle>
            <a:lvl1pPr>
              <a:defRPr/>
            </a:lvl1pPr>
          </a:lstStyle>
          <a:p>
            <a:pPr>
              <a:defRPr/>
            </a:pPr>
            <a:fld id="{F12421F6-EC49-46C5-9F80-6EB8AE415F2E}" type="slidenum">
              <a:rPr lang="zh-HK" altLang="en-US"/>
              <a:pPr>
                <a:defRPr/>
              </a:pPr>
              <a:t>‹#›</a:t>
            </a:fld>
            <a:endParaRPr lang="zh-HK" altLang="en-US"/>
          </a:p>
        </p:txBody>
      </p:sp>
    </p:spTree>
    <p:extLst>
      <p:ext uri="{BB962C8B-B14F-4D97-AF65-F5344CB8AC3E}">
        <p14:creationId xmlns:p14="http://schemas.microsoft.com/office/powerpoint/2010/main" val="2001372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zh-HK" altLang="en-US"/>
          </a:p>
        </p:txBody>
      </p:sp>
      <p:sp>
        <p:nvSpPr>
          <p:cNvPr id="3" name="Vertical Text Placeholder 2"/>
          <p:cNvSpPr>
            <a:spLocks noGrp="1"/>
          </p:cNvSpPr>
          <p:nvPr>
            <p:ph type="body" orient="vert" idx="1"/>
          </p:nvPr>
        </p:nvSpPr>
        <p:spPr/>
        <p:txBody>
          <a:bodyPr vert="eaVert"/>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p:cNvSpPr>
            <a:spLocks noGrp="1"/>
          </p:cNvSpPr>
          <p:nvPr>
            <p:ph type="dt" sz="half" idx="10"/>
          </p:nvPr>
        </p:nvSpPr>
        <p:spPr/>
        <p:txBody>
          <a:bodyPr/>
          <a:lstStyle>
            <a:lvl1pPr>
              <a:defRPr/>
            </a:lvl1pPr>
          </a:lstStyle>
          <a:p>
            <a:pPr>
              <a:defRPr/>
            </a:pPr>
            <a:fld id="{B0C20EF2-7F40-4737-94AA-F749E4EE5628}" type="datetimeFigureOut">
              <a:rPr lang="zh-HK" altLang="en-US"/>
              <a:pPr>
                <a:defRPr/>
              </a:pPr>
              <a:t>23/9/2022</a:t>
            </a:fld>
            <a:endParaRPr lang="zh-HK" altLang="en-US"/>
          </a:p>
        </p:txBody>
      </p:sp>
      <p:sp>
        <p:nvSpPr>
          <p:cNvPr id="5" name="Footer Placeholder 4"/>
          <p:cNvSpPr>
            <a:spLocks noGrp="1"/>
          </p:cNvSpPr>
          <p:nvPr>
            <p:ph type="ftr" sz="quarter" idx="11"/>
          </p:nvPr>
        </p:nvSpPr>
        <p:spPr/>
        <p:txBody>
          <a:bodyPr/>
          <a:lstStyle>
            <a:lvl1pPr>
              <a:defRPr/>
            </a:lvl1pPr>
          </a:lstStyle>
          <a:p>
            <a:pPr>
              <a:defRPr/>
            </a:pPr>
            <a:endParaRPr lang="zh-HK" altLang="en-US"/>
          </a:p>
        </p:txBody>
      </p:sp>
      <p:sp>
        <p:nvSpPr>
          <p:cNvPr id="6" name="Slide Number Placeholder 5"/>
          <p:cNvSpPr>
            <a:spLocks noGrp="1"/>
          </p:cNvSpPr>
          <p:nvPr>
            <p:ph type="sldNum" sz="quarter" idx="12"/>
          </p:nvPr>
        </p:nvSpPr>
        <p:spPr/>
        <p:txBody>
          <a:bodyPr/>
          <a:lstStyle>
            <a:lvl1pPr>
              <a:defRPr/>
            </a:lvl1pPr>
          </a:lstStyle>
          <a:p>
            <a:pPr>
              <a:defRPr/>
            </a:pPr>
            <a:fld id="{73D94DDE-ED68-4264-9FB7-A67C586C9415}" type="slidenum">
              <a:rPr lang="zh-HK" altLang="en-US"/>
              <a:pPr>
                <a:defRPr/>
              </a:pPr>
              <a:t>‹#›</a:t>
            </a:fld>
            <a:endParaRPr lang="zh-HK" altLang="en-US"/>
          </a:p>
        </p:txBody>
      </p:sp>
    </p:spTree>
    <p:extLst>
      <p:ext uri="{BB962C8B-B14F-4D97-AF65-F5344CB8AC3E}">
        <p14:creationId xmlns:p14="http://schemas.microsoft.com/office/powerpoint/2010/main" val="645749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ltLang="zh-HK"/>
              <a:t>Click to edit Master title style</a:t>
            </a:r>
            <a:endParaRPr lang="zh-HK" altLang="en-US"/>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p:cNvSpPr>
            <a:spLocks noGrp="1"/>
          </p:cNvSpPr>
          <p:nvPr>
            <p:ph type="dt" sz="half" idx="10"/>
          </p:nvPr>
        </p:nvSpPr>
        <p:spPr/>
        <p:txBody>
          <a:bodyPr/>
          <a:lstStyle>
            <a:lvl1pPr>
              <a:defRPr/>
            </a:lvl1pPr>
          </a:lstStyle>
          <a:p>
            <a:pPr>
              <a:defRPr/>
            </a:pPr>
            <a:fld id="{C00F751A-933D-453A-AC5D-995CC9F4BB23}" type="datetimeFigureOut">
              <a:rPr lang="zh-HK" altLang="en-US"/>
              <a:pPr>
                <a:defRPr/>
              </a:pPr>
              <a:t>23/9/2022</a:t>
            </a:fld>
            <a:endParaRPr lang="zh-HK" altLang="en-US"/>
          </a:p>
        </p:txBody>
      </p:sp>
      <p:sp>
        <p:nvSpPr>
          <p:cNvPr id="5" name="Footer Placeholder 4"/>
          <p:cNvSpPr>
            <a:spLocks noGrp="1"/>
          </p:cNvSpPr>
          <p:nvPr>
            <p:ph type="ftr" sz="quarter" idx="11"/>
          </p:nvPr>
        </p:nvSpPr>
        <p:spPr/>
        <p:txBody>
          <a:bodyPr/>
          <a:lstStyle>
            <a:lvl1pPr>
              <a:defRPr/>
            </a:lvl1pPr>
          </a:lstStyle>
          <a:p>
            <a:pPr>
              <a:defRPr/>
            </a:pPr>
            <a:endParaRPr lang="zh-HK" altLang="en-US"/>
          </a:p>
        </p:txBody>
      </p:sp>
      <p:sp>
        <p:nvSpPr>
          <p:cNvPr id="6" name="Slide Number Placeholder 5"/>
          <p:cNvSpPr>
            <a:spLocks noGrp="1"/>
          </p:cNvSpPr>
          <p:nvPr>
            <p:ph type="sldNum" sz="quarter" idx="12"/>
          </p:nvPr>
        </p:nvSpPr>
        <p:spPr/>
        <p:txBody>
          <a:bodyPr/>
          <a:lstStyle>
            <a:lvl1pPr>
              <a:defRPr/>
            </a:lvl1pPr>
          </a:lstStyle>
          <a:p>
            <a:pPr>
              <a:defRPr/>
            </a:pPr>
            <a:fld id="{6EE35F0A-63D2-4099-BC99-044A1062BD88}" type="slidenum">
              <a:rPr lang="zh-HK" altLang="en-US"/>
              <a:pPr>
                <a:defRPr/>
              </a:pPr>
              <a:t>‹#›</a:t>
            </a:fld>
            <a:endParaRPr lang="zh-HK" altLang="en-US"/>
          </a:p>
        </p:txBody>
      </p:sp>
    </p:spTree>
    <p:extLst>
      <p:ext uri="{BB962C8B-B14F-4D97-AF65-F5344CB8AC3E}">
        <p14:creationId xmlns:p14="http://schemas.microsoft.com/office/powerpoint/2010/main" val="19215949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CC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207" r:id="rId1"/>
  </p:sldLayoutIdLst>
  <p:hf sldNum="0" hdr="0" dt="0"/>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5pPr>
      <a:lvl6pPr marL="25146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8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90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2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900" indent="-342900" algn="l" defTabSz="449263" rtl="0" eaLnBrk="0" fontAlgn="base" hangingPunct="0">
        <a:spcBef>
          <a:spcPts val="700"/>
        </a:spcBef>
        <a:spcAft>
          <a:spcPct val="0"/>
        </a:spcAft>
        <a:buClr>
          <a:srgbClr val="000000"/>
        </a:buClr>
        <a:buSzPct val="100000"/>
        <a:buFont typeface="Times New Roman" panose="02020603050405020304" pitchFamily="18" charset="0"/>
        <a:defRPr sz="2800">
          <a:solidFill>
            <a:srgbClr val="000000"/>
          </a:solidFill>
          <a:latin typeface="+mn-lt"/>
          <a:ea typeface="+mn-ea"/>
          <a:cs typeface="+mn-cs"/>
        </a:defRPr>
      </a:lvl1pPr>
      <a:lvl2pPr marL="742950" indent="-285750" algn="l" defTabSz="449263" rtl="0" eaLnBrk="0" fontAlgn="base" hangingPunct="0">
        <a:spcBef>
          <a:spcPts val="650"/>
        </a:spcBef>
        <a:spcAft>
          <a:spcPct val="0"/>
        </a:spcAft>
        <a:buClr>
          <a:srgbClr val="000000"/>
        </a:buClr>
        <a:buSzPct val="100000"/>
        <a:buFont typeface="Times New Roman" panose="02020603050405020304" pitchFamily="18" charset="0"/>
        <a:defRPr sz="2600">
          <a:solidFill>
            <a:srgbClr val="000000"/>
          </a:solidFill>
          <a:latin typeface="+mn-lt"/>
          <a:cs typeface="+mn-cs"/>
        </a:defRPr>
      </a:lvl2pPr>
      <a:lvl3pPr marL="1143000" indent="-228600" algn="l" defTabSz="449263" rtl="0" eaLnBrk="0" fontAlgn="base" hangingPunct="0">
        <a:spcBef>
          <a:spcPts val="575"/>
        </a:spcBef>
        <a:spcAft>
          <a:spcPct val="0"/>
        </a:spcAft>
        <a:buClr>
          <a:srgbClr val="000000"/>
        </a:buClr>
        <a:buSzPct val="100000"/>
        <a:buFont typeface="Times New Roman" panose="02020603050405020304" pitchFamily="18" charset="0"/>
        <a:defRPr sz="2300">
          <a:solidFill>
            <a:srgbClr val="000000"/>
          </a:solidFill>
          <a:latin typeface="+mn-lt"/>
          <a:cs typeface="+mn-cs"/>
        </a:defRPr>
      </a:lvl3pPr>
      <a:lvl4pPr marL="16002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cs typeface="+mn-cs"/>
        </a:defRPr>
      </a:lvl4pPr>
      <a:lvl5pPr marL="20574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cs typeface="+mn-cs"/>
        </a:defRPr>
      </a:lvl5pPr>
      <a:lvl6pPr marL="25146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5pPr>
      <a:lvl6pPr marL="25146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8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90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2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900" indent="-342900" algn="l" defTabSz="449263" rtl="0" eaLnBrk="0" fontAlgn="base" hangingPunct="0">
        <a:spcBef>
          <a:spcPts val="700"/>
        </a:spcBef>
        <a:spcAft>
          <a:spcPct val="0"/>
        </a:spcAft>
        <a:buSzPct val="100000"/>
        <a:buFont typeface="Wingdings" panose="05000000000000000000" pitchFamily="2" charset="2"/>
        <a:defRPr sz="2400">
          <a:solidFill>
            <a:srgbClr val="000000"/>
          </a:solidFill>
          <a:latin typeface="+mn-lt"/>
          <a:ea typeface="+mn-ea"/>
          <a:cs typeface="+mn-cs"/>
        </a:defRPr>
      </a:lvl1pPr>
      <a:lvl2pPr marL="914400" indent="-457200" algn="l" defTabSz="449263" rtl="0" eaLnBrk="0" fontAlgn="base" hangingPunct="0">
        <a:spcBef>
          <a:spcPts val="650"/>
        </a:spcBef>
        <a:spcAft>
          <a:spcPct val="0"/>
        </a:spcAft>
        <a:buSzPct val="100000"/>
        <a:buFont typeface="Wingdings" panose="05000000000000000000" pitchFamily="2" charset="2"/>
        <a:buChar char="§"/>
        <a:defRPr sz="2400">
          <a:solidFill>
            <a:srgbClr val="000000"/>
          </a:solidFill>
          <a:latin typeface="+mn-lt"/>
          <a:cs typeface="+mn-cs"/>
        </a:defRPr>
      </a:lvl2pPr>
      <a:lvl3pPr marL="1257300" indent="-342900" algn="l" defTabSz="449263" rtl="0" eaLnBrk="0" fontAlgn="base" hangingPunct="0">
        <a:spcBef>
          <a:spcPts val="575"/>
        </a:spcBef>
        <a:spcAft>
          <a:spcPct val="0"/>
        </a:spcAft>
        <a:buSzPct val="100000"/>
        <a:buFont typeface="Wingdings" panose="05000000000000000000" pitchFamily="2" charset="2"/>
        <a:buChar char="§"/>
        <a:defRPr sz="2400">
          <a:solidFill>
            <a:srgbClr val="000000"/>
          </a:solidFill>
          <a:latin typeface="+mn-lt"/>
          <a:cs typeface="+mn-cs"/>
        </a:defRPr>
      </a:lvl3pPr>
      <a:lvl4pPr marL="17145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4pPr>
      <a:lvl5pPr marL="21717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5pPr>
      <a:lvl6pPr marL="25146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HK"/>
              <a:t>Click to edit Master title style</a:t>
            </a:r>
            <a:endParaRPr lang="zh-HK" altLang="en-US"/>
          </a:p>
        </p:txBody>
      </p:sp>
      <p:sp>
        <p:nvSpPr>
          <p:cNvPr id="1027" name="Text Placeholder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C23A774-E2FD-4DE3-AE57-6756A6C7BDE4}" type="datetimeFigureOut">
              <a:rPr lang="zh-HK" altLang="en-US"/>
              <a:pPr>
                <a:defRPr/>
              </a:pPr>
              <a:t>23/9/2022</a:t>
            </a:fld>
            <a:endParaRPr lang="zh-HK" alt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HK" alt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7E334142-7469-4CFC-914E-B4090BA5D5D6}" type="slidenum">
              <a:rPr lang="zh-HK" altLang="en-US"/>
              <a:pPr>
                <a:defRPr/>
              </a:pPr>
              <a:t>‹#›</a:t>
            </a:fld>
            <a:endParaRPr lang="zh-HK" altLang="en-US"/>
          </a:p>
        </p:txBody>
      </p:sp>
    </p:spTree>
  </p:cSld>
  <p:clrMap bg1="lt1" tx1="dk1" bg2="lt2" tx2="dk2" accent1="accent1" accent2="accent2" accent3="accent3" accent4="accent4" accent5="accent5" accent6="accent6" hlink="hlink" folHlink="folHlink"/>
  <p:sldLayoutIdLst>
    <p:sldLayoutId id="2147484196" r:id="rId1"/>
    <p:sldLayoutId id="2147484197" r:id="rId2"/>
    <p:sldLayoutId id="2147484198" r:id="rId3"/>
    <p:sldLayoutId id="2147484199" r:id="rId4"/>
    <p:sldLayoutId id="2147484200" r:id="rId5"/>
    <p:sldLayoutId id="2147484201" r:id="rId6"/>
    <p:sldLayoutId id="2147484202" r:id="rId7"/>
    <p:sldLayoutId id="2147484203" r:id="rId8"/>
    <p:sldLayoutId id="2147484204" r:id="rId9"/>
    <p:sldLayoutId id="2147484205" r:id="rId10"/>
    <p:sldLayoutId id="2147484206"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19.wmf"/></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1.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3.wmf"/><Relationship Id="rId5" Type="http://schemas.openxmlformats.org/officeDocument/2006/relationships/oleObject" Target="../embeddings/oleObject6.bin"/><Relationship Id="rId4" Type="http://schemas.openxmlformats.org/officeDocument/2006/relationships/image" Target="../media/image22.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5.wmf"/><Relationship Id="rId5" Type="http://schemas.openxmlformats.org/officeDocument/2006/relationships/oleObject" Target="../embeddings/oleObject8.bin"/><Relationship Id="rId4" Type="http://schemas.openxmlformats.org/officeDocument/2006/relationships/image" Target="../media/image24.wmf"/></Relationships>
</file>

<file path=ppt/slides/_rels/slide41.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8.wmf"/><Relationship Id="rId5" Type="http://schemas.openxmlformats.org/officeDocument/2006/relationships/oleObject" Target="../embeddings/oleObject11.bin"/><Relationship Id="rId4" Type="http://schemas.openxmlformats.org/officeDocument/2006/relationships/image" Target="../media/image27.wmf"/></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33.wmf"/><Relationship Id="rId5" Type="http://schemas.openxmlformats.org/officeDocument/2006/relationships/oleObject" Target="../embeddings/oleObject14.bin"/><Relationship Id="rId4" Type="http://schemas.openxmlformats.org/officeDocument/2006/relationships/image" Target="../media/image32.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36.wmf"/><Relationship Id="rId7" Type="http://schemas.openxmlformats.org/officeDocument/2006/relationships/image" Target="../media/image38.wmf"/><Relationship Id="rId2" Type="http://schemas.openxmlformats.org/officeDocument/2006/relationships/oleObject" Target="../embeddings/oleObject16.bin"/><Relationship Id="rId1" Type="http://schemas.openxmlformats.org/officeDocument/2006/relationships/slideLayout" Target="../slideLayouts/slideLayout3.xml"/><Relationship Id="rId6" Type="http://schemas.openxmlformats.org/officeDocument/2006/relationships/oleObject" Target="../embeddings/oleObject18.bin"/><Relationship Id="rId5" Type="http://schemas.openxmlformats.org/officeDocument/2006/relationships/image" Target="../media/image37.wmf"/><Relationship Id="rId4" Type="http://schemas.openxmlformats.org/officeDocument/2006/relationships/oleObject" Target="../embeddings/oleObject17.bin"/><Relationship Id="rId9" Type="http://schemas.openxmlformats.org/officeDocument/2006/relationships/image" Target="../media/image39.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755650" y="1052515"/>
            <a:ext cx="7772400" cy="1470025"/>
          </a:xfrm>
        </p:spPr>
        <p:txBody>
          <a:bodyPr/>
          <a:lstStyle/>
          <a:p>
            <a:pPr eaLnBrk="1" hangingPunct="1"/>
            <a:r>
              <a:rPr lang="en-US" altLang="zh-HK"/>
              <a:t>Econ 7900</a:t>
            </a:r>
            <a:br>
              <a:rPr lang="en-US" altLang="zh-HK"/>
            </a:br>
            <a:r>
              <a:rPr lang="en-US" altLang="zh-HK"/>
              <a:t>Statistics for Data Science </a:t>
            </a:r>
            <a:endParaRPr lang="zh-HK" altLang="en-US"/>
          </a:p>
        </p:txBody>
      </p:sp>
      <p:sp>
        <p:nvSpPr>
          <p:cNvPr id="3" name="Subtitle 2"/>
          <p:cNvSpPr>
            <a:spLocks noGrp="1"/>
          </p:cNvSpPr>
          <p:nvPr>
            <p:ph type="subTitle" idx="1"/>
          </p:nvPr>
        </p:nvSpPr>
        <p:spPr>
          <a:xfrm>
            <a:off x="1403350" y="3213100"/>
            <a:ext cx="6400800" cy="3024188"/>
          </a:xfrm>
        </p:spPr>
        <p:txBody>
          <a:bodyPr rtlCol="0">
            <a:normAutofit/>
          </a:bodyPr>
          <a:lstStyle/>
          <a:p>
            <a:pPr eaLnBrk="1" fontAlgn="auto" hangingPunct="1">
              <a:spcAft>
                <a:spcPts val="0"/>
              </a:spcAft>
              <a:defRPr/>
            </a:pPr>
            <a:r>
              <a:rPr lang="en-US" altLang="zh-HK" b="1" dirty="0"/>
              <a:t>Instructor: </a:t>
            </a:r>
            <a:r>
              <a:rPr lang="en-US" altLang="zh-HK" dirty="0"/>
              <a:t>CAO Kang Hua </a:t>
            </a:r>
            <a:r>
              <a:rPr lang="en-US" altLang="zh-HK" dirty="0" err="1"/>
              <a:t>曹康華</a:t>
            </a:r>
            <a:endParaRPr lang="en-US" altLang="zh-HK" dirty="0"/>
          </a:p>
          <a:p>
            <a:pPr eaLnBrk="1" fontAlgn="auto" hangingPunct="1">
              <a:spcAft>
                <a:spcPts val="0"/>
              </a:spcAft>
              <a:defRPr/>
            </a:pPr>
            <a:endParaRPr lang="en-US" altLang="zh-TW" dirty="0"/>
          </a:p>
          <a:p>
            <a:pPr algn="l" eaLnBrk="1" fontAlgn="auto" hangingPunct="1">
              <a:spcAft>
                <a:spcPts val="0"/>
              </a:spcAft>
              <a:defRPr/>
            </a:pPr>
            <a:r>
              <a:rPr lang="en-US" altLang="zh-TW" dirty="0"/>
              <a:t>Lecture 2</a:t>
            </a:r>
          </a:p>
          <a:p>
            <a:pPr marL="457200" indent="-457200" algn="l" eaLnBrk="1" fontAlgn="auto" hangingPunct="1">
              <a:spcAft>
                <a:spcPts val="0"/>
              </a:spcAft>
              <a:buFont typeface="Arial" panose="020B0604020202020204" pitchFamily="34" charset="0"/>
              <a:buChar char="•"/>
              <a:defRPr/>
            </a:pPr>
            <a:r>
              <a:rPr lang="en-US" altLang="zh-TW" dirty="0"/>
              <a:t>Probabilities</a:t>
            </a:r>
            <a:endParaRPr lang="en-US" altLang="en-US" dirty="0"/>
          </a:p>
          <a:p>
            <a:pPr marL="457200" indent="-457200" algn="l" eaLnBrk="1" fontAlgn="auto" hangingPunct="1">
              <a:spcAft>
                <a:spcPts val="0"/>
              </a:spcAft>
              <a:buFont typeface="Arial" panose="020B0604020202020204" pitchFamily="34" charset="0"/>
              <a:buChar char="•"/>
              <a:defRPr/>
            </a:pPr>
            <a:endParaRPr lang="en-US" altLang="zh-TW"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type="body" sz="quarter" idx="4294967295"/>
          </p:nvPr>
        </p:nvSpPr>
        <p:spPr>
          <a:xfrm>
            <a:off x="762000" y="1485900"/>
            <a:ext cx="7924800" cy="4724400"/>
          </a:xfrm>
          <a:solidFill>
            <a:srgbClr val="FFFFFF"/>
          </a:solidFill>
        </p:spPr>
        <p:txBody>
          <a:bodyPr vert="horz" wrap="square" lIns="0" tIns="45720" rIns="0" bIns="45720" numCol="1" anchor="t" anchorCtr="0" compatLnSpc="1">
            <a:prstTxWarp prst="textNoShape">
              <a:avLst/>
            </a:prstTxWarp>
          </a:bodyPr>
          <a:lstStyle/>
          <a:p>
            <a:pPr marL="0" indent="0">
              <a:lnSpc>
                <a:spcPct val="90000"/>
              </a:lnSpc>
              <a:buNone/>
              <a:defRPr/>
            </a:pPr>
            <a:r>
              <a:rPr lang="en-US" altLang="en-US" sz="2400" b="1" dirty="0"/>
              <a:t>Phenomena</a:t>
            </a:r>
            <a:r>
              <a:rPr lang="en-US" altLang="en-US" sz="2400" dirty="0"/>
              <a:t> are any observable occurrences.</a:t>
            </a:r>
          </a:p>
          <a:p>
            <a:pPr marL="0" indent="0">
              <a:lnSpc>
                <a:spcPct val="90000"/>
              </a:lnSpc>
              <a:defRPr/>
            </a:pPr>
            <a:endParaRPr lang="en-US" altLang="en-US" sz="2400" dirty="0"/>
          </a:p>
          <a:p>
            <a:pPr>
              <a:buFont typeface="Wingdings" panose="05000000000000000000" pitchFamily="2" charset="2"/>
              <a:buChar char="§"/>
              <a:defRPr/>
            </a:pPr>
            <a:r>
              <a:rPr lang="en-US" sz="2400" dirty="0"/>
              <a:t>With a </a:t>
            </a:r>
            <a:r>
              <a:rPr lang="en-US" sz="2400" i="1" dirty="0"/>
              <a:t>small </a:t>
            </a:r>
            <a:r>
              <a:rPr lang="en-US" sz="2400" dirty="0"/>
              <a:t>number of observations, outcomes of </a:t>
            </a:r>
            <a:r>
              <a:rPr lang="en-US" sz="2400" i="1" dirty="0"/>
              <a:t>random phenomena </a:t>
            </a:r>
            <a:r>
              <a:rPr lang="en-US" sz="2400" dirty="0"/>
              <a:t>may look quite different from what you expect</a:t>
            </a:r>
            <a:r>
              <a:rPr lang="en-US" altLang="en-US" sz="2400" dirty="0"/>
              <a:t>.</a:t>
            </a:r>
            <a:br>
              <a:rPr lang="en-US" altLang="en-US" sz="2400" dirty="0"/>
            </a:br>
            <a:endParaRPr lang="en-US" altLang="en-US" sz="2400" dirty="0"/>
          </a:p>
          <a:p>
            <a:pPr>
              <a:buFont typeface="Wingdings" panose="05000000000000000000" pitchFamily="2" charset="2"/>
              <a:buChar char="§"/>
              <a:defRPr/>
            </a:pPr>
            <a:r>
              <a:rPr lang="en-US" sz="2400" dirty="0"/>
              <a:t>With a </a:t>
            </a:r>
            <a:r>
              <a:rPr lang="en-US" sz="2400" i="1" dirty="0"/>
              <a:t>large </a:t>
            </a:r>
            <a:r>
              <a:rPr lang="en-US" sz="2400" dirty="0"/>
              <a:t>number of observations, summary statistics settle down and get increasingly closer to particular numbers.</a:t>
            </a:r>
            <a:endParaRPr lang="en-US" altLang="en-US" sz="2400" dirty="0"/>
          </a:p>
        </p:txBody>
      </p:sp>
      <p:sp>
        <p:nvSpPr>
          <p:cNvPr id="5123" name="Rectangle 2"/>
          <p:cNvSpPr>
            <a:spLocks noGrp="1" noChangeArrowheads="1"/>
          </p:cNvSpPr>
          <p:nvPr>
            <p:ph type="title" idx="4294967295"/>
          </p:nvPr>
        </p:nvSpPr>
        <p:spPr>
          <a:xfrm>
            <a:off x="762000" y="320677"/>
            <a:ext cx="7540752" cy="621157"/>
          </a:xfrm>
          <a:solidFill>
            <a:srgbClr val="FFFFFF"/>
          </a:solidFill>
        </p:spPr>
        <p:txBody>
          <a:bodyPr vert="horz" wrap="square" lIns="0" tIns="45720" rIns="0" bIns="45720" numCol="1" anchor="b" anchorCtr="0" compatLnSpc="1">
            <a:prstTxWarp prst="textNoShape">
              <a:avLst/>
            </a:prstTxWarp>
          </a:bodyPr>
          <a:lstStyle/>
          <a:p>
            <a:r>
              <a:rPr lang="en-US" altLang="en-US" sz="2900" b="1" dirty="0">
                <a:latin typeface="Arial" panose="020B0604020202020204" pitchFamily="34" charset="0"/>
              </a:rPr>
              <a:t>Random Phenomena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sz="quarter" idx="4294967295"/>
          </p:nvPr>
        </p:nvSpPr>
        <p:spPr>
          <a:xfrm>
            <a:off x="762000" y="1485900"/>
            <a:ext cx="7924800" cy="4724400"/>
          </a:xfrm>
          <a:solidFill>
            <a:srgbClr val="FFFFFF"/>
          </a:solidFill>
        </p:spPr>
        <p:txBody>
          <a:bodyPr vert="horz" wrap="square" lIns="0" tIns="45720" rIns="0" bIns="45720" numCol="1" anchor="t" anchorCtr="0" compatLnSpc="1">
            <a:prstTxWarp prst="textNoShape">
              <a:avLst/>
            </a:prstTxWarp>
          </a:bodyPr>
          <a:lstStyle/>
          <a:p>
            <a:pPr marL="0" indent="0">
              <a:lnSpc>
                <a:spcPct val="90000"/>
              </a:lnSpc>
            </a:pPr>
            <a:r>
              <a:rPr lang="en-US" altLang="en-US" sz="2400"/>
              <a:t> As we make more observations, the proportion of times that a particular outcome occurs gets closer and closer to a certain number we would expect.</a:t>
            </a:r>
          </a:p>
          <a:p>
            <a:pPr marL="0" indent="0">
              <a:lnSpc>
                <a:spcPct val="90000"/>
              </a:lnSpc>
            </a:pPr>
            <a:endParaRPr lang="en-US" altLang="en-US" sz="2400"/>
          </a:p>
          <a:p>
            <a:pPr marL="0" indent="0"/>
            <a:r>
              <a:rPr lang="en-US" altLang="en-US" sz="2400"/>
              <a:t> This long-run proportion provides the basis for the definition of </a:t>
            </a:r>
            <a:r>
              <a:rPr lang="en-US" altLang="en-US" sz="2400" i="1"/>
              <a:t>probability.</a:t>
            </a:r>
          </a:p>
        </p:txBody>
      </p:sp>
      <p:sp>
        <p:nvSpPr>
          <p:cNvPr id="7171" name="Rectangle 2"/>
          <p:cNvSpPr>
            <a:spLocks noGrp="1" noChangeArrowheads="1"/>
          </p:cNvSpPr>
          <p:nvPr>
            <p:ph type="title" idx="4294967295"/>
          </p:nvPr>
        </p:nvSpPr>
        <p:spPr>
          <a:xfrm>
            <a:off x="762000" y="320677"/>
            <a:ext cx="8229600" cy="563563"/>
          </a:xfrm>
          <a:solidFill>
            <a:srgbClr val="FFFFFF"/>
          </a:solidFill>
        </p:spPr>
        <p:txBody>
          <a:bodyPr vert="horz" wrap="square" lIns="0" tIns="45720" rIns="0" bIns="45720" numCol="1" anchor="b" anchorCtr="0" compatLnSpc="1">
            <a:prstTxWarp prst="textNoShape">
              <a:avLst/>
            </a:prstTxWarp>
          </a:bodyPr>
          <a:lstStyle/>
          <a:p>
            <a:r>
              <a:rPr lang="en-US" altLang="en-US" sz="2900" b="1">
                <a:latin typeface="Arial" panose="020B0604020202020204" pitchFamily="34" charset="0"/>
              </a:rPr>
              <a:t>Random Phenomena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indent="0"/>
            <a:r>
              <a:rPr lang="en-US" altLang="en-US" sz="2400" i="1"/>
              <a:t> With random phenomena, the proportion of times that something happens is highly random and variable in the short run but very predictable in the long run.</a:t>
            </a:r>
          </a:p>
          <a:p>
            <a:pPr marL="0" indent="0"/>
            <a:endParaRPr lang="en-US" altLang="en-US" sz="2400" i="1"/>
          </a:p>
          <a:p>
            <a:pPr marL="0" indent="0"/>
            <a:r>
              <a:rPr lang="en-US" altLang="en-US" sz="2400"/>
              <a:t> For example, as one tosses a die, in the long run the number of times a 6 occurs becomes more predictable and less random.  It gets closer and closer to 1/6.</a:t>
            </a:r>
          </a:p>
          <a:p>
            <a:pPr marL="0" indent="0"/>
            <a:endParaRPr lang="en-US" altLang="en-US" sz="2400"/>
          </a:p>
          <a:p>
            <a:pPr marL="0" indent="0"/>
            <a:r>
              <a:rPr lang="en-US" altLang="en-US" sz="2400"/>
              <a:t> We will interpret the probability of an outcome to represent long-run results.</a:t>
            </a:r>
          </a:p>
        </p:txBody>
      </p:sp>
      <p:sp>
        <p:nvSpPr>
          <p:cNvPr id="8195" name="Rectangle 2"/>
          <p:cNvSpPr>
            <a:spLocks noGrp="1" noChangeArrowheads="1"/>
          </p:cNvSpPr>
          <p:nvPr>
            <p:ph type="title" idx="4294967295"/>
          </p:nvPr>
        </p:nvSpPr>
        <p:spPr>
          <a:xfrm>
            <a:off x="762000" y="320677"/>
            <a:ext cx="8077200" cy="563563"/>
          </a:xfrm>
          <a:solidFill>
            <a:srgbClr val="FFFFFF"/>
          </a:solidFill>
        </p:spPr>
        <p:txBody>
          <a:bodyPr vert="horz" wrap="square" lIns="0" tIns="45720" rIns="0" bIns="45720" numCol="1" anchor="b" anchorCtr="0" compatLnSpc="1">
            <a:prstTxWarp prst="textNoShape">
              <a:avLst/>
            </a:prstTxWarp>
          </a:bodyPr>
          <a:lstStyle/>
          <a:p>
            <a:r>
              <a:rPr lang="en-US" altLang="en-US" sz="2900" b="1">
                <a:latin typeface="Arial" panose="020B0604020202020204" pitchFamily="34" charset="0"/>
              </a:rPr>
              <a:t>Long-Run Behavior of Random Outcomes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 With any random phenomena, the </a:t>
            </a:r>
            <a:r>
              <a:rPr lang="en-US" altLang="en-US" sz="2400" b="1"/>
              <a:t>probability</a:t>
            </a:r>
            <a:r>
              <a:rPr lang="en-US" altLang="en-US" sz="2400"/>
              <a:t> of a particular outcome is the proportion of times that the outcome would occur in a long run of observations.</a:t>
            </a:r>
          </a:p>
          <a:p>
            <a:pPr marL="0" indent="0"/>
            <a:endParaRPr lang="en-US" altLang="en-US" sz="2400"/>
          </a:p>
          <a:p>
            <a:pPr marL="0" indent="0"/>
            <a:r>
              <a:rPr lang="en-US" altLang="en-US" sz="2400"/>
              <a:t> Since a probability is a </a:t>
            </a:r>
            <a:r>
              <a:rPr lang="en-US" altLang="en-US" sz="2400" i="1"/>
              <a:t>proportion</a:t>
            </a:r>
            <a:r>
              <a:rPr lang="en-US" altLang="en-US" sz="2400"/>
              <a:t>, it takes a value between 0 and 1. </a:t>
            </a:r>
            <a:br>
              <a:rPr lang="en-US" altLang="en-US" sz="2400"/>
            </a:br>
            <a:endParaRPr lang="en-US" altLang="en-US" sz="2400"/>
          </a:p>
          <a:p>
            <a:pPr marL="0" indent="0"/>
            <a:r>
              <a:rPr lang="en-US" altLang="en-US" sz="2400"/>
              <a:t> Example: a roll of a fair die has outcome 6 with probability 1/6 in a long run of observations.</a:t>
            </a:r>
          </a:p>
        </p:txBody>
      </p:sp>
      <p:sp>
        <p:nvSpPr>
          <p:cNvPr id="10243" name="Rectangle 2"/>
          <p:cNvSpPr>
            <a:spLocks noGrp="1" noChangeArrowheads="1"/>
          </p:cNvSpPr>
          <p:nvPr>
            <p:ph type="title" idx="4294967295"/>
          </p:nvPr>
        </p:nvSpPr>
        <p:spPr>
          <a:xfrm>
            <a:off x="685800" y="398463"/>
            <a:ext cx="8077200" cy="715962"/>
          </a:xfrm>
          <a:solidFill>
            <a:srgbClr val="FFFFFF"/>
          </a:solidFill>
        </p:spPr>
        <p:txBody>
          <a:bodyPr vert="horz" wrap="square" lIns="0" tIns="45720" rIns="0" bIns="45720" numCol="1" anchor="b" anchorCtr="0" compatLnSpc="1">
            <a:prstTxWarp prst="textNoShape">
              <a:avLst/>
            </a:prstTxWarp>
          </a:bodyPr>
          <a:lstStyle/>
          <a:p>
            <a:r>
              <a:rPr lang="en-US" altLang="en-US" sz="2800" b="1">
                <a:latin typeface="Arial" panose="020B0604020202020204" pitchFamily="34" charset="0"/>
              </a:rPr>
              <a:t>Probability Quantifies Long-Run Randomness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type="body" sz="quarter" idx="4294967295"/>
          </p:nvPr>
        </p:nvSpPr>
        <p:spPr>
          <a:xfrm>
            <a:off x="457200" y="1408113"/>
            <a:ext cx="8229600" cy="4525962"/>
          </a:xfrm>
          <a:solidFill>
            <a:srgbClr val="FFFFFF"/>
          </a:solidFill>
        </p:spPr>
        <p:txBody>
          <a:bodyPr vert="horz" wrap="square" lIns="0" tIns="45720" rIns="0" bIns="45720" numCol="1" anchor="t" anchorCtr="0" compatLnSpc="1">
            <a:prstTxWarp prst="textNoShape">
              <a:avLst/>
            </a:prstTxWarp>
          </a:bodyPr>
          <a:lstStyle/>
          <a:p>
            <a:pPr marL="0">
              <a:defRPr/>
            </a:pPr>
            <a:r>
              <a:rPr lang="en-US" altLang="en-US" sz="2400" dirty="0"/>
              <a:t>Different trials of a random phenomenon are </a:t>
            </a:r>
            <a:r>
              <a:rPr lang="en-US" altLang="en-US" sz="2400" b="1" dirty="0"/>
              <a:t>independent</a:t>
            </a:r>
            <a:r>
              <a:rPr lang="en-US" altLang="en-US" sz="2400" dirty="0"/>
              <a:t> if the outcome of any one trial is not affected by the outcome of any other trial.</a:t>
            </a:r>
          </a:p>
          <a:p>
            <a:pPr marL="0">
              <a:defRPr/>
            </a:pPr>
            <a:endParaRPr lang="en-US" altLang="en-US" sz="2400" dirty="0"/>
          </a:p>
          <a:p>
            <a:pPr marL="0">
              <a:defRPr/>
            </a:pPr>
            <a:r>
              <a:rPr lang="en-US" sz="2400" dirty="0"/>
              <a:t>Example: With independent trials, whether you get a 5 on one roll of a fair die does not affect whether you get a 5 on the following roll. </a:t>
            </a:r>
            <a:endParaRPr lang="en-US" altLang="en-US" sz="2400" dirty="0"/>
          </a:p>
          <a:p>
            <a:pPr marL="0">
              <a:defRPr/>
            </a:pPr>
            <a:endParaRPr lang="en-US" altLang="en-US" sz="2400" dirty="0"/>
          </a:p>
          <a:p>
            <a:pPr marL="0" indent="0">
              <a:defRPr/>
            </a:pPr>
            <a:r>
              <a:rPr lang="en-US" sz="2400" dirty="0"/>
              <a:t>   The </a:t>
            </a:r>
            <a:r>
              <a:rPr lang="en-US" sz="2400" i="1" dirty="0"/>
              <a:t>law of large numbers</a:t>
            </a:r>
            <a:r>
              <a:rPr lang="en-US" sz="2400" dirty="0"/>
              <a:t>, which gamblers invoke as the </a:t>
            </a:r>
            <a:r>
              <a:rPr lang="en-US" sz="2400" i="1" dirty="0"/>
              <a:t>law of averages</a:t>
            </a:r>
            <a:r>
              <a:rPr lang="en-US" sz="2400" dirty="0"/>
              <a:t>, only guarantees </a:t>
            </a:r>
            <a:r>
              <a:rPr lang="en-US" sz="2400" i="1" dirty="0"/>
              <a:t>long-run </a:t>
            </a:r>
            <a:r>
              <a:rPr lang="en-US" sz="2400" dirty="0"/>
              <a:t>performance. In the short run, the variability may well exceed what you expect.</a:t>
            </a:r>
          </a:p>
          <a:p>
            <a:pPr marL="0" indent="0">
              <a:defRPr/>
            </a:pPr>
            <a:endParaRPr lang="en-US" sz="2400" dirty="0"/>
          </a:p>
        </p:txBody>
      </p:sp>
      <p:sp>
        <p:nvSpPr>
          <p:cNvPr id="11267" name="Rectangle 2"/>
          <p:cNvSpPr>
            <a:spLocks noGrp="1" noChangeArrowheads="1"/>
          </p:cNvSpPr>
          <p:nvPr>
            <p:ph type="title" idx="4294967295"/>
          </p:nvPr>
        </p:nvSpPr>
        <p:spPr>
          <a:xfrm>
            <a:off x="762000" y="242888"/>
            <a:ext cx="8077200" cy="639762"/>
          </a:xfrm>
          <a:solidFill>
            <a:srgbClr val="FFFFFF"/>
          </a:solidFill>
        </p:spPr>
        <p:txBody>
          <a:bodyPr vert="horz" wrap="square" lIns="0" tIns="45720" rIns="0" bIns="45720" numCol="1" anchor="b" anchorCtr="0" compatLnSpc="1">
            <a:prstTxWarp prst="textNoShape">
              <a:avLst/>
            </a:prstTxWarp>
          </a:bodyPr>
          <a:lstStyle/>
          <a:p>
            <a:r>
              <a:rPr lang="en-US" altLang="en-US" sz="2800" b="1">
                <a:latin typeface="Arial" panose="020B0604020202020204" pitchFamily="34" charset="0"/>
              </a:rPr>
              <a:t>Independent Trials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    We sometimes can find probabilities by making assumptions about the nature of the random phenomenon. For instance, by symmetry, it may be reasonable to assume that the possible outcomes of that phenomenon are </a:t>
            </a:r>
            <a:r>
              <a:rPr lang="en-US" altLang="en-US" sz="2400" i="1"/>
              <a:t>equally likely.</a:t>
            </a:r>
          </a:p>
          <a:p>
            <a:pPr marL="0" indent="0"/>
            <a:endParaRPr lang="en-US" altLang="en-US" sz="2400"/>
          </a:p>
          <a:p>
            <a:pPr marL="0" indent="0"/>
            <a:r>
              <a:rPr lang="en-US" altLang="en-US" sz="2400"/>
              <a:t>    In theory, we could observe several trials of a random phenomenon and use the proportion of times an outcome occurs as its probability. In practice, this is imperfect. The sample proportion merely </a:t>
            </a:r>
            <a:r>
              <a:rPr lang="en-US" altLang="en-US" sz="2400" i="1"/>
              <a:t>estimates </a:t>
            </a:r>
            <a:r>
              <a:rPr lang="en-US" altLang="en-US" sz="2400"/>
              <a:t>the actual probability, and only for a </a:t>
            </a:r>
            <a:r>
              <a:rPr lang="en-US" altLang="en-US" sz="2400" i="1"/>
              <a:t>very large </a:t>
            </a:r>
            <a:r>
              <a:rPr lang="en-US" altLang="en-US" sz="2400"/>
              <a:t>number of trials is it necessarily close. </a:t>
            </a:r>
          </a:p>
        </p:txBody>
      </p:sp>
      <p:sp>
        <p:nvSpPr>
          <p:cNvPr id="12291" name="Rectangle 2"/>
          <p:cNvSpPr>
            <a:spLocks noGrp="1" noChangeArrowheads="1"/>
          </p:cNvSpPr>
          <p:nvPr>
            <p:ph type="title" idx="4294967295"/>
          </p:nvPr>
        </p:nvSpPr>
        <p:spPr>
          <a:xfrm>
            <a:off x="762000" y="242888"/>
            <a:ext cx="8077200" cy="639762"/>
          </a:xfrm>
          <a:solidFill>
            <a:srgbClr val="FFFFFF"/>
          </a:solidFill>
        </p:spPr>
        <p:txBody>
          <a:bodyPr vert="horz" wrap="square" lIns="0" tIns="45720" rIns="0" bIns="45720" numCol="1" anchor="b" anchorCtr="0" compatLnSpc="1">
            <a:prstTxWarp prst="textNoShape">
              <a:avLst/>
            </a:prstTxWarp>
          </a:bodyPr>
          <a:lstStyle/>
          <a:p>
            <a:r>
              <a:rPr lang="en-US" altLang="en-US" sz="2800" b="1">
                <a:latin typeface="Arial" panose="020B0604020202020204" pitchFamily="34" charset="0"/>
              </a:rPr>
              <a:t>Finding Probabilities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indent="0">
              <a:defRPr/>
            </a:pPr>
            <a:r>
              <a:rPr lang="en-US" altLang="en-US" sz="2400" dirty="0"/>
              <a:t>    The </a:t>
            </a:r>
            <a:r>
              <a:rPr lang="en-US" altLang="en-US" sz="2400" i="1" dirty="0"/>
              <a:t>relative frequency definition of probability</a:t>
            </a:r>
            <a:r>
              <a:rPr lang="en-US" altLang="en-US" sz="2400" dirty="0"/>
              <a:t> is the long run proportion of times that the outcome occurs in a very large number of trials - not always helpful.</a:t>
            </a:r>
          </a:p>
          <a:p>
            <a:pPr marL="0" indent="0">
              <a:defRPr/>
            </a:pPr>
            <a:endParaRPr lang="en-US" altLang="en-US" sz="2400" dirty="0"/>
          </a:p>
          <a:p>
            <a:pPr marL="0" indent="0">
              <a:defRPr/>
            </a:pPr>
            <a:r>
              <a:rPr lang="en-US" altLang="en-US" sz="2400" dirty="0"/>
              <a:t>    When a long run of trials is not feasible, you must rely on </a:t>
            </a:r>
            <a:r>
              <a:rPr lang="en-US" altLang="en-US" sz="2400" b="1" dirty="0"/>
              <a:t>subjective</a:t>
            </a:r>
            <a:r>
              <a:rPr lang="en-US" altLang="en-US" sz="2400" dirty="0"/>
              <a:t> information. In this </a:t>
            </a:r>
            <a:r>
              <a:rPr lang="en-US" altLang="en-US" sz="2400" b="1" dirty="0"/>
              <a:t>subjective definition of probability</a:t>
            </a:r>
            <a:r>
              <a:rPr lang="en-US" altLang="en-US" sz="2400" dirty="0"/>
              <a:t>, the probability of an outcome is defined to be a personal probability – your degree of belief that the outcome will occur, based on the available information.</a:t>
            </a:r>
          </a:p>
          <a:p>
            <a:pPr marL="0" indent="0">
              <a:defRPr/>
            </a:pPr>
            <a:endParaRPr lang="en-US" altLang="en-US" sz="2400" dirty="0"/>
          </a:p>
          <a:p>
            <a:pPr>
              <a:buFont typeface="Wingdings" panose="05000000000000000000" pitchFamily="2" charset="2"/>
              <a:buChar char="§"/>
              <a:defRPr/>
            </a:pPr>
            <a:r>
              <a:rPr lang="en-US" altLang="en-US" sz="2400" b="1" dirty="0"/>
              <a:t>Bayesian statistics </a:t>
            </a:r>
            <a:r>
              <a:rPr lang="en-US" altLang="en-US" sz="2400" dirty="0"/>
              <a:t>is a branch of statistics that uses subjective probability as its foundation.</a:t>
            </a:r>
          </a:p>
        </p:txBody>
      </p:sp>
      <p:sp>
        <p:nvSpPr>
          <p:cNvPr id="13315" name="Rectangle 2"/>
          <p:cNvSpPr>
            <a:spLocks noGrp="1" noChangeArrowheads="1"/>
          </p:cNvSpPr>
          <p:nvPr>
            <p:ph type="title" idx="4294967295"/>
          </p:nvPr>
        </p:nvSpPr>
        <p:spPr>
          <a:xfrm>
            <a:off x="685800" y="0"/>
            <a:ext cx="8229600" cy="1143000"/>
          </a:xfrm>
          <a:solidFill>
            <a:srgbClr val="FFFFFF"/>
          </a:solidFill>
        </p:spPr>
        <p:txBody>
          <a:bodyPr vert="horz" wrap="square" lIns="0" tIns="45720" rIns="0" bIns="45720" numCol="1" anchor="b" anchorCtr="0" compatLnSpc="1">
            <a:prstTxWarp prst="textNoShape">
              <a:avLst/>
            </a:prstTxWarp>
          </a:bodyPr>
          <a:lstStyle/>
          <a:p>
            <a:r>
              <a:rPr lang="en-US" altLang="en-US" sz="2800" b="1">
                <a:latin typeface="Arial" panose="020B0604020202020204" pitchFamily="34" charset="0"/>
              </a:rPr>
              <a:t>Types of Probability:</a:t>
            </a:r>
            <a:r>
              <a:rPr lang="en-US" altLang="en-US" sz="2800" b="1">
                <a:solidFill>
                  <a:schemeClr val="accent2"/>
                </a:solidFill>
                <a:latin typeface="Arial" panose="020B0604020202020204" pitchFamily="34" charset="0"/>
              </a:rPr>
              <a:t>  </a:t>
            </a:r>
            <a:r>
              <a:rPr lang="en-US" altLang="en-US" sz="2800" b="1">
                <a:latin typeface="Arial" panose="020B0604020202020204" pitchFamily="34" charset="0"/>
              </a:rPr>
              <a:t>Relative Frequency and Subjective Probability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sz="quarter" idx="4294967295"/>
          </p:nvPr>
        </p:nvSpPr>
        <p:spPr>
          <a:xfrm>
            <a:off x="457200" y="1600200"/>
            <a:ext cx="8229600" cy="846138"/>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    For a random phenomenon, the </a:t>
            </a:r>
            <a:r>
              <a:rPr lang="en-US" altLang="en-US" sz="2400" b="1"/>
              <a:t>sample space </a:t>
            </a:r>
            <a:r>
              <a:rPr lang="en-US" altLang="en-US" sz="2400"/>
              <a:t>is the set of all possible outcomes.</a:t>
            </a:r>
          </a:p>
        </p:txBody>
      </p:sp>
      <p:sp>
        <p:nvSpPr>
          <p:cNvPr id="14339" name="Rectangle 2"/>
          <p:cNvSpPr>
            <a:spLocks noGrp="1" noChangeArrowheads="1"/>
          </p:cNvSpPr>
          <p:nvPr>
            <p:ph type="title" idx="4294967295"/>
          </p:nvPr>
        </p:nvSpPr>
        <p:spPr>
          <a:xfrm>
            <a:off x="762000" y="242888"/>
            <a:ext cx="8077200" cy="639762"/>
          </a:xfrm>
          <a:solidFill>
            <a:srgbClr val="FFFFFF"/>
          </a:solidFill>
        </p:spPr>
        <p:txBody>
          <a:bodyPr vert="horz" wrap="square" lIns="0" tIns="45720" rIns="0" bIns="45720" numCol="1" anchor="b" anchorCtr="0" compatLnSpc="1">
            <a:prstTxWarp prst="textNoShape">
              <a:avLst/>
            </a:prstTxWarp>
          </a:bodyPr>
          <a:lstStyle/>
          <a:p>
            <a:r>
              <a:rPr lang="en-US" altLang="en-US" sz="3600" b="1">
                <a:latin typeface="Arial" panose="020B0604020202020204" pitchFamily="34" charset="0"/>
              </a:rPr>
              <a:t>Sample Space</a:t>
            </a:r>
            <a:endParaRPr lang="en-US" altLang="en-US" sz="2400" b="1">
              <a:latin typeface="Arial" panose="020B0604020202020204" pitchFamily="34" charset="0"/>
            </a:endParaRPr>
          </a:p>
        </p:txBody>
      </p:sp>
      <p:sp>
        <p:nvSpPr>
          <p:cNvPr id="14340" name="TextBox 1"/>
          <p:cNvSpPr txBox="1">
            <a:spLocks noChangeArrowheads="1"/>
          </p:cNvSpPr>
          <p:nvPr/>
        </p:nvSpPr>
        <p:spPr bwMode="auto">
          <a:xfrm>
            <a:off x="5486400" y="2854327"/>
            <a:ext cx="3352800"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5.3 Tree Diagram for Student Performance on a Three-Question Pop Quiz. </a:t>
            </a:r>
            <a:r>
              <a:rPr lang="en-US" altLang="en-US" sz="1600">
                <a:solidFill>
                  <a:schemeClr val="tx1"/>
                </a:solidFill>
                <a:latin typeface="Arial" panose="020B0604020202020204" pitchFamily="34" charset="0"/>
              </a:rPr>
              <a:t>Each path from the first set of two branches to the third set of eight branches determines an outcome in the sample space. </a:t>
            </a:r>
            <a:r>
              <a:rPr lang="en-US" altLang="en-US" sz="1600" b="1">
                <a:solidFill>
                  <a:schemeClr val="tx1"/>
                </a:solidFill>
                <a:latin typeface="Arial" panose="020B0604020202020204" pitchFamily="34" charset="0"/>
              </a:rPr>
              <a:t>Question: </a:t>
            </a:r>
            <a:r>
              <a:rPr lang="en-US" altLang="en-US" sz="1600">
                <a:solidFill>
                  <a:schemeClr val="tx1"/>
                </a:solidFill>
                <a:latin typeface="Arial" panose="020B0604020202020204" pitchFamily="34" charset="0"/>
              </a:rPr>
              <a:t>How many possible outcomes would there be if the quiz had four questions?</a:t>
            </a:r>
          </a:p>
        </p:txBody>
      </p:sp>
      <p:sp>
        <p:nvSpPr>
          <p:cNvPr id="14341" name="Rectangle 3"/>
          <p:cNvSpPr txBox="1">
            <a:spLocks noChangeArrowheads="1"/>
          </p:cNvSpPr>
          <p:nvPr/>
        </p:nvSpPr>
        <p:spPr bwMode="auto">
          <a:xfrm>
            <a:off x="762000" y="5486402"/>
            <a:ext cx="792480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p>
            <a:pPr>
              <a:spcBef>
                <a:spcPts val="700"/>
              </a:spcBef>
              <a:buClr>
                <a:srgbClr val="000000"/>
              </a:buClr>
              <a:buSzPct val="100000"/>
            </a:pPr>
            <a:endParaRPr lang="en-US" altLang="en-US" sz="2000">
              <a:solidFill>
                <a:srgbClr val="000000"/>
              </a:solidFill>
              <a:latin typeface="Arial" panose="020B0604020202020204" pitchFamily="34" charset="0"/>
            </a:endParaRPr>
          </a:p>
          <a:p>
            <a:pPr>
              <a:spcBef>
                <a:spcPts val="700"/>
              </a:spcBef>
              <a:buClr>
                <a:srgbClr val="000000"/>
              </a:buClr>
              <a:buSzPct val="100000"/>
            </a:pPr>
            <a:r>
              <a:rPr lang="en-US" altLang="en-US" sz="2000">
                <a:solidFill>
                  <a:srgbClr val="000000"/>
                </a:solidFill>
                <a:latin typeface="Arial" panose="020B0604020202020204" pitchFamily="34" charset="0"/>
              </a:rPr>
              <a:t>From the tree diagram, a student’s performance has eight possible outcomes: {CCC, CCI, CIC, CII, ICC, ICI, IIC, III}.</a:t>
            </a:r>
          </a:p>
        </p:txBody>
      </p:sp>
      <p:pic>
        <p:nvPicPr>
          <p:cNvPr id="14342" name="Picture 8" descr="Agresti_3e_Chapter05-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8100" y="2600325"/>
            <a:ext cx="2952750"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noChangeArrowheads="1"/>
          </p:cNvSpPr>
          <p:nvPr>
            <p:ph type="body" sz="quarter" idx="4294967295"/>
          </p:nvPr>
        </p:nvSpPr>
        <p:spPr>
          <a:xfrm>
            <a:off x="762000" y="1473202"/>
            <a:ext cx="7924800" cy="4524375"/>
          </a:xfrm>
          <a:solidFill>
            <a:srgbClr val="FFFFFF"/>
          </a:solidFill>
        </p:spPr>
        <p:txBody>
          <a:bodyPr vert="horz" wrap="square" lIns="0" tIns="45720" rIns="0" bIns="45720" numCol="1" anchor="t" anchorCtr="0" compatLnSpc="1">
            <a:prstTxWarp prst="textNoShape">
              <a:avLst/>
            </a:prstTxWarp>
            <a:spAutoFit/>
          </a:bodyPr>
          <a:lstStyle/>
          <a:p>
            <a:pPr marL="0" indent="0">
              <a:defRPr/>
            </a:pPr>
            <a:r>
              <a:rPr lang="en-US" altLang="en-US" sz="2400" dirty="0"/>
              <a:t>    An </a:t>
            </a:r>
            <a:r>
              <a:rPr lang="en-US" altLang="en-US" sz="2400" b="1" dirty="0"/>
              <a:t>event</a:t>
            </a:r>
            <a:r>
              <a:rPr lang="en-US" altLang="en-US" sz="2400" dirty="0"/>
              <a:t> is a subset of the sample space. An event corresponds to a particular outcome or a group of possible outcomes.</a:t>
            </a:r>
          </a:p>
          <a:p>
            <a:pPr marL="0" indent="0">
              <a:defRPr/>
            </a:pPr>
            <a:endParaRPr lang="en-US" altLang="en-US" sz="2400" dirty="0"/>
          </a:p>
          <a:p>
            <a:pPr marL="0" indent="0">
              <a:defRPr/>
            </a:pPr>
            <a:r>
              <a:rPr lang="en-US" altLang="en-US" sz="2400" dirty="0"/>
              <a:t>    Example: </a:t>
            </a:r>
            <a:br>
              <a:rPr lang="en-US" altLang="en-US" sz="2400" dirty="0"/>
            </a:br>
            <a:r>
              <a:rPr lang="en-US" altLang="en-US" sz="2400" dirty="0"/>
              <a:t>For a student taking the three-question pop quiz, some possible events are:</a:t>
            </a:r>
          </a:p>
          <a:p>
            <a:pPr lvl="1">
              <a:defRPr/>
            </a:pPr>
            <a:r>
              <a:rPr lang="en-US" altLang="en-US" sz="2400" dirty="0"/>
              <a:t>Event A = student answers all 3 questions correctly = {CCC}</a:t>
            </a:r>
          </a:p>
          <a:p>
            <a:pPr lvl="1">
              <a:defRPr/>
            </a:pPr>
            <a:r>
              <a:rPr lang="en-US" altLang="en-US" sz="2400" dirty="0"/>
              <a:t>Event B = student passes (at least 2 correct)  = </a:t>
            </a:r>
          </a:p>
          <a:p>
            <a:pPr marL="457200" lvl="1" indent="0">
              <a:buNone/>
              <a:defRPr/>
            </a:pPr>
            <a:r>
              <a:rPr lang="en-US" altLang="en-US" sz="2400" dirty="0"/>
              <a:t>    {CCI, CIC, ICC, CCC}.</a:t>
            </a:r>
          </a:p>
        </p:txBody>
      </p:sp>
      <p:sp>
        <p:nvSpPr>
          <p:cNvPr id="15363" name="Rectangle 2"/>
          <p:cNvSpPr>
            <a:spLocks noGrp="1" noChangeArrowheads="1"/>
          </p:cNvSpPr>
          <p:nvPr>
            <p:ph type="title" idx="4294967295"/>
          </p:nvPr>
        </p:nvSpPr>
        <p:spPr>
          <a:xfrm>
            <a:off x="762000" y="242888"/>
            <a:ext cx="8001000" cy="639762"/>
          </a:xfrm>
          <a:solidFill>
            <a:srgbClr val="FFFFFF"/>
          </a:solidFill>
        </p:spPr>
        <p:txBody>
          <a:bodyPr vert="horz" wrap="square" lIns="0" tIns="45720" rIns="0" bIns="45720" numCol="1" anchor="b" anchorCtr="0" compatLnSpc="1">
            <a:prstTxWarp prst="textNoShape">
              <a:avLst/>
            </a:prstTxWarp>
          </a:bodyPr>
          <a:lstStyle/>
          <a:p>
            <a:r>
              <a:rPr lang="en-US" altLang="en-US" sz="3600" b="1">
                <a:latin typeface="Arial" panose="020B0604020202020204" pitchFamily="34" charset="0"/>
              </a:rPr>
              <a:t>Events</a:t>
            </a:r>
            <a:endParaRPr lang="en-US" altLang="en-US" sz="2400" b="1">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762000" y="242888"/>
            <a:ext cx="7924800" cy="639762"/>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Finding Probabilities of Events</a:t>
            </a:r>
          </a:p>
        </p:txBody>
      </p:sp>
      <p:sp>
        <p:nvSpPr>
          <p:cNvPr id="64515" name="Rectangle 3"/>
          <p:cNvSpPr>
            <a:spLocks noGrp="1" noChangeArrowheads="1"/>
          </p:cNvSpPr>
          <p:nvPr>
            <p:ph type="body" sz="quarter" idx="4294967295"/>
          </p:nvPr>
        </p:nvSpPr>
        <p:spPr>
          <a:xfrm>
            <a:off x="1090615" y="1600200"/>
            <a:ext cx="7437437" cy="4465638"/>
          </a:xfrm>
          <a:solidFill>
            <a:srgbClr val="FFFFFF"/>
          </a:solidFill>
        </p:spPr>
        <p:txBody>
          <a:bodyPr vert="horz" wrap="square" lIns="0" tIns="45720" rIns="0" bIns="45720" numCol="1" anchor="t" anchorCtr="0" compatLnSpc="1">
            <a:prstTxWarp prst="textNoShape">
              <a:avLst/>
            </a:prstTxWarp>
          </a:bodyPr>
          <a:lstStyle/>
          <a:p>
            <a:pPr marL="0" indent="0">
              <a:defRPr/>
            </a:pPr>
            <a:r>
              <a:rPr lang="en-US" altLang="en-US" sz="2400" dirty="0"/>
              <a:t>    Each outcome in a sample space has a probability. So does each event. To find such probabilities, we list the sample space and specify plausible assumptions about its outcomes.</a:t>
            </a:r>
          </a:p>
          <a:p>
            <a:pPr marL="0">
              <a:defRPr/>
            </a:pPr>
            <a:endParaRPr lang="en-US" altLang="en-US" sz="2400" dirty="0"/>
          </a:p>
          <a:p>
            <a:pPr marL="571500" lvl="1">
              <a:defRPr/>
            </a:pPr>
            <a:r>
              <a:rPr lang="en-US" altLang="en-US" sz="2400" dirty="0"/>
              <a:t>The probability of each individual outcome is between 0 and 1.</a:t>
            </a:r>
          </a:p>
          <a:p>
            <a:pPr marL="0">
              <a:defRPr/>
            </a:pPr>
            <a:endParaRPr lang="en-US" altLang="en-US" sz="2400" dirty="0"/>
          </a:p>
          <a:p>
            <a:pPr marL="571500" lvl="1">
              <a:defRPr/>
            </a:pPr>
            <a:r>
              <a:rPr lang="en-US" altLang="en-US" sz="2400" dirty="0"/>
              <a:t>The total of all the individual probabilities equals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a:r>
              <a:rPr lang="en-US" altLang="en-US" sz="2400" dirty="0"/>
              <a:t>    The probability of an event A, denoted by P(A), is obtained by adding the probabilities of the individual outcomes in the event.</a:t>
            </a:r>
          </a:p>
          <a:p>
            <a:pPr marL="0"/>
            <a:endParaRPr lang="en-US" altLang="en-US" sz="2400" dirty="0"/>
          </a:p>
          <a:p>
            <a:pPr marL="0"/>
            <a:r>
              <a:rPr lang="en-US" altLang="en-US" sz="2400" dirty="0"/>
              <a:t>    When all the possible outcomes are equally likely,</a:t>
            </a:r>
          </a:p>
        </p:txBody>
      </p:sp>
      <p:sp>
        <p:nvSpPr>
          <p:cNvPr id="17411" name="Rectangle 2"/>
          <p:cNvSpPr>
            <a:spLocks noGrp="1" noChangeArrowheads="1"/>
          </p:cNvSpPr>
          <p:nvPr>
            <p:ph type="title" idx="4294967295"/>
          </p:nvPr>
        </p:nvSpPr>
        <p:spPr>
          <a:xfrm>
            <a:off x="762000" y="242888"/>
            <a:ext cx="8153400" cy="639762"/>
          </a:xfrm>
          <a:solidFill>
            <a:srgbClr val="FFFFFF"/>
          </a:solidFill>
        </p:spPr>
        <p:txBody>
          <a:bodyPr vert="horz" wrap="square" lIns="0" tIns="45720" rIns="0" bIns="45720" numCol="1" anchor="b" anchorCtr="0" compatLnSpc="1">
            <a:prstTxWarp prst="textNoShape">
              <a:avLst/>
            </a:prstTxWarp>
          </a:bodyPr>
          <a:lstStyle/>
          <a:p>
            <a:r>
              <a:rPr lang="en-US" altLang="en-US" sz="2800" b="1">
                <a:latin typeface="Arial" panose="020B0604020202020204" pitchFamily="34" charset="0"/>
              </a:rPr>
              <a:t>SUMMARY: Probability of an Event</a:t>
            </a:r>
          </a:p>
        </p:txBody>
      </p:sp>
      <p:graphicFrame>
        <p:nvGraphicFramePr>
          <p:cNvPr id="17412" name="Object 4"/>
          <p:cNvGraphicFramePr>
            <a:graphicFrameLocks noChangeAspect="1"/>
          </p:cNvGraphicFramePr>
          <p:nvPr>
            <p:extLst>
              <p:ext uri="{D42A27DB-BD31-4B8C-83A1-F6EECF244321}">
                <p14:modId xmlns:p14="http://schemas.microsoft.com/office/powerpoint/2010/main" val="1689070790"/>
              </p:ext>
            </p:extLst>
          </p:nvPr>
        </p:nvGraphicFramePr>
        <p:xfrm>
          <a:off x="1229868" y="4050794"/>
          <a:ext cx="6912864" cy="905729"/>
        </p:xfrm>
        <a:graphic>
          <a:graphicData uri="http://schemas.openxmlformats.org/presentationml/2006/ole">
            <mc:AlternateContent xmlns:mc="http://schemas.openxmlformats.org/markup-compatibility/2006">
              <mc:Choice xmlns:v="urn:schemas-microsoft-com:vml" Requires="v">
                <p:oleObj name="Equation" r:id="rId2" imgW="6007100" imgH="787400" progId="Equation.DSMT4">
                  <p:embed/>
                </p:oleObj>
              </mc:Choice>
              <mc:Fallback>
                <p:oleObj name="Equation" r:id="rId2" imgW="6007100" imgH="787400" progId="Equation.DSMT4">
                  <p:embed/>
                  <p:pic>
                    <p:nvPicPr>
                      <p:cNvPr id="1741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868" y="4050794"/>
                        <a:ext cx="6912864" cy="905729"/>
                      </a:xfrm>
                      <a:prstGeom prst="rect">
                        <a:avLst/>
                      </a:prstGeom>
                      <a:noFill/>
                      <a:ln>
                        <a:noFill/>
                      </a:ln>
                      <a:effec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762000" y="242888"/>
            <a:ext cx="8001000" cy="639762"/>
          </a:xfrm>
          <a:solidFill>
            <a:srgbClr val="FFFFFF"/>
          </a:solidFill>
        </p:spPr>
        <p:txBody>
          <a:bodyPr vert="horz" wrap="square" lIns="0" tIns="45720" rIns="0" bIns="45720" numCol="1" anchor="b" anchorCtr="0" compatLnSpc="1">
            <a:prstTxWarp prst="textNoShape">
              <a:avLst/>
            </a:prstTxWarp>
          </a:bodyPr>
          <a:lstStyle/>
          <a:p>
            <a:r>
              <a:rPr lang="en-US" altLang="en-US" sz="3600" b="1">
                <a:latin typeface="Arial" panose="020B0604020202020204" pitchFamily="34" charset="0"/>
              </a:rPr>
              <a:t>Example: Tax Audit</a:t>
            </a:r>
          </a:p>
        </p:txBody>
      </p:sp>
      <p:sp>
        <p:nvSpPr>
          <p:cNvPr id="18435" name="TextBox 1"/>
          <p:cNvSpPr txBox="1">
            <a:spLocks noChangeArrowheads="1"/>
          </p:cNvSpPr>
          <p:nvPr/>
        </p:nvSpPr>
        <p:spPr bwMode="auto">
          <a:xfrm>
            <a:off x="304800" y="5029202"/>
            <a:ext cx="86106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5.2 Contingency Table Cross-Tabulating Tax Forms by Income Level and Whether Audited. </a:t>
            </a:r>
            <a:r>
              <a:rPr lang="en-US" altLang="en-US" sz="1600">
                <a:solidFill>
                  <a:schemeClr val="tx1"/>
                </a:solidFill>
                <a:latin typeface="Arial" panose="020B0604020202020204" pitchFamily="34" charset="0"/>
              </a:rPr>
              <a:t>There were 145.8 million returns filed. The frequencies in the table are reported in thousands. For example, 1,233 represents 1,233,000 tax forms that reported income under $200,000 and were audited.</a:t>
            </a:r>
          </a:p>
        </p:txBody>
      </p:sp>
      <p:pic>
        <p:nvPicPr>
          <p:cNvPr id="1843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952627"/>
            <a:ext cx="8375650" cy="279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indent="0">
              <a:lnSpc>
                <a:spcPct val="80000"/>
              </a:lnSpc>
              <a:buNone/>
              <a:defRPr/>
            </a:pPr>
            <a:endParaRPr lang="en-US" sz="2400" dirty="0"/>
          </a:p>
          <a:p>
            <a:pPr marL="0" indent="0">
              <a:lnSpc>
                <a:spcPct val="80000"/>
              </a:lnSpc>
              <a:buNone/>
              <a:defRPr/>
            </a:pPr>
            <a:r>
              <a:rPr lang="en-US" sz="2400" b="1" dirty="0"/>
              <a:t>What is the sample space for selecting a taxpayer?</a:t>
            </a:r>
          </a:p>
          <a:p>
            <a:pPr marL="0" indent="0">
              <a:lnSpc>
                <a:spcPct val="80000"/>
              </a:lnSpc>
              <a:buNone/>
              <a:defRPr/>
            </a:pPr>
            <a:endParaRPr lang="en-US" sz="2400" dirty="0"/>
          </a:p>
          <a:p>
            <a:pPr marL="1028700" lvl="1">
              <a:lnSpc>
                <a:spcPct val="80000"/>
              </a:lnSpc>
              <a:buClr>
                <a:schemeClr val="tx1"/>
              </a:buClr>
              <a:buFont typeface="Times New Roman" pitchFamily="-80" charset="0"/>
              <a:buAutoNum type="arabicPeriod"/>
              <a:defRPr/>
            </a:pPr>
            <a:r>
              <a:rPr lang="en-US" sz="2400" dirty="0"/>
              <a:t>{(under $200,000, Yes)</a:t>
            </a:r>
          </a:p>
          <a:p>
            <a:pPr marL="1028700" lvl="1">
              <a:lnSpc>
                <a:spcPct val="80000"/>
              </a:lnSpc>
              <a:buClr>
                <a:schemeClr val="tx1"/>
              </a:buClr>
              <a:buFont typeface="Times New Roman" pitchFamily="-80" charset="0"/>
              <a:buAutoNum type="arabicPeriod"/>
              <a:defRPr/>
            </a:pPr>
            <a:endParaRPr lang="en-US" sz="2400" dirty="0"/>
          </a:p>
          <a:p>
            <a:pPr marL="1028700" lvl="1">
              <a:lnSpc>
                <a:spcPct val="80000"/>
              </a:lnSpc>
              <a:buClr>
                <a:schemeClr val="tx1"/>
              </a:buClr>
              <a:buFont typeface="Times New Roman" pitchFamily="-80" charset="0"/>
              <a:buAutoNum type="arabicPeriod"/>
              <a:defRPr/>
            </a:pPr>
            <a:r>
              <a:rPr lang="en-US" sz="2400" dirty="0"/>
              <a:t>(under $200,000, No)</a:t>
            </a:r>
          </a:p>
          <a:p>
            <a:pPr marL="1028700" lvl="1">
              <a:lnSpc>
                <a:spcPct val="80000"/>
              </a:lnSpc>
              <a:buClr>
                <a:schemeClr val="tx1"/>
              </a:buClr>
              <a:buFont typeface="Times New Roman" pitchFamily="-80" charset="0"/>
              <a:buAutoNum type="arabicPeriod"/>
              <a:defRPr/>
            </a:pPr>
            <a:endParaRPr lang="en-US" sz="2400" dirty="0"/>
          </a:p>
          <a:p>
            <a:pPr marL="1028700" lvl="1">
              <a:lnSpc>
                <a:spcPct val="80000"/>
              </a:lnSpc>
              <a:buClr>
                <a:schemeClr val="tx1"/>
              </a:buClr>
              <a:buFont typeface="Times New Roman" pitchFamily="-80" charset="0"/>
              <a:buAutoNum type="arabicPeriod"/>
              <a:defRPr/>
            </a:pPr>
            <a:r>
              <a:rPr lang="en-US" sz="2400" dirty="0"/>
              <a:t>($200,000 - $1,000,000, Yes)</a:t>
            </a:r>
          </a:p>
          <a:p>
            <a:pPr marL="571500" lvl="1" indent="0">
              <a:lnSpc>
                <a:spcPct val="80000"/>
              </a:lnSpc>
              <a:buClr>
                <a:schemeClr val="tx1"/>
              </a:buClr>
              <a:buNone/>
              <a:defRPr/>
            </a:pPr>
            <a:r>
              <a:rPr lang="en-US" sz="2400" dirty="0"/>
              <a:t>.</a:t>
            </a:r>
          </a:p>
          <a:p>
            <a:pPr marL="571500" lvl="1" indent="0">
              <a:lnSpc>
                <a:spcPct val="80000"/>
              </a:lnSpc>
              <a:buClr>
                <a:schemeClr val="tx1"/>
              </a:buClr>
              <a:buNone/>
              <a:defRPr/>
            </a:pPr>
            <a:r>
              <a:rPr lang="en-US" sz="2400" dirty="0"/>
              <a:t>.</a:t>
            </a:r>
          </a:p>
          <a:p>
            <a:pPr marL="571500" lvl="1" indent="0">
              <a:lnSpc>
                <a:spcPct val="80000"/>
              </a:lnSpc>
              <a:buClr>
                <a:schemeClr val="tx1"/>
              </a:buClr>
              <a:buNone/>
              <a:defRPr/>
            </a:pPr>
            <a:r>
              <a:rPr lang="en-US" sz="2400" dirty="0"/>
              <a:t>.</a:t>
            </a:r>
          </a:p>
          <a:p>
            <a:pPr marL="571500" lvl="1" indent="0">
              <a:lnSpc>
                <a:spcPct val="80000"/>
              </a:lnSpc>
              <a:buClr>
                <a:schemeClr val="tx1"/>
              </a:buClr>
              <a:buNone/>
              <a:defRPr/>
            </a:pPr>
            <a:r>
              <a:rPr lang="en-US" sz="2400" dirty="0"/>
              <a:t>6. (More than $1,000,000, No)}</a:t>
            </a:r>
          </a:p>
          <a:p>
            <a:pPr marL="1028700" lvl="1">
              <a:lnSpc>
                <a:spcPct val="80000"/>
              </a:lnSpc>
              <a:buClr>
                <a:schemeClr val="tx1"/>
              </a:buClr>
              <a:buFont typeface="Times New Roman" pitchFamily="-80" charset="0"/>
              <a:buAutoNum type="arabicPeriod"/>
              <a:defRPr/>
            </a:pPr>
            <a:endParaRPr lang="en-US" sz="2400" b="1" dirty="0"/>
          </a:p>
          <a:p>
            <a:pPr marL="0" indent="0">
              <a:lnSpc>
                <a:spcPct val="80000"/>
              </a:lnSpc>
              <a:buNone/>
              <a:defRPr/>
            </a:pPr>
            <a:endParaRPr lang="en-US" sz="2400" dirty="0"/>
          </a:p>
        </p:txBody>
      </p:sp>
      <p:sp>
        <p:nvSpPr>
          <p:cNvPr id="19459" name="Rectangle 2"/>
          <p:cNvSpPr>
            <a:spLocks noGrp="1" noChangeArrowheads="1"/>
          </p:cNvSpPr>
          <p:nvPr>
            <p:ph type="title" idx="4294967295"/>
          </p:nvPr>
        </p:nvSpPr>
        <p:spPr>
          <a:xfrm>
            <a:off x="762000" y="165102"/>
            <a:ext cx="8077200" cy="715963"/>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Example: Tax Audit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sz="quarter" idx="4294967295"/>
          </p:nvPr>
        </p:nvSpPr>
        <p:spPr>
          <a:xfrm>
            <a:off x="762000" y="1600200"/>
            <a:ext cx="7924800" cy="4800600"/>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400" b="1"/>
              <a:t>    For a randomly selected taxpayer in 2013:</a:t>
            </a:r>
          </a:p>
          <a:p>
            <a:pPr marL="0" indent="0"/>
            <a:r>
              <a:rPr lang="en-US" altLang="en-US" sz="2400"/>
              <a:t>    What is the probability of an audit?</a:t>
            </a:r>
          </a:p>
          <a:p>
            <a:pPr lvl="1"/>
            <a:r>
              <a:rPr lang="en-US" altLang="en-US" sz="2400"/>
              <a:t>1405/145,781 = 0.0096, or about 1 in 100 chance.</a:t>
            </a:r>
            <a:br>
              <a:rPr lang="en-US" altLang="en-US" sz="2400"/>
            </a:br>
            <a:endParaRPr lang="en-US" altLang="en-US" sz="2400"/>
          </a:p>
          <a:p>
            <a:pPr marL="0" indent="0"/>
            <a:r>
              <a:rPr lang="en-US" altLang="en-US" sz="2400"/>
              <a:t>    What is the probability of the return showing an income of more than $1,000,000?</a:t>
            </a:r>
          </a:p>
          <a:p>
            <a:pPr lvl="1"/>
            <a:r>
              <a:rPr lang="en-US" altLang="en-US" sz="2400"/>
              <a:t>(39 + 324)/145,781 = 0.0025, or about 1 in 400 chance</a:t>
            </a:r>
          </a:p>
        </p:txBody>
      </p:sp>
      <p:sp>
        <p:nvSpPr>
          <p:cNvPr id="20483" name="Rectangle 2"/>
          <p:cNvSpPr>
            <a:spLocks noGrp="1" noChangeArrowheads="1"/>
          </p:cNvSpPr>
          <p:nvPr>
            <p:ph type="title" idx="4294967295"/>
          </p:nvPr>
        </p:nvSpPr>
        <p:spPr>
          <a:xfrm>
            <a:off x="762000" y="242888"/>
            <a:ext cx="8077200" cy="639762"/>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Example: Tax Audit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Some events are expressed as the outcomes that:</a:t>
            </a:r>
          </a:p>
          <a:p>
            <a:pPr lvl="1"/>
            <a:r>
              <a:rPr lang="en-US" altLang="en-US" sz="2400"/>
              <a:t>are </a:t>
            </a:r>
            <a:r>
              <a:rPr lang="en-US" altLang="en-US" sz="2400" i="1"/>
              <a:t>not</a:t>
            </a:r>
            <a:r>
              <a:rPr lang="en-US" altLang="en-US" sz="2400"/>
              <a:t> in some other event (</a:t>
            </a:r>
            <a:r>
              <a:rPr lang="en-US" altLang="en-US" sz="2400" b="1"/>
              <a:t>complement</a:t>
            </a:r>
            <a:r>
              <a:rPr lang="en-US" altLang="en-US" sz="2400"/>
              <a:t> of the event).</a:t>
            </a:r>
          </a:p>
          <a:p>
            <a:pPr lvl="1"/>
            <a:endParaRPr lang="en-US" altLang="en-US" sz="2400"/>
          </a:p>
          <a:p>
            <a:pPr lvl="1"/>
            <a:r>
              <a:rPr lang="en-US" altLang="en-US" sz="2400"/>
              <a:t>are in one event </a:t>
            </a:r>
            <a:r>
              <a:rPr lang="en-US" altLang="en-US" sz="2400" i="1"/>
              <a:t>and</a:t>
            </a:r>
            <a:r>
              <a:rPr lang="en-US" altLang="en-US" sz="2400"/>
              <a:t> in another event (</a:t>
            </a:r>
            <a:r>
              <a:rPr lang="en-US" altLang="en-US" sz="2400" b="1"/>
              <a:t>intersection</a:t>
            </a:r>
            <a:r>
              <a:rPr lang="en-US" altLang="en-US" sz="2400"/>
              <a:t> of two events).</a:t>
            </a:r>
          </a:p>
          <a:p>
            <a:pPr lvl="1"/>
            <a:endParaRPr lang="en-US" altLang="en-US" sz="2400"/>
          </a:p>
          <a:p>
            <a:pPr lvl="1"/>
            <a:r>
              <a:rPr lang="en-US" altLang="en-US" sz="2400"/>
              <a:t>are in one event </a:t>
            </a:r>
            <a:r>
              <a:rPr lang="en-US" altLang="en-US" sz="2400" i="1"/>
              <a:t>or</a:t>
            </a:r>
            <a:r>
              <a:rPr lang="en-US" altLang="en-US" sz="2400"/>
              <a:t> in another event or in both events (</a:t>
            </a:r>
            <a:r>
              <a:rPr lang="en-US" altLang="en-US" sz="2400" b="1"/>
              <a:t>union</a:t>
            </a:r>
            <a:r>
              <a:rPr lang="en-US" altLang="en-US" sz="2400"/>
              <a:t> of two events).</a:t>
            </a:r>
          </a:p>
        </p:txBody>
      </p:sp>
      <p:sp>
        <p:nvSpPr>
          <p:cNvPr id="21507" name="Rectangle 2"/>
          <p:cNvSpPr>
            <a:spLocks noGrp="1" noChangeArrowheads="1"/>
          </p:cNvSpPr>
          <p:nvPr>
            <p:ph type="title" idx="4294967295"/>
          </p:nvPr>
        </p:nvSpPr>
        <p:spPr>
          <a:xfrm>
            <a:off x="685800" y="0"/>
            <a:ext cx="8229600" cy="1143000"/>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Basic Rules for Finding Probabilities About a Pair of Events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sz="quarter" idx="4294967295"/>
          </p:nvPr>
        </p:nvSpPr>
        <p:spPr>
          <a:xfrm>
            <a:off x="457200" y="1600200"/>
            <a:ext cx="8229600" cy="1231900"/>
          </a:xfrm>
          <a:solidFill>
            <a:srgbClr val="FFFFFF"/>
          </a:solidFill>
        </p:spPr>
        <p:txBody>
          <a:bodyPr vert="horz" wrap="square" lIns="0" tIns="45720" rIns="0" bIns="45720" numCol="1" anchor="t" anchorCtr="0" compatLnSpc="1">
            <a:prstTxWarp prst="textNoShape">
              <a:avLst/>
            </a:prstTxWarp>
          </a:bodyPr>
          <a:lstStyle/>
          <a:p>
            <a:pPr marL="0" indent="0">
              <a:lnSpc>
                <a:spcPct val="80000"/>
              </a:lnSpc>
            </a:pPr>
            <a:r>
              <a:rPr lang="en-US" altLang="en-US" sz="2000"/>
              <a:t>The </a:t>
            </a:r>
            <a:r>
              <a:rPr lang="en-US" altLang="en-US" sz="2000" b="1"/>
              <a:t>complement </a:t>
            </a:r>
            <a:r>
              <a:rPr lang="en-US" altLang="en-US" sz="2000"/>
              <a:t>of an event A consists of all outcomes in the sample space that are not in A. It is denoted by A</a:t>
            </a:r>
            <a:r>
              <a:rPr lang="en-US" altLang="en-US" sz="2000" baseline="30000">
                <a:ea typeface="Arial Unicode MS" panose="020B0604020202020204" pitchFamily="34" charset="-128"/>
                <a:cs typeface="Arial Unicode MS" panose="020B0604020202020204" pitchFamily="34" charset="-128"/>
              </a:rPr>
              <a:t>c</a:t>
            </a:r>
            <a:r>
              <a:rPr lang="en-US" altLang="en-US" sz="2000">
                <a:ea typeface="Arial Unicode MS" panose="020B0604020202020204" pitchFamily="34" charset="-128"/>
                <a:cs typeface="Arial Unicode MS" panose="020B0604020202020204" pitchFamily="34" charset="-128"/>
              </a:rPr>
              <a:t>.</a:t>
            </a:r>
            <a:endParaRPr lang="en-US" altLang="en-US" sz="2000"/>
          </a:p>
          <a:p>
            <a:pPr marL="0" indent="0">
              <a:lnSpc>
                <a:spcPct val="80000"/>
              </a:lnSpc>
            </a:pPr>
            <a:endParaRPr lang="en-US" altLang="en-US" sz="2000"/>
          </a:p>
          <a:p>
            <a:pPr marL="0" indent="0">
              <a:lnSpc>
                <a:spcPct val="80000"/>
              </a:lnSpc>
            </a:pPr>
            <a:r>
              <a:rPr lang="en-US" altLang="en-US" sz="2000"/>
              <a:t>The probabilities of A and of A</a:t>
            </a:r>
            <a:r>
              <a:rPr lang="en-US" altLang="en-US" sz="2000" baseline="30000">
                <a:ea typeface="Arial Unicode MS" panose="020B0604020202020204" pitchFamily="34" charset="-128"/>
                <a:cs typeface="Arial Unicode MS" panose="020B0604020202020204" pitchFamily="34" charset="-128"/>
              </a:rPr>
              <a:t>c</a:t>
            </a:r>
            <a:r>
              <a:rPr lang="en-US" altLang="en-US" sz="2000">
                <a:ea typeface="Arial Unicode MS" panose="020B0604020202020204" pitchFamily="34" charset="-128"/>
                <a:cs typeface="Arial Unicode MS" panose="020B0604020202020204" pitchFamily="34" charset="-128"/>
              </a:rPr>
              <a:t> add to 1, so  P(A</a:t>
            </a:r>
            <a:r>
              <a:rPr lang="en-US" altLang="en-US" sz="2000" baseline="30000">
                <a:ea typeface="Arial Unicode MS" panose="020B0604020202020204" pitchFamily="34" charset="-128"/>
                <a:cs typeface="Arial Unicode MS" panose="020B0604020202020204" pitchFamily="34" charset="-128"/>
              </a:rPr>
              <a:t>c</a:t>
            </a:r>
            <a:r>
              <a:rPr lang="en-US" altLang="en-US" sz="2000">
                <a:ea typeface="Arial Unicode MS" panose="020B0604020202020204" pitchFamily="34" charset="-128"/>
                <a:cs typeface="Arial Unicode MS" panose="020B0604020202020204" pitchFamily="34" charset="-128"/>
              </a:rPr>
              <a:t>) = 1 – P(A).</a:t>
            </a:r>
            <a:endParaRPr lang="en-US" altLang="en-US" sz="2000"/>
          </a:p>
        </p:txBody>
      </p:sp>
      <p:sp>
        <p:nvSpPr>
          <p:cNvPr id="22531" name="Rectangle 2"/>
          <p:cNvSpPr>
            <a:spLocks noGrp="1" noChangeArrowheads="1"/>
          </p:cNvSpPr>
          <p:nvPr>
            <p:ph type="title" idx="4294967295"/>
          </p:nvPr>
        </p:nvSpPr>
        <p:spPr>
          <a:xfrm>
            <a:off x="762000" y="165102"/>
            <a:ext cx="8077200" cy="715963"/>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The Complement of an Event</a:t>
            </a:r>
          </a:p>
        </p:txBody>
      </p:sp>
      <p:sp>
        <p:nvSpPr>
          <p:cNvPr id="70660" name="TextBox 1"/>
          <p:cNvSpPr txBox="1">
            <a:spLocks noChangeArrowheads="1"/>
          </p:cNvSpPr>
          <p:nvPr/>
        </p:nvSpPr>
        <p:spPr bwMode="auto">
          <a:xfrm>
            <a:off x="488952" y="5421313"/>
            <a:ext cx="8437563" cy="830262"/>
          </a:xfrm>
          <a:prstGeom prst="rect">
            <a:avLst/>
          </a:prstGeom>
          <a:noFill/>
          <a:ln>
            <a:noFill/>
          </a:ln>
        </p:spPr>
        <p:txBody>
          <a:bodyPr>
            <a:spAutoFit/>
          </a:bodyPr>
          <a:lstStyle/>
          <a:p>
            <a:pPr eaLnBrk="1" hangingPunct="1">
              <a:buClr>
                <a:srgbClr val="000000"/>
              </a:buClr>
              <a:buSzPct val="100000"/>
              <a:buFont typeface="Times New Roman" panose="02020603050405020304" pitchFamily="18" charset="0"/>
              <a:buNone/>
              <a:defRPr/>
            </a:pPr>
            <a:r>
              <a:rPr lang="en-US" altLang="en-US" sz="1600" b="1" dirty="0">
                <a:solidFill>
                  <a:schemeClr val="tx1"/>
                </a:solidFill>
                <a:latin typeface="Arial" panose="020B0604020202020204" pitchFamily="34" charset="0"/>
              </a:rPr>
              <a:t>Figure 5.4 Venn Diagram Illustrating an Event A and Its Complement A</a:t>
            </a:r>
            <a:r>
              <a:rPr lang="en-US" altLang="en-US" sz="1600" b="1" baseline="30000" dirty="0">
                <a:solidFill>
                  <a:schemeClr val="tx1"/>
                </a:solidFill>
                <a:latin typeface="Arial" panose="020B0604020202020204" pitchFamily="34" charset="0"/>
              </a:rPr>
              <a:t>c</a:t>
            </a:r>
            <a:r>
              <a:rPr lang="en-US" altLang="en-US" sz="1600" b="1" dirty="0">
                <a:solidFill>
                  <a:schemeClr val="tx1"/>
                </a:solidFill>
                <a:latin typeface="Arial" panose="020B0604020202020204" pitchFamily="34" charset="0"/>
              </a:rPr>
              <a:t>. </a:t>
            </a:r>
            <a:r>
              <a:rPr lang="en-US" sz="1600" dirty="0">
                <a:solidFill>
                  <a:schemeClr val="tx1"/>
                </a:solidFill>
                <a:latin typeface="+mn-lt"/>
              </a:rPr>
              <a:t>Question</a:t>
            </a:r>
          </a:p>
          <a:p>
            <a:pPr eaLnBrk="1" hangingPunct="1">
              <a:buClr>
                <a:srgbClr val="000000"/>
              </a:buClr>
              <a:buSzPct val="100000"/>
              <a:buFont typeface="Times New Roman" panose="02020603050405020304" pitchFamily="18" charset="0"/>
              <a:buNone/>
              <a:defRPr/>
            </a:pPr>
            <a:r>
              <a:rPr lang="en-US" sz="1600" dirty="0">
                <a:solidFill>
                  <a:schemeClr val="tx1"/>
                </a:solidFill>
                <a:latin typeface="+mn-lt"/>
              </a:rPr>
              <a:t>Can you sketch a Venn diagram of two events A and B such that they share some common</a:t>
            </a:r>
          </a:p>
          <a:p>
            <a:pPr eaLnBrk="1" hangingPunct="1">
              <a:buClr>
                <a:srgbClr val="000000"/>
              </a:buClr>
              <a:buSzPct val="100000"/>
              <a:buFont typeface="Times New Roman" panose="02020603050405020304" pitchFamily="18" charset="0"/>
              <a:buNone/>
              <a:defRPr/>
            </a:pPr>
            <a:r>
              <a:rPr lang="en-US" sz="1600" dirty="0">
                <a:solidFill>
                  <a:schemeClr val="tx1"/>
                </a:solidFill>
                <a:latin typeface="+mn-lt"/>
              </a:rPr>
              <a:t>outcomes, but some outcomes are only in A or only in B?</a:t>
            </a:r>
            <a:endParaRPr lang="en-US" altLang="en-US" sz="1600" b="1" dirty="0">
              <a:solidFill>
                <a:schemeClr val="tx1"/>
              </a:solidFill>
              <a:latin typeface="+mn-lt"/>
            </a:endParaRPr>
          </a:p>
        </p:txBody>
      </p:sp>
      <p:pic>
        <p:nvPicPr>
          <p:cNvPr id="22533" name="Picture 7" descr="Agresti_3e_Chapter05-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2970213"/>
            <a:ext cx="6083300"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sz="quarter" idx="4294967295"/>
          </p:nvPr>
        </p:nvSpPr>
        <p:spPr>
          <a:xfrm>
            <a:off x="457200" y="1600200"/>
            <a:ext cx="8229600" cy="846138"/>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Two events, A and B, are </a:t>
            </a:r>
            <a:r>
              <a:rPr lang="en-US" altLang="en-US" sz="2400" b="1"/>
              <a:t>disjoint</a:t>
            </a:r>
            <a:r>
              <a:rPr lang="en-US" altLang="en-US" sz="2400"/>
              <a:t> if they do not have any common outcomes.</a:t>
            </a:r>
          </a:p>
        </p:txBody>
      </p:sp>
      <p:sp>
        <p:nvSpPr>
          <p:cNvPr id="23555" name="Rectangle 2"/>
          <p:cNvSpPr>
            <a:spLocks noGrp="1" noChangeArrowheads="1"/>
          </p:cNvSpPr>
          <p:nvPr>
            <p:ph type="title" idx="4294967295"/>
          </p:nvPr>
        </p:nvSpPr>
        <p:spPr>
          <a:xfrm>
            <a:off x="762000" y="165102"/>
            <a:ext cx="8077200" cy="715963"/>
          </a:xfrm>
          <a:solidFill>
            <a:srgbClr val="FFFFFF"/>
          </a:solidFill>
        </p:spPr>
        <p:txBody>
          <a:bodyPr vert="horz" wrap="square" lIns="0" tIns="45720" rIns="0" bIns="45720" numCol="1" anchor="b" anchorCtr="0" compatLnSpc="1">
            <a:prstTxWarp prst="textNoShape">
              <a:avLst/>
            </a:prstTxWarp>
          </a:bodyPr>
          <a:lstStyle/>
          <a:p>
            <a:r>
              <a:rPr lang="en-US" altLang="en-US" sz="3600" b="1">
                <a:latin typeface="Arial" panose="020B0604020202020204" pitchFamily="34" charset="0"/>
              </a:rPr>
              <a:t>Disjoint Events</a:t>
            </a:r>
          </a:p>
        </p:txBody>
      </p:sp>
      <p:sp>
        <p:nvSpPr>
          <p:cNvPr id="23556" name="TextBox 1"/>
          <p:cNvSpPr txBox="1">
            <a:spLocks noChangeArrowheads="1"/>
          </p:cNvSpPr>
          <p:nvPr/>
        </p:nvSpPr>
        <p:spPr bwMode="auto">
          <a:xfrm>
            <a:off x="457200" y="5029200"/>
            <a:ext cx="84582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5.5 Venn Diagram Illustrating Disjoint Events. </a:t>
            </a:r>
            <a:r>
              <a:rPr lang="en-US" altLang="en-US" sz="1600">
                <a:solidFill>
                  <a:schemeClr val="tx1"/>
                </a:solidFill>
                <a:latin typeface="Arial" panose="020B0604020202020204" pitchFamily="34" charset="0"/>
              </a:rPr>
              <a:t>The event of a student answering exactly one question correctly is disjoint from the event of answering exactly two questions correctly. </a:t>
            </a:r>
            <a:r>
              <a:rPr lang="en-US" altLang="en-US" sz="1600" b="1">
                <a:solidFill>
                  <a:schemeClr val="tx1"/>
                </a:solidFill>
                <a:latin typeface="Arial" panose="020B0604020202020204" pitchFamily="34" charset="0"/>
              </a:rPr>
              <a:t>Question:</a:t>
            </a:r>
            <a:r>
              <a:rPr lang="en-US" altLang="en-US" sz="1600">
                <a:solidFill>
                  <a:schemeClr val="tx1"/>
                </a:solidFill>
                <a:latin typeface="Arial" panose="020B0604020202020204" pitchFamily="34" charset="0"/>
              </a:rPr>
              <a:t> Identify on this figure the event that the student answers the first question correctly. Is this event disjoint from either of the two events identified in the Venn diagram?</a:t>
            </a:r>
          </a:p>
        </p:txBody>
      </p:sp>
      <p:pic>
        <p:nvPicPr>
          <p:cNvPr id="23557" name="Picture 7" descr="Agresti_3e_Chapter05-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2" y="2438400"/>
            <a:ext cx="4575175"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sz="quarter" idx="4294967295"/>
          </p:nvPr>
        </p:nvSpPr>
        <p:spPr>
          <a:xfrm>
            <a:off x="457200" y="1330327"/>
            <a:ext cx="8229600" cy="923925"/>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The </a:t>
            </a:r>
            <a:r>
              <a:rPr lang="en-US" altLang="en-US" sz="2400" b="1"/>
              <a:t>intersection</a:t>
            </a:r>
            <a:r>
              <a:rPr lang="en-US" altLang="en-US" sz="2400"/>
              <a:t> of A and B consists of outcomes that are in both A </a:t>
            </a:r>
            <a:r>
              <a:rPr lang="en-US" altLang="en-US" sz="2400" i="1"/>
              <a:t>and</a:t>
            </a:r>
            <a:r>
              <a:rPr lang="en-US" altLang="en-US" sz="2400"/>
              <a:t> B.</a:t>
            </a:r>
          </a:p>
        </p:txBody>
      </p:sp>
      <p:sp>
        <p:nvSpPr>
          <p:cNvPr id="24579" name="Rectangle 2"/>
          <p:cNvSpPr>
            <a:spLocks noGrp="1" noChangeArrowheads="1"/>
          </p:cNvSpPr>
          <p:nvPr>
            <p:ph type="title" idx="4294967295"/>
          </p:nvPr>
        </p:nvSpPr>
        <p:spPr>
          <a:xfrm>
            <a:off x="762000" y="165102"/>
            <a:ext cx="8077200" cy="715963"/>
          </a:xfrm>
          <a:solidFill>
            <a:srgbClr val="FFFFFF"/>
          </a:solidFill>
        </p:spPr>
        <p:txBody>
          <a:bodyPr vert="horz" wrap="square" lIns="0" tIns="45720" rIns="0" bIns="45720" numCol="1" anchor="b" anchorCtr="0" compatLnSpc="1">
            <a:prstTxWarp prst="textNoShape">
              <a:avLst/>
            </a:prstTxWarp>
          </a:bodyPr>
          <a:lstStyle/>
          <a:p>
            <a:r>
              <a:rPr lang="en-US" altLang="en-US" sz="3600" b="1">
                <a:latin typeface="Arial" panose="020B0604020202020204" pitchFamily="34" charset="0"/>
              </a:rPr>
              <a:t>Intersection of Two Events</a:t>
            </a:r>
          </a:p>
        </p:txBody>
      </p:sp>
      <p:sp>
        <p:nvSpPr>
          <p:cNvPr id="24580" name="TextBox 1"/>
          <p:cNvSpPr txBox="1">
            <a:spLocks noChangeArrowheads="1"/>
          </p:cNvSpPr>
          <p:nvPr/>
        </p:nvSpPr>
        <p:spPr bwMode="auto">
          <a:xfrm>
            <a:off x="457202" y="4953000"/>
            <a:ext cx="85058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5.6 The Intersection and the Union of Two Events. </a:t>
            </a:r>
            <a:r>
              <a:rPr lang="en-US" altLang="en-US" sz="1600">
                <a:solidFill>
                  <a:schemeClr val="tx1"/>
                </a:solidFill>
                <a:latin typeface="Arial" panose="020B0604020202020204" pitchFamily="34" charset="0"/>
              </a:rPr>
              <a:t>Intersection means A occurs and B occurs, denoted “A and B.” The intersection consists of the shaded “overlap” part in Figure 5.6 (a). Union means A occurs or B occurs or both occur, denoted “A or B.” It consists of all the shaded parts in Figure 5.6 (b). </a:t>
            </a:r>
            <a:r>
              <a:rPr lang="en-US" altLang="en-US" sz="1600" b="1">
                <a:solidFill>
                  <a:schemeClr val="tx1"/>
                </a:solidFill>
                <a:latin typeface="Arial" panose="020B0604020202020204" pitchFamily="34" charset="0"/>
              </a:rPr>
              <a:t>Question:</a:t>
            </a:r>
            <a:r>
              <a:rPr lang="en-US" altLang="en-US" sz="1600">
                <a:solidFill>
                  <a:schemeClr val="tx1"/>
                </a:solidFill>
                <a:latin typeface="Arial" panose="020B0604020202020204" pitchFamily="34" charset="0"/>
              </a:rPr>
              <a:t> How could you find P(A or B) if you know P(A), P(B), and P(A and B)?</a:t>
            </a:r>
          </a:p>
        </p:txBody>
      </p:sp>
      <p:pic>
        <p:nvPicPr>
          <p:cNvPr id="24581" name="Picture 8" descr="Agresti_3e_Chapter05-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3827" y="2473327"/>
            <a:ext cx="6677025"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Rectangle 1"/>
          <p:cNvSpPr>
            <a:spLocks noChangeArrowheads="1"/>
          </p:cNvSpPr>
          <p:nvPr/>
        </p:nvSpPr>
        <p:spPr bwMode="auto">
          <a:xfrm>
            <a:off x="1325563" y="2400302"/>
            <a:ext cx="3492500" cy="2479675"/>
          </a:xfrm>
          <a:prstGeom prst="rect">
            <a:avLst/>
          </a:prstGeom>
          <a:noFill/>
          <a:ln w="57150" algn="ctr">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sz="quarter" idx="4294967295"/>
          </p:nvPr>
        </p:nvSpPr>
        <p:spPr>
          <a:xfrm>
            <a:off x="365125" y="1285875"/>
            <a:ext cx="8229600" cy="846138"/>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The </a:t>
            </a:r>
            <a:r>
              <a:rPr lang="en-US" altLang="en-US" sz="2400" b="1"/>
              <a:t>union</a:t>
            </a:r>
            <a:r>
              <a:rPr lang="en-US" altLang="en-US" sz="2400"/>
              <a:t> of A and B consists of outcomes that are in A </a:t>
            </a:r>
            <a:r>
              <a:rPr lang="en-US" altLang="en-US" sz="2400" i="1"/>
              <a:t>or</a:t>
            </a:r>
            <a:r>
              <a:rPr lang="en-US" altLang="en-US" sz="2400"/>
              <a:t> in B or both.</a:t>
            </a:r>
          </a:p>
        </p:txBody>
      </p:sp>
      <p:sp>
        <p:nvSpPr>
          <p:cNvPr id="25603" name="Rectangle 2"/>
          <p:cNvSpPr>
            <a:spLocks noGrp="1" noChangeArrowheads="1"/>
          </p:cNvSpPr>
          <p:nvPr>
            <p:ph type="title" idx="4294967295"/>
          </p:nvPr>
        </p:nvSpPr>
        <p:spPr>
          <a:xfrm>
            <a:off x="762000" y="165102"/>
            <a:ext cx="8001000" cy="715963"/>
          </a:xfrm>
          <a:solidFill>
            <a:srgbClr val="FFFFFF"/>
          </a:solidFill>
        </p:spPr>
        <p:txBody>
          <a:bodyPr vert="horz" wrap="square" lIns="0" tIns="45720" rIns="0" bIns="45720" numCol="1" anchor="b" anchorCtr="0" compatLnSpc="1">
            <a:prstTxWarp prst="textNoShape">
              <a:avLst/>
            </a:prstTxWarp>
          </a:bodyPr>
          <a:lstStyle/>
          <a:p>
            <a:r>
              <a:rPr lang="en-US" altLang="en-US" sz="3600" b="1">
                <a:latin typeface="Arial" panose="020B0604020202020204" pitchFamily="34" charset="0"/>
              </a:rPr>
              <a:t>Union of Two Events</a:t>
            </a:r>
          </a:p>
        </p:txBody>
      </p:sp>
      <p:sp>
        <p:nvSpPr>
          <p:cNvPr id="25604" name="TextBox 1"/>
          <p:cNvSpPr txBox="1">
            <a:spLocks noChangeArrowheads="1"/>
          </p:cNvSpPr>
          <p:nvPr/>
        </p:nvSpPr>
        <p:spPr bwMode="auto">
          <a:xfrm>
            <a:off x="381000" y="5029200"/>
            <a:ext cx="85344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5.6 The Intersection and the Union of Two Events. </a:t>
            </a:r>
            <a:r>
              <a:rPr lang="en-US" altLang="en-US" sz="1600">
                <a:solidFill>
                  <a:schemeClr val="tx1"/>
                </a:solidFill>
                <a:latin typeface="Arial" panose="020B0604020202020204" pitchFamily="34" charset="0"/>
              </a:rPr>
              <a:t>Intersection means A occurs and B occurs, denoted “A and B.” The intersection consists of the shaded “overlap” part in Figure 5.6 (a). Union means A occurs or B occurs or both occur, denoted “A or B.” It consists of all the shaded parts in Figure 5.6 (b). </a:t>
            </a:r>
            <a:r>
              <a:rPr lang="en-US" altLang="en-US" sz="1600" b="1">
                <a:solidFill>
                  <a:schemeClr val="tx1"/>
                </a:solidFill>
                <a:latin typeface="Arial" panose="020B0604020202020204" pitchFamily="34" charset="0"/>
              </a:rPr>
              <a:t>Question:</a:t>
            </a:r>
            <a:r>
              <a:rPr lang="en-US" altLang="en-US" sz="1600">
                <a:solidFill>
                  <a:schemeClr val="tx1"/>
                </a:solidFill>
                <a:latin typeface="Arial" panose="020B0604020202020204" pitchFamily="34" charset="0"/>
              </a:rPr>
              <a:t> How could you find P(A or B) if you know P(A), P(B), and P(A and B)?</a:t>
            </a:r>
          </a:p>
        </p:txBody>
      </p:sp>
      <p:pic>
        <p:nvPicPr>
          <p:cNvPr id="25605" name="Picture 7" descr="Agresti_3e_Chapter05-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3827" y="2473327"/>
            <a:ext cx="6677025"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Rectangle 5"/>
          <p:cNvSpPr>
            <a:spLocks noChangeArrowheads="1"/>
          </p:cNvSpPr>
          <p:nvPr/>
        </p:nvSpPr>
        <p:spPr bwMode="auto">
          <a:xfrm>
            <a:off x="4762500" y="2400302"/>
            <a:ext cx="3492500" cy="2479675"/>
          </a:xfrm>
          <a:prstGeom prst="rect">
            <a:avLst/>
          </a:prstGeom>
          <a:noFill/>
          <a:ln w="57150" algn="ctr">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798513" y="406402"/>
            <a:ext cx="8077200" cy="715963"/>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Addition Rule: Finding the Probability That Even A or Event B Occurs</a:t>
            </a:r>
          </a:p>
        </p:txBody>
      </p:sp>
      <p:sp>
        <p:nvSpPr>
          <p:cNvPr id="26627" name="Rectangle 3"/>
          <p:cNvSpPr>
            <a:spLocks noChangeArrowheads="1"/>
          </p:cNvSpPr>
          <p:nvPr/>
        </p:nvSpPr>
        <p:spPr bwMode="auto">
          <a:xfrm>
            <a:off x="685800" y="1524000"/>
            <a:ext cx="808355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Times New Roman" panose="02020603050405020304" pitchFamily="18" charset="0"/>
                <a:ea typeface="Microsoft YaHei" panose="020B0503020204020204" pitchFamily="34" charset="-122"/>
              </a:defRPr>
            </a:lvl1pPr>
            <a:lvl2pPr marL="800100" indent="-342900">
              <a:defRPr sz="2400">
                <a:solidFill>
                  <a:schemeClr val="bg1"/>
                </a:solidFill>
                <a:latin typeface="Times New Roman" panose="02020603050405020304" pitchFamily="18" charset="0"/>
                <a:ea typeface="Microsoft YaHei" panose="020B0503020204020204" pitchFamily="34" charset="-122"/>
              </a:defRPr>
            </a:lvl2pPr>
            <a:lvl3pPr>
              <a:defRPr sz="2400">
                <a:solidFill>
                  <a:schemeClr val="bg1"/>
                </a:solidFill>
                <a:latin typeface="Times New Roman" panose="02020603050405020304" pitchFamily="18" charset="0"/>
                <a:ea typeface="Microsoft YaHei" panose="020B0503020204020204" pitchFamily="34" charset="-122"/>
              </a:defRPr>
            </a:lvl3pPr>
            <a:lvl4pPr>
              <a:defRPr sz="2400">
                <a:solidFill>
                  <a:schemeClr val="bg1"/>
                </a:solidFill>
                <a:latin typeface="Times New Roman" panose="02020603050405020304" pitchFamily="18" charset="0"/>
                <a:ea typeface="Microsoft YaHei" panose="020B0503020204020204" pitchFamily="34" charset="-122"/>
              </a:defRPr>
            </a:lvl4pPr>
            <a:lvl5pPr>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9pPr>
          </a:lstStyle>
          <a:p>
            <a:pPr eaLnBrk="1" hangingPunct="1"/>
            <a:r>
              <a:rPr lang="en-US" altLang="en-US" sz="2000" b="1" dirty="0">
                <a:solidFill>
                  <a:schemeClr val="tx1"/>
                </a:solidFill>
                <a:latin typeface="Arial" panose="020B0604020202020204" pitchFamily="34" charset="0"/>
              </a:rPr>
              <a:t>Addition Rule: Probability of the Union of Two Events</a:t>
            </a:r>
          </a:p>
          <a:p>
            <a:pPr lvl="1" eaLnBrk="1" hangingPunct="1">
              <a:buFont typeface="Wingdings" panose="05000000000000000000" pitchFamily="2" charset="2"/>
              <a:buChar char="§"/>
            </a:pPr>
            <a:r>
              <a:rPr lang="en-US" altLang="en-US" sz="2000" dirty="0">
                <a:solidFill>
                  <a:schemeClr val="tx1"/>
                </a:solidFill>
                <a:latin typeface="Arial" panose="020B0604020202020204" pitchFamily="34" charset="0"/>
              </a:rPr>
              <a:t>For the </a:t>
            </a:r>
            <a:r>
              <a:rPr lang="en-US" altLang="en-US" sz="2000" b="1" i="1" dirty="0">
                <a:solidFill>
                  <a:schemeClr val="tx1"/>
                </a:solidFill>
                <a:latin typeface="Arial" panose="020B0604020202020204" pitchFamily="34" charset="0"/>
              </a:rPr>
              <a:t>union</a:t>
            </a:r>
            <a:r>
              <a:rPr lang="en-US" altLang="en-US" sz="2000" dirty="0">
                <a:solidFill>
                  <a:schemeClr val="tx1"/>
                </a:solidFill>
                <a:latin typeface="Arial" panose="020B0604020202020204" pitchFamily="34" charset="0"/>
              </a:rPr>
              <a:t> of two events,</a:t>
            </a:r>
          </a:p>
          <a:p>
            <a:pPr lvl="1" eaLnBrk="1" hangingPunct="1"/>
            <a:r>
              <a:rPr lang="en-US" altLang="en-US" sz="2000" dirty="0">
                <a:solidFill>
                  <a:schemeClr val="tx1"/>
                </a:solidFill>
                <a:latin typeface="Arial" panose="020B0604020202020204" pitchFamily="34" charset="0"/>
              </a:rPr>
              <a:t>     P(A or B) 	= 	P(A) + P(B) – P(A and B).</a:t>
            </a:r>
          </a:p>
          <a:p>
            <a:pPr lvl="1" eaLnBrk="1" hangingPunct="1"/>
            <a:r>
              <a:rPr lang="en-US" altLang="en-US" sz="2000" dirty="0">
                <a:solidFill>
                  <a:schemeClr val="tx1"/>
                </a:solidFill>
                <a:latin typeface="Arial" panose="020B0604020202020204" pitchFamily="34" charset="0"/>
              </a:rPr>
              <a:t>	P(A and B) 	= 	P(A) + P(B) – P(A or B) </a:t>
            </a:r>
          </a:p>
          <a:p>
            <a:pPr lvl="1" eaLnBrk="1" hangingPunct="1">
              <a:buFont typeface="Wingdings" panose="05000000000000000000" pitchFamily="2" charset="2"/>
              <a:buChar char="§"/>
            </a:pPr>
            <a:endParaRPr lang="en-US" altLang="en-US" sz="2000" dirty="0">
              <a:solidFill>
                <a:schemeClr val="tx1"/>
              </a:solidFill>
              <a:latin typeface="Arial" panose="020B0604020202020204" pitchFamily="34" charset="0"/>
            </a:endParaRPr>
          </a:p>
          <a:p>
            <a:pPr lvl="1" eaLnBrk="1" hangingPunct="1">
              <a:buFont typeface="Wingdings" panose="05000000000000000000" pitchFamily="2" charset="2"/>
              <a:buChar char="§"/>
            </a:pPr>
            <a:r>
              <a:rPr lang="en-US" altLang="en-US" sz="2000" dirty="0">
                <a:solidFill>
                  <a:schemeClr val="tx1"/>
                </a:solidFill>
                <a:latin typeface="Arial" panose="020B0604020202020204" pitchFamily="34" charset="0"/>
              </a:rPr>
              <a:t>If the events are </a:t>
            </a:r>
            <a:r>
              <a:rPr lang="en-US" altLang="en-US" sz="2000" b="1" i="1" dirty="0">
                <a:solidFill>
                  <a:schemeClr val="tx1"/>
                </a:solidFill>
                <a:latin typeface="Arial" panose="020B0604020202020204" pitchFamily="34" charset="0"/>
              </a:rPr>
              <a:t>disjoint</a:t>
            </a:r>
            <a:r>
              <a:rPr lang="en-US" altLang="en-US" sz="2000" dirty="0">
                <a:solidFill>
                  <a:schemeClr val="tx1"/>
                </a:solidFill>
                <a:latin typeface="Arial" panose="020B0604020202020204" pitchFamily="34" charset="0"/>
              </a:rPr>
              <a:t>, then P(A and B) = 0, so </a:t>
            </a:r>
          </a:p>
          <a:p>
            <a:pPr lvl="1" eaLnBrk="1" hangingPunct="1"/>
            <a:r>
              <a:rPr lang="en-US" altLang="en-US" sz="2000" dirty="0">
                <a:solidFill>
                  <a:schemeClr val="tx1"/>
                </a:solidFill>
                <a:latin typeface="Arial" panose="020B0604020202020204" pitchFamily="34" charset="0"/>
              </a:rPr>
              <a:t>	 P(A or B) = P(A) + P(B). </a:t>
            </a:r>
          </a:p>
        </p:txBody>
      </p:sp>
      <p:sp>
        <p:nvSpPr>
          <p:cNvPr id="26628" name="TextBox 1"/>
          <p:cNvSpPr txBox="1">
            <a:spLocks noChangeArrowheads="1"/>
          </p:cNvSpPr>
          <p:nvPr/>
        </p:nvSpPr>
        <p:spPr bwMode="auto">
          <a:xfrm>
            <a:off x="798512" y="5449824"/>
            <a:ext cx="819308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Clr>
                <a:srgbClr val="000000"/>
              </a:buClr>
              <a:buSzPct val="100000"/>
              <a:buFont typeface="Times New Roman" panose="02020603050405020304" pitchFamily="18" charset="0"/>
              <a:buNone/>
            </a:pPr>
            <a:endParaRPr lang="en-US" altLang="en-US" sz="1600" b="1" dirty="0">
              <a:solidFill>
                <a:schemeClr val="tx1"/>
              </a:solidFill>
              <a:latin typeface="Arial" panose="020B0604020202020204" pitchFamily="34" charset="0"/>
            </a:endParaRPr>
          </a:p>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Figure 5.7 The Probability of the Union, Outcomes in A or B or Both. </a:t>
            </a:r>
            <a:r>
              <a:rPr lang="en-US" altLang="en-US" sz="1600" dirty="0">
                <a:solidFill>
                  <a:schemeClr val="tx1"/>
                </a:solidFill>
                <a:latin typeface="Arial" panose="020B0604020202020204" pitchFamily="34" charset="0"/>
              </a:rPr>
              <a:t>Add P(A) to P(B) and subtract P(A and B) to adjust for outcomes counted twice. </a:t>
            </a:r>
            <a:r>
              <a:rPr lang="en-US" altLang="en-US" sz="1600" b="1" dirty="0">
                <a:solidFill>
                  <a:schemeClr val="tx1"/>
                </a:solidFill>
                <a:latin typeface="Arial" panose="020B0604020202020204" pitchFamily="34" charset="0"/>
              </a:rPr>
              <a:t>Question: </a:t>
            </a:r>
            <a:r>
              <a:rPr lang="en-US" altLang="en-US" sz="1600" dirty="0">
                <a:solidFill>
                  <a:schemeClr val="tx1"/>
                </a:solidFill>
                <a:latin typeface="Arial" panose="020B0604020202020204" pitchFamily="34" charset="0"/>
              </a:rPr>
              <a:t>When does P(A or B) = P(A) + P(B)?</a:t>
            </a:r>
          </a:p>
        </p:txBody>
      </p:sp>
      <p:pic>
        <p:nvPicPr>
          <p:cNvPr id="26629" name="Picture 7" descr="Agresti_3e_Chapter05-18"/>
          <p:cNvPicPr>
            <a:picLocks noChangeAspect="1" noChangeArrowheads="1"/>
          </p:cNvPicPr>
          <p:nvPr/>
        </p:nvPicPr>
        <p:blipFill>
          <a:blip r:embed="rId3">
            <a:lum contrast="4000"/>
            <a:extLst>
              <a:ext uri="{28A0092B-C50C-407E-A947-70E740481C1C}">
                <a14:useLocalDpi xmlns:a14="http://schemas.microsoft.com/office/drawing/2010/main" val="0"/>
              </a:ext>
            </a:extLst>
          </a:blip>
          <a:srcRect/>
          <a:stretch>
            <a:fillRect/>
          </a:stretch>
        </p:blipFill>
        <p:spPr bwMode="auto">
          <a:xfrm>
            <a:off x="1262062" y="3770769"/>
            <a:ext cx="6931025"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sz="quarter" idx="4294967295"/>
          </p:nvPr>
        </p:nvSpPr>
        <p:spPr>
          <a:xfrm>
            <a:off x="685800" y="1524002"/>
            <a:ext cx="8305800" cy="4556125"/>
          </a:xfrm>
          <a:solidFill>
            <a:srgbClr val="FFFFFF"/>
          </a:solidFill>
        </p:spPr>
        <p:txBody>
          <a:bodyPr vert="horz" wrap="square" lIns="0" tIns="45720" rIns="0" bIns="45720" numCol="1" anchor="t" anchorCtr="0" compatLnSpc="1">
            <a:prstTxWarp prst="textNoShape">
              <a:avLst/>
            </a:prstTxWarp>
          </a:bodyPr>
          <a:lstStyle/>
          <a:p>
            <a:pPr marL="0" indent="0">
              <a:lnSpc>
                <a:spcPct val="90000"/>
              </a:lnSpc>
            </a:pPr>
            <a:r>
              <a:rPr lang="en-US" altLang="en-US" sz="2200"/>
              <a:t>Consider a family with two children. The sample space possibilities for the genders of the two children are {FF, FM, MF, MM}. Assume the four outcomes in the sample space are equally likely.</a:t>
            </a:r>
          </a:p>
          <a:p>
            <a:pPr marL="0" indent="0">
              <a:lnSpc>
                <a:spcPct val="90000"/>
              </a:lnSpc>
            </a:pPr>
            <a:endParaRPr lang="en-US" altLang="en-US" sz="2200"/>
          </a:p>
          <a:p>
            <a:pPr marL="0" indent="0">
              <a:lnSpc>
                <a:spcPct val="90000"/>
              </a:lnSpc>
              <a:buFont typeface="Wingdings" panose="05000000000000000000" pitchFamily="2" charset="2"/>
              <a:buChar char="§"/>
            </a:pPr>
            <a:r>
              <a:rPr lang="en-US" altLang="en-US" sz="2200"/>
              <a:t>   Let A = {first child a girl}.</a:t>
            </a:r>
          </a:p>
          <a:p>
            <a:pPr marL="0" indent="0">
              <a:lnSpc>
                <a:spcPct val="90000"/>
              </a:lnSpc>
              <a:buFont typeface="Wingdings" panose="05000000000000000000" pitchFamily="2" charset="2"/>
              <a:buChar char="§"/>
            </a:pPr>
            <a:r>
              <a:rPr lang="en-US" altLang="en-US" sz="2200"/>
              <a:t>   Let</a:t>
            </a:r>
            <a:r>
              <a:rPr lang="en-US" altLang="en-US" sz="2200" b="1">
                <a:solidFill>
                  <a:srgbClr val="FF0000"/>
                </a:solidFill>
              </a:rPr>
              <a:t> </a:t>
            </a:r>
            <a:r>
              <a:rPr lang="en-US" altLang="en-US" sz="2200"/>
              <a:t>B = {second child a girl}.</a:t>
            </a:r>
          </a:p>
          <a:p>
            <a:pPr marL="0" indent="0">
              <a:lnSpc>
                <a:spcPct val="90000"/>
              </a:lnSpc>
              <a:buFont typeface="Wingdings" panose="05000000000000000000" pitchFamily="2" charset="2"/>
              <a:buChar char="§"/>
            </a:pPr>
            <a:r>
              <a:rPr lang="en-US" altLang="en-US" sz="2200"/>
              <a:t>   P(A) = P({FF, FM}) = 0.50,</a:t>
            </a:r>
          </a:p>
          <a:p>
            <a:pPr marL="0" indent="0">
              <a:lnSpc>
                <a:spcPct val="90000"/>
              </a:lnSpc>
              <a:buFont typeface="Wingdings" panose="05000000000000000000" pitchFamily="2" charset="2"/>
              <a:buChar char="§"/>
            </a:pPr>
            <a:r>
              <a:rPr lang="en-US" altLang="en-US" sz="2200"/>
              <a:t>   P(B) = P({FF, MF}) = 0.50, and P(A and B) = P({FF}) = 0.25</a:t>
            </a:r>
          </a:p>
          <a:p>
            <a:pPr marL="0" indent="0">
              <a:lnSpc>
                <a:spcPct val="90000"/>
              </a:lnSpc>
              <a:buFont typeface="Wingdings" panose="05000000000000000000" pitchFamily="2" charset="2"/>
              <a:buChar char="§"/>
            </a:pPr>
            <a:endParaRPr lang="en-US" altLang="en-US" sz="2200"/>
          </a:p>
          <a:p>
            <a:pPr marL="0" indent="0">
              <a:lnSpc>
                <a:spcPct val="90000"/>
              </a:lnSpc>
            </a:pPr>
            <a:r>
              <a:rPr lang="en-US" altLang="en-US" sz="2200"/>
              <a:t>The event A or B is the event that the first child is a girl, or the second child is a girl, or both, that is, </a:t>
            </a:r>
            <a:r>
              <a:rPr lang="en-US" altLang="en-US" sz="2200" i="1"/>
              <a:t>at least </a:t>
            </a:r>
            <a:r>
              <a:rPr lang="en-US" altLang="en-US" sz="2200"/>
              <a:t>one child is a girl. Its probability is:</a:t>
            </a:r>
          </a:p>
          <a:p>
            <a:pPr marL="0" indent="0">
              <a:lnSpc>
                <a:spcPct val="90000"/>
              </a:lnSpc>
            </a:pPr>
            <a:r>
              <a:rPr lang="en-US" altLang="en-US" sz="2200"/>
              <a:t>P(A or B) = P(A) + P(B) - P(A and B) = 0.50 + 0.50 - 0.25 = 0.75.</a:t>
            </a:r>
          </a:p>
        </p:txBody>
      </p:sp>
      <p:sp>
        <p:nvSpPr>
          <p:cNvPr id="28675" name="Rectangle 2"/>
          <p:cNvSpPr>
            <a:spLocks noGrp="1" noChangeArrowheads="1"/>
          </p:cNvSpPr>
          <p:nvPr>
            <p:ph type="title" idx="4294967295"/>
          </p:nvPr>
        </p:nvSpPr>
        <p:spPr>
          <a:xfrm>
            <a:off x="685800" y="0"/>
            <a:ext cx="8229600" cy="1143000"/>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Example: Probability of the Union of Two Events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Rot="1" noChangeAspect="1" noMove="1" noResize="1" noEditPoints="1" noAdjustHandles="1" noChangeArrowheads="1" noChangeShapeType="1" noTextEdit="1"/>
          </p:cNvSpPr>
          <p:nvPr>
            <p:ph type="body" sz="quarter" idx="4294967295"/>
          </p:nvPr>
        </p:nvSpPr>
        <p:spPr>
          <a:xfrm>
            <a:off x="762000" y="1600200"/>
            <a:ext cx="7924800" cy="4648200"/>
          </a:xfrm>
          <a:blipFill>
            <a:blip r:embed="rId2" cstate="print"/>
            <a:stretch>
              <a:fillRect l="-2308" t="-919"/>
            </a:stretch>
          </a:blipFill>
        </p:spPr>
        <p:txBody>
          <a:bodyPr/>
          <a:lstStyle/>
          <a:p>
            <a:pPr>
              <a:defRPr/>
            </a:pPr>
            <a:r>
              <a:rPr lang="en-US">
                <a:noFill/>
              </a:rPr>
              <a:t> </a:t>
            </a:r>
          </a:p>
        </p:txBody>
      </p:sp>
      <p:sp>
        <p:nvSpPr>
          <p:cNvPr id="30723" name="Rectangle 2"/>
          <p:cNvSpPr>
            <a:spLocks noGrp="1" noChangeArrowheads="1"/>
          </p:cNvSpPr>
          <p:nvPr>
            <p:ph type="title" idx="4294967295"/>
          </p:nvPr>
        </p:nvSpPr>
        <p:spPr>
          <a:xfrm>
            <a:off x="762000" y="398463"/>
            <a:ext cx="8153400" cy="709612"/>
          </a:xfrm>
          <a:solidFill>
            <a:srgbClr val="FFFFFF"/>
          </a:solidFill>
        </p:spPr>
        <p:txBody>
          <a:bodyPr vert="horz" wrap="square" lIns="0" tIns="45720" rIns="0" bIns="45720" numCol="1" anchor="b" anchorCtr="0" compatLnSpc="1">
            <a:prstTxWarp prst="textNoShape">
              <a:avLst/>
            </a:prstTxWarp>
          </a:bodyPr>
          <a:lstStyle/>
          <a:p>
            <a:r>
              <a:rPr lang="en-US" altLang="en-US" sz="2900" b="1">
                <a:latin typeface="Arial" panose="020B0604020202020204" pitchFamily="34" charset="0"/>
              </a:rPr>
              <a:t>Multiplication Rule: Finding the Probability That Events A and B Both Occur</a:t>
            </a:r>
          </a:p>
        </p:txBody>
      </p:sp>
      <p:sp>
        <p:nvSpPr>
          <p:cNvPr id="30724" name="Text Box 4"/>
          <p:cNvSpPr txBox="1">
            <a:spLocks noChangeArrowheads="1"/>
          </p:cNvSpPr>
          <p:nvPr/>
        </p:nvSpPr>
        <p:spPr bwMode="auto">
          <a:xfrm>
            <a:off x="3413125" y="48371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endParaRPr lang="en-US" altLang="en-US" sz="1800">
              <a:solidFill>
                <a:schemeClr val="tx1"/>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Rot="1" noChangeAspect="1" noMove="1" noResize="1" noEditPoints="1" noAdjustHandles="1" noChangeArrowheads="1" noChangeShapeType="1" noTextEdit="1"/>
          </p:cNvSpPr>
          <p:nvPr>
            <p:ph type="body" sz="quarter" idx="4294967295"/>
          </p:nvPr>
        </p:nvSpPr>
        <p:spPr>
          <a:xfrm>
            <a:off x="762000" y="1600200"/>
            <a:ext cx="8162544" cy="4495800"/>
          </a:xfrm>
          <a:blipFill>
            <a:blip r:embed="rId3" cstate="print"/>
            <a:stretch>
              <a:fillRect l="-2240" t="-950" r="-1942"/>
            </a:stretch>
          </a:blipFill>
        </p:spPr>
        <p:txBody>
          <a:bodyPr/>
          <a:lstStyle/>
          <a:p>
            <a:pPr>
              <a:defRPr/>
            </a:pPr>
            <a:r>
              <a:rPr lang="en-US">
                <a:noFill/>
              </a:rPr>
              <a:t> </a:t>
            </a:r>
          </a:p>
        </p:txBody>
      </p:sp>
      <p:sp>
        <p:nvSpPr>
          <p:cNvPr id="31747" name="Rectangle 2"/>
          <p:cNvSpPr>
            <a:spLocks noGrp="1" noChangeArrowheads="1"/>
          </p:cNvSpPr>
          <p:nvPr>
            <p:ph type="title" idx="4294967295"/>
          </p:nvPr>
        </p:nvSpPr>
        <p:spPr>
          <a:xfrm>
            <a:off x="609600" y="288925"/>
            <a:ext cx="8534400" cy="609600"/>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Example: Guessing yet Passing a Pop Quiz</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type="body" sz="quarter" idx="4294967295"/>
          </p:nvPr>
        </p:nvSpPr>
        <p:spPr>
          <a:xfrm>
            <a:off x="533400" y="1236665"/>
            <a:ext cx="8229600" cy="769937"/>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000" dirty="0"/>
              <a:t>Figure 5.8 is a tree diagram showing how to multiply probabilities to find the probabilities for all eight possible outcomes.</a:t>
            </a:r>
          </a:p>
        </p:txBody>
      </p:sp>
      <p:sp>
        <p:nvSpPr>
          <p:cNvPr id="33795" name="TextBox 1"/>
          <p:cNvSpPr txBox="1">
            <a:spLocks noChangeArrowheads="1"/>
          </p:cNvSpPr>
          <p:nvPr/>
        </p:nvSpPr>
        <p:spPr bwMode="auto">
          <a:xfrm>
            <a:off x="304800" y="5410200"/>
            <a:ext cx="86868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Figure 5.8 Tree Diagram for Guessing on a Three-Question Pop Quiz</a:t>
            </a:r>
            <a:r>
              <a:rPr lang="en-US" altLang="en-US" sz="1600" dirty="0">
                <a:solidFill>
                  <a:schemeClr val="tx1"/>
                </a:solidFill>
                <a:latin typeface="Arial" panose="020B0604020202020204" pitchFamily="34" charset="0"/>
              </a:rPr>
              <a:t>. Each path from the first set of branches to the third set determines one sample space outcome. Multiplication of the probabilities along that path gives its probability, when trials are independent.</a:t>
            </a:r>
          </a:p>
        </p:txBody>
      </p:sp>
      <p:sp>
        <p:nvSpPr>
          <p:cNvPr id="33796" name="Rectangle 2"/>
          <p:cNvSpPr>
            <a:spLocks noChangeArrowheads="1"/>
          </p:cNvSpPr>
          <p:nvPr/>
        </p:nvSpPr>
        <p:spPr bwMode="auto">
          <a:xfrm>
            <a:off x="609600" y="271463"/>
            <a:ext cx="853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dirty="0">
                <a:solidFill>
                  <a:schemeClr val="tx1"/>
                </a:solidFill>
                <a:latin typeface="Arial" panose="020B0604020202020204" pitchFamily="34" charset="0"/>
              </a:rPr>
              <a:t>Example: Guessing yet Passing a Pop Quiz</a:t>
            </a:r>
          </a:p>
        </p:txBody>
      </p:sp>
      <p:pic>
        <p:nvPicPr>
          <p:cNvPr id="33797" name="Picture 8" descr="Agresti_3e_Chapter05-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25" y="2362202"/>
            <a:ext cx="390525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Placeholder 1"/>
          <p:cNvSpPr>
            <a:spLocks noGrp="1"/>
          </p:cNvSpPr>
          <p:nvPr>
            <p:ph type="body" sz="quarter" idx="4294967295"/>
          </p:nvPr>
        </p:nvSpPr>
        <p:spPr>
          <a:xfrm>
            <a:off x="609600" y="1600200"/>
            <a:ext cx="8382000" cy="4572000"/>
          </a:xfrm>
          <a:solidFill>
            <a:srgbClr val="FFFFFF"/>
          </a:solidFill>
        </p:spPr>
        <p:txBody>
          <a:bodyPr vert="horz" wrap="square" lIns="0" tIns="45720" rIns="0" bIns="45720" numCol="1" anchor="t" anchorCtr="0" compatLnSpc="1">
            <a:prstTxWarp prst="textNoShape">
              <a:avLst/>
            </a:prstTxWarp>
          </a:bodyPr>
          <a:lstStyle/>
          <a:p>
            <a:pPr marL="0">
              <a:buNone/>
            </a:pPr>
            <a:r>
              <a:rPr lang="en-US" altLang="en-US" sz="2400"/>
              <a:t>What is the probability that a student answers </a:t>
            </a:r>
            <a:r>
              <a:rPr lang="en-US" altLang="en-US" sz="2400" i="1"/>
              <a:t>at least</a:t>
            </a:r>
            <a:r>
              <a:rPr lang="en-US" altLang="en-US" sz="2400"/>
              <a:t> 2 questions correctly?</a:t>
            </a:r>
          </a:p>
          <a:p>
            <a:pPr marL="0">
              <a:buNone/>
            </a:pPr>
            <a:endParaRPr lang="en-US" altLang="en-US" sz="2400"/>
          </a:p>
          <a:p>
            <a:pPr marL="0" lvl="1">
              <a:buNone/>
            </a:pPr>
            <a:r>
              <a:rPr lang="en-US" altLang="en-US" sz="2400"/>
              <a:t>P(CCC) + P(CCI) + P(CIC) + P(ICC) </a:t>
            </a:r>
            <a:r>
              <a:rPr lang="en-US" altLang="en-US" sz="2400" i="1"/>
              <a:t>= </a:t>
            </a:r>
            <a:r>
              <a:rPr lang="en-US" altLang="en-US" sz="2400"/>
              <a:t>0.008 + 3(0.032) = 0.104.</a:t>
            </a:r>
          </a:p>
          <a:p>
            <a:pPr marL="0" lvl="1">
              <a:buNone/>
            </a:pPr>
            <a:endParaRPr lang="en-US" altLang="en-US" sz="2400"/>
          </a:p>
          <a:p>
            <a:pPr marL="0" lvl="1">
              <a:buNone/>
            </a:pPr>
            <a:r>
              <a:rPr lang="en-US" altLang="en-US" sz="2400"/>
              <a:t>In summary, there is only about a 10% chance of passing  </a:t>
            </a:r>
          </a:p>
          <a:p>
            <a:pPr marL="0" lvl="1">
              <a:buNone/>
            </a:pPr>
            <a:r>
              <a:rPr lang="en-US" altLang="en-US" sz="2400"/>
              <a:t>when a student randomly guesses the answers.</a:t>
            </a:r>
          </a:p>
          <a:p>
            <a:pPr marL="0"/>
            <a:endParaRPr lang="en-US" altLang="en-US" sz="2400"/>
          </a:p>
        </p:txBody>
      </p:sp>
      <p:sp>
        <p:nvSpPr>
          <p:cNvPr id="34819" name="Rectangle 2"/>
          <p:cNvSpPr>
            <a:spLocks noChangeArrowheads="1"/>
          </p:cNvSpPr>
          <p:nvPr/>
        </p:nvSpPr>
        <p:spPr bwMode="auto">
          <a:xfrm>
            <a:off x="623888" y="285750"/>
            <a:ext cx="853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Guessing yet Passing a Pop Quiz</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r>
              <a:rPr lang="en-US" altLang="en-US" sz="2400" dirty="0"/>
              <a:t>In practice, events need not be independent.</a:t>
            </a:r>
          </a:p>
          <a:p>
            <a:endParaRPr lang="en-US" altLang="en-US" sz="2400" dirty="0"/>
          </a:p>
          <a:p>
            <a:r>
              <a:rPr lang="en-US" altLang="en-US" sz="2400" dirty="0"/>
              <a:t>Don’t assume that events are independent unless you have given this assumption careful thought and it seems plausible.</a:t>
            </a:r>
          </a:p>
        </p:txBody>
      </p:sp>
      <p:sp>
        <p:nvSpPr>
          <p:cNvPr id="35843" name="Rectangle 2"/>
          <p:cNvSpPr>
            <a:spLocks noGrp="1" noChangeArrowheads="1"/>
          </p:cNvSpPr>
          <p:nvPr>
            <p:ph type="title" idx="4294967295"/>
          </p:nvPr>
        </p:nvSpPr>
        <p:spPr>
          <a:xfrm>
            <a:off x="762000" y="320677"/>
            <a:ext cx="8153400" cy="563563"/>
          </a:xfrm>
          <a:solidFill>
            <a:srgbClr val="FFFFFF"/>
          </a:solidFill>
        </p:spPr>
        <p:txBody>
          <a:bodyPr vert="horz" wrap="square" lIns="0" tIns="45720" rIns="0" bIns="45720" numCol="1" anchor="b" anchorCtr="0" compatLnSpc="1">
            <a:prstTxWarp prst="textNoShape">
              <a:avLst/>
            </a:prstTxWarp>
          </a:bodyPr>
          <a:lstStyle/>
          <a:p>
            <a:r>
              <a:rPr lang="en-US" altLang="en-US" sz="2900" b="1" dirty="0">
                <a:latin typeface="Arial" panose="020B0604020202020204" pitchFamily="34" charset="0"/>
              </a:rPr>
              <a:t>Events Often Are Not Independent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sz="quarter" idx="4294967295"/>
          </p:nvPr>
        </p:nvSpPr>
        <p:spPr>
          <a:xfrm>
            <a:off x="457200" y="1600200"/>
            <a:ext cx="8229600" cy="2617788"/>
          </a:xfrm>
          <a:solidFill>
            <a:srgbClr val="FFFFFF"/>
          </a:solidFill>
        </p:spPr>
        <p:txBody>
          <a:bodyPr vert="horz" wrap="square" lIns="0" tIns="45720" rIns="0" bIns="45720" numCol="1" anchor="t" anchorCtr="0" compatLnSpc="1">
            <a:prstTxWarp prst="textNoShape">
              <a:avLst/>
            </a:prstTxWarp>
          </a:bodyPr>
          <a:lstStyle/>
          <a:p>
            <a:r>
              <a:rPr lang="en-US" altLang="en-US" sz="2000" b="1" dirty="0"/>
              <a:t>A Quiz With Only 2 Multiple Choice Questions</a:t>
            </a:r>
          </a:p>
          <a:p>
            <a:pPr lvl="1"/>
            <a:r>
              <a:rPr lang="en-US" altLang="en-US" sz="2000" dirty="0"/>
              <a:t>Data giving the proportions for the actual responses of students in a class</a:t>
            </a:r>
          </a:p>
          <a:p>
            <a:pPr lvl="1">
              <a:buFont typeface="Wingdings" panose="05000000000000000000" pitchFamily="2" charset="2"/>
              <a:buNone/>
            </a:pPr>
            <a:r>
              <a:rPr lang="en-US" altLang="en-US" sz="2000" dirty="0"/>
              <a:t>(I = incorrect, C = correct) :</a:t>
            </a:r>
          </a:p>
          <a:p>
            <a:pPr lvl="1">
              <a:buClr>
                <a:schemeClr val="tx1"/>
              </a:buClr>
            </a:pPr>
            <a:r>
              <a:rPr lang="en-US" altLang="en-US" sz="2000" b="1" dirty="0"/>
              <a:t>Outcome</a:t>
            </a:r>
            <a:r>
              <a:rPr lang="en-US" altLang="en-US" sz="2000" dirty="0"/>
              <a:t>:     I</a:t>
            </a:r>
            <a:r>
              <a:rPr lang="en-US" altLang="zh-CN" sz="2000" dirty="0"/>
              <a:t>I	</a:t>
            </a:r>
            <a:r>
              <a:rPr lang="en-US" altLang="en-US" sz="2000" dirty="0"/>
              <a:t>IC	CI	CC</a:t>
            </a:r>
          </a:p>
          <a:p>
            <a:pPr lvl="1">
              <a:buClr>
                <a:schemeClr val="tx1"/>
              </a:buClr>
            </a:pPr>
            <a:r>
              <a:rPr lang="en-US" altLang="en-US" sz="2000" b="1" dirty="0"/>
              <a:t>Probability</a:t>
            </a:r>
            <a:r>
              <a:rPr lang="en-US" altLang="en-US" sz="2000" dirty="0"/>
              <a:t>:  0.26   	0.11     	0.05      	0.58</a:t>
            </a:r>
            <a:endParaRPr lang="en-US" altLang="en-US" sz="2000" b="1" dirty="0"/>
          </a:p>
        </p:txBody>
      </p:sp>
      <p:sp>
        <p:nvSpPr>
          <p:cNvPr id="36867" name="Rectangle 2"/>
          <p:cNvSpPr>
            <a:spLocks noGrp="1" noChangeArrowheads="1"/>
          </p:cNvSpPr>
          <p:nvPr>
            <p:ph type="title" idx="4294967295"/>
          </p:nvPr>
        </p:nvSpPr>
        <p:spPr>
          <a:xfrm>
            <a:off x="635000" y="285750"/>
            <a:ext cx="8280400" cy="609600"/>
          </a:xfrm>
          <a:solidFill>
            <a:srgbClr val="FFFFFF"/>
          </a:solidFill>
        </p:spPr>
        <p:txBody>
          <a:bodyPr vert="horz" wrap="square" lIns="0" tIns="45720" rIns="0" bIns="45720" numCol="1" anchor="b" anchorCtr="0" compatLnSpc="1">
            <a:prstTxWarp prst="textNoShape">
              <a:avLst/>
            </a:prstTxWarp>
          </a:bodyPr>
          <a:lstStyle/>
          <a:p>
            <a:r>
              <a:rPr lang="en-US" altLang="en-US" sz="3100" b="1">
                <a:latin typeface="Arial" panose="020B0604020202020204" pitchFamily="34" charset="0"/>
              </a:rPr>
              <a:t>Example: Events Often Are Not Independent</a:t>
            </a:r>
          </a:p>
        </p:txBody>
      </p:sp>
      <p:pic>
        <p:nvPicPr>
          <p:cNvPr id="36868" name="Picture 7" descr="Agresti_3e_Chapter05-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0188" y="4335463"/>
            <a:ext cx="3511550" cy="194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Rot="1" noChangeAspect="1" noMove="1" noResize="1" noEditPoints="1" noAdjustHandles="1" noChangeArrowheads="1" noChangeShapeType="1" noTextEdit="1"/>
          </p:cNvSpPr>
          <p:nvPr>
            <p:ph type="body" sz="quarter" idx="4294967295"/>
          </p:nvPr>
        </p:nvSpPr>
        <p:spPr>
          <a:blipFill>
            <a:blip r:embed="rId3" cstate="print"/>
            <a:stretch>
              <a:fillRect l="-2222" t="-2561" b="-4313"/>
            </a:stretch>
          </a:blipFill>
        </p:spPr>
        <p:txBody>
          <a:bodyPr/>
          <a:lstStyle/>
          <a:p>
            <a:pPr>
              <a:defRPr/>
            </a:pPr>
            <a:r>
              <a:rPr lang="en-US">
                <a:noFill/>
              </a:rPr>
              <a:t> </a:t>
            </a:r>
          </a:p>
        </p:txBody>
      </p:sp>
      <p:sp>
        <p:nvSpPr>
          <p:cNvPr id="38915" name="Rectangle 2"/>
          <p:cNvSpPr>
            <a:spLocks noChangeArrowheads="1"/>
          </p:cNvSpPr>
          <p:nvPr/>
        </p:nvSpPr>
        <p:spPr bwMode="auto">
          <a:xfrm>
            <a:off x="635000" y="306388"/>
            <a:ext cx="8280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100" b="1">
                <a:solidFill>
                  <a:schemeClr val="tx1"/>
                </a:solidFill>
                <a:latin typeface="Arial" panose="020B0604020202020204" pitchFamily="34" charset="0"/>
              </a:rPr>
              <a:t>Example: Events Often Are Not Independent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r>
              <a:rPr lang="en-US" altLang="en-US" sz="2400" dirty="0"/>
              <a:t>For events A and B, the </a:t>
            </a:r>
            <a:r>
              <a:rPr lang="en-US" altLang="en-US" sz="2400" b="1" dirty="0"/>
              <a:t>conditional probability</a:t>
            </a:r>
            <a:r>
              <a:rPr lang="en-US" altLang="en-US" sz="2400" dirty="0"/>
              <a:t> of event A, given that event B has occurred, is:</a:t>
            </a:r>
          </a:p>
          <a:p>
            <a:endParaRPr lang="en-US" altLang="en-US" sz="2400" dirty="0"/>
          </a:p>
          <a:p>
            <a:endParaRPr lang="en-US" altLang="en-US" sz="2400" dirty="0"/>
          </a:p>
          <a:p>
            <a:endParaRPr lang="en-US" altLang="en-US" sz="2400" dirty="0"/>
          </a:p>
          <a:p>
            <a:endParaRPr lang="en-US" altLang="en-US" sz="2400" b="1" dirty="0"/>
          </a:p>
          <a:p>
            <a:r>
              <a:rPr lang="en-US" altLang="en-US" sz="2400" b="1" dirty="0"/>
              <a:t>P(A|B) </a:t>
            </a:r>
            <a:r>
              <a:rPr lang="en-US" altLang="en-US" sz="2400" dirty="0"/>
              <a:t>is read as “the probability of event A, given event B.” The vertical slash represents the word “given”. Of the times that B occurs, </a:t>
            </a:r>
            <a:r>
              <a:rPr lang="en-US" altLang="en-US" sz="2400" b="1" dirty="0"/>
              <a:t>P(A|B) </a:t>
            </a:r>
            <a:r>
              <a:rPr lang="en-US" altLang="en-US" sz="2400" dirty="0"/>
              <a:t>is the proportion of times that A also occurs.</a:t>
            </a:r>
          </a:p>
        </p:txBody>
      </p:sp>
      <p:sp>
        <p:nvSpPr>
          <p:cNvPr id="40963" name="Rectangle 2"/>
          <p:cNvSpPr>
            <a:spLocks noGrp="1" noChangeArrowheads="1"/>
          </p:cNvSpPr>
          <p:nvPr>
            <p:ph type="title" idx="4294967295"/>
          </p:nvPr>
        </p:nvSpPr>
        <p:spPr>
          <a:xfrm>
            <a:off x="762000" y="304802"/>
            <a:ext cx="8077200" cy="792163"/>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Finding the Conditional Probability of an Event</a:t>
            </a:r>
          </a:p>
        </p:txBody>
      </p:sp>
      <p:graphicFrame>
        <p:nvGraphicFramePr>
          <p:cNvPr id="40964" name="Object 4"/>
          <p:cNvGraphicFramePr>
            <a:graphicFrameLocks noChangeAspect="1"/>
          </p:cNvGraphicFramePr>
          <p:nvPr/>
        </p:nvGraphicFramePr>
        <p:xfrm>
          <a:off x="2573340" y="2651127"/>
          <a:ext cx="3995737" cy="1039813"/>
        </p:xfrm>
        <a:graphic>
          <a:graphicData uri="http://schemas.openxmlformats.org/presentationml/2006/ole">
            <mc:AlternateContent xmlns:mc="http://schemas.openxmlformats.org/markup-compatibility/2006">
              <mc:Choice xmlns:v="urn:schemas-microsoft-com:vml" Requires="v">
                <p:oleObj name="Equation" r:id="rId2" imgW="2679700" imgH="787400" progId="Equation.DSMT4">
                  <p:embed/>
                </p:oleObj>
              </mc:Choice>
              <mc:Fallback>
                <p:oleObj name="Equation" r:id="rId2" imgW="2679700" imgH="787400" progId="Equation.DSMT4">
                  <p:embed/>
                  <p:pic>
                    <p:nvPicPr>
                      <p:cNvPr id="4096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3340" y="2651127"/>
                        <a:ext cx="3995737"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Box 1"/>
          <p:cNvSpPr txBox="1">
            <a:spLocks noChangeArrowheads="1"/>
          </p:cNvSpPr>
          <p:nvPr/>
        </p:nvSpPr>
        <p:spPr bwMode="auto">
          <a:xfrm>
            <a:off x="381000" y="5334000"/>
            <a:ext cx="861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5.9 Venn Diagram of Conditional Probability of Event A Given Event B. </a:t>
            </a:r>
            <a:r>
              <a:rPr lang="en-US" altLang="en-US" sz="1600">
                <a:solidFill>
                  <a:schemeClr val="tx1"/>
                </a:solidFill>
                <a:latin typeface="Arial" panose="020B0604020202020204" pitchFamily="34" charset="0"/>
              </a:rPr>
              <a:t>Of the cases in which B occurred, P(A|B) is the proportion in which A also occurred. </a:t>
            </a:r>
            <a:r>
              <a:rPr lang="en-US" altLang="en-US" sz="1600" b="1">
                <a:solidFill>
                  <a:schemeClr val="tx1"/>
                </a:solidFill>
                <a:latin typeface="Arial" panose="020B0604020202020204" pitchFamily="34" charset="0"/>
              </a:rPr>
              <a:t>Question: </a:t>
            </a:r>
            <a:r>
              <a:rPr lang="en-US" altLang="en-US" sz="1600">
                <a:solidFill>
                  <a:schemeClr val="tx1"/>
                </a:solidFill>
                <a:latin typeface="Arial" panose="020B0604020202020204" pitchFamily="34" charset="0"/>
              </a:rPr>
              <a:t>Sketch a representation of P(B|A). Is P(A|B) necessarily equal to P(B|A)?</a:t>
            </a:r>
          </a:p>
        </p:txBody>
      </p:sp>
      <p:sp>
        <p:nvSpPr>
          <p:cNvPr id="41987" name="Rectangle 2"/>
          <p:cNvSpPr>
            <a:spLocks noChangeArrowheads="1"/>
          </p:cNvSpPr>
          <p:nvPr/>
        </p:nvSpPr>
        <p:spPr bwMode="auto">
          <a:xfrm>
            <a:off x="762000" y="76202"/>
            <a:ext cx="8077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Conditional Probability</a:t>
            </a:r>
          </a:p>
        </p:txBody>
      </p:sp>
      <p:pic>
        <p:nvPicPr>
          <p:cNvPr id="41988" name="Picture 7" descr="Agresti_3e_Chapter05-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590" y="1754190"/>
            <a:ext cx="7616825" cy="289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762000" y="428627"/>
            <a:ext cx="8077200" cy="639763"/>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Example: Conditional Probabilities on Audited Given the Income Level</a:t>
            </a:r>
          </a:p>
        </p:txBody>
      </p:sp>
      <p:sp>
        <p:nvSpPr>
          <p:cNvPr id="3" name="Rectangle 2"/>
          <p:cNvSpPr/>
          <p:nvPr/>
        </p:nvSpPr>
        <p:spPr>
          <a:xfrm>
            <a:off x="452440" y="4672013"/>
            <a:ext cx="8142287" cy="830262"/>
          </a:xfrm>
          <a:prstGeom prst="rect">
            <a:avLst/>
          </a:prstGeom>
        </p:spPr>
        <p:txBody>
          <a:bodyPr>
            <a:spAutoFit/>
          </a:bodyPr>
          <a:lstStyle/>
          <a:p>
            <a:pPr eaLnBrk="1" hangingPunct="1">
              <a:buClr>
                <a:srgbClr val="000000"/>
              </a:buClr>
              <a:buSzPct val="100000"/>
              <a:buFont typeface="Times New Roman" panose="02020603050405020304" pitchFamily="18" charset="0"/>
              <a:buNone/>
              <a:defRPr/>
            </a:pPr>
            <a:r>
              <a:rPr lang="en-US" sz="1600" b="1" dirty="0">
                <a:solidFill>
                  <a:schemeClr val="tx1"/>
                </a:solidFill>
                <a:latin typeface="+mn-lt"/>
              </a:rPr>
              <a:t>Table 5.3 </a:t>
            </a:r>
            <a:r>
              <a:rPr lang="en-US" sz="1600" b="1" dirty="0">
                <a:solidFill>
                  <a:srgbClr val="000000"/>
                </a:solidFill>
                <a:latin typeface="+mn-lt"/>
              </a:rPr>
              <a:t>Probabilities of Taxpayers at the Six Possible Combinations of Income Level and Audited  </a:t>
            </a:r>
            <a:r>
              <a:rPr lang="en-US" sz="1600" dirty="0">
                <a:solidFill>
                  <a:srgbClr val="000000"/>
                </a:solidFill>
                <a:latin typeface="+mn-lt"/>
              </a:rPr>
              <a:t>Each frequency in Table 5.2 was divided by 145,781 to obtain the cell probabilities shown here, such as 1,233/145,780 = 0.008.</a:t>
            </a:r>
            <a:endParaRPr lang="en-US" sz="1600" dirty="0">
              <a:latin typeface="+mn-lt"/>
            </a:endParaRPr>
          </a:p>
        </p:txBody>
      </p:sp>
      <p:pic>
        <p:nvPicPr>
          <p:cNvPr id="43012"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6696" y="1584326"/>
            <a:ext cx="7292975"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noRot="1" noChangeAspect="1" noMove="1" noResize="1" noEditPoints="1" noAdjustHandles="1" noChangeArrowheads="1" noChangeShapeType="1" noTextEdit="1"/>
          </p:cNvSpPr>
          <p:nvPr>
            <p:ph type="body" sz="quarter" idx="4294967295"/>
          </p:nvPr>
        </p:nvSpPr>
        <p:spPr>
          <a:blipFill>
            <a:blip r:embed="rId2" cstate="print"/>
            <a:stretch>
              <a:fillRect l="-2222" t="-943"/>
            </a:stretch>
          </a:blipFill>
        </p:spPr>
        <p:txBody>
          <a:bodyPr/>
          <a:lstStyle/>
          <a:p>
            <a:pPr>
              <a:defRPr/>
            </a:pPr>
            <a:r>
              <a:rPr lang="en-US">
                <a:noFill/>
              </a:rPr>
              <a:t> </a:t>
            </a:r>
          </a:p>
        </p:txBody>
      </p:sp>
      <p:graphicFrame>
        <p:nvGraphicFramePr>
          <p:cNvPr id="44035" name="Object 4"/>
          <p:cNvGraphicFramePr>
            <a:graphicFrameLocks noChangeAspect="1"/>
          </p:cNvGraphicFramePr>
          <p:nvPr/>
        </p:nvGraphicFramePr>
        <p:xfrm>
          <a:off x="841377" y="4362452"/>
          <a:ext cx="6010275" cy="995363"/>
        </p:xfrm>
        <a:graphic>
          <a:graphicData uri="http://schemas.openxmlformats.org/presentationml/2006/ole">
            <mc:AlternateContent xmlns:mc="http://schemas.openxmlformats.org/markup-compatibility/2006">
              <mc:Choice xmlns:v="urn:schemas-microsoft-com:vml" Requires="v">
                <p:oleObj name="Equation" r:id="rId3" imgW="2717800" imgH="419100" progId="Equation.DSMT4">
                  <p:embed/>
                </p:oleObj>
              </mc:Choice>
              <mc:Fallback>
                <p:oleObj name="Equation" r:id="rId3" imgW="2717800" imgH="419100" progId="Equation.DSMT4">
                  <p:embed/>
                  <p:pic>
                    <p:nvPicPr>
                      <p:cNvPr id="4403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377" y="4362452"/>
                        <a:ext cx="6010275"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6" name="Rectangle 2"/>
          <p:cNvSpPr>
            <a:spLocks noGrp="1" noChangeArrowheads="1"/>
          </p:cNvSpPr>
          <p:nvPr>
            <p:ph type="title" idx="4294967295"/>
          </p:nvPr>
        </p:nvSpPr>
        <p:spPr>
          <a:xfrm>
            <a:off x="762000" y="428627"/>
            <a:ext cx="8077200" cy="639763"/>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Example: Conditional Probabilities on Audited Given the Income Level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body" sz="quarter" idx="4294967295"/>
          </p:nvPr>
        </p:nvSpPr>
        <p:spPr>
          <a:xfrm>
            <a:off x="457200" y="1600202"/>
            <a:ext cx="8229600" cy="923925"/>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A study of 5282 women aged 35 or over analyzed the Triple Blood Test to test its accuracy.</a:t>
            </a:r>
          </a:p>
        </p:txBody>
      </p:sp>
      <p:sp>
        <p:nvSpPr>
          <p:cNvPr id="45059" name="Rectangle 2"/>
          <p:cNvSpPr>
            <a:spLocks noChangeArrowheads="1"/>
          </p:cNvSpPr>
          <p:nvPr/>
        </p:nvSpPr>
        <p:spPr bwMode="auto">
          <a:xfrm>
            <a:off x="685800" y="476252"/>
            <a:ext cx="80772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The Triple Blood Test for Down Syndrome</a:t>
            </a:r>
          </a:p>
        </p:txBody>
      </p:sp>
      <p:pic>
        <p:nvPicPr>
          <p:cNvPr id="45060" name="Picture 7" descr="Agresti_3e_Chapter05-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743200"/>
            <a:ext cx="7772400" cy="211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sz="quarter" idx="4294967295"/>
          </p:nvPr>
        </p:nvSpPr>
        <p:spPr>
          <a:xfrm>
            <a:off x="609600" y="1752600"/>
            <a:ext cx="8305800" cy="4648200"/>
          </a:xfrm>
          <a:solidFill>
            <a:srgbClr val="FFFFFF"/>
          </a:solidFill>
        </p:spPr>
        <p:txBody>
          <a:bodyPr vert="horz" wrap="square" lIns="0" tIns="45720" rIns="0" bIns="45720" numCol="1" anchor="t" anchorCtr="0" compatLnSpc="1">
            <a:prstTxWarp prst="textNoShape">
              <a:avLst/>
            </a:prstTxWarp>
          </a:bodyPr>
          <a:lstStyle/>
          <a:p>
            <a:pPr marL="0" indent="0">
              <a:lnSpc>
                <a:spcPct val="90000"/>
              </a:lnSpc>
              <a:buFont typeface="Wingdings" panose="05000000000000000000" pitchFamily="2" charset="2"/>
              <a:buChar char="§"/>
            </a:pPr>
            <a:r>
              <a:rPr lang="en-US" altLang="en-US" sz="2400"/>
              <a:t>   A </a:t>
            </a:r>
            <a:r>
              <a:rPr lang="en-US" altLang="en-US" sz="2400" b="1"/>
              <a:t>positive test result </a:t>
            </a:r>
            <a:r>
              <a:rPr lang="en-US" altLang="en-US" sz="2400"/>
              <a:t>states that the condition is present.</a:t>
            </a:r>
          </a:p>
          <a:p>
            <a:pPr marL="0" indent="0">
              <a:lnSpc>
                <a:spcPct val="90000"/>
              </a:lnSpc>
              <a:buFont typeface="Wingdings" panose="05000000000000000000" pitchFamily="2" charset="2"/>
              <a:buChar char="§"/>
            </a:pPr>
            <a:endParaRPr lang="en-US" altLang="en-US" sz="2400"/>
          </a:p>
          <a:p>
            <a:pPr marL="0" indent="0">
              <a:lnSpc>
                <a:spcPct val="90000"/>
              </a:lnSpc>
              <a:buFont typeface="Wingdings" panose="05000000000000000000" pitchFamily="2" charset="2"/>
              <a:buChar char="§"/>
            </a:pPr>
            <a:r>
              <a:rPr lang="en-US" altLang="en-US" sz="2400"/>
              <a:t>   A </a:t>
            </a:r>
            <a:r>
              <a:rPr lang="en-US" altLang="en-US" sz="2400" b="1"/>
              <a:t>negative test result </a:t>
            </a:r>
            <a:r>
              <a:rPr lang="en-US" altLang="en-US" sz="2400"/>
              <a:t>states that the condition is not present.</a:t>
            </a:r>
          </a:p>
          <a:p>
            <a:pPr marL="0" indent="0">
              <a:lnSpc>
                <a:spcPct val="90000"/>
              </a:lnSpc>
              <a:buFont typeface="Wingdings" panose="05000000000000000000" pitchFamily="2" charset="2"/>
              <a:buChar char="§"/>
            </a:pPr>
            <a:endParaRPr lang="en-US" altLang="en-US" sz="2400"/>
          </a:p>
          <a:p>
            <a:pPr marL="0" indent="0">
              <a:lnSpc>
                <a:spcPct val="90000"/>
              </a:lnSpc>
              <a:buFont typeface="Wingdings" panose="05000000000000000000" pitchFamily="2" charset="2"/>
              <a:buChar char="§"/>
            </a:pPr>
            <a:r>
              <a:rPr lang="en-US" altLang="en-US" sz="2400" b="1">
                <a:solidFill>
                  <a:schemeClr val="tx2"/>
                </a:solidFill>
              </a:rPr>
              <a:t>   False Positive</a:t>
            </a:r>
            <a:r>
              <a:rPr lang="en-US" altLang="en-US" sz="2400" b="1"/>
              <a:t>: </a:t>
            </a:r>
            <a:r>
              <a:rPr lang="en-US" altLang="en-US" sz="2400"/>
              <a:t>Test states the condition is present, but it is actually absent.</a:t>
            </a:r>
          </a:p>
          <a:p>
            <a:pPr marL="0" indent="0">
              <a:lnSpc>
                <a:spcPct val="90000"/>
              </a:lnSpc>
              <a:buFont typeface="Wingdings" panose="05000000000000000000" pitchFamily="2" charset="2"/>
              <a:buChar char="§"/>
            </a:pPr>
            <a:endParaRPr lang="en-US" altLang="en-US" sz="2400"/>
          </a:p>
          <a:p>
            <a:pPr marL="0" indent="0">
              <a:lnSpc>
                <a:spcPct val="90000"/>
              </a:lnSpc>
              <a:buFont typeface="Wingdings" panose="05000000000000000000" pitchFamily="2" charset="2"/>
              <a:buChar char="§"/>
            </a:pPr>
            <a:r>
              <a:rPr lang="en-US" altLang="en-US" sz="2400" b="1">
                <a:solidFill>
                  <a:schemeClr val="tx2"/>
                </a:solidFill>
              </a:rPr>
              <a:t>   False Negative</a:t>
            </a:r>
            <a:r>
              <a:rPr lang="en-US" altLang="en-US" sz="2400" b="1"/>
              <a:t>:</a:t>
            </a:r>
            <a:r>
              <a:rPr lang="en-US" altLang="en-US" sz="2400"/>
              <a:t> Test states the condition is absent, but it is actually present.</a:t>
            </a:r>
          </a:p>
        </p:txBody>
      </p:sp>
      <p:sp>
        <p:nvSpPr>
          <p:cNvPr id="47107" name="Rectangle 2"/>
          <p:cNvSpPr>
            <a:spLocks noChangeArrowheads="1"/>
          </p:cNvSpPr>
          <p:nvPr/>
        </p:nvSpPr>
        <p:spPr bwMode="auto">
          <a:xfrm>
            <a:off x="685800" y="476252"/>
            <a:ext cx="80772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The Triple Blood Test for Down Syndrome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Assuming the sample is representative of the population, estimate the probability of a positive test for a randomly chosen pregnant woman 35 years or older.</a:t>
            </a:r>
          </a:p>
          <a:p>
            <a:pPr marL="0" indent="0">
              <a:buFont typeface="Wingdings" panose="05000000000000000000" pitchFamily="2" charset="2"/>
              <a:buChar char="§"/>
            </a:pPr>
            <a:endParaRPr lang="en-US" altLang="en-US" sz="2400"/>
          </a:p>
          <a:p>
            <a:pPr marL="0" indent="0">
              <a:buFont typeface="Wingdings" panose="05000000000000000000" pitchFamily="2" charset="2"/>
              <a:buChar char="§"/>
            </a:pPr>
            <a:r>
              <a:rPr lang="en-US" altLang="en-US" sz="2400"/>
              <a:t>   P(POS) = 1355/5282 = 0.257</a:t>
            </a:r>
          </a:p>
          <a:p>
            <a:pPr marL="0" indent="0"/>
            <a:endParaRPr lang="en-US" altLang="en-US" sz="2400" b="1"/>
          </a:p>
        </p:txBody>
      </p:sp>
      <p:pic>
        <p:nvPicPr>
          <p:cNvPr id="49155" name="Picture 7" descr="Agresti_3e_Chapter05-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238" y="4129088"/>
            <a:ext cx="6248400"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Rectangle 2"/>
          <p:cNvSpPr>
            <a:spLocks noChangeArrowheads="1"/>
          </p:cNvSpPr>
          <p:nvPr/>
        </p:nvSpPr>
        <p:spPr bwMode="auto">
          <a:xfrm>
            <a:off x="685800" y="476252"/>
            <a:ext cx="80772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The Triple Blood Test for Down Syndrome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body" sz="quarter" idx="4294967295"/>
          </p:nvPr>
        </p:nvSpPr>
        <p:spPr>
          <a:xfrm>
            <a:off x="762000" y="1600200"/>
            <a:ext cx="7924800" cy="4648200"/>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Given that the diagnostic test result is positive, estimate the probability that Down syndrome truly is present.</a:t>
            </a:r>
          </a:p>
          <a:p>
            <a:pPr marL="0" indent="0">
              <a:lnSpc>
                <a:spcPct val="70000"/>
              </a:lnSpc>
            </a:pPr>
            <a:endParaRPr lang="en-US" altLang="en-US" sz="2400"/>
          </a:p>
          <a:p>
            <a:pPr marL="0" indent="0">
              <a:lnSpc>
                <a:spcPct val="70000"/>
              </a:lnSpc>
            </a:pPr>
            <a:endParaRPr lang="en-US" altLang="en-US" sz="2400"/>
          </a:p>
          <a:p>
            <a:pPr marL="0" indent="0">
              <a:lnSpc>
                <a:spcPct val="70000"/>
              </a:lnSpc>
            </a:pPr>
            <a:endParaRPr lang="en-US" altLang="en-US" sz="2400"/>
          </a:p>
          <a:p>
            <a:pPr marL="0" indent="0">
              <a:lnSpc>
                <a:spcPct val="70000"/>
              </a:lnSpc>
            </a:pPr>
            <a:endParaRPr lang="en-US" altLang="en-US" sz="2400"/>
          </a:p>
          <a:p>
            <a:pPr marL="0" indent="0">
              <a:lnSpc>
                <a:spcPct val="70000"/>
              </a:lnSpc>
            </a:pPr>
            <a:endParaRPr lang="en-US" altLang="en-US" sz="2400"/>
          </a:p>
          <a:p>
            <a:pPr marL="0" indent="0">
              <a:lnSpc>
                <a:spcPct val="70000"/>
              </a:lnSpc>
            </a:pPr>
            <a:endParaRPr lang="en-US" altLang="en-US" sz="2400"/>
          </a:p>
          <a:p>
            <a:pPr marL="0" indent="0">
              <a:lnSpc>
                <a:spcPct val="70000"/>
              </a:lnSpc>
            </a:pPr>
            <a:endParaRPr lang="en-US" altLang="en-US" sz="2400"/>
          </a:p>
          <a:p>
            <a:pPr marL="0" indent="0">
              <a:lnSpc>
                <a:spcPct val="70000"/>
              </a:lnSpc>
            </a:pPr>
            <a:endParaRPr lang="en-US" altLang="en-US" sz="2400"/>
          </a:p>
          <a:p>
            <a:pPr marL="0" indent="0"/>
            <a:r>
              <a:rPr lang="en-US" altLang="en-US" sz="2400" b="1"/>
              <a:t>Summary: </a:t>
            </a:r>
            <a:r>
              <a:rPr lang="en-US" altLang="en-US" sz="2400"/>
              <a:t>Of the women who tested positive, fewer than 4% actually had fetuses with Down syndrome.</a:t>
            </a:r>
          </a:p>
        </p:txBody>
      </p:sp>
      <p:graphicFrame>
        <p:nvGraphicFramePr>
          <p:cNvPr id="51203" name="Object 4"/>
          <p:cNvGraphicFramePr>
            <a:graphicFrameLocks noChangeAspect="1"/>
          </p:cNvGraphicFramePr>
          <p:nvPr/>
        </p:nvGraphicFramePr>
        <p:xfrm>
          <a:off x="608013" y="3117852"/>
          <a:ext cx="7772400" cy="944563"/>
        </p:xfrm>
        <a:graphic>
          <a:graphicData uri="http://schemas.openxmlformats.org/presentationml/2006/ole">
            <mc:AlternateContent xmlns:mc="http://schemas.openxmlformats.org/markup-compatibility/2006">
              <mc:Choice xmlns:v="urn:schemas-microsoft-com:vml" Requires="v">
                <p:oleObj name="Equation" r:id="rId3" imgW="5905500" imgH="787400" progId="Equation.DSMT4">
                  <p:embed/>
                </p:oleObj>
              </mc:Choice>
              <mc:Fallback>
                <p:oleObj name="Equation" r:id="rId3" imgW="5905500" imgH="787400" progId="Equation.DSMT4">
                  <p:embed/>
                  <p:pic>
                    <p:nvPicPr>
                      <p:cNvPr id="5120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013" y="3117852"/>
                        <a:ext cx="77724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4" name="Rectangle 2"/>
          <p:cNvSpPr>
            <a:spLocks noChangeArrowheads="1"/>
          </p:cNvSpPr>
          <p:nvPr/>
        </p:nvSpPr>
        <p:spPr bwMode="auto">
          <a:xfrm>
            <a:off x="685800" y="476252"/>
            <a:ext cx="80772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The Triple Blood Test for Down Syndrome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indent="0">
              <a:defRPr/>
            </a:pPr>
            <a:r>
              <a:rPr lang="en-US" altLang="en-US" sz="2400" dirty="0"/>
              <a:t>For events A and B, the probability that A and B both occur equals:</a:t>
            </a:r>
          </a:p>
          <a:p>
            <a:pPr marL="0" indent="0">
              <a:defRPr/>
            </a:pPr>
            <a:endParaRPr lang="en-US" altLang="en-US" sz="2400" dirty="0"/>
          </a:p>
          <a:p>
            <a:pPr lvl="1">
              <a:defRPr/>
            </a:pPr>
            <a:r>
              <a:rPr lang="en-US" altLang="en-US" sz="2400" dirty="0"/>
              <a:t> </a:t>
            </a:r>
          </a:p>
          <a:p>
            <a:pPr lvl="1">
              <a:buClr>
                <a:schemeClr val="tx1"/>
              </a:buClr>
              <a:buFont typeface="Wingdings" panose="05000000000000000000" pitchFamily="2" charset="2"/>
              <a:buNone/>
              <a:defRPr/>
            </a:pPr>
            <a:r>
              <a:rPr lang="en-US" altLang="en-US" sz="2400" dirty="0"/>
              <a:t>	</a:t>
            </a:r>
          </a:p>
          <a:p>
            <a:pPr>
              <a:buClr>
                <a:schemeClr val="tx1"/>
              </a:buClr>
              <a:defRPr/>
            </a:pPr>
            <a:r>
              <a:rPr lang="en-US" altLang="en-US" sz="2400" dirty="0"/>
              <a:t>Applying the conditional probability formula, we also see that</a:t>
            </a:r>
          </a:p>
          <a:p>
            <a:pPr marL="457200" lvl="1" indent="0">
              <a:buClr>
                <a:schemeClr val="tx1"/>
              </a:buClr>
              <a:buNone/>
              <a:defRPr/>
            </a:pPr>
            <a:endParaRPr lang="en-US" altLang="en-US" sz="2400" dirty="0"/>
          </a:p>
          <a:p>
            <a:pPr lvl="1">
              <a:buClr>
                <a:schemeClr val="tx1"/>
              </a:buClr>
              <a:defRPr/>
            </a:pPr>
            <a:r>
              <a:rPr lang="en-US" altLang="en-US" sz="2400" dirty="0"/>
              <a:t>    </a:t>
            </a:r>
          </a:p>
        </p:txBody>
      </p:sp>
      <p:sp>
        <p:nvSpPr>
          <p:cNvPr id="53251" name="Rectangle 2"/>
          <p:cNvSpPr>
            <a:spLocks noGrp="1" noChangeArrowheads="1"/>
          </p:cNvSpPr>
          <p:nvPr>
            <p:ph type="title" idx="4294967295"/>
          </p:nvPr>
        </p:nvSpPr>
        <p:spPr>
          <a:xfrm>
            <a:off x="762000" y="76202"/>
            <a:ext cx="8229600" cy="792163"/>
          </a:xfrm>
          <a:solidFill>
            <a:srgbClr val="FFFFFF"/>
          </a:solidFill>
        </p:spPr>
        <p:txBody>
          <a:bodyPr vert="horz" wrap="square" lIns="0" tIns="45720" rIns="0" bIns="45720" numCol="1" anchor="b" anchorCtr="0" compatLnSpc="1">
            <a:prstTxWarp prst="textNoShape">
              <a:avLst/>
            </a:prstTxWarp>
          </a:bodyPr>
          <a:lstStyle/>
          <a:p>
            <a:r>
              <a:rPr lang="en-US" altLang="en-US" sz="3200" b="1" dirty="0">
                <a:latin typeface="Arial" panose="020B0604020202020204" pitchFamily="34" charset="0"/>
              </a:rPr>
              <a:t>Multiplication Rule for Finding P(A and B)</a:t>
            </a:r>
          </a:p>
        </p:txBody>
      </p:sp>
      <p:graphicFrame>
        <p:nvGraphicFramePr>
          <p:cNvPr id="53252" name="Object 5"/>
          <p:cNvGraphicFramePr>
            <a:graphicFrameLocks noChangeAspect="1"/>
          </p:cNvGraphicFramePr>
          <p:nvPr/>
        </p:nvGraphicFramePr>
        <p:xfrm>
          <a:off x="1657350" y="2813050"/>
          <a:ext cx="4483100" cy="419100"/>
        </p:xfrm>
        <a:graphic>
          <a:graphicData uri="http://schemas.openxmlformats.org/presentationml/2006/ole">
            <mc:AlternateContent xmlns:mc="http://schemas.openxmlformats.org/markup-compatibility/2006">
              <mc:Choice xmlns:v="urn:schemas-microsoft-com:vml" Requires="v">
                <p:oleObj name="Equation" r:id="rId3" imgW="4483100" imgH="419100" progId="Equation.DSMT4">
                  <p:embed/>
                </p:oleObj>
              </mc:Choice>
              <mc:Fallback>
                <p:oleObj name="Equation" r:id="rId3" imgW="4483100" imgH="419100" progId="Equation.DSMT4">
                  <p:embed/>
                  <p:pic>
                    <p:nvPicPr>
                      <p:cNvPr id="53252"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350" y="2813050"/>
                        <a:ext cx="4483100" cy="4191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253" name="Object 6"/>
          <p:cNvGraphicFramePr>
            <a:graphicFrameLocks noChangeAspect="1"/>
          </p:cNvGraphicFramePr>
          <p:nvPr/>
        </p:nvGraphicFramePr>
        <p:xfrm>
          <a:off x="1670050" y="4594225"/>
          <a:ext cx="4470400" cy="419100"/>
        </p:xfrm>
        <a:graphic>
          <a:graphicData uri="http://schemas.openxmlformats.org/presentationml/2006/ole">
            <mc:AlternateContent xmlns:mc="http://schemas.openxmlformats.org/markup-compatibility/2006">
              <mc:Choice xmlns:v="urn:schemas-microsoft-com:vml" Requires="v">
                <p:oleObj name="Equation" r:id="rId5" imgW="4470400" imgH="419100" progId="Equation.DSMT4">
                  <p:embed/>
                </p:oleObj>
              </mc:Choice>
              <mc:Fallback>
                <p:oleObj name="Equation" r:id="rId5" imgW="4470400" imgH="419100" progId="Equation.DSMT4">
                  <p:embed/>
                  <p:pic>
                    <p:nvPicPr>
                      <p:cNvPr id="53253"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0050" y="4594225"/>
                        <a:ext cx="4470400" cy="4191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 Novak Djokavic – 2014 men’s champion in the Wimbledon tennis tournament</a:t>
            </a:r>
          </a:p>
          <a:p>
            <a:pPr lvl="1"/>
            <a:r>
              <a:rPr lang="en-US" altLang="en-US" sz="2400"/>
              <a:t>He made 62% of his first serves.</a:t>
            </a:r>
          </a:p>
          <a:p>
            <a:pPr lvl="1"/>
            <a:r>
              <a:rPr lang="en-US" altLang="en-US" sz="2400"/>
              <a:t>He faulted on his first serve the other 38% of the time</a:t>
            </a:r>
            <a:r>
              <a:rPr lang="en-US" altLang="en-US" sz="2400" b="1">
                <a:solidFill>
                  <a:srgbClr val="FF0000"/>
                </a:solidFill>
              </a:rPr>
              <a:t>.</a:t>
            </a:r>
            <a:endParaRPr lang="en-US" altLang="en-US" sz="2400"/>
          </a:p>
          <a:p>
            <a:pPr lvl="1"/>
            <a:r>
              <a:rPr lang="en-US" altLang="en-US" sz="2400"/>
              <a:t>Given that he made a fault with his first serve, he made a fault on his second serve only 4.5% of the time.</a:t>
            </a:r>
          </a:p>
        </p:txBody>
      </p:sp>
      <p:sp>
        <p:nvSpPr>
          <p:cNvPr id="55299" name="Rectangle 2"/>
          <p:cNvSpPr>
            <a:spLocks noGrp="1" noChangeArrowheads="1"/>
          </p:cNvSpPr>
          <p:nvPr>
            <p:ph type="title" idx="4294967295"/>
          </p:nvPr>
        </p:nvSpPr>
        <p:spPr>
          <a:xfrm>
            <a:off x="762000" y="242888"/>
            <a:ext cx="8077200" cy="639762"/>
          </a:xfrm>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Example: Double Faults in Tennis</a:t>
            </a:r>
          </a:p>
        </p:txBody>
      </p:sp>
      <p:sp>
        <p:nvSpPr>
          <p:cNvPr id="55300" name="Text Box 5"/>
          <p:cNvSpPr txBox="1">
            <a:spLocks noChangeArrowheads="1"/>
          </p:cNvSpPr>
          <p:nvPr/>
        </p:nvSpPr>
        <p:spPr bwMode="auto">
          <a:xfrm>
            <a:off x="374650" y="4362450"/>
            <a:ext cx="81613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bg1"/>
                </a:solidFill>
                <a:latin typeface="Times New Roman" panose="02020603050405020304" pitchFamily="18" charset="0"/>
                <a:ea typeface="Microsoft YaHei" panose="020B0503020204020204" pitchFamily="34" charset="-122"/>
              </a:defRPr>
            </a:lvl1pPr>
            <a:lvl2pPr>
              <a:defRPr sz="2400">
                <a:solidFill>
                  <a:schemeClr val="bg1"/>
                </a:solidFill>
                <a:latin typeface="Times New Roman" panose="02020603050405020304" pitchFamily="18" charset="0"/>
                <a:ea typeface="Microsoft YaHei" panose="020B0503020204020204" pitchFamily="34" charset="-122"/>
              </a:defRPr>
            </a:lvl2pPr>
            <a:lvl3pPr>
              <a:defRPr sz="2400">
                <a:solidFill>
                  <a:schemeClr val="bg1"/>
                </a:solidFill>
                <a:latin typeface="Times New Roman" panose="02020603050405020304" pitchFamily="18" charset="0"/>
                <a:ea typeface="Microsoft YaHei" panose="020B0503020204020204" pitchFamily="34" charset="-122"/>
              </a:defRPr>
            </a:lvl3pPr>
            <a:lvl4pPr>
              <a:defRPr sz="2400">
                <a:solidFill>
                  <a:schemeClr val="bg1"/>
                </a:solidFill>
                <a:latin typeface="Times New Roman" panose="02020603050405020304" pitchFamily="18" charset="0"/>
                <a:ea typeface="Microsoft YaHei" panose="020B0503020204020204" pitchFamily="34" charset="-122"/>
              </a:defRPr>
            </a:lvl4pPr>
            <a:lvl5pPr>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9pPr>
          </a:lstStyle>
          <a:p>
            <a:pPr marL="800100" lvl="1" indent="-342900" eaLnBrk="1" hangingPunct="1">
              <a:buClr>
                <a:srgbClr val="000000"/>
              </a:buClr>
              <a:buSzPct val="100000"/>
              <a:buFont typeface="Arial" panose="020B0604020202020204" pitchFamily="34" charset="0"/>
              <a:buChar char="•"/>
              <a:defRPr/>
            </a:pPr>
            <a:r>
              <a:rPr lang="en-US" altLang="en-US" dirty="0">
                <a:solidFill>
                  <a:schemeClr val="tx1"/>
                </a:solidFill>
                <a:latin typeface="+mn-lt"/>
                <a:ea typeface="+mn-ea"/>
              </a:rPr>
              <a:t>Assuming these are typical of his serving  performance, what is the probability that he makes a double fault when he serves?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type="body" sz="quarter" idx="4294967295"/>
          </p:nvPr>
        </p:nvSpPr>
        <p:spPr>
          <a:xfrm>
            <a:off x="762000" y="1600200"/>
            <a:ext cx="8153400" cy="4648200"/>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 Let F1 be the event that Djokovic makes a fault with the first serve, and let F2 be the event that he makes a fault with the second serve.</a:t>
            </a:r>
          </a:p>
          <a:p>
            <a:pPr marL="0" indent="0" algn="ctr">
              <a:buNone/>
            </a:pPr>
            <a:r>
              <a:rPr lang="en-US" altLang="en-US" sz="2400"/>
              <a:t> </a:t>
            </a:r>
          </a:p>
          <a:p>
            <a:pPr marL="0" indent="0" algn="ctr">
              <a:buNone/>
            </a:pPr>
            <a:endParaRPr lang="en-US" altLang="en-US" sz="2400"/>
          </a:p>
          <a:p>
            <a:pPr marL="0" indent="0"/>
            <a:endParaRPr lang="en-US" altLang="en-US" sz="2400"/>
          </a:p>
          <a:p>
            <a:pPr marL="0" indent="0"/>
            <a:r>
              <a:rPr lang="en-US" altLang="en-US" sz="2400"/>
              <a:t>The event that Djokovic makes a double fault is “F1 and F2.”</a:t>
            </a:r>
          </a:p>
          <a:p>
            <a:pPr marL="0" indent="0"/>
            <a:endParaRPr lang="en-US" altLang="en-US" sz="2400"/>
          </a:p>
          <a:p>
            <a:pPr marL="0" indent="0"/>
            <a:endParaRPr lang="en-US" altLang="en-US" sz="2400"/>
          </a:p>
          <a:p>
            <a:pPr marL="0" indent="0"/>
            <a:r>
              <a:rPr lang="en-US" altLang="en-US" sz="2400"/>
              <a:t> Djokovic makes a double fault in 1.7% of all his service points.</a:t>
            </a:r>
          </a:p>
        </p:txBody>
      </p:sp>
      <p:sp>
        <p:nvSpPr>
          <p:cNvPr id="57347" name="Rectangle 2"/>
          <p:cNvSpPr>
            <a:spLocks noChangeArrowheads="1"/>
          </p:cNvSpPr>
          <p:nvPr/>
        </p:nvSpPr>
        <p:spPr bwMode="auto">
          <a:xfrm>
            <a:off x="762000" y="242888"/>
            <a:ext cx="80772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b="1">
                <a:solidFill>
                  <a:schemeClr val="tx1"/>
                </a:solidFill>
                <a:latin typeface="Arial" panose="020B0604020202020204" pitchFamily="34" charset="0"/>
              </a:rPr>
              <a:t>Example: Double Faults in Tennis</a:t>
            </a:r>
          </a:p>
        </p:txBody>
      </p:sp>
      <p:graphicFrame>
        <p:nvGraphicFramePr>
          <p:cNvPr id="57348" name="Object 6"/>
          <p:cNvGraphicFramePr>
            <a:graphicFrameLocks noChangeAspect="1"/>
          </p:cNvGraphicFramePr>
          <p:nvPr/>
        </p:nvGraphicFramePr>
        <p:xfrm>
          <a:off x="3638550" y="2771775"/>
          <a:ext cx="1930400" cy="419100"/>
        </p:xfrm>
        <a:graphic>
          <a:graphicData uri="http://schemas.openxmlformats.org/presentationml/2006/ole">
            <mc:AlternateContent xmlns:mc="http://schemas.openxmlformats.org/markup-compatibility/2006">
              <mc:Choice xmlns:v="urn:schemas-microsoft-com:vml" Requires="v">
                <p:oleObj name="Equation" r:id="rId3" imgW="1930400" imgH="419100" progId="Equation.DSMT4">
                  <p:embed/>
                </p:oleObj>
              </mc:Choice>
              <mc:Fallback>
                <p:oleObj name="Equation" r:id="rId3" imgW="1930400" imgH="419100" progId="Equation.DSMT4">
                  <p:embed/>
                  <p:pic>
                    <p:nvPicPr>
                      <p:cNvPr id="5734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8550" y="2771775"/>
                        <a:ext cx="1930400" cy="4191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49" name="Object 7"/>
          <p:cNvGraphicFramePr>
            <a:graphicFrameLocks noChangeAspect="1"/>
          </p:cNvGraphicFramePr>
          <p:nvPr/>
        </p:nvGraphicFramePr>
        <p:xfrm>
          <a:off x="3073400" y="3451225"/>
          <a:ext cx="2692400" cy="419100"/>
        </p:xfrm>
        <a:graphic>
          <a:graphicData uri="http://schemas.openxmlformats.org/presentationml/2006/ole">
            <mc:AlternateContent xmlns:mc="http://schemas.openxmlformats.org/markup-compatibility/2006">
              <mc:Choice xmlns:v="urn:schemas-microsoft-com:vml" Requires="v">
                <p:oleObj name="Equation" r:id="rId5" imgW="2692400" imgH="419100" progId="Equation.DSMT4">
                  <p:embed/>
                </p:oleObj>
              </mc:Choice>
              <mc:Fallback>
                <p:oleObj name="Equation" r:id="rId5" imgW="2692400" imgH="419100" progId="Equation.DSMT4">
                  <p:embed/>
                  <p:pic>
                    <p:nvPicPr>
                      <p:cNvPr id="5734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3400" y="3451225"/>
                        <a:ext cx="2692400" cy="4191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0" name="Object 8"/>
          <p:cNvGraphicFramePr>
            <a:graphicFrameLocks noChangeAspect="1"/>
          </p:cNvGraphicFramePr>
          <p:nvPr/>
        </p:nvGraphicFramePr>
        <p:xfrm>
          <a:off x="874715" y="4830765"/>
          <a:ext cx="7026275" cy="344487"/>
        </p:xfrm>
        <a:graphic>
          <a:graphicData uri="http://schemas.openxmlformats.org/presentationml/2006/ole">
            <mc:AlternateContent xmlns:mc="http://schemas.openxmlformats.org/markup-compatibility/2006">
              <mc:Choice xmlns:v="urn:schemas-microsoft-com:vml" Requires="v">
                <p:oleObj name="Equation" r:id="rId7" imgW="8509000" imgH="419100" progId="Equation.DSMT4">
                  <p:embed/>
                </p:oleObj>
              </mc:Choice>
              <mc:Fallback>
                <p:oleObj name="Equation" r:id="rId7" imgW="8509000" imgH="419100" progId="Equation.DSMT4">
                  <p:embed/>
                  <p:pic>
                    <p:nvPicPr>
                      <p:cNvPr id="5735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4715" y="4830765"/>
                        <a:ext cx="7026275" cy="34448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body" sz="quarter" idx="4294967295"/>
          </p:nvPr>
        </p:nvSpPr>
        <p:spPr>
          <a:xfrm>
            <a:off x="762000" y="1844677"/>
            <a:ext cx="7924800" cy="4479925"/>
          </a:xfrm>
          <a:solidFill>
            <a:srgbClr val="FFFFFF"/>
          </a:solidFill>
        </p:spPr>
        <p:txBody>
          <a:bodyPr vert="horz" wrap="square" lIns="0" tIns="45720" rIns="0" bIns="45720" numCol="1" anchor="t" anchorCtr="0" compatLnSpc="1">
            <a:prstTxWarp prst="textNoShape">
              <a:avLst/>
            </a:prstTxWarp>
          </a:bodyPr>
          <a:lstStyle/>
          <a:p>
            <a:pPr marL="0" indent="0">
              <a:lnSpc>
                <a:spcPct val="90000"/>
              </a:lnSpc>
            </a:pPr>
            <a:r>
              <a:rPr lang="en-US" altLang="en-US" sz="2400"/>
              <a:t>Two events A and B are </a:t>
            </a:r>
            <a:r>
              <a:rPr lang="en-US" altLang="en-US" sz="2400" b="1"/>
              <a:t>independent </a:t>
            </a:r>
            <a:r>
              <a:rPr lang="en-US" altLang="en-US" sz="2400"/>
              <a:t>if the probability that one occurs is not affected by whether or not the other event occurs.</a:t>
            </a:r>
          </a:p>
          <a:p>
            <a:pPr marL="0" indent="0">
              <a:lnSpc>
                <a:spcPct val="90000"/>
              </a:lnSpc>
            </a:pPr>
            <a:endParaRPr lang="en-US" altLang="en-US" sz="2400"/>
          </a:p>
          <a:p>
            <a:pPr marL="0" indent="0">
              <a:lnSpc>
                <a:spcPct val="90000"/>
              </a:lnSpc>
            </a:pPr>
            <a:r>
              <a:rPr lang="en-US" altLang="en-US" sz="2400"/>
              <a:t>Events A and B are </a:t>
            </a:r>
            <a:r>
              <a:rPr lang="en-US" altLang="en-US" sz="2400" b="1"/>
              <a:t>independent</a:t>
            </a:r>
            <a:r>
              <a:rPr lang="en-US" altLang="en-US" sz="2400"/>
              <a:t> if:</a:t>
            </a:r>
          </a:p>
          <a:p>
            <a:pPr marL="457200" lvl="1" indent="0">
              <a:lnSpc>
                <a:spcPct val="90000"/>
              </a:lnSpc>
              <a:buClr>
                <a:schemeClr val="tx1"/>
              </a:buClr>
              <a:buNone/>
            </a:pPr>
            <a:r>
              <a:rPr lang="en-US" altLang="en-US" sz="2400"/>
              <a:t>                  </a:t>
            </a:r>
          </a:p>
          <a:p>
            <a:pPr marL="457200" lvl="1" indent="0">
              <a:lnSpc>
                <a:spcPct val="90000"/>
              </a:lnSpc>
              <a:buClr>
                <a:schemeClr val="tx1"/>
              </a:buClr>
              <a:buNone/>
            </a:pPr>
            <a:endParaRPr lang="en-US" altLang="en-US" sz="2400"/>
          </a:p>
          <a:p>
            <a:pPr marL="457200" lvl="1" indent="0">
              <a:lnSpc>
                <a:spcPct val="90000"/>
              </a:lnSpc>
              <a:buClr>
                <a:schemeClr val="tx1"/>
              </a:buClr>
              <a:buNone/>
            </a:pPr>
            <a:r>
              <a:rPr lang="en-US" altLang="en-US" sz="2400"/>
              <a:t>, or equivalently,                   </a:t>
            </a:r>
          </a:p>
          <a:p>
            <a:pPr marL="0" indent="0">
              <a:lnSpc>
                <a:spcPct val="90000"/>
              </a:lnSpc>
              <a:buClr>
                <a:schemeClr val="tx1"/>
              </a:buClr>
            </a:pPr>
            <a:endParaRPr lang="en-US" altLang="en-US" sz="2400"/>
          </a:p>
          <a:p>
            <a:pPr marL="0" indent="0">
              <a:lnSpc>
                <a:spcPct val="90000"/>
              </a:lnSpc>
            </a:pPr>
            <a:r>
              <a:rPr lang="en-US" altLang="en-US" sz="2400"/>
              <a:t> If events A and B are independent, </a:t>
            </a:r>
          </a:p>
          <a:p>
            <a:pPr marL="914400" lvl="2" indent="0">
              <a:lnSpc>
                <a:spcPct val="90000"/>
              </a:lnSpc>
              <a:buNone/>
            </a:pPr>
            <a:r>
              <a:rPr lang="en-US" altLang="en-US"/>
              <a:t> </a:t>
            </a:r>
          </a:p>
        </p:txBody>
      </p:sp>
      <p:sp>
        <p:nvSpPr>
          <p:cNvPr id="59395" name="Rectangle 2"/>
          <p:cNvSpPr>
            <a:spLocks noGrp="1" noChangeArrowheads="1"/>
          </p:cNvSpPr>
          <p:nvPr>
            <p:ph type="title" idx="4294967295"/>
          </p:nvPr>
        </p:nvSpPr>
        <p:spPr>
          <a:xfrm>
            <a:off x="695325" y="9525"/>
            <a:ext cx="8229600" cy="1143000"/>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Independent Events Defined Using Conditional Probabilities</a:t>
            </a:r>
          </a:p>
        </p:txBody>
      </p:sp>
      <p:graphicFrame>
        <p:nvGraphicFramePr>
          <p:cNvPr id="59396" name="Object 5"/>
          <p:cNvGraphicFramePr>
            <a:graphicFrameLocks noChangeAspect="1"/>
          </p:cNvGraphicFramePr>
          <p:nvPr/>
        </p:nvGraphicFramePr>
        <p:xfrm>
          <a:off x="3484563" y="3549650"/>
          <a:ext cx="1930400" cy="342900"/>
        </p:xfrm>
        <a:graphic>
          <a:graphicData uri="http://schemas.openxmlformats.org/presentationml/2006/ole">
            <mc:AlternateContent xmlns:mc="http://schemas.openxmlformats.org/markup-compatibility/2006">
              <mc:Choice xmlns:v="urn:schemas-microsoft-com:vml" Requires="v">
                <p:oleObj name="Equation" r:id="rId3" imgW="2362200" imgH="419100" progId="Equation.DSMT4">
                  <p:embed/>
                </p:oleObj>
              </mc:Choice>
              <mc:Fallback>
                <p:oleObj name="Equation" r:id="rId3" imgW="2362200" imgH="419100" progId="Equation.DSMT4">
                  <p:embed/>
                  <p:pic>
                    <p:nvPicPr>
                      <p:cNvPr id="5939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4563" y="3549650"/>
                        <a:ext cx="1930400" cy="3429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7" name="Object 6"/>
          <p:cNvGraphicFramePr>
            <a:graphicFrameLocks noChangeAspect="1"/>
          </p:cNvGraphicFramePr>
          <p:nvPr/>
        </p:nvGraphicFramePr>
        <p:xfrm>
          <a:off x="2913065" y="5611815"/>
          <a:ext cx="3622675" cy="382587"/>
        </p:xfrm>
        <a:graphic>
          <a:graphicData uri="http://schemas.openxmlformats.org/presentationml/2006/ole">
            <mc:AlternateContent xmlns:mc="http://schemas.openxmlformats.org/markup-compatibility/2006">
              <mc:Choice xmlns:v="urn:schemas-microsoft-com:vml" Requires="v">
                <p:oleObj name="Equation" r:id="rId5" imgW="3962400" imgH="419100" progId="Equation.DSMT4">
                  <p:embed/>
                </p:oleObj>
              </mc:Choice>
              <mc:Fallback>
                <p:oleObj name="Equation" r:id="rId5" imgW="3962400" imgH="419100" progId="Equation.DSMT4">
                  <p:embed/>
                  <p:pic>
                    <p:nvPicPr>
                      <p:cNvPr id="5939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065" y="5611815"/>
                        <a:ext cx="3622675" cy="38258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8" name="Object 7"/>
          <p:cNvGraphicFramePr>
            <a:graphicFrameLocks noChangeAspect="1"/>
          </p:cNvGraphicFramePr>
          <p:nvPr/>
        </p:nvGraphicFramePr>
        <p:xfrm>
          <a:off x="3484565" y="4576763"/>
          <a:ext cx="1970087" cy="342900"/>
        </p:xfrm>
        <a:graphic>
          <a:graphicData uri="http://schemas.openxmlformats.org/presentationml/2006/ole">
            <mc:AlternateContent xmlns:mc="http://schemas.openxmlformats.org/markup-compatibility/2006">
              <mc:Choice xmlns:v="urn:schemas-microsoft-com:vml" Requires="v">
                <p:oleObj name="Equation" r:id="rId7" imgW="2413000" imgH="419100" progId="Equation.DSMT4">
                  <p:embed/>
                </p:oleObj>
              </mc:Choice>
              <mc:Fallback>
                <p:oleObj name="Equation" r:id="rId7" imgW="2413000" imgH="419100" progId="Equation.DSMT4">
                  <p:embed/>
                  <p:pic>
                    <p:nvPicPr>
                      <p:cNvPr id="59398"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4565" y="4576763"/>
                        <a:ext cx="1970087" cy="3429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noRot="1" noChangeAspect="1" noMove="1" noResize="1" noEditPoints="1" noAdjustHandles="1" noChangeArrowheads="1" noChangeShapeType="1" noTextEdit="1"/>
          </p:cNvSpPr>
          <p:nvPr>
            <p:ph type="body" sz="quarter" idx="4294967295"/>
          </p:nvPr>
        </p:nvSpPr>
        <p:spPr>
          <a:blipFill>
            <a:blip r:embed="rId3" cstate="print"/>
            <a:stretch>
              <a:fillRect l="-2222" t="-1752"/>
            </a:stretch>
          </a:blipFill>
        </p:spPr>
        <p:txBody>
          <a:bodyPr/>
          <a:lstStyle/>
          <a:p>
            <a:pPr>
              <a:defRPr/>
            </a:pPr>
            <a:r>
              <a:rPr lang="en-US">
                <a:noFill/>
              </a:rPr>
              <a:t> </a:t>
            </a:r>
          </a:p>
        </p:txBody>
      </p:sp>
      <p:sp>
        <p:nvSpPr>
          <p:cNvPr id="61443" name="Rectangle 2"/>
          <p:cNvSpPr>
            <a:spLocks noGrp="1" noChangeArrowheads="1"/>
          </p:cNvSpPr>
          <p:nvPr>
            <p:ph type="title" idx="4294967295"/>
          </p:nvPr>
        </p:nvSpPr>
        <p:spPr>
          <a:xfrm>
            <a:off x="762000" y="242888"/>
            <a:ext cx="8077200" cy="639762"/>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SUMMARY: Checking for Independence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a:xfrm>
            <a:off x="762000" y="320677"/>
            <a:ext cx="8001000" cy="563563"/>
          </a:xfrm>
        </p:spPr>
        <p:txBody>
          <a:bodyPr vert="horz" wrap="square" lIns="0" tIns="45720" rIns="0" bIns="45720" numCol="1" anchor="b" anchorCtr="0" compatLnSpc="1">
            <a:prstTxWarp prst="textNoShape">
              <a:avLst/>
            </a:prstTxWarp>
          </a:bodyPr>
          <a:lstStyle/>
          <a:p>
            <a:r>
              <a:rPr lang="en-US" altLang="en-US" sz="2900" b="1">
                <a:latin typeface="Arial" panose="020B0604020202020204" pitchFamily="34" charset="0"/>
              </a:rPr>
              <a:t>Example: Down Syndrome Again</a:t>
            </a:r>
            <a:r>
              <a:rPr lang="en-US" altLang="en-US" sz="2500"/>
              <a:t> </a:t>
            </a:r>
          </a:p>
        </p:txBody>
      </p:sp>
      <p:sp>
        <p:nvSpPr>
          <p:cNvPr id="63491" name="Rectangle 3"/>
          <p:cNvSpPr>
            <a:spLocks noGrp="1" noChangeArrowheads="1"/>
          </p:cNvSpPr>
          <p:nvPr>
            <p:ph type="body" sz="quarter" idx="4294967295"/>
          </p:nvPr>
        </p:nvSpPr>
        <p:spPr>
          <a:xfrm>
            <a:off x="457200" y="1600202"/>
            <a:ext cx="8229600" cy="1539875"/>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The diagnostic blood test for Down syndrome:</a:t>
            </a:r>
          </a:p>
          <a:p>
            <a:pPr lvl="1">
              <a:buClr>
                <a:schemeClr val="tx1"/>
              </a:buClr>
            </a:pPr>
            <a:r>
              <a:rPr lang="en-US" altLang="en-US" sz="2400" b="1"/>
              <a:t>POS</a:t>
            </a:r>
            <a:r>
              <a:rPr lang="en-US" altLang="en-US" sz="2400"/>
              <a:t> = positive result      </a:t>
            </a:r>
            <a:r>
              <a:rPr lang="en-US" altLang="en-US" sz="2400" b="1"/>
              <a:t>NEG</a:t>
            </a:r>
            <a:r>
              <a:rPr lang="en-US" altLang="en-US" sz="2400"/>
              <a:t> = negative result</a:t>
            </a:r>
          </a:p>
          <a:p>
            <a:pPr lvl="1">
              <a:buClr>
                <a:schemeClr val="tx1"/>
              </a:buClr>
            </a:pPr>
            <a:r>
              <a:rPr lang="en-US" altLang="en-US" sz="2400" b="1"/>
              <a:t>D</a:t>
            </a:r>
            <a:r>
              <a:rPr lang="en-US" altLang="en-US" sz="2400"/>
              <a:t> = Down Syndrome      </a:t>
            </a:r>
            <a:r>
              <a:rPr lang="en-US" altLang="en-US" sz="2400" b="1"/>
              <a:t>D</a:t>
            </a:r>
            <a:r>
              <a:rPr lang="en-US" altLang="en-US" sz="2400" b="1" baseline="30000"/>
              <a:t>C</a:t>
            </a:r>
            <a:r>
              <a:rPr lang="en-US" altLang="en-US" sz="2400"/>
              <a:t> = Unaffected </a:t>
            </a:r>
          </a:p>
        </p:txBody>
      </p:sp>
      <p:pic>
        <p:nvPicPr>
          <p:cNvPr id="6349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2925" y="3351215"/>
            <a:ext cx="5518150"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762000" y="320677"/>
            <a:ext cx="8001000" cy="563563"/>
          </a:xfrm>
        </p:spPr>
        <p:txBody>
          <a:bodyPr vert="horz" wrap="square" lIns="0" tIns="45720" rIns="0" bIns="45720" numCol="1" anchor="b" anchorCtr="0" compatLnSpc="1">
            <a:prstTxWarp prst="textNoShape">
              <a:avLst/>
            </a:prstTxWarp>
          </a:bodyPr>
          <a:lstStyle/>
          <a:p>
            <a:r>
              <a:rPr lang="en-US" altLang="en-US" sz="2900" b="1">
                <a:latin typeface="Arial" panose="020B0604020202020204" pitchFamily="34" charset="0"/>
              </a:rPr>
              <a:t>Example: Down Syndrome Again</a:t>
            </a:r>
            <a:r>
              <a:rPr lang="en-US" altLang="en-US" sz="2500"/>
              <a:t> </a:t>
            </a:r>
          </a:p>
        </p:txBody>
      </p:sp>
      <p:sp>
        <p:nvSpPr>
          <p:cNvPr id="65539" name="Rectangle 2"/>
          <p:cNvSpPr>
            <a:spLocks noGrp="1" noChangeArrowheads="1"/>
          </p:cNvSpPr>
          <p:nvPr>
            <p:ph type="body" sz="quarter" idx="4294967295"/>
          </p:nvPr>
        </p:nvSpPr>
        <p:spPr>
          <a:xfrm>
            <a:off x="762000" y="1874840"/>
            <a:ext cx="7924800" cy="4479925"/>
          </a:xfrm>
          <a:solidFill>
            <a:srgbClr val="FFFFFF"/>
          </a:solidFill>
        </p:spPr>
        <p:txBody>
          <a:bodyPr vert="horz" wrap="square" lIns="0" tIns="45720" rIns="0" bIns="45720" numCol="1" anchor="t" anchorCtr="0" compatLnSpc="1">
            <a:prstTxWarp prst="textNoShape">
              <a:avLst/>
            </a:prstTxWarp>
          </a:bodyPr>
          <a:lstStyle/>
          <a:p>
            <a:pPr marL="0" indent="0">
              <a:lnSpc>
                <a:spcPct val="90000"/>
              </a:lnSpc>
              <a:buFont typeface="Wingdings" panose="05000000000000000000" pitchFamily="2" charset="2"/>
              <a:buChar char="§"/>
            </a:pPr>
            <a:r>
              <a:rPr lang="en-US" altLang="en-US" sz="2400" dirty="0"/>
              <a:t>   Are the events POS and D independent or dependent?</a:t>
            </a:r>
          </a:p>
          <a:p>
            <a:pPr marL="0" indent="0">
              <a:lnSpc>
                <a:spcPct val="90000"/>
              </a:lnSpc>
            </a:pPr>
            <a:endParaRPr lang="en-US" altLang="en-US" sz="2400" dirty="0"/>
          </a:p>
          <a:p>
            <a:pPr marL="0" indent="0">
              <a:lnSpc>
                <a:spcPct val="90000"/>
              </a:lnSpc>
              <a:buFont typeface="Wingdings" panose="05000000000000000000" pitchFamily="2" charset="2"/>
              <a:buChar char="§"/>
            </a:pPr>
            <a:r>
              <a:rPr lang="en-US" altLang="en-US" sz="2400" dirty="0"/>
              <a:t>   Meaning is                                                true?                                    </a:t>
            </a:r>
            <a:br>
              <a:rPr lang="en-US" altLang="en-US" sz="2400" dirty="0"/>
            </a:br>
            <a:endParaRPr lang="en-US" altLang="en-US" sz="2400" dirty="0"/>
          </a:p>
          <a:p>
            <a:pPr marL="0" indent="0">
              <a:lnSpc>
                <a:spcPct val="90000"/>
              </a:lnSpc>
              <a:buNone/>
            </a:pPr>
            <a:r>
              <a:rPr lang="en-US" altLang="en-US" sz="2400" dirty="0"/>
              <a:t> </a:t>
            </a:r>
          </a:p>
          <a:p>
            <a:pPr marL="0" indent="0">
              <a:lnSpc>
                <a:spcPct val="90000"/>
              </a:lnSpc>
              <a:buClr>
                <a:schemeClr val="tx1"/>
              </a:buClr>
            </a:pPr>
            <a:endParaRPr lang="en-US" altLang="en-US" sz="2400" dirty="0"/>
          </a:p>
          <a:p>
            <a:pPr marL="0" indent="0">
              <a:lnSpc>
                <a:spcPct val="90000"/>
              </a:lnSpc>
              <a:buNone/>
            </a:pPr>
            <a:r>
              <a:rPr lang="en-US" altLang="en-US" sz="2400" dirty="0"/>
              <a:t> </a:t>
            </a:r>
          </a:p>
          <a:p>
            <a:pPr marL="0" indent="0">
              <a:lnSpc>
                <a:spcPct val="90000"/>
              </a:lnSpc>
              <a:buClr>
                <a:schemeClr val="tx1"/>
              </a:buClr>
            </a:pPr>
            <a:endParaRPr lang="en-US" altLang="en-US" sz="2400" dirty="0"/>
          </a:p>
          <a:p>
            <a:pPr marL="0" indent="0">
              <a:lnSpc>
                <a:spcPct val="90000"/>
              </a:lnSpc>
            </a:pPr>
            <a:r>
              <a:rPr lang="en-US" altLang="en-US" sz="2400" dirty="0"/>
              <a:t>The events POS and D are dependent.</a:t>
            </a:r>
          </a:p>
        </p:txBody>
      </p:sp>
      <p:graphicFrame>
        <p:nvGraphicFramePr>
          <p:cNvPr id="65540" name="Object 6"/>
          <p:cNvGraphicFramePr>
            <a:graphicFrameLocks noChangeAspect="1"/>
          </p:cNvGraphicFramePr>
          <p:nvPr/>
        </p:nvGraphicFramePr>
        <p:xfrm>
          <a:off x="2628900" y="2733675"/>
          <a:ext cx="2971800" cy="361950"/>
        </p:xfrm>
        <a:graphic>
          <a:graphicData uri="http://schemas.openxmlformats.org/presentationml/2006/ole">
            <mc:AlternateContent xmlns:mc="http://schemas.openxmlformats.org/markup-compatibility/2006">
              <mc:Choice xmlns:v="urn:schemas-microsoft-com:vml" Requires="v">
                <p:oleObj name="Equation" r:id="rId3" imgW="3454400" imgH="419100" progId="Equation.DSMT4">
                  <p:embed/>
                </p:oleObj>
              </mc:Choice>
              <mc:Fallback>
                <p:oleObj name="Equation" r:id="rId3" imgW="3454400" imgH="419100" progId="Equation.DSMT4">
                  <p:embed/>
                  <p:pic>
                    <p:nvPicPr>
                      <p:cNvPr id="6554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8900" y="2733675"/>
                        <a:ext cx="2971800" cy="3619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41" name="Object 7"/>
          <p:cNvGraphicFramePr>
            <a:graphicFrameLocks noChangeAspect="1"/>
          </p:cNvGraphicFramePr>
          <p:nvPr/>
        </p:nvGraphicFramePr>
        <p:xfrm>
          <a:off x="912815" y="3600452"/>
          <a:ext cx="7699375" cy="371475"/>
        </p:xfrm>
        <a:graphic>
          <a:graphicData uri="http://schemas.openxmlformats.org/presentationml/2006/ole">
            <mc:AlternateContent xmlns:mc="http://schemas.openxmlformats.org/markup-compatibility/2006">
              <mc:Choice xmlns:v="urn:schemas-microsoft-com:vml" Requires="v">
                <p:oleObj name="Equation" r:id="rId5" imgW="8953500" imgH="431800" progId="Equation.DSMT4">
                  <p:embed/>
                </p:oleObj>
              </mc:Choice>
              <mc:Fallback>
                <p:oleObj name="Equation" r:id="rId5" imgW="8953500" imgH="431800" progId="Equation.DSMT4">
                  <p:embed/>
                  <p:pic>
                    <p:nvPicPr>
                      <p:cNvPr id="6554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815" y="3600452"/>
                        <a:ext cx="7699375" cy="37147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42" name="Object 8"/>
          <p:cNvGraphicFramePr>
            <a:graphicFrameLocks noChangeAspect="1"/>
          </p:cNvGraphicFramePr>
          <p:nvPr/>
        </p:nvGraphicFramePr>
        <p:xfrm>
          <a:off x="3173413" y="4362450"/>
          <a:ext cx="2184400" cy="361950"/>
        </p:xfrm>
        <a:graphic>
          <a:graphicData uri="http://schemas.openxmlformats.org/presentationml/2006/ole">
            <mc:AlternateContent xmlns:mc="http://schemas.openxmlformats.org/markup-compatibility/2006">
              <mc:Choice xmlns:v="urn:schemas-microsoft-com:vml" Requires="v">
                <p:oleObj name="Equation" r:id="rId7" imgW="2540000" imgH="419100" progId="Equation.DSMT4">
                  <p:embed/>
                </p:oleObj>
              </mc:Choice>
              <mc:Fallback>
                <p:oleObj name="Equation" r:id="rId7" imgW="2540000" imgH="419100" progId="Equation.DSMT4">
                  <p:embed/>
                  <p:pic>
                    <p:nvPicPr>
                      <p:cNvPr id="6554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73413" y="4362450"/>
                        <a:ext cx="2184400" cy="3619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type="body" sz="quarter" idx="4294967295"/>
          </p:nvPr>
        </p:nvSpPr>
        <p:spPr>
          <a:xfrm>
            <a:off x="841375" y="1997077"/>
            <a:ext cx="7696200" cy="3794125"/>
          </a:xfrm>
          <a:solidFill>
            <a:srgbClr val="FFFFFF"/>
          </a:solidFill>
        </p:spPr>
        <p:txBody>
          <a:bodyPr vert="horz" wrap="square" lIns="0" tIns="45720" rIns="0" bIns="45720" numCol="1" anchor="t" anchorCtr="0" compatLnSpc="1">
            <a:prstTxWarp prst="textNoShape">
              <a:avLst/>
            </a:prstTxWarp>
          </a:bodyPr>
          <a:lstStyle/>
          <a:p>
            <a:pPr marL="0" indent="0"/>
            <a:r>
              <a:rPr lang="en-US" altLang="en-US" sz="2400"/>
              <a:t>Out of the large number of things that can happen to us and to others over time, it’s not surprising to occasionally see patterns that seem unusual.</a:t>
            </a:r>
          </a:p>
        </p:txBody>
      </p:sp>
      <p:sp>
        <p:nvSpPr>
          <p:cNvPr id="67587" name="Rectangle 2"/>
          <p:cNvSpPr>
            <a:spLocks noGrp="1" noChangeArrowheads="1"/>
          </p:cNvSpPr>
          <p:nvPr>
            <p:ph type="title" idx="4294967295"/>
          </p:nvPr>
        </p:nvSpPr>
        <p:spPr>
          <a:xfrm>
            <a:off x="685800" y="149225"/>
            <a:ext cx="8458200" cy="762000"/>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Is a Coincidence Truly an Unusual Event?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body" sz="quarter" idx="4294967295"/>
          </p:nvPr>
        </p:nvSpPr>
        <p:spPr>
          <a:xfrm>
            <a:off x="762000" y="1844677"/>
            <a:ext cx="7924800" cy="4479925"/>
          </a:xfrm>
          <a:solidFill>
            <a:srgbClr val="FFFFFF"/>
          </a:solidFill>
        </p:spPr>
        <p:txBody>
          <a:bodyPr vert="horz" wrap="square" lIns="0" tIns="45720" rIns="0" bIns="45720" numCol="1" anchor="t" anchorCtr="0" compatLnSpc="1">
            <a:prstTxWarp prst="textNoShape">
              <a:avLst/>
            </a:prstTxWarp>
          </a:bodyPr>
          <a:lstStyle/>
          <a:p>
            <a:pPr marL="0" indent="0">
              <a:buNone/>
            </a:pPr>
            <a:r>
              <a:rPr lang="en-US" altLang="en-US" sz="2400" dirty="0"/>
              <a:t>What is the probability that at least two students in a group of 25 students have the same birthday?</a:t>
            </a:r>
          </a:p>
          <a:p>
            <a:pPr marL="0" indent="0"/>
            <a:endParaRPr lang="en-US" altLang="en-US" sz="2400" dirty="0"/>
          </a:p>
          <a:p>
            <a:pPr marL="0" indent="0">
              <a:buNone/>
            </a:pPr>
            <a:r>
              <a:rPr lang="en-US" altLang="en-US" sz="2400" dirty="0"/>
              <a:t>P(at least one match) = 1 – P(no matches)</a:t>
            </a:r>
          </a:p>
          <a:p>
            <a:pPr marL="0" indent="0"/>
            <a:endParaRPr lang="en-US" altLang="en-US" sz="2400" dirty="0"/>
          </a:p>
          <a:p>
            <a:pPr marL="0" indent="0">
              <a:buNone/>
            </a:pPr>
            <a:r>
              <a:rPr lang="en-US" altLang="en-US" sz="2400" dirty="0"/>
              <a:t>P(no matches) = P(students 1 and 2 and 3 …and 25 have different birthdays) = (364/365)*(363/365)*…*(341/365) = 0.43</a:t>
            </a:r>
          </a:p>
          <a:p>
            <a:pPr marL="0" indent="0"/>
            <a:endParaRPr lang="en-US" altLang="en-US" sz="2400" dirty="0"/>
          </a:p>
          <a:p>
            <a:pPr marL="0" indent="0"/>
            <a:endParaRPr lang="en-US" altLang="en-US" sz="2400" dirty="0"/>
          </a:p>
          <a:p>
            <a:pPr marL="0" indent="0"/>
            <a:endParaRPr lang="en-US" altLang="en-US" sz="2400" dirty="0"/>
          </a:p>
          <a:p>
            <a:pPr marL="0" indent="0"/>
            <a:endParaRPr lang="en-US" altLang="en-US" sz="2400" dirty="0"/>
          </a:p>
        </p:txBody>
      </p:sp>
      <p:sp>
        <p:nvSpPr>
          <p:cNvPr id="69635" name="Rectangle 3"/>
          <p:cNvSpPr>
            <a:spLocks noGrp="1" noChangeArrowheads="1"/>
          </p:cNvSpPr>
          <p:nvPr>
            <p:ph type="title" idx="4294967295"/>
          </p:nvPr>
        </p:nvSpPr>
        <p:spPr>
          <a:xfrm>
            <a:off x="685800" y="76202"/>
            <a:ext cx="8382000" cy="792163"/>
          </a:xfrm>
        </p:spPr>
        <p:txBody>
          <a:bodyPr vert="horz" wrap="square" lIns="0" tIns="45720" rIns="0" bIns="45720" numCol="1" anchor="b" anchorCtr="0" compatLnSpc="1">
            <a:prstTxWarp prst="textNoShape">
              <a:avLst/>
            </a:prstTxWarp>
          </a:bodyPr>
          <a:lstStyle/>
          <a:p>
            <a:r>
              <a:rPr lang="en-US" altLang="en-US" sz="3600" b="1">
                <a:latin typeface="Arial" panose="020B0604020202020204" pitchFamily="34" charset="0"/>
              </a:rPr>
              <a:t>Example: Matching Birthdays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marL="0" indent="0">
              <a:buNone/>
            </a:pPr>
            <a:r>
              <a:rPr lang="en-US" altLang="en-US" sz="2400" dirty="0"/>
              <a:t>Using the probability for the complement of an event,</a:t>
            </a:r>
          </a:p>
          <a:p>
            <a:pPr marL="0" indent="0"/>
            <a:endParaRPr lang="en-US" altLang="en-US" sz="2400" dirty="0"/>
          </a:p>
          <a:p>
            <a:pPr marL="0" indent="0">
              <a:buNone/>
            </a:pPr>
            <a:r>
              <a:rPr lang="en-US" altLang="en-US" sz="2400" dirty="0"/>
              <a:t>P(at least one match) = 1 – P(no matches) = 1 – 0.43 = 0.57</a:t>
            </a:r>
          </a:p>
          <a:p>
            <a:pPr marL="0" indent="0"/>
            <a:endParaRPr lang="en-US" altLang="en-US" sz="2400" dirty="0"/>
          </a:p>
          <a:p>
            <a:pPr marL="0" indent="0">
              <a:buNone/>
            </a:pPr>
            <a:r>
              <a:rPr lang="en-US" altLang="en-US" sz="2400" dirty="0"/>
              <a:t>The probability exceeds 1/2 of at least one birthday match in a class of 25 students.</a:t>
            </a:r>
          </a:p>
          <a:p>
            <a:pPr marL="0" indent="0"/>
            <a:endParaRPr lang="en-US" altLang="en-US" sz="2400" dirty="0"/>
          </a:p>
          <a:p>
            <a:pPr marL="0" indent="0">
              <a:buNone/>
            </a:pPr>
            <a:r>
              <a:rPr lang="en-US" altLang="en-US" sz="2400" dirty="0"/>
              <a:t>Not so surprising when you consider that there are 300 pairs of students who can share the same birthday!</a:t>
            </a:r>
          </a:p>
        </p:txBody>
      </p:sp>
      <p:sp>
        <p:nvSpPr>
          <p:cNvPr id="71683" name="Rectangle 3"/>
          <p:cNvSpPr>
            <a:spLocks noChangeArrowheads="1"/>
          </p:cNvSpPr>
          <p:nvPr/>
        </p:nvSpPr>
        <p:spPr bwMode="auto">
          <a:xfrm>
            <a:off x="685800" y="76202"/>
            <a:ext cx="83820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Matching Birthdays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type="body" sz="quarter" idx="4294967295"/>
          </p:nvPr>
        </p:nvSpPr>
        <p:spPr>
          <a:xfrm>
            <a:off x="762000" y="1768477"/>
            <a:ext cx="7924800" cy="4479925"/>
          </a:xfrm>
          <a:solidFill>
            <a:srgbClr val="FFFFFF"/>
          </a:solidFill>
        </p:spPr>
        <p:txBody>
          <a:bodyPr vert="horz" wrap="square" lIns="0" tIns="45720" rIns="0" bIns="45720" numCol="1" anchor="t" anchorCtr="0" compatLnSpc="1">
            <a:prstTxWarp prst="textNoShape">
              <a:avLst/>
            </a:prstTxWarp>
          </a:bodyPr>
          <a:lstStyle/>
          <a:p>
            <a:r>
              <a:rPr lang="en-US" altLang="en-US" sz="2400" dirty="0"/>
              <a:t>We’ve now found probabilities in many idealized situations.</a:t>
            </a:r>
          </a:p>
          <a:p>
            <a:endParaRPr lang="en-US" altLang="en-US" sz="2400" dirty="0"/>
          </a:p>
          <a:p>
            <a:r>
              <a:rPr lang="en-US" altLang="en-US" sz="2400" dirty="0"/>
              <a:t>In practice, it’s often not obvious when different outcomes are equally likely or different events are independent.</a:t>
            </a:r>
          </a:p>
          <a:p>
            <a:endParaRPr lang="en-US" altLang="en-US" sz="2400" dirty="0"/>
          </a:p>
          <a:p>
            <a:r>
              <a:rPr lang="en-US" altLang="en-US" sz="2400" dirty="0"/>
              <a:t>When calculating probabilities, it is advisable to specify a </a:t>
            </a:r>
            <a:r>
              <a:rPr lang="en-US" altLang="en-US" sz="2400" i="1" dirty="0"/>
              <a:t>probability model</a:t>
            </a:r>
            <a:r>
              <a:rPr lang="en-US" altLang="en-US" sz="2400" dirty="0"/>
              <a:t> that spells out all the assumptions made.</a:t>
            </a:r>
          </a:p>
        </p:txBody>
      </p:sp>
      <p:sp>
        <p:nvSpPr>
          <p:cNvPr id="73731" name="Rectangle 2"/>
          <p:cNvSpPr>
            <a:spLocks noGrp="1" noChangeArrowheads="1"/>
          </p:cNvSpPr>
          <p:nvPr>
            <p:ph type="title" idx="4294967295"/>
          </p:nvPr>
        </p:nvSpPr>
        <p:spPr>
          <a:xfrm>
            <a:off x="762000" y="242888"/>
            <a:ext cx="8077200" cy="639762"/>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Probability</a:t>
            </a:r>
            <a:r>
              <a:rPr lang="en-US" altLang="en-US" sz="3600" b="1">
                <a:latin typeface="Arial" panose="020B0604020202020204" pitchFamily="34" charset="0"/>
              </a:rPr>
              <a:t> Model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p:cNvSpPr>
            <a:spLocks noGrp="1" noChangeArrowheads="1"/>
          </p:cNvSpPr>
          <p:nvPr>
            <p:ph type="body" sz="quarter" idx="4294967295"/>
          </p:nvPr>
        </p:nvSpPr>
        <p:spPr>
          <a:xfrm>
            <a:off x="762000" y="1844677"/>
            <a:ext cx="7924800" cy="4479925"/>
          </a:xfrm>
          <a:solidFill>
            <a:srgbClr val="FFFFFF"/>
          </a:solidFill>
        </p:spPr>
        <p:txBody>
          <a:bodyPr vert="horz" wrap="square" lIns="0" tIns="45720" rIns="0" bIns="45720" numCol="1" anchor="t" anchorCtr="0" compatLnSpc="1">
            <a:prstTxWarp prst="textNoShape">
              <a:avLst/>
            </a:prstTxWarp>
          </a:bodyPr>
          <a:lstStyle/>
          <a:p>
            <a:r>
              <a:rPr lang="en-US" altLang="en-US" sz="2400" dirty="0"/>
              <a:t>A </a:t>
            </a:r>
            <a:r>
              <a:rPr lang="en-US" altLang="en-US" sz="2400" b="1" dirty="0"/>
              <a:t>probability model </a:t>
            </a:r>
            <a:r>
              <a:rPr lang="en-US" altLang="en-US" sz="2400" dirty="0"/>
              <a:t>specifies the possible outcomes for a sample space and provides assumptions on which the probability calculations for events composed of these outcomes are based.</a:t>
            </a:r>
          </a:p>
          <a:p>
            <a:endParaRPr lang="en-US" altLang="en-US" sz="2400" dirty="0"/>
          </a:p>
          <a:p>
            <a:r>
              <a:rPr lang="en-US" altLang="en-US" sz="2400" dirty="0"/>
              <a:t>Probability models merely </a:t>
            </a:r>
            <a:r>
              <a:rPr lang="en-US" altLang="en-US" sz="2400" i="1" dirty="0"/>
              <a:t>approximate</a:t>
            </a:r>
            <a:r>
              <a:rPr lang="en-US" altLang="en-US" sz="2400" dirty="0"/>
              <a:t> reality.</a:t>
            </a:r>
          </a:p>
        </p:txBody>
      </p:sp>
      <p:sp>
        <p:nvSpPr>
          <p:cNvPr id="74755" name="Rectangle 2"/>
          <p:cNvSpPr>
            <a:spLocks noChangeArrowheads="1"/>
          </p:cNvSpPr>
          <p:nvPr/>
        </p:nvSpPr>
        <p:spPr bwMode="auto">
          <a:xfrm>
            <a:off x="762000" y="242888"/>
            <a:ext cx="80772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lgn="ct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Probability Model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p:cNvSpPr>
            <a:spLocks noGrp="1" noChangeArrowheads="1"/>
          </p:cNvSpPr>
          <p:nvPr>
            <p:ph type="body" sz="quarter" idx="4294967295"/>
          </p:nvPr>
        </p:nvSpPr>
        <p:spPr>
          <a:xfrm>
            <a:off x="457200" y="1600202"/>
            <a:ext cx="7858125" cy="4525963"/>
          </a:xfrm>
          <a:solidFill>
            <a:srgbClr val="FFFFFF"/>
          </a:solidFill>
        </p:spPr>
        <p:txBody>
          <a:bodyPr vert="horz" wrap="square" lIns="0" tIns="45720" rIns="0" bIns="45720" numCol="1" anchor="t" anchorCtr="0" compatLnSpc="1">
            <a:prstTxWarp prst="textNoShape">
              <a:avLst/>
            </a:prstTxWarp>
          </a:bodyPr>
          <a:lstStyle/>
          <a:p>
            <a:pPr marL="0" indent="0">
              <a:lnSpc>
                <a:spcPct val="90000"/>
              </a:lnSpc>
              <a:defRPr/>
            </a:pPr>
            <a:endParaRPr lang="en-US" altLang="en-US" sz="2000" dirty="0">
              <a:solidFill>
                <a:schemeClr val="accent2"/>
              </a:solidFill>
            </a:endParaRPr>
          </a:p>
          <a:p>
            <a:pPr marL="0" indent="0">
              <a:lnSpc>
                <a:spcPct val="90000"/>
              </a:lnSpc>
              <a:defRPr/>
            </a:pPr>
            <a:endParaRPr lang="en-US" altLang="en-US" sz="2000" dirty="0">
              <a:solidFill>
                <a:schemeClr val="accent2"/>
              </a:solidFill>
            </a:endParaRPr>
          </a:p>
          <a:p>
            <a:pPr marL="0" indent="0">
              <a:lnSpc>
                <a:spcPct val="90000"/>
              </a:lnSpc>
              <a:defRPr/>
            </a:pPr>
            <a:endParaRPr lang="en-US" altLang="en-US" sz="2000" dirty="0">
              <a:solidFill>
                <a:schemeClr val="accent2"/>
              </a:solidFill>
            </a:endParaRPr>
          </a:p>
          <a:p>
            <a:pPr marL="0" indent="0">
              <a:lnSpc>
                <a:spcPct val="90000"/>
              </a:lnSpc>
              <a:defRPr/>
            </a:pPr>
            <a:endParaRPr lang="en-US" altLang="en-US" sz="2000" dirty="0">
              <a:solidFill>
                <a:schemeClr val="accent2"/>
              </a:solidFill>
            </a:endParaRPr>
          </a:p>
          <a:p>
            <a:pPr>
              <a:defRPr/>
            </a:pPr>
            <a:endParaRPr lang="en-US" sz="2000" b="1" dirty="0"/>
          </a:p>
          <a:p>
            <a:pPr>
              <a:defRPr/>
            </a:pPr>
            <a:endParaRPr lang="en-US" sz="2000" b="1" dirty="0"/>
          </a:p>
          <a:p>
            <a:pPr marL="512763">
              <a:defRPr/>
            </a:pPr>
            <a:endParaRPr lang="en-US" sz="2000" b="1" dirty="0"/>
          </a:p>
          <a:p>
            <a:pPr marL="512763">
              <a:buNone/>
              <a:defRPr/>
            </a:pPr>
            <a:r>
              <a:rPr lang="en-US" sz="2000" b="1" dirty="0"/>
              <a:t>Table 5.6 Probabilities of Correct and Incorrect Results in Diagnostic Testing</a:t>
            </a:r>
          </a:p>
          <a:p>
            <a:pPr marL="512763">
              <a:defRPr/>
            </a:pPr>
            <a:r>
              <a:rPr lang="en-US" sz="2000" dirty="0"/>
              <a:t>The probabilities in the body of the table refer to the test result, conditional on whether the state (S) is truly present. </a:t>
            </a:r>
          </a:p>
          <a:p>
            <a:pPr marL="512763">
              <a:defRPr/>
            </a:pPr>
            <a:endParaRPr lang="en-US" sz="2000" dirty="0"/>
          </a:p>
          <a:p>
            <a:pPr marL="512763">
              <a:defRPr/>
            </a:pPr>
            <a:r>
              <a:rPr lang="en-US" sz="2000" dirty="0"/>
              <a:t>The sensitivity and specificity are the probabilities of the two types of correct diagnoses.</a:t>
            </a:r>
            <a:endParaRPr lang="en-US" altLang="en-US" sz="2000" dirty="0">
              <a:solidFill>
                <a:schemeClr val="accent2"/>
              </a:solidFill>
            </a:endParaRPr>
          </a:p>
          <a:p>
            <a:pPr marL="0" indent="0">
              <a:lnSpc>
                <a:spcPct val="90000"/>
              </a:lnSpc>
              <a:defRPr/>
            </a:pPr>
            <a:endParaRPr lang="en-US" altLang="en-US" sz="2000" dirty="0"/>
          </a:p>
        </p:txBody>
      </p:sp>
      <p:sp>
        <p:nvSpPr>
          <p:cNvPr id="77827" name="Rectangle 2"/>
          <p:cNvSpPr>
            <a:spLocks noGrp="1" noChangeArrowheads="1"/>
          </p:cNvSpPr>
          <p:nvPr>
            <p:ph type="title" idx="4294967295"/>
          </p:nvPr>
        </p:nvSpPr>
        <p:spPr>
          <a:xfrm>
            <a:off x="762000" y="165102"/>
            <a:ext cx="8077200" cy="715963"/>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Probabilities and Diagnostic Testing</a:t>
            </a:r>
          </a:p>
        </p:txBody>
      </p:sp>
      <p:pic>
        <p:nvPicPr>
          <p:cNvPr id="77828" name="Picture 8" descr="Agresti_3e_Chapter05-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013" y="1797050"/>
            <a:ext cx="7707312"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r>
              <a:rPr lang="en-US" altLang="en-US" sz="2400" dirty="0"/>
              <a:t>Based on past drug testing of air traffic controllers, the FAA reports that the probability of drug use at a given time is approximately 0.007 (less than 1%). This is called </a:t>
            </a:r>
            <a:r>
              <a:rPr lang="en-US" altLang="en-US" sz="2400" b="1" dirty="0"/>
              <a:t>prevalence </a:t>
            </a:r>
            <a:r>
              <a:rPr lang="en-US" altLang="en-US" sz="2400" dirty="0"/>
              <a:t>of drug use.</a:t>
            </a:r>
          </a:p>
          <a:p>
            <a:endParaRPr lang="en-US" altLang="en-US" sz="2400" dirty="0"/>
          </a:p>
          <a:p>
            <a:r>
              <a:rPr lang="en-US" altLang="en-US" sz="2400" dirty="0"/>
              <a:t>Given the probability of drug use, P(S) = 0.007</a:t>
            </a:r>
          </a:p>
          <a:p>
            <a:endParaRPr lang="en-US" altLang="en-US" sz="2400" dirty="0"/>
          </a:p>
          <a:p>
            <a:r>
              <a:rPr lang="en-US" altLang="en-US" sz="2400" dirty="0"/>
              <a:t> Sensitivity of test = P(POS|S) = 0.96</a:t>
            </a:r>
          </a:p>
          <a:p>
            <a:endParaRPr lang="en-US" altLang="en-US" sz="2400" dirty="0"/>
          </a:p>
          <a:p>
            <a:r>
              <a:rPr lang="en-US" altLang="en-US" sz="2400" dirty="0"/>
              <a:t> Specificity of test = P(NEG|S</a:t>
            </a:r>
            <a:r>
              <a:rPr lang="en-US" altLang="en-US" sz="2400" baseline="30000" dirty="0"/>
              <a:t>C</a:t>
            </a:r>
            <a:r>
              <a:rPr lang="en-US" altLang="en-US" sz="2400" dirty="0"/>
              <a:t>) = 0.93</a:t>
            </a:r>
          </a:p>
        </p:txBody>
      </p:sp>
      <p:sp>
        <p:nvSpPr>
          <p:cNvPr id="78851" name="Rectangle 2"/>
          <p:cNvSpPr>
            <a:spLocks noGrp="1" noChangeArrowheads="1"/>
          </p:cNvSpPr>
          <p:nvPr>
            <p:ph type="title" idx="4294967295"/>
          </p:nvPr>
        </p:nvSpPr>
        <p:spPr>
          <a:xfrm>
            <a:off x="685800" y="1588"/>
            <a:ext cx="8229600" cy="1173162"/>
          </a:xfrm>
          <a:solidFill>
            <a:srgbClr val="FFFFFF"/>
          </a:solidFill>
        </p:spPr>
        <p:txBody>
          <a:bodyPr vert="horz" wrap="square" lIns="0" tIns="45720" rIns="0" bIns="45720" numCol="1" anchor="b" anchorCtr="0" compatLnSpc="1">
            <a:prstTxWarp prst="textNoShape">
              <a:avLst/>
            </a:prstTxWarp>
          </a:bodyPr>
          <a:lstStyle/>
          <a:p>
            <a:r>
              <a:rPr lang="en-US" altLang="en-US" sz="3200" b="1">
                <a:latin typeface="Arial" panose="020B0604020202020204" pitchFamily="34" charset="0"/>
              </a:rPr>
              <a:t>Example: Random Drug Testing of Air Traffic Controllers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type="body" sz="quarter" idx="4294967295"/>
          </p:nvPr>
        </p:nvSpPr>
        <p:spPr>
          <a:solidFill>
            <a:srgbClr val="FFFFFF"/>
          </a:solidFill>
        </p:spPr>
        <p:txBody>
          <a:bodyPr vert="horz" wrap="square" lIns="0" tIns="45720" rIns="0" bIns="45720" numCol="1" anchor="t" anchorCtr="0" compatLnSpc="1">
            <a:prstTxWarp prst="textNoShape">
              <a:avLst/>
            </a:prstTxWarp>
          </a:bodyPr>
          <a:lstStyle/>
          <a:p>
            <a:pPr>
              <a:lnSpc>
                <a:spcPct val="80000"/>
              </a:lnSpc>
              <a:defRPr/>
            </a:pPr>
            <a:r>
              <a:rPr lang="en-US" altLang="en-US" sz="2400" dirty="0"/>
              <a:t>What is the probability of a positive test result?</a:t>
            </a:r>
          </a:p>
          <a:p>
            <a:pPr>
              <a:lnSpc>
                <a:spcPct val="80000"/>
              </a:lnSpc>
              <a:defRPr/>
            </a:pPr>
            <a:endParaRPr lang="en-US" altLang="en-US" sz="2400" dirty="0"/>
          </a:p>
          <a:p>
            <a:pPr marL="457200" lvl="1" indent="0">
              <a:lnSpc>
                <a:spcPct val="80000"/>
              </a:lnSpc>
              <a:buNone/>
              <a:defRPr/>
            </a:pPr>
            <a:r>
              <a:rPr lang="en-US" altLang="en-US" sz="2400" dirty="0"/>
              <a:t> </a:t>
            </a:r>
          </a:p>
          <a:p>
            <a:pPr marL="457200" lvl="1" indent="0">
              <a:lnSpc>
                <a:spcPct val="80000"/>
              </a:lnSpc>
              <a:buNone/>
              <a:defRPr/>
            </a:pPr>
            <a:r>
              <a:rPr lang="en-US" altLang="en-US" sz="2400" dirty="0"/>
              <a:t> </a:t>
            </a:r>
          </a:p>
          <a:p>
            <a:pPr marL="457200" lvl="1" indent="0">
              <a:lnSpc>
                <a:spcPct val="80000"/>
              </a:lnSpc>
              <a:buNone/>
              <a:defRPr/>
            </a:pPr>
            <a:r>
              <a:rPr lang="en-US" altLang="en-US" sz="2400" dirty="0"/>
              <a:t> </a:t>
            </a:r>
          </a:p>
          <a:p>
            <a:pPr marL="457200" lvl="1" indent="0">
              <a:lnSpc>
                <a:spcPct val="80000"/>
              </a:lnSpc>
              <a:buNone/>
              <a:defRPr/>
            </a:pPr>
            <a:endParaRPr lang="en-US" altLang="en-US" sz="2400" dirty="0"/>
          </a:p>
          <a:p>
            <a:pPr marL="1828800" lvl="4" indent="0">
              <a:lnSpc>
                <a:spcPct val="80000"/>
              </a:lnSpc>
              <a:buNone/>
              <a:defRPr/>
            </a:pPr>
            <a:endParaRPr lang="en-US" altLang="en-US" sz="2400" dirty="0"/>
          </a:p>
          <a:p>
            <a:pPr marL="457200" lvl="1" indent="0">
              <a:lnSpc>
                <a:spcPct val="80000"/>
              </a:lnSpc>
              <a:buNone/>
              <a:defRPr/>
            </a:pPr>
            <a:r>
              <a:rPr lang="en-US" altLang="en-US" sz="2400" dirty="0"/>
              <a:t> </a:t>
            </a:r>
          </a:p>
          <a:p>
            <a:pPr lvl="1">
              <a:lnSpc>
                <a:spcPct val="80000"/>
              </a:lnSpc>
              <a:defRPr/>
            </a:pPr>
            <a:endParaRPr lang="en-US" altLang="en-US" sz="2400" dirty="0"/>
          </a:p>
          <a:p>
            <a:pPr lvl="1">
              <a:lnSpc>
                <a:spcPct val="80000"/>
              </a:lnSpc>
              <a:defRPr/>
            </a:pPr>
            <a:endParaRPr lang="en-US" altLang="en-US" sz="2400" dirty="0"/>
          </a:p>
          <a:p>
            <a:pPr>
              <a:lnSpc>
                <a:spcPct val="80000"/>
              </a:lnSpc>
              <a:defRPr/>
            </a:pPr>
            <a:endParaRPr lang="en-US" altLang="en-US" sz="2400" dirty="0"/>
          </a:p>
          <a:p>
            <a:pPr>
              <a:lnSpc>
                <a:spcPct val="80000"/>
              </a:lnSpc>
              <a:defRPr/>
            </a:pPr>
            <a:r>
              <a:rPr lang="en-US" altLang="en-US" sz="2400" dirty="0"/>
              <a:t>Even though the prevalence is &lt; 1%, there is nearly an 8% chance of the test suggesting that the person used drugs.</a:t>
            </a:r>
          </a:p>
        </p:txBody>
      </p:sp>
      <p:sp>
        <p:nvSpPr>
          <p:cNvPr id="79875" name="Rectangle 2"/>
          <p:cNvSpPr>
            <a:spLocks noChangeArrowheads="1"/>
          </p:cNvSpPr>
          <p:nvPr/>
        </p:nvSpPr>
        <p:spPr bwMode="auto">
          <a:xfrm>
            <a:off x="685800" y="9527"/>
            <a:ext cx="8229600"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Random Drug Testing of Air Traffic Controllers</a:t>
            </a:r>
          </a:p>
        </p:txBody>
      </p:sp>
      <p:graphicFrame>
        <p:nvGraphicFramePr>
          <p:cNvPr id="79876" name="Object 6"/>
          <p:cNvGraphicFramePr>
            <a:graphicFrameLocks noChangeAspect="1"/>
          </p:cNvGraphicFramePr>
          <p:nvPr/>
        </p:nvGraphicFramePr>
        <p:xfrm>
          <a:off x="1619250" y="2176465"/>
          <a:ext cx="4668838" cy="358775"/>
        </p:xfrm>
        <a:graphic>
          <a:graphicData uri="http://schemas.openxmlformats.org/presentationml/2006/ole">
            <mc:AlternateContent xmlns:mc="http://schemas.openxmlformats.org/markup-compatibility/2006">
              <mc:Choice xmlns:v="urn:schemas-microsoft-com:vml" Requires="v">
                <p:oleObj name="Equation" r:id="rId2" imgW="6324600" imgH="482600" progId="Equation.DSMT4">
                  <p:embed/>
                </p:oleObj>
              </mc:Choice>
              <mc:Fallback>
                <p:oleObj name="Equation" r:id="rId2" imgW="6324600" imgH="482600" progId="Equation.DSMT4">
                  <p:embed/>
                  <p:pic>
                    <p:nvPicPr>
                      <p:cNvPr id="7987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2176465"/>
                        <a:ext cx="4668838" cy="35877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877" name="Object 7"/>
          <p:cNvGraphicFramePr>
            <a:graphicFrameLocks noChangeAspect="1"/>
          </p:cNvGraphicFramePr>
          <p:nvPr/>
        </p:nvGraphicFramePr>
        <p:xfrm>
          <a:off x="1619252" y="2901952"/>
          <a:ext cx="4321175" cy="739775"/>
        </p:xfrm>
        <a:graphic>
          <a:graphicData uri="http://schemas.openxmlformats.org/presentationml/2006/ole">
            <mc:AlternateContent xmlns:mc="http://schemas.openxmlformats.org/markup-compatibility/2006">
              <mc:Choice xmlns:v="urn:schemas-microsoft-com:vml" Requires="v">
                <p:oleObj name="Equation" r:id="rId4" imgW="5854700" imgH="1003300" progId="Equation.DSMT4">
                  <p:embed/>
                </p:oleObj>
              </mc:Choice>
              <mc:Fallback>
                <p:oleObj name="Equation" r:id="rId4" imgW="5854700" imgH="1003300" progId="Equation.DSMT4">
                  <p:embed/>
                  <p:pic>
                    <p:nvPicPr>
                      <p:cNvPr id="7987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2" y="2901952"/>
                        <a:ext cx="4321175" cy="73977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878" name="Object 8"/>
          <p:cNvGraphicFramePr>
            <a:graphicFrameLocks noChangeAspect="1"/>
          </p:cNvGraphicFramePr>
          <p:nvPr/>
        </p:nvGraphicFramePr>
        <p:xfrm>
          <a:off x="1619250" y="3721100"/>
          <a:ext cx="4313238" cy="774700"/>
        </p:xfrm>
        <a:graphic>
          <a:graphicData uri="http://schemas.openxmlformats.org/presentationml/2006/ole">
            <mc:AlternateContent xmlns:mc="http://schemas.openxmlformats.org/markup-compatibility/2006">
              <mc:Choice xmlns:v="urn:schemas-microsoft-com:vml" Requires="v">
                <p:oleObj name="Equation" r:id="rId6" imgW="5842000" imgH="1054100" progId="Equation.DSMT4">
                  <p:embed/>
                </p:oleObj>
              </mc:Choice>
              <mc:Fallback>
                <p:oleObj name="Equation" r:id="rId6" imgW="5842000" imgH="1054100" progId="Equation.DSMT4">
                  <p:embed/>
                  <p:pic>
                    <p:nvPicPr>
                      <p:cNvPr id="79878"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250" y="3721100"/>
                        <a:ext cx="4313238" cy="7747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879" name="Object 9"/>
          <p:cNvGraphicFramePr>
            <a:graphicFrameLocks noChangeAspect="1"/>
          </p:cNvGraphicFramePr>
          <p:nvPr/>
        </p:nvGraphicFramePr>
        <p:xfrm>
          <a:off x="1619250" y="4757738"/>
          <a:ext cx="4057650" cy="311150"/>
        </p:xfrm>
        <a:graphic>
          <a:graphicData uri="http://schemas.openxmlformats.org/presentationml/2006/ole">
            <mc:AlternateContent xmlns:mc="http://schemas.openxmlformats.org/markup-compatibility/2006">
              <mc:Choice xmlns:v="urn:schemas-microsoft-com:vml" Requires="v">
                <p:oleObj name="Equation" r:id="rId8" imgW="5499100" imgH="419100" progId="Equation.DSMT4">
                  <p:embed/>
                </p:oleObj>
              </mc:Choice>
              <mc:Fallback>
                <p:oleObj name="Equation" r:id="rId8" imgW="5499100" imgH="419100" progId="Equation.DSMT4">
                  <p:embed/>
                  <p:pic>
                    <p:nvPicPr>
                      <p:cNvPr id="79879"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250" y="4757738"/>
                        <a:ext cx="4057650" cy="3111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Bayes' rule</a:t>
            </a:r>
            <a:endParaRPr lang="zh-HK" altLang="en-US" dirty="0"/>
          </a:p>
        </p:txBody>
      </p:sp>
      <p:sp>
        <p:nvSpPr>
          <p:cNvPr id="3" name="Content Placeholder 2"/>
          <p:cNvSpPr>
            <a:spLocks noGrp="1"/>
          </p:cNvSpPr>
          <p:nvPr>
            <p:ph idx="1"/>
          </p:nvPr>
        </p:nvSpPr>
        <p:spPr/>
        <p:txBody>
          <a:bodyPr>
            <a:normAutofit/>
          </a:bodyPr>
          <a:lstStyle/>
          <a:p>
            <a:r>
              <a:rPr lang="en-US" altLang="zh-HK" sz="2400" dirty="0"/>
              <a:t>Suppose the probability of A occurring depends upon whether B occurred, and vice versa. </a:t>
            </a:r>
          </a:p>
          <a:p>
            <a:endParaRPr lang="en-US" altLang="zh-HK" sz="2400" dirty="0"/>
          </a:p>
          <a:p>
            <a:r>
              <a:rPr lang="en-US" altLang="zh-HK" sz="2400" dirty="0"/>
              <a:t>In the former case, we write p(A|B). In the latter case, we write p(B|A). </a:t>
            </a:r>
          </a:p>
          <a:p>
            <a:endParaRPr lang="en-US" altLang="zh-HK" sz="2400" dirty="0"/>
          </a:p>
          <a:p>
            <a:r>
              <a:rPr lang="en-US" altLang="zh-HK" sz="2400" dirty="0"/>
              <a:t>Then, the probability that we’ll get A and B is given by </a:t>
            </a:r>
          </a:p>
          <a:p>
            <a:pPr marL="0" indent="0" algn="ctr">
              <a:buNone/>
            </a:pPr>
            <a:r>
              <a:rPr lang="en-US" altLang="zh-HK" sz="2400" dirty="0"/>
              <a:t>p(A and B) = p(A)*p(B|A) = p(B)*p(A|B).</a:t>
            </a:r>
          </a:p>
          <a:p>
            <a:pPr marL="0" indent="0">
              <a:buNone/>
            </a:pPr>
            <a:endParaRPr lang="zh-HK" altLang="en-US" sz="1800" dirty="0"/>
          </a:p>
        </p:txBody>
      </p:sp>
    </p:spTree>
    <p:extLst>
      <p:ext uri="{BB962C8B-B14F-4D97-AF65-F5344CB8AC3E}">
        <p14:creationId xmlns:p14="http://schemas.microsoft.com/office/powerpoint/2010/main" val="34021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heckerboard(across)">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heckerboard(across)">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checkerboard(across)">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Bayes' rule</a:t>
            </a:r>
            <a:endParaRPr lang="zh-HK" altLang="en-US" dirty="0"/>
          </a:p>
        </p:txBody>
      </p:sp>
      <p:sp>
        <p:nvSpPr>
          <p:cNvPr id="3" name="Content Placeholder 2"/>
          <p:cNvSpPr>
            <a:spLocks noGrp="1"/>
          </p:cNvSpPr>
          <p:nvPr>
            <p:ph idx="1"/>
          </p:nvPr>
        </p:nvSpPr>
        <p:spPr/>
        <p:txBody>
          <a:bodyPr>
            <a:normAutofit/>
          </a:bodyPr>
          <a:lstStyle/>
          <a:p>
            <a:r>
              <a:rPr lang="en-US" altLang="zh-HK" sz="1800" dirty="0"/>
              <a:t> </a:t>
            </a:r>
            <a:r>
              <a:rPr lang="en-US" altLang="zh-HK" sz="2400" dirty="0"/>
              <a:t>So, p(A)*p(B|A) = p(B)*p(A|B). Assuming that p(A) ≠ 0, we can divide both sides of the latter equation by p(A) and discover Bayes’ Rule:</a:t>
            </a:r>
          </a:p>
          <a:p>
            <a:pPr marL="0" indent="0" algn="ctr">
              <a:buFont typeface="Arial" panose="020B0604020202020204" pitchFamily="34" charset="0"/>
              <a:buNone/>
            </a:pPr>
            <a:endParaRPr lang="en-US" altLang="zh-HK" sz="2400" dirty="0"/>
          </a:p>
          <a:p>
            <a:pPr marL="0" indent="0" algn="ctr">
              <a:buFont typeface="Arial" panose="020B0604020202020204" pitchFamily="34" charset="0"/>
              <a:buNone/>
            </a:pPr>
            <a:r>
              <a:rPr lang="en-US" altLang="zh-HK" sz="2400" dirty="0"/>
              <a:t>p(B|A) = p(B)*p(A|B)/p(A) </a:t>
            </a:r>
          </a:p>
          <a:p>
            <a:endParaRPr lang="en-US" altLang="zh-HK" sz="2400" dirty="0"/>
          </a:p>
          <a:p>
            <a:r>
              <a:rPr lang="en-US" altLang="zh-HK" sz="2400" dirty="0"/>
              <a:t>Note that p(A) = p(A|B)*p(B) + p(</a:t>
            </a:r>
            <a:r>
              <a:rPr lang="en-US" altLang="zh-HK" sz="2400" dirty="0" err="1"/>
              <a:t>A|not</a:t>
            </a:r>
            <a:r>
              <a:rPr lang="en-US" altLang="zh-HK" sz="2400" dirty="0"/>
              <a:t> B)*p(not B) .</a:t>
            </a:r>
            <a:endParaRPr lang="zh-HK" altLang="en-US" sz="2400" dirty="0"/>
          </a:p>
        </p:txBody>
      </p:sp>
    </p:spTree>
    <p:extLst>
      <p:ext uri="{BB962C8B-B14F-4D97-AF65-F5344CB8AC3E}">
        <p14:creationId xmlns:p14="http://schemas.microsoft.com/office/powerpoint/2010/main" val="3106418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heckerboard(across)">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heckerboard(across)">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Bayes' rule </a:t>
            </a:r>
            <a:r>
              <a:rPr lang="en-US" altLang="zh-CN" dirty="0"/>
              <a:t>- Example</a:t>
            </a:r>
            <a:endParaRPr lang="en-US" dirty="0"/>
          </a:p>
        </p:txBody>
      </p:sp>
      <p:sp>
        <p:nvSpPr>
          <p:cNvPr id="3" name="Content Placeholder 2"/>
          <p:cNvSpPr>
            <a:spLocks noGrp="1"/>
          </p:cNvSpPr>
          <p:nvPr>
            <p:ph idx="1"/>
          </p:nvPr>
        </p:nvSpPr>
        <p:spPr/>
        <p:txBody>
          <a:bodyPr/>
          <a:lstStyle/>
          <a:p>
            <a:r>
              <a:rPr lang="en-US" sz="2400" dirty="0"/>
              <a:t>Mr. Smith's gardener is not dependable; the probability that he will forget to water the rosebush during Smith's absence is 2/3. The rosebush is in questionable condition anyhow; if watered, the probability of its withering is 1/2, but if it is not watered, the probability of its withering is 3/4. Upon returning, Smith finds that the rosebush has withered. What is the probability that the gardener did not water the rosebush?</a:t>
            </a:r>
          </a:p>
        </p:txBody>
      </p:sp>
    </p:spTree>
    <p:extLst>
      <p:ext uri="{BB962C8B-B14F-4D97-AF65-F5344CB8AC3E}">
        <p14:creationId xmlns:p14="http://schemas.microsoft.com/office/powerpoint/2010/main" val="13845836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Bayes' rule </a:t>
            </a:r>
            <a:r>
              <a:rPr lang="en-US" altLang="zh-CN" dirty="0"/>
              <a:t>- Example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sz="2400" dirty="0"/>
                  <a:t>Let A = the event that the rosebush withered,</a:t>
                </a:r>
                <a14:m>
                  <m:oMath xmlns:m="http://schemas.openxmlformats.org/officeDocument/2006/math">
                    <m:sSub>
                      <m:sSubPr>
                        <m:ctrlPr>
                          <a:rPr lang="en-US" sz="2400" i="1">
                            <a:latin typeface="Cambria Math" panose="02040503050406030204" pitchFamily="18" charset="0"/>
                          </a:rPr>
                        </m:ctrlPr>
                      </m:sSubPr>
                      <m:e>
                        <m:r>
                          <a:rPr lang="en-US" sz="2400" i="0">
                            <a:latin typeface="Cambria Math" panose="02040503050406030204" pitchFamily="18" charset="0"/>
                          </a:rPr>
                          <m:t> </m:t>
                        </m:r>
                        <m:r>
                          <m:rPr>
                            <m:sty m:val="p"/>
                          </m:rPr>
                          <a:rPr lang="en-US" sz="2400" i="0">
                            <a:latin typeface="Cambria Math" panose="02040503050406030204" pitchFamily="18" charset="0"/>
                          </a:rPr>
                          <m:t>A</m:t>
                        </m:r>
                      </m:e>
                      <m:sub>
                        <m:r>
                          <a:rPr lang="en-US" sz="2400" i="0">
                            <a:latin typeface="Cambria Math" panose="02040503050406030204" pitchFamily="18" charset="0"/>
                          </a:rPr>
                          <m:t>1</m:t>
                        </m:r>
                      </m:sub>
                    </m:sSub>
                  </m:oMath>
                </a14:m>
                <a:r>
                  <a:rPr lang="en-US" sz="2400" dirty="0"/>
                  <a:t>= the event that the gardener did not water and</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 </m:t>
                        </m:r>
                        <m:r>
                          <m:rPr>
                            <m:sty m:val="p"/>
                          </m:rPr>
                          <a:rPr lang="en-US" sz="2400">
                            <a:latin typeface="Cambria Math" panose="02040503050406030204" pitchFamily="18" charset="0"/>
                          </a:rPr>
                          <m:t>A</m:t>
                        </m:r>
                      </m:e>
                      <m:sub>
                        <m:r>
                          <a:rPr lang="en-US" sz="2400" i="1">
                            <a:latin typeface="Cambria Math" panose="02040503050406030204" pitchFamily="18" charset="0"/>
                          </a:rPr>
                          <m:t>2</m:t>
                        </m:r>
                      </m:sub>
                    </m:sSub>
                  </m:oMath>
                </a14:m>
                <a:r>
                  <a:rPr lang="en-US" sz="2400" dirty="0"/>
                  <a:t>= the event that the gardener water.</a:t>
                </a:r>
              </a:p>
              <a:p>
                <a:endParaRPr lang="en-US" sz="2400" dirty="0"/>
              </a:p>
              <a:p>
                <a:r>
                  <a:rPr lang="en-US" sz="2400" dirty="0"/>
                  <a:t>By Bayes’ rule,</a:t>
                </a:r>
                <a:r>
                  <a:rPr lang="en-US" dirty="0"/>
                  <a:t>  </a:t>
                </a: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1</m:t>
                              </m:r>
                            </m:sub>
                          </m:sSub>
                        </m:e>
                        <m:e>
                          <m:r>
                            <a:rPr lang="en-US" sz="2400" i="1">
                              <a:latin typeface="Cambria Math" panose="02040503050406030204" pitchFamily="18" charset="0"/>
                            </a:rPr>
                            <m:t>𝐴</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𝑃</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a:latin typeface="Cambria Math" panose="02040503050406030204" pitchFamily="18" charset="0"/>
                                </a:rPr>
                                <m:t>A</m:t>
                              </m:r>
                            </m:e>
                            <m:sub>
                              <m:r>
                                <a:rPr lang="en-US" sz="2400" i="1">
                                  <a:latin typeface="Cambria Math" panose="02040503050406030204" pitchFamily="18" charset="0"/>
                                </a:rPr>
                                <m:t>1</m:t>
                              </m:r>
                            </m:sub>
                          </m:sSub>
                          <m:r>
                            <a:rPr lang="en-US" sz="2400" b="0" i="1" smtClean="0">
                              <a:latin typeface="Cambria Math" panose="02040503050406030204" pitchFamily="18" charset="0"/>
                            </a:rPr>
                            <m:t>)</m:t>
                          </m:r>
                          <m:r>
                            <a:rPr lang="en-US" sz="2400" i="1">
                              <a:latin typeface="Cambria Math" panose="02040503050406030204" pitchFamily="18" charset="0"/>
                            </a:rPr>
                            <m:t>∗</m:t>
                          </m:r>
                          <m:r>
                            <a:rPr lang="en-US" sz="2400" i="1">
                              <a:latin typeface="Cambria Math" panose="02040503050406030204" pitchFamily="18" charset="0"/>
                            </a:rPr>
                            <m:t>𝑃</m:t>
                          </m:r>
                          <m:r>
                            <a:rPr lang="en-US" sz="2400" b="0" i="1" smtClean="0">
                              <a:latin typeface="Cambria Math" panose="02040503050406030204" pitchFamily="18" charset="0"/>
                            </a:rPr>
                            <m:t>(</m:t>
                          </m:r>
                          <m:r>
                            <a:rPr lang="en-US" sz="2400" i="1">
                              <a:latin typeface="Cambria Math" panose="02040503050406030204" pitchFamily="18" charset="0"/>
                            </a:rPr>
                            <m:t>𝐴</m:t>
                          </m:r>
                          <m:r>
                            <a:rPr lang="en-US" sz="2400" i="1">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a:latin typeface="Cambria Math" panose="02040503050406030204" pitchFamily="18" charset="0"/>
                                </a:rPr>
                                <m:t>A</m:t>
                              </m:r>
                            </m:e>
                            <m:sub>
                              <m:r>
                                <a:rPr lang="en-US" sz="2400" i="1">
                                  <a:latin typeface="Cambria Math" panose="02040503050406030204" pitchFamily="18" charset="0"/>
                                </a:rPr>
                                <m:t>1</m:t>
                              </m:r>
                            </m:sub>
                          </m:sSub>
                          <m:r>
                            <a:rPr lang="en-US" sz="2400" b="0" i="1" smtClean="0">
                              <a:latin typeface="Cambria Math" panose="02040503050406030204" pitchFamily="18" charset="0"/>
                            </a:rPr>
                            <m:t>)</m:t>
                          </m:r>
                        </m:num>
                        <m:den>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m:rPr>
                                      <m:sty m:val="p"/>
                                    </m:rPr>
                                    <a:rPr lang="en-US" sz="2400">
                                      <a:latin typeface="Cambria Math" panose="02040503050406030204" pitchFamily="18" charset="0"/>
                                    </a:rPr>
                                    <m:t>A</m:t>
                                  </m:r>
                                </m:e>
                                <m:sub>
                                  <m:r>
                                    <a:rPr lang="en-US" sz="2400" i="1">
                                      <a:latin typeface="Cambria Math" panose="02040503050406030204" pitchFamily="18" charset="0"/>
                                    </a:rPr>
                                    <m:t>1</m:t>
                                  </m:r>
                                </m:sub>
                              </m:sSub>
                            </m:e>
                          </m:d>
                          <m:r>
                            <a:rPr lang="en-US" sz="2400" i="1">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𝐴</m:t>
                              </m:r>
                            </m:e>
                            <m:e>
                              <m:sSub>
                                <m:sSubPr>
                                  <m:ctrlPr>
                                    <a:rPr lang="en-US" sz="2400" i="1">
                                      <a:latin typeface="Cambria Math" panose="02040503050406030204" pitchFamily="18" charset="0"/>
                                    </a:rPr>
                                  </m:ctrlPr>
                                </m:sSubPr>
                                <m:e>
                                  <m:r>
                                    <m:rPr>
                                      <m:sty m:val="p"/>
                                    </m:rPr>
                                    <a:rPr lang="en-US" sz="2400">
                                      <a:latin typeface="Cambria Math" panose="02040503050406030204" pitchFamily="18" charset="0"/>
                                    </a:rPr>
                                    <m:t>A</m:t>
                                  </m:r>
                                </m:e>
                                <m:sub>
                                  <m:r>
                                    <a:rPr lang="en-US" sz="2400" i="1">
                                      <a:latin typeface="Cambria Math" panose="02040503050406030204" pitchFamily="18" charset="0"/>
                                    </a:rPr>
                                    <m:t>1</m:t>
                                  </m:r>
                                </m:sub>
                              </m:sSub>
                            </m:e>
                          </m:d>
                          <m:r>
                            <a:rPr lang="en-US" sz="2400" b="0" i="1" smtClean="0">
                              <a:latin typeface="Cambria Math" panose="02040503050406030204" pitchFamily="18" charset="0"/>
                            </a:rPr>
                            <m:t>+</m:t>
                          </m:r>
                          <m:r>
                            <a:rPr lang="en-US" sz="2400" i="1">
                              <a:latin typeface="Cambria Math" panose="02040503050406030204" pitchFamily="18" charset="0"/>
                            </a:rPr>
                            <m:t>𝑃</m:t>
                          </m:r>
                          <m:r>
                            <a:rPr lang="en-US" sz="2400" i="1">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a:latin typeface="Cambria Math" panose="02040503050406030204" pitchFamily="18" charset="0"/>
                                </a:rPr>
                                <m:t>A</m:t>
                              </m:r>
                            </m:e>
                            <m:sub>
                              <m:r>
                                <a:rPr lang="en-US" sz="2400" b="0" i="1" smtClean="0">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𝐴</m:t>
                          </m:r>
                          <m:r>
                            <a:rPr lang="en-US" sz="2400" i="1">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a:latin typeface="Cambria Math" panose="02040503050406030204" pitchFamily="18" charset="0"/>
                                </a:rPr>
                                <m:t>A</m:t>
                              </m:r>
                            </m:e>
                            <m:sub>
                              <m:r>
                                <a:rPr lang="en-US" sz="2400" b="0" i="1" smtClean="0">
                                  <a:latin typeface="Cambria Math" panose="02040503050406030204" pitchFamily="18" charset="0"/>
                                </a:rPr>
                                <m:t>2</m:t>
                              </m:r>
                            </m:sub>
                          </m:sSub>
                          <m:r>
                            <a:rPr lang="en-US" sz="2400" i="1">
                              <a:latin typeface="Cambria Math" panose="02040503050406030204" pitchFamily="18" charset="0"/>
                            </a:rPr>
                            <m:t>)</m:t>
                          </m:r>
                        </m:den>
                      </m:f>
                    </m:oMath>
                  </m:oMathPara>
                </a14:m>
                <a:endParaRPr lang="en-US" sz="2400" dirty="0"/>
              </a:p>
              <a:p>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63" t="-1078"/>
                </a:stretch>
              </a:blipFill>
            </p:spPr>
            <p:txBody>
              <a:bodyPr/>
              <a:lstStyle/>
              <a:p>
                <a:r>
                  <a:rPr lang="en-US">
                    <a:noFill/>
                  </a:rPr>
                  <a:t> </a:t>
                </a:r>
              </a:p>
            </p:txBody>
          </p:sp>
        </mc:Fallback>
      </mc:AlternateContent>
    </p:spTree>
    <p:extLst>
      <p:ext uri="{BB962C8B-B14F-4D97-AF65-F5344CB8AC3E}">
        <p14:creationId xmlns:p14="http://schemas.microsoft.com/office/powerpoint/2010/main" val="38768337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3"/>
          <p:cNvSpPr>
            <a:spLocks noGrp="1"/>
          </p:cNvSpPr>
          <p:nvPr>
            <p:ph type="title"/>
          </p:nvPr>
        </p:nvSpPr>
        <p:spPr>
          <a:xfrm>
            <a:off x="457200" y="211138"/>
            <a:ext cx="8229600" cy="1143000"/>
          </a:xfrm>
        </p:spPr>
        <p:txBody>
          <a:bodyPr/>
          <a:lstStyle/>
          <a:p>
            <a:r>
              <a:rPr lang="en-US" altLang="en-US" sz="3200"/>
              <a:t>Monty Hall problem</a:t>
            </a:r>
          </a:p>
        </p:txBody>
      </p:sp>
      <p:sp>
        <p:nvSpPr>
          <p:cNvPr id="80899" name="Content Placeholder 4"/>
          <p:cNvSpPr>
            <a:spLocks noGrp="1"/>
          </p:cNvSpPr>
          <p:nvPr>
            <p:ph sz="half" idx="1"/>
          </p:nvPr>
        </p:nvSpPr>
        <p:spPr>
          <a:xfrm>
            <a:off x="425450" y="1382713"/>
            <a:ext cx="4038600" cy="2139950"/>
          </a:xfrm>
        </p:spPr>
        <p:txBody>
          <a:bodyPr/>
          <a:lstStyle/>
          <a:p>
            <a:r>
              <a:rPr lang="en-US" altLang="en-US" sz="2400" dirty="0"/>
              <a:t>Suppose you're on a game show, and you're given the choice of three doors: Behind one door is a car; behind the others, goats. </a:t>
            </a:r>
          </a:p>
        </p:txBody>
      </p:sp>
      <p:pic>
        <p:nvPicPr>
          <p:cNvPr id="80900"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648200" y="1330327"/>
            <a:ext cx="4038600" cy="2244725"/>
          </a:xfrm>
        </p:spPr>
      </p:pic>
      <p:sp>
        <p:nvSpPr>
          <p:cNvPr id="8" name="Rectangle 7"/>
          <p:cNvSpPr/>
          <p:nvPr/>
        </p:nvSpPr>
        <p:spPr>
          <a:xfrm>
            <a:off x="485777" y="3929065"/>
            <a:ext cx="8201025" cy="1938337"/>
          </a:xfrm>
          <a:prstGeom prst="rect">
            <a:avLst/>
          </a:prstGeom>
        </p:spPr>
        <p:txBody>
          <a:bodyPr>
            <a:spAutoFit/>
          </a:bodyPr>
          <a:lstStyle/>
          <a:p>
            <a:pPr marL="342900" indent="-342900">
              <a:buFont typeface="Arial" panose="020B0604020202020204" pitchFamily="34" charset="0"/>
              <a:buChar char="•"/>
              <a:defRPr/>
            </a:pPr>
            <a:r>
              <a:rPr lang="en-US" dirty="0">
                <a:solidFill>
                  <a:schemeClr val="tx1"/>
                </a:solidFill>
                <a:latin typeface="+mn-lt"/>
                <a:ea typeface="+mn-ea"/>
              </a:rPr>
              <a:t>You pick a door, say No. 1, and the host, who knows what's behind the doors, opens another door, say No. 3, which has a goat. He then says to you, "Do you want to pick door No. 2?" </a:t>
            </a:r>
          </a:p>
          <a:p>
            <a:pPr marL="342900" indent="-342900">
              <a:buFont typeface="Arial" panose="020B0604020202020204" pitchFamily="34" charset="0"/>
              <a:buChar char="•"/>
              <a:defRPr/>
            </a:pPr>
            <a:endParaRPr lang="en-US" dirty="0">
              <a:solidFill>
                <a:schemeClr val="tx1"/>
              </a:solidFill>
              <a:latin typeface="+mn-lt"/>
              <a:ea typeface="+mn-ea"/>
            </a:endParaRPr>
          </a:p>
          <a:p>
            <a:pPr marL="342900" indent="-342900">
              <a:buFont typeface="Arial" panose="020B0604020202020204" pitchFamily="34" charset="0"/>
              <a:buChar char="•"/>
              <a:defRPr/>
            </a:pPr>
            <a:r>
              <a:rPr lang="en-US" dirty="0">
                <a:solidFill>
                  <a:schemeClr val="tx1"/>
                </a:solidFill>
                <a:latin typeface="+mn-lt"/>
                <a:ea typeface="+mn-ea"/>
              </a:rPr>
              <a:t>Is it to your advantage to switch your choice?</a:t>
            </a:r>
          </a:p>
        </p:txBody>
      </p:sp>
    </p:spTree>
  </p:cSld>
  <p:clrMapOvr>
    <a:masterClrMapping/>
  </p:clrMapOvr>
</p:sld>
</file>

<file path=ppt/theme/theme1.xml><?xml version="1.0" encoding="utf-8"?>
<a:theme xmlns:a="http://schemas.openxmlformats.org/drawingml/2006/main" name="2_Section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tent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3669</TotalTime>
  <Words>3748</Words>
  <Application>Microsoft Office PowerPoint</Application>
  <PresentationFormat>On-screen Show (4:3)</PresentationFormat>
  <Paragraphs>348</Paragraphs>
  <Slides>57</Slides>
  <Notes>21</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57</vt:i4>
      </vt:variant>
    </vt:vector>
  </HeadingPairs>
  <TitlesOfParts>
    <vt:vector size="66" baseType="lpstr">
      <vt:lpstr>Arial</vt:lpstr>
      <vt:lpstr>Calibri</vt:lpstr>
      <vt:lpstr>Cambria Math</vt:lpstr>
      <vt:lpstr>Times New Roman</vt:lpstr>
      <vt:lpstr>Wingdings</vt:lpstr>
      <vt:lpstr>2_Section Theme</vt:lpstr>
      <vt:lpstr>2_Content Theme</vt:lpstr>
      <vt:lpstr>Office Theme</vt:lpstr>
      <vt:lpstr>Equation</vt:lpstr>
      <vt:lpstr>Econ 7900 Statistics for Data Science </vt:lpstr>
      <vt:lpstr>Random Phenomena</vt:lpstr>
      <vt:lpstr>Random Phenomena</vt:lpstr>
      <vt:lpstr>Long-Run Behavior of Random Outcomes</vt:lpstr>
      <vt:lpstr>Probability Quantifies Long-Run Randomness</vt:lpstr>
      <vt:lpstr>Independent Trials</vt:lpstr>
      <vt:lpstr>Finding Probabilities</vt:lpstr>
      <vt:lpstr>Types of Probability:  Relative Frequency and Subjective Probability</vt:lpstr>
      <vt:lpstr>Sample Space</vt:lpstr>
      <vt:lpstr>Events</vt:lpstr>
      <vt:lpstr>Finding Probabilities of Events</vt:lpstr>
      <vt:lpstr>SUMMARY: Probability of an Event</vt:lpstr>
      <vt:lpstr>Example: Tax Audit</vt:lpstr>
      <vt:lpstr>Example: Tax Audit</vt:lpstr>
      <vt:lpstr>Example: Tax Audit</vt:lpstr>
      <vt:lpstr>Basic Rules for Finding Probabilities About a Pair of Events</vt:lpstr>
      <vt:lpstr>The Complement of an Event</vt:lpstr>
      <vt:lpstr>Disjoint Events</vt:lpstr>
      <vt:lpstr>Intersection of Two Events</vt:lpstr>
      <vt:lpstr>Union of Two Events</vt:lpstr>
      <vt:lpstr>Addition Rule: Finding the Probability That Even A or Event B Occurs</vt:lpstr>
      <vt:lpstr>Example: Probability of the Union of Two Events</vt:lpstr>
      <vt:lpstr>Multiplication Rule: Finding the Probability That Events A and B Both Occur</vt:lpstr>
      <vt:lpstr>Example: Guessing yet Passing a Pop Quiz</vt:lpstr>
      <vt:lpstr>PowerPoint Presentation</vt:lpstr>
      <vt:lpstr>PowerPoint Presentation</vt:lpstr>
      <vt:lpstr>Events Often Are Not Independent</vt:lpstr>
      <vt:lpstr>Example: Events Often Are Not Independent</vt:lpstr>
      <vt:lpstr>PowerPoint Presentation</vt:lpstr>
      <vt:lpstr>Finding the Conditional Probability of an Event</vt:lpstr>
      <vt:lpstr>PowerPoint Presentation</vt:lpstr>
      <vt:lpstr>Example: Conditional Probabilities on Audited Given the Income Level</vt:lpstr>
      <vt:lpstr>Example: Conditional Probabilities on Audited Given the Income Level</vt:lpstr>
      <vt:lpstr>PowerPoint Presentation</vt:lpstr>
      <vt:lpstr>PowerPoint Presentation</vt:lpstr>
      <vt:lpstr>PowerPoint Presentation</vt:lpstr>
      <vt:lpstr>PowerPoint Presentation</vt:lpstr>
      <vt:lpstr>Multiplication Rule for Finding P(A and B)</vt:lpstr>
      <vt:lpstr>Example: Double Faults in Tennis</vt:lpstr>
      <vt:lpstr>PowerPoint Presentation</vt:lpstr>
      <vt:lpstr>Independent Events Defined Using Conditional Probabilities</vt:lpstr>
      <vt:lpstr>SUMMARY: Checking for Independence</vt:lpstr>
      <vt:lpstr>Example: Down Syndrome Again </vt:lpstr>
      <vt:lpstr>Example: Down Syndrome Again </vt:lpstr>
      <vt:lpstr>Is a Coincidence Truly an Unusual Event?</vt:lpstr>
      <vt:lpstr>Example: Matching Birthdays</vt:lpstr>
      <vt:lpstr>PowerPoint Presentation</vt:lpstr>
      <vt:lpstr>Probability Model</vt:lpstr>
      <vt:lpstr>PowerPoint Presentation</vt:lpstr>
      <vt:lpstr>Probabilities and Diagnostic Testing</vt:lpstr>
      <vt:lpstr>Example: Random Drug Testing of Air Traffic Controllers</vt:lpstr>
      <vt:lpstr>PowerPoint Presentation</vt:lpstr>
      <vt:lpstr>Bayes' rule</vt:lpstr>
      <vt:lpstr>Bayes' rule</vt:lpstr>
      <vt:lpstr>Bayes' rule - Example</vt:lpstr>
      <vt:lpstr>Bayes' rule - Example</vt:lpstr>
      <vt:lpstr>Monty Hall problem</vt:lpstr>
    </vt:vector>
  </TitlesOfParts>
  <Company>©  2017, 2013 and 2009 Pearson Education, Inc. All rights reserved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subject>Statistics The Art and Science of Learning from Data  4th ed</dc:subject>
  <dc:creator>Agresti/Franklin/Klingenberg</dc:creator>
  <cp:lastModifiedBy>Kang Hua CAO</cp:lastModifiedBy>
  <cp:revision>361</cp:revision>
  <cp:lastPrinted>2019-09-17T06:20:55Z</cp:lastPrinted>
  <dcterms:created xsi:type="dcterms:W3CDTF">2001-09-30T23:03:25Z</dcterms:created>
  <dcterms:modified xsi:type="dcterms:W3CDTF">2022-09-23T10:45:35Z</dcterms:modified>
</cp:coreProperties>
</file>