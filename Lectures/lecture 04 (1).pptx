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52" r:id="rId1"/>
  </p:sldMasterIdLst>
  <p:notesMasterIdLst>
    <p:notesMasterId r:id="rId92"/>
  </p:notesMasterIdLst>
  <p:handoutMasterIdLst>
    <p:handoutMasterId r:id="rId93"/>
  </p:handoutMasterIdLst>
  <p:sldIdLst>
    <p:sldId id="390" r:id="rId2"/>
    <p:sldId id="392" r:id="rId3"/>
    <p:sldId id="393" r:id="rId4"/>
    <p:sldId id="290" r:id="rId5"/>
    <p:sldId id="387" r:id="rId6"/>
    <p:sldId id="291" r:id="rId7"/>
    <p:sldId id="293" r:id="rId8"/>
    <p:sldId id="294" r:id="rId9"/>
    <p:sldId id="295" r:id="rId10"/>
    <p:sldId id="296" r:id="rId11"/>
    <p:sldId id="297" r:id="rId12"/>
    <p:sldId id="298" r:id="rId13"/>
    <p:sldId id="299" r:id="rId14"/>
    <p:sldId id="300"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8" r:id="rId31"/>
    <p:sldId id="320" r:id="rId32"/>
    <p:sldId id="321" r:id="rId33"/>
    <p:sldId id="323" r:id="rId34"/>
    <p:sldId id="324" r:id="rId35"/>
    <p:sldId id="325" r:id="rId36"/>
    <p:sldId id="326" r:id="rId37"/>
    <p:sldId id="327" r:id="rId38"/>
    <p:sldId id="328" r:id="rId39"/>
    <p:sldId id="329" r:id="rId40"/>
    <p:sldId id="330" r:id="rId41"/>
    <p:sldId id="331" r:id="rId42"/>
    <p:sldId id="332" r:id="rId43"/>
    <p:sldId id="333" r:id="rId44"/>
    <p:sldId id="391" r:id="rId45"/>
    <p:sldId id="336" r:id="rId46"/>
    <p:sldId id="337" r:id="rId47"/>
    <p:sldId id="338" r:id="rId48"/>
    <p:sldId id="388" r:id="rId49"/>
    <p:sldId id="389" r:id="rId50"/>
    <p:sldId id="339" r:id="rId51"/>
    <p:sldId id="340" r:id="rId52"/>
    <p:sldId id="341" r:id="rId53"/>
    <p:sldId id="342" r:id="rId54"/>
    <p:sldId id="343" r:id="rId55"/>
    <p:sldId id="344" r:id="rId56"/>
    <p:sldId id="345" r:id="rId57"/>
    <p:sldId id="346" r:id="rId58"/>
    <p:sldId id="347" r:id="rId59"/>
    <p:sldId id="348" r:id="rId60"/>
    <p:sldId id="349" r:id="rId61"/>
    <p:sldId id="350" r:id="rId62"/>
    <p:sldId id="351" r:id="rId63"/>
    <p:sldId id="352" r:id="rId64"/>
    <p:sldId id="353" r:id="rId65"/>
    <p:sldId id="354" r:id="rId66"/>
    <p:sldId id="355" r:id="rId67"/>
    <p:sldId id="357" r:id="rId68"/>
    <p:sldId id="358" r:id="rId69"/>
    <p:sldId id="359" r:id="rId70"/>
    <p:sldId id="361" r:id="rId71"/>
    <p:sldId id="364" r:id="rId72"/>
    <p:sldId id="365" r:id="rId73"/>
    <p:sldId id="367" r:id="rId74"/>
    <p:sldId id="368" r:id="rId75"/>
    <p:sldId id="369" r:id="rId76"/>
    <p:sldId id="370" r:id="rId77"/>
    <p:sldId id="371" r:id="rId78"/>
    <p:sldId id="373" r:id="rId79"/>
    <p:sldId id="374" r:id="rId80"/>
    <p:sldId id="375" r:id="rId81"/>
    <p:sldId id="376" r:id="rId82"/>
    <p:sldId id="377" r:id="rId83"/>
    <p:sldId id="378" r:id="rId84"/>
    <p:sldId id="379" r:id="rId85"/>
    <p:sldId id="381" r:id="rId86"/>
    <p:sldId id="382" r:id="rId87"/>
    <p:sldId id="383" r:id="rId88"/>
    <p:sldId id="384" r:id="rId89"/>
    <p:sldId id="385" r:id="rId90"/>
    <p:sldId id="386" r:id="rId91"/>
  </p:sldIdLst>
  <p:sldSz cx="9144000" cy="6858000" type="screen4x3"/>
  <p:notesSz cx="6797675" cy="9928225"/>
  <p:defaultTextStyle>
    <a:defPPr>
      <a:defRPr lang="en-GB"/>
    </a:defPPr>
    <a:lvl1pPr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5pPr>
    <a:lvl6pPr marL="22860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6pPr>
    <a:lvl7pPr marL="27432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7pPr>
    <a:lvl8pPr marL="32004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8pPr>
    <a:lvl9pPr marL="36576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495">
          <p15:clr>
            <a:srgbClr val="A4A3A4"/>
          </p15:clr>
        </p15:guide>
        <p15:guide id="2" pos="2880">
          <p15:clr>
            <a:srgbClr val="A4A3A4"/>
          </p15:clr>
        </p15:guide>
      </p15:sldGuideLst>
    </p:ext>
    <p:ext uri="{2D200454-40CA-4A62-9FC3-DE9A4176ACB9}">
      <p15:notesGuideLst xmlns:p15="http://schemas.microsoft.com/office/powerpoint/2012/main">
        <p15:guide id="1" orient="horz" pos="3076" userDrawn="1">
          <p15:clr>
            <a:srgbClr val="A4A3A4"/>
          </p15:clr>
        </p15:guide>
        <p15:guide id="2" pos="209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ch4mathed" initials="" lastIdx="6" clrIdx="0"/>
  <p:cmAuthor id="2" name="Pam Trim" initials=""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4636B9-0162-4742-933B-E62345BBEF0C}" v="3" dt="2022-09-23T10:23:07.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2" autoAdjust="0"/>
    <p:restoredTop sz="93052" autoAdjust="0"/>
  </p:normalViewPr>
  <p:slideViewPr>
    <p:cSldViewPr>
      <p:cViewPr varScale="1">
        <p:scale>
          <a:sx n="102" d="100"/>
          <a:sy n="102" d="100"/>
        </p:scale>
        <p:origin x="1800" y="114"/>
      </p:cViewPr>
      <p:guideLst>
        <p:guide orient="horz" pos="495"/>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83" d="100"/>
          <a:sy n="83" d="100"/>
        </p:scale>
        <p:origin x="3810" y="108"/>
      </p:cViewPr>
      <p:guideLst>
        <p:guide orient="horz" pos="3076"/>
        <p:guide pos="2095"/>
      </p:guideLst>
    </p:cSldViewPr>
  </p:notesViewPr>
  <p:gridSpacing cx="77724" cy="7772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ommentAuthors" Target="commentAuthors.xml"/><Relationship Id="rId9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handoutMaster" Target="handoutMasters/handoutMaster1.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g Hua CAO" userId="80a060e7-d5a6-4feb-883e-c28f76a39cea" providerId="ADAL" clId="{C04636B9-0162-4742-933B-E62345BBEF0C}"/>
    <pc:docChg chg="undo custSel addSld delSld modSld sldOrd">
      <pc:chgData name="Kang Hua CAO" userId="80a060e7-d5a6-4feb-883e-c28f76a39cea" providerId="ADAL" clId="{C04636B9-0162-4742-933B-E62345BBEF0C}" dt="2022-09-28T04:49:45.079" v="50" actId="20577"/>
      <pc:docMkLst>
        <pc:docMk/>
      </pc:docMkLst>
      <pc:sldChg chg="modSp mod">
        <pc:chgData name="Kang Hua CAO" userId="80a060e7-d5a6-4feb-883e-c28f76a39cea" providerId="ADAL" clId="{C04636B9-0162-4742-933B-E62345BBEF0C}" dt="2022-09-23T10:24:15.533" v="49" actId="33524"/>
        <pc:sldMkLst>
          <pc:docMk/>
          <pc:sldMk cId="0" sldId="295"/>
        </pc:sldMkLst>
        <pc:spChg chg="mod">
          <ac:chgData name="Kang Hua CAO" userId="80a060e7-d5a6-4feb-883e-c28f76a39cea" providerId="ADAL" clId="{C04636B9-0162-4742-933B-E62345BBEF0C}" dt="2022-09-23T10:24:15.533" v="49" actId="33524"/>
          <ac:spMkLst>
            <pc:docMk/>
            <pc:sldMk cId="0" sldId="295"/>
            <ac:spMk id="2" creationId="{00000000-0000-0000-0000-000000000000}"/>
          </ac:spMkLst>
        </pc:spChg>
      </pc:sldChg>
      <pc:sldChg chg="modSp mod">
        <pc:chgData name="Kang Hua CAO" userId="80a060e7-d5a6-4feb-883e-c28f76a39cea" providerId="ADAL" clId="{C04636B9-0162-4742-933B-E62345BBEF0C}" dt="2022-09-28T04:49:45.079" v="50" actId="20577"/>
        <pc:sldMkLst>
          <pc:docMk/>
          <pc:sldMk cId="808937435" sldId="390"/>
        </pc:sldMkLst>
        <pc:spChg chg="mod">
          <ac:chgData name="Kang Hua CAO" userId="80a060e7-d5a6-4feb-883e-c28f76a39cea" providerId="ADAL" clId="{C04636B9-0162-4742-933B-E62345BBEF0C}" dt="2022-09-28T04:49:45.079" v="50" actId="20577"/>
          <ac:spMkLst>
            <pc:docMk/>
            <pc:sldMk cId="808937435" sldId="390"/>
            <ac:spMk id="3075" creationId="{00000000-0000-0000-0000-000000000000}"/>
          </ac:spMkLst>
        </pc:spChg>
      </pc:sldChg>
      <pc:sldChg chg="new del ord">
        <pc:chgData name="Kang Hua CAO" userId="80a060e7-d5a6-4feb-883e-c28f76a39cea" providerId="ADAL" clId="{C04636B9-0162-4742-933B-E62345BBEF0C}" dt="2022-09-23T07:16:02.853" v="4" actId="680"/>
        <pc:sldMkLst>
          <pc:docMk/>
          <pc:sldMk cId="270129951" sldId="392"/>
        </pc:sldMkLst>
      </pc:sldChg>
      <pc:sldChg chg="modSp add mod ord modNotesTx">
        <pc:chgData name="Kang Hua CAO" userId="80a060e7-d5a6-4feb-883e-c28f76a39cea" providerId="ADAL" clId="{C04636B9-0162-4742-933B-E62345BBEF0C}" dt="2022-09-23T10:23:07.110" v="48" actId="14100"/>
        <pc:sldMkLst>
          <pc:docMk/>
          <pc:sldMk cId="3986796767" sldId="392"/>
        </pc:sldMkLst>
        <pc:spChg chg="mod">
          <ac:chgData name="Kang Hua CAO" userId="80a060e7-d5a6-4feb-883e-c28f76a39cea" providerId="ADAL" clId="{C04636B9-0162-4742-933B-E62345BBEF0C}" dt="2022-09-23T07:16:18.532" v="10" actId="20577"/>
          <ac:spMkLst>
            <pc:docMk/>
            <pc:sldMk cId="3986796767" sldId="392"/>
            <ac:spMk id="6146" creationId="{00000000-0000-0000-0000-000000000000}"/>
          </ac:spMkLst>
        </pc:spChg>
        <pc:spChg chg="mod">
          <ac:chgData name="Kang Hua CAO" userId="80a060e7-d5a6-4feb-883e-c28f76a39cea" providerId="ADAL" clId="{C04636B9-0162-4742-933B-E62345BBEF0C}" dt="2022-09-23T10:23:07.110" v="48" actId="14100"/>
          <ac:spMkLst>
            <pc:docMk/>
            <pc:sldMk cId="3986796767" sldId="392"/>
            <ac:spMk id="6147" creationId="{00000000-0000-0000-0000-000000000000}"/>
          </ac:spMkLst>
        </pc:spChg>
      </pc:sldChg>
      <pc:sldChg chg="addSp delSp modSp add mod modNotesTx">
        <pc:chgData name="Kang Hua CAO" userId="80a060e7-d5a6-4feb-883e-c28f76a39cea" providerId="ADAL" clId="{C04636B9-0162-4742-933B-E62345BBEF0C}" dt="2022-09-23T07:18:02.706" v="47"/>
        <pc:sldMkLst>
          <pc:docMk/>
          <pc:sldMk cId="1376627710" sldId="393"/>
        </pc:sldMkLst>
        <pc:spChg chg="del">
          <ac:chgData name="Kang Hua CAO" userId="80a060e7-d5a6-4feb-883e-c28f76a39cea" providerId="ADAL" clId="{C04636B9-0162-4742-933B-E62345BBEF0C}" dt="2022-09-23T07:17:39.342" v="25" actId="21"/>
          <ac:spMkLst>
            <pc:docMk/>
            <pc:sldMk cId="1376627710" sldId="393"/>
            <ac:spMk id="6147" creationId="{00000000-0000-0000-0000-000000000000}"/>
          </ac:spMkLst>
        </pc:spChg>
        <pc:picChg chg="add mod">
          <ac:chgData name="Kang Hua CAO" userId="80a060e7-d5a6-4feb-883e-c28f76a39cea" providerId="ADAL" clId="{C04636B9-0162-4742-933B-E62345BBEF0C}" dt="2022-09-23T07:17:43.080" v="27" actId="14100"/>
          <ac:picMkLst>
            <pc:docMk/>
            <pc:sldMk cId="1376627710" sldId="393"/>
            <ac:picMk id="2" creationId="{AB912B53-DA28-EFC9-172E-95EA5640F96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403" cy="49853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733" y="0"/>
            <a:ext cx="2945402" cy="498531"/>
          </a:xfrm>
          <a:prstGeom prst="rect">
            <a:avLst/>
          </a:prstGeom>
        </p:spPr>
        <p:txBody>
          <a:bodyPr vert="horz" lIns="91440" tIns="45720" rIns="91440" bIns="45720" rtlCol="0"/>
          <a:lstStyle>
            <a:lvl1pPr algn="r">
              <a:defRPr sz="1200"/>
            </a:lvl1pPr>
          </a:lstStyle>
          <a:p>
            <a:fld id="{8DB6657C-BCCA-46E0-AD79-50108D07F527}" type="datetimeFigureOut">
              <a:rPr lang="en-US" smtClean="0"/>
              <a:t>9/28/2022</a:t>
            </a:fld>
            <a:endParaRPr lang="en-US"/>
          </a:p>
        </p:txBody>
      </p:sp>
      <p:sp>
        <p:nvSpPr>
          <p:cNvPr id="4" name="Footer Placeholder 3"/>
          <p:cNvSpPr>
            <a:spLocks noGrp="1"/>
          </p:cNvSpPr>
          <p:nvPr>
            <p:ph type="ftr" sz="quarter" idx="2"/>
          </p:nvPr>
        </p:nvSpPr>
        <p:spPr>
          <a:xfrm>
            <a:off x="0" y="9429695"/>
            <a:ext cx="2945403" cy="49853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733" y="9429695"/>
            <a:ext cx="2945402" cy="498531"/>
          </a:xfrm>
          <a:prstGeom prst="rect">
            <a:avLst/>
          </a:prstGeom>
        </p:spPr>
        <p:txBody>
          <a:bodyPr vert="horz" lIns="91440" tIns="45720" rIns="91440" bIns="45720" rtlCol="0" anchor="b"/>
          <a:lstStyle>
            <a:lvl1pPr algn="r">
              <a:defRPr sz="1200"/>
            </a:lvl1pPr>
          </a:lstStyle>
          <a:p>
            <a:fld id="{E7250F57-EEDD-41E6-9233-5721304D6093}" type="slidenum">
              <a:rPr lang="en-US" smtClean="0"/>
              <a:t>‹#›</a:t>
            </a:fld>
            <a:endParaRPr lang="en-US"/>
          </a:p>
        </p:txBody>
      </p:sp>
    </p:spTree>
    <p:extLst>
      <p:ext uri="{BB962C8B-B14F-4D97-AF65-F5344CB8AC3E}">
        <p14:creationId xmlns:p14="http://schemas.microsoft.com/office/powerpoint/2010/main" val="133389709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AutoShape 1"/>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5" name="AutoShape 2"/>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6" name="AutoShape 3"/>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7" name="AutoShape 4"/>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78" name="AutoShape 5"/>
          <p:cNvSpPr>
            <a:spLocks noChangeArrowheads="1"/>
          </p:cNvSpPr>
          <p:nvPr/>
        </p:nvSpPr>
        <p:spPr bwMode="auto">
          <a:xfrm>
            <a:off x="0" y="1"/>
            <a:ext cx="6797675" cy="9928225"/>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302653998"/>
      </p:ext>
    </p:extLst>
  </p:cSld>
  <p:clrMap bg1="lt1" tx1="dk1" bg2="lt2" tx2="dk2" accent1="accent1" accent2="accent2" accent3="accent3" accent4="accent4" accent5="accent5" accent6="accent6" hlink="hlink" folHlink="folHlink"/>
  <p:hf sldNum="0" hdr="0" ftr="0" dt="0"/>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71B5D01-075E-4F13-AC4D-964FB8B5D978}" type="slidenum">
              <a:rPr lang="en-US" altLang="en-US">
                <a:cs typeface="Arial" panose="020B0604020202020204" pitchFamily="34" charset="0"/>
              </a:rPr>
              <a:pPr algn="r" eaLnBrk="1" hangingPunct="1">
                <a:spcBef>
                  <a:spcPct val="0"/>
                </a:spcBef>
                <a:buClrTx/>
                <a:buSzPct val="45000"/>
                <a:buFontTx/>
                <a:buNone/>
              </a:pPr>
              <a:t>2</a:t>
            </a:fld>
            <a:endParaRPr lang="en-US" altLang="en-US">
              <a:cs typeface="Arial" panose="020B0604020202020204" pitchFamily="34" charset="0"/>
            </a:endParaRPr>
          </a:p>
        </p:txBody>
      </p:sp>
      <p:sp>
        <p:nvSpPr>
          <p:cNvPr id="717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p:cNvSpPr>
            <a:spLocks noGrp="1" noChangeArrowheads="1"/>
          </p:cNvSpPr>
          <p:nvPr>
            <p:ph type="body" idx="1"/>
          </p:nvPr>
        </p:nvSpPr>
        <p:spPr>
          <a:xfrm>
            <a:off x="680537" y="4717390"/>
            <a:ext cx="5438140" cy="4463038"/>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a:latin typeface="Times New Roman" panose="02020603050405020304" pitchFamily="18" charset="0"/>
              </a:rPr>
              <a:t>Source: Wikipedia</a:t>
            </a:r>
          </a:p>
        </p:txBody>
      </p:sp>
    </p:spTree>
    <p:extLst>
      <p:ext uri="{BB962C8B-B14F-4D97-AF65-F5344CB8AC3E}">
        <p14:creationId xmlns:p14="http://schemas.microsoft.com/office/powerpoint/2010/main" val="1773994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71B5D01-075E-4F13-AC4D-964FB8B5D978}" type="slidenum">
              <a:rPr lang="en-US" altLang="en-US">
                <a:cs typeface="Arial" panose="020B0604020202020204" pitchFamily="34" charset="0"/>
              </a:rPr>
              <a:pPr algn="r" eaLnBrk="1" hangingPunct="1">
                <a:spcBef>
                  <a:spcPct val="0"/>
                </a:spcBef>
                <a:buClrTx/>
                <a:buSzPct val="45000"/>
                <a:buFontTx/>
                <a:buNone/>
              </a:pPr>
              <a:t>3</a:t>
            </a:fld>
            <a:endParaRPr lang="en-US" altLang="en-US">
              <a:cs typeface="Arial" panose="020B0604020202020204" pitchFamily="34" charset="0"/>
            </a:endParaRPr>
          </a:p>
        </p:txBody>
      </p:sp>
      <p:sp>
        <p:nvSpPr>
          <p:cNvPr id="717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p:cNvSpPr>
            <a:spLocks noGrp="1" noChangeArrowheads="1"/>
          </p:cNvSpPr>
          <p:nvPr>
            <p:ph type="body" idx="1"/>
          </p:nvPr>
        </p:nvSpPr>
        <p:spPr>
          <a:xfrm>
            <a:off x="680537" y="4717390"/>
            <a:ext cx="5438140" cy="4463038"/>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449263"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tabLst/>
              <a:defRPr/>
            </a:pPr>
            <a:r>
              <a:rPr lang="en-US" altLang="en-US" dirty="0">
                <a:latin typeface="Times New Roman" panose="02020603050405020304" pitchFamily="18" charset="0"/>
              </a:rPr>
              <a:t>Source: Wikipedia</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927067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71B5D01-075E-4F13-AC4D-964FB8B5D978}" type="slidenum">
              <a:rPr lang="en-US" altLang="en-US">
                <a:cs typeface="Arial" panose="020B0604020202020204" pitchFamily="34" charset="0"/>
              </a:rPr>
              <a:pPr algn="r" eaLnBrk="1" hangingPunct="1">
                <a:spcBef>
                  <a:spcPct val="0"/>
                </a:spcBef>
                <a:buClrTx/>
                <a:buSzPct val="45000"/>
                <a:buFontTx/>
                <a:buNone/>
              </a:pPr>
              <a:t>4</a:t>
            </a:fld>
            <a:endParaRPr lang="en-US" altLang="en-US">
              <a:cs typeface="Arial" panose="020B0604020202020204" pitchFamily="34" charset="0"/>
            </a:endParaRPr>
          </a:p>
        </p:txBody>
      </p:sp>
      <p:sp>
        <p:nvSpPr>
          <p:cNvPr id="717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p:cNvSpPr>
            <a:spLocks noGrp="1" noChangeArrowheads="1"/>
          </p:cNvSpPr>
          <p:nvPr>
            <p:ph type="body" idx="1"/>
          </p:nvPr>
        </p:nvSpPr>
        <p:spPr>
          <a:xfrm>
            <a:off x="680537" y="4717390"/>
            <a:ext cx="5438140" cy="4463038"/>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1883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D320226-2066-4FF2-8366-8B4E0BC201BF}" type="slidenum">
              <a:rPr lang="en-US" altLang="en-US">
                <a:cs typeface="Arial" panose="020B0604020202020204" pitchFamily="34" charset="0"/>
              </a:rPr>
              <a:pPr algn="r" eaLnBrk="1" hangingPunct="1">
                <a:spcBef>
                  <a:spcPct val="0"/>
                </a:spcBef>
                <a:buClrTx/>
                <a:buSzPct val="45000"/>
                <a:buFontTx/>
                <a:buNone/>
              </a:pPr>
              <a:t>5</a:t>
            </a:fld>
            <a:endParaRPr lang="en-US" altLang="en-US">
              <a:cs typeface="Arial" panose="020B0604020202020204" pitchFamily="34" charset="0"/>
            </a:endParaRPr>
          </a:p>
        </p:txBody>
      </p:sp>
      <p:sp>
        <p:nvSpPr>
          <p:cNvPr id="921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p:cNvSpPr>
            <a:spLocks noGrp="1" noChangeArrowheads="1"/>
          </p:cNvSpPr>
          <p:nvPr>
            <p:ph type="body" idx="1"/>
          </p:nvPr>
        </p:nvSpPr>
        <p:spPr>
          <a:xfrm>
            <a:off x="680537" y="4717390"/>
            <a:ext cx="5438140" cy="4463038"/>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01955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E8246D4-94DF-441B-85CF-5732F428BFC1}" type="slidenum">
              <a:rPr lang="en-US" altLang="en-US">
                <a:cs typeface="Arial" panose="020B0604020202020204" pitchFamily="34" charset="0"/>
              </a:rPr>
              <a:pPr algn="r" eaLnBrk="1" hangingPunct="1">
                <a:spcBef>
                  <a:spcPct val="0"/>
                </a:spcBef>
                <a:buClrTx/>
                <a:buSzPct val="45000"/>
                <a:buFontTx/>
                <a:buNone/>
              </a:pPr>
              <a:t>6</a:t>
            </a:fld>
            <a:endParaRPr lang="en-US" altLang="en-US">
              <a:cs typeface="Arial" panose="020B0604020202020204" pitchFamily="34" charset="0"/>
            </a:endParaRPr>
          </a:p>
        </p:txBody>
      </p:sp>
      <p:sp>
        <p:nvSpPr>
          <p:cNvPr id="1126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54334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ADA660B-01A0-45DB-9CCC-83D3EEC85B59}" type="slidenum">
              <a:rPr lang="en-US" altLang="en-US">
                <a:cs typeface="Arial" panose="020B0604020202020204" pitchFamily="34" charset="0"/>
              </a:rPr>
              <a:pPr algn="r" eaLnBrk="1" hangingPunct="1">
                <a:spcBef>
                  <a:spcPct val="0"/>
                </a:spcBef>
                <a:buClrTx/>
                <a:buSzPct val="45000"/>
                <a:buFontTx/>
                <a:buNone/>
              </a:pPr>
              <a:t>7</a:t>
            </a:fld>
            <a:endParaRPr lang="en-US" altLang="en-US">
              <a:cs typeface="Arial" panose="020B0604020202020204" pitchFamily="34" charset="0"/>
            </a:endParaRPr>
          </a:p>
        </p:txBody>
      </p:sp>
      <p:sp>
        <p:nvSpPr>
          <p:cNvPr id="1331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0153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BEA4ACB-A996-4338-AFA6-90CA87C6AB00}" type="slidenum">
              <a:rPr lang="en-US" altLang="en-US">
                <a:cs typeface="Arial" panose="020B0604020202020204" pitchFamily="34" charset="0"/>
              </a:rPr>
              <a:pPr algn="r" eaLnBrk="1" hangingPunct="1">
                <a:spcBef>
                  <a:spcPct val="0"/>
                </a:spcBef>
                <a:buClrTx/>
                <a:buSzPct val="45000"/>
                <a:buFontTx/>
                <a:buNone/>
              </a:pPr>
              <a:t>8</a:t>
            </a:fld>
            <a:endParaRPr lang="en-US" altLang="en-US">
              <a:cs typeface="Arial" panose="020B0604020202020204" pitchFamily="34" charset="0"/>
            </a:endParaRPr>
          </a:p>
        </p:txBody>
      </p:sp>
      <p:sp>
        <p:nvSpPr>
          <p:cNvPr id="1536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1782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8DC5990-B478-4375-99A4-A904A6FCB2F5}" type="slidenum">
              <a:rPr lang="en-US" altLang="en-US">
                <a:cs typeface="Arial" panose="020B0604020202020204" pitchFamily="34" charset="0"/>
              </a:rPr>
              <a:pPr algn="r" eaLnBrk="1" hangingPunct="1">
                <a:spcBef>
                  <a:spcPct val="0"/>
                </a:spcBef>
                <a:buClrTx/>
                <a:buSzPct val="45000"/>
                <a:buFontTx/>
                <a:buNone/>
              </a:pPr>
              <a:t>9</a:t>
            </a:fld>
            <a:endParaRPr lang="en-US" altLang="en-US">
              <a:cs typeface="Arial" panose="020B0604020202020204" pitchFamily="34" charset="0"/>
            </a:endParaRPr>
          </a:p>
        </p:txBody>
      </p:sp>
      <p:sp>
        <p:nvSpPr>
          <p:cNvPr id="1741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5300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E704A4F4-0F68-4641-B063-7E1067487754}" type="slidenum">
              <a:rPr lang="en-US" altLang="en-US">
                <a:cs typeface="Arial" panose="020B0604020202020204" pitchFamily="34" charset="0"/>
              </a:rPr>
              <a:pPr algn="r" eaLnBrk="1" hangingPunct="1">
                <a:spcBef>
                  <a:spcPct val="0"/>
                </a:spcBef>
                <a:buClrTx/>
                <a:buSzPct val="45000"/>
                <a:buFontTx/>
                <a:buNone/>
              </a:pPr>
              <a:t>10</a:t>
            </a:fld>
            <a:endParaRPr lang="en-US" altLang="en-US">
              <a:cs typeface="Arial" panose="020B0604020202020204" pitchFamily="34" charset="0"/>
            </a:endParaRPr>
          </a:p>
        </p:txBody>
      </p:sp>
      <p:sp>
        <p:nvSpPr>
          <p:cNvPr id="1945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6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00358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3BA6614-A169-4D01-8DBB-2D0230A64989}" type="slidenum">
              <a:rPr lang="en-US" altLang="en-US">
                <a:cs typeface="Arial" panose="020B0604020202020204" pitchFamily="34" charset="0"/>
              </a:rPr>
              <a:pPr algn="r" eaLnBrk="1" hangingPunct="1">
                <a:spcBef>
                  <a:spcPct val="0"/>
                </a:spcBef>
                <a:buClrTx/>
                <a:buSzPct val="45000"/>
                <a:buFontTx/>
                <a:buNone/>
              </a:pPr>
              <a:t>11</a:t>
            </a:fld>
            <a:endParaRPr lang="en-US" altLang="en-US">
              <a:cs typeface="Arial" panose="020B0604020202020204" pitchFamily="34" charset="0"/>
            </a:endParaRPr>
          </a:p>
        </p:txBody>
      </p:sp>
      <p:sp>
        <p:nvSpPr>
          <p:cNvPr id="2150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4243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4020CEB-F335-47D7-B4D4-A484A18BA429}" type="slidenum">
              <a:rPr lang="en-US" altLang="en-US">
                <a:cs typeface="Arial" panose="020B0604020202020204" pitchFamily="34" charset="0"/>
              </a:rPr>
              <a:pPr algn="r" eaLnBrk="1" hangingPunct="1">
                <a:spcBef>
                  <a:spcPct val="0"/>
                </a:spcBef>
                <a:buClrTx/>
                <a:buSzPct val="45000"/>
                <a:buFontTx/>
                <a:buNone/>
              </a:pPr>
              <a:t>12</a:t>
            </a:fld>
            <a:endParaRPr lang="en-US" altLang="en-US">
              <a:cs typeface="Arial" panose="020B0604020202020204" pitchFamily="34" charset="0"/>
            </a:endParaRPr>
          </a:p>
        </p:txBody>
      </p:sp>
      <p:sp>
        <p:nvSpPr>
          <p:cNvPr id="2355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37278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8188D11-4B15-4D4F-98EB-61181B615733}" type="slidenum">
              <a:rPr lang="en-US" altLang="en-US">
                <a:cs typeface="Arial" panose="020B0604020202020204" pitchFamily="34" charset="0"/>
              </a:rPr>
              <a:pPr algn="r" eaLnBrk="1" hangingPunct="1">
                <a:spcBef>
                  <a:spcPct val="0"/>
                </a:spcBef>
                <a:buClrTx/>
                <a:buSzPct val="45000"/>
                <a:buFontTx/>
                <a:buNone/>
              </a:pPr>
              <a:t>13</a:t>
            </a:fld>
            <a:endParaRPr lang="en-US" altLang="en-US">
              <a:cs typeface="Arial" panose="020B0604020202020204" pitchFamily="34" charset="0"/>
            </a:endParaRPr>
          </a:p>
        </p:txBody>
      </p:sp>
      <p:sp>
        <p:nvSpPr>
          <p:cNvPr id="2560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97679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0EAC7D8-0101-4B56-BAE9-360BF78FE43A}" type="slidenum">
              <a:rPr lang="en-US" altLang="en-US">
                <a:cs typeface="Arial" panose="020B0604020202020204" pitchFamily="34" charset="0"/>
              </a:rPr>
              <a:pPr algn="r" eaLnBrk="1" hangingPunct="1">
                <a:spcBef>
                  <a:spcPct val="0"/>
                </a:spcBef>
                <a:buClrTx/>
                <a:buSzPct val="45000"/>
                <a:buFontTx/>
                <a:buNone/>
              </a:pPr>
              <a:t>14</a:t>
            </a:fld>
            <a:endParaRPr lang="en-US" altLang="en-US">
              <a:cs typeface="Arial" panose="020B0604020202020204" pitchFamily="34" charset="0"/>
            </a:endParaRPr>
          </a:p>
        </p:txBody>
      </p:sp>
      <p:sp>
        <p:nvSpPr>
          <p:cNvPr id="2765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679619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D6EB2E6-9228-4035-B900-8435C375DD56}" type="slidenum">
              <a:rPr lang="en-US" altLang="en-US">
                <a:cs typeface="Arial" panose="020B0604020202020204" pitchFamily="34" charset="0"/>
              </a:rPr>
              <a:pPr algn="r" eaLnBrk="1" hangingPunct="1">
                <a:spcBef>
                  <a:spcPct val="0"/>
                </a:spcBef>
                <a:buClrTx/>
                <a:buSzPct val="45000"/>
                <a:buFontTx/>
                <a:buNone/>
              </a:pPr>
              <a:t>15</a:t>
            </a:fld>
            <a:endParaRPr lang="en-US" altLang="en-US">
              <a:cs typeface="Arial" panose="020B0604020202020204" pitchFamily="34" charset="0"/>
            </a:endParaRPr>
          </a:p>
        </p:txBody>
      </p:sp>
      <p:sp>
        <p:nvSpPr>
          <p:cNvPr id="3174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59549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D265B98-5C4A-4325-B451-F486E6CEE235}" type="slidenum">
              <a:rPr lang="en-US" altLang="en-US">
                <a:cs typeface="Arial" panose="020B0604020202020204" pitchFamily="34" charset="0"/>
              </a:rPr>
              <a:pPr algn="r" eaLnBrk="1" hangingPunct="1">
                <a:spcBef>
                  <a:spcPct val="0"/>
                </a:spcBef>
                <a:buClrTx/>
                <a:buSzPct val="45000"/>
                <a:buFontTx/>
                <a:buNone/>
              </a:pPr>
              <a:t>16</a:t>
            </a:fld>
            <a:endParaRPr lang="en-US" altLang="en-US">
              <a:cs typeface="Arial" panose="020B0604020202020204" pitchFamily="34" charset="0"/>
            </a:endParaRPr>
          </a:p>
        </p:txBody>
      </p:sp>
      <p:sp>
        <p:nvSpPr>
          <p:cNvPr id="3379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50742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1E7C9FD-4EA5-4DF2-BF78-A0A2B6455F5D}" type="slidenum">
              <a:rPr lang="en-US" altLang="en-US">
                <a:cs typeface="Arial" panose="020B0604020202020204" pitchFamily="34" charset="0"/>
              </a:rPr>
              <a:pPr algn="r" eaLnBrk="1" hangingPunct="1">
                <a:spcBef>
                  <a:spcPct val="0"/>
                </a:spcBef>
                <a:buClrTx/>
                <a:buSzPct val="45000"/>
                <a:buFontTx/>
                <a:buNone/>
              </a:pPr>
              <a:t>17</a:t>
            </a:fld>
            <a:endParaRPr lang="en-US" altLang="en-US">
              <a:cs typeface="Arial" panose="020B0604020202020204" pitchFamily="34" charset="0"/>
            </a:endParaRPr>
          </a:p>
        </p:txBody>
      </p:sp>
      <p:sp>
        <p:nvSpPr>
          <p:cNvPr id="3584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42721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7668D91-F7C2-4C81-8B1D-DD004046EBC8}" type="slidenum">
              <a:rPr lang="en-US" altLang="en-US">
                <a:cs typeface="Arial" panose="020B0604020202020204" pitchFamily="34" charset="0"/>
              </a:rPr>
              <a:pPr algn="r" eaLnBrk="1" hangingPunct="1">
                <a:spcBef>
                  <a:spcPct val="0"/>
                </a:spcBef>
                <a:buClrTx/>
                <a:buSzPct val="45000"/>
                <a:buFontTx/>
                <a:buNone/>
              </a:pPr>
              <a:t>18</a:t>
            </a:fld>
            <a:endParaRPr lang="en-US" altLang="en-US">
              <a:cs typeface="Arial" panose="020B0604020202020204" pitchFamily="34" charset="0"/>
            </a:endParaRPr>
          </a:p>
        </p:txBody>
      </p:sp>
      <p:sp>
        <p:nvSpPr>
          <p:cNvPr id="3789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83438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EC62332-1BE7-4724-9D61-65316589164D}" type="slidenum">
              <a:rPr lang="en-US" altLang="en-US">
                <a:cs typeface="Arial" panose="020B0604020202020204" pitchFamily="34" charset="0"/>
              </a:rPr>
              <a:pPr algn="r" eaLnBrk="1" hangingPunct="1">
                <a:spcBef>
                  <a:spcPct val="0"/>
                </a:spcBef>
                <a:buClrTx/>
                <a:buSzPct val="45000"/>
                <a:buFontTx/>
                <a:buNone/>
              </a:pPr>
              <a:t>19</a:t>
            </a:fld>
            <a:endParaRPr lang="en-US" altLang="en-US">
              <a:cs typeface="Arial" panose="020B0604020202020204" pitchFamily="34" charset="0"/>
            </a:endParaRPr>
          </a:p>
        </p:txBody>
      </p:sp>
      <p:sp>
        <p:nvSpPr>
          <p:cNvPr id="3993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8755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1A4BC3D-444E-4796-BFE9-E3650AECE490}" type="slidenum">
              <a:rPr lang="en-US" altLang="en-US">
                <a:cs typeface="Arial" panose="020B0604020202020204" pitchFamily="34" charset="0"/>
              </a:rPr>
              <a:pPr algn="r" eaLnBrk="1" hangingPunct="1">
                <a:spcBef>
                  <a:spcPct val="0"/>
                </a:spcBef>
                <a:buClrTx/>
                <a:buSzPct val="45000"/>
                <a:buFontTx/>
                <a:buNone/>
              </a:pPr>
              <a:t>20</a:t>
            </a:fld>
            <a:endParaRPr lang="en-US" altLang="en-US">
              <a:cs typeface="Arial" panose="020B0604020202020204" pitchFamily="34" charset="0"/>
            </a:endParaRPr>
          </a:p>
        </p:txBody>
      </p:sp>
      <p:sp>
        <p:nvSpPr>
          <p:cNvPr id="4198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1198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7022DCBF-0BA1-4F18-B811-21586C55F3B7}" type="slidenum">
              <a:rPr lang="en-US" altLang="en-US">
                <a:cs typeface="Arial" panose="020B0604020202020204" pitchFamily="34" charset="0"/>
              </a:rPr>
              <a:pPr algn="r" eaLnBrk="1" hangingPunct="1">
                <a:spcBef>
                  <a:spcPct val="0"/>
                </a:spcBef>
                <a:buClrTx/>
                <a:buSzPct val="45000"/>
                <a:buFontTx/>
                <a:buNone/>
              </a:pPr>
              <a:t>21</a:t>
            </a:fld>
            <a:endParaRPr lang="en-US" altLang="en-US">
              <a:cs typeface="Arial" panose="020B0604020202020204" pitchFamily="34" charset="0"/>
            </a:endParaRPr>
          </a:p>
        </p:txBody>
      </p:sp>
      <p:sp>
        <p:nvSpPr>
          <p:cNvPr id="4403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8566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EC5A952-D6ED-413A-AA11-539098B9F615}" type="slidenum">
              <a:rPr lang="en-US" altLang="en-US">
                <a:cs typeface="Arial" panose="020B0604020202020204" pitchFamily="34" charset="0"/>
              </a:rPr>
              <a:pPr algn="r" eaLnBrk="1" hangingPunct="1">
                <a:spcBef>
                  <a:spcPct val="0"/>
                </a:spcBef>
                <a:buClrTx/>
                <a:buSzPct val="45000"/>
                <a:buFontTx/>
                <a:buNone/>
              </a:pPr>
              <a:t>22</a:t>
            </a:fld>
            <a:endParaRPr lang="en-US" altLang="en-US">
              <a:cs typeface="Arial" panose="020B0604020202020204" pitchFamily="34" charset="0"/>
            </a:endParaRPr>
          </a:p>
        </p:txBody>
      </p:sp>
      <p:sp>
        <p:nvSpPr>
          <p:cNvPr id="4608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18724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F06BD9B-BDE4-4848-BF70-70349422FF40}" type="slidenum">
              <a:rPr lang="en-US" altLang="en-US">
                <a:cs typeface="Arial" panose="020B0604020202020204" pitchFamily="34" charset="0"/>
              </a:rPr>
              <a:pPr algn="r" eaLnBrk="1" hangingPunct="1">
                <a:spcBef>
                  <a:spcPct val="0"/>
                </a:spcBef>
                <a:buClrTx/>
                <a:buSzPct val="45000"/>
                <a:buFontTx/>
                <a:buNone/>
              </a:pPr>
              <a:t>23</a:t>
            </a:fld>
            <a:endParaRPr lang="en-US" altLang="en-US">
              <a:cs typeface="Arial" panose="020B0604020202020204" pitchFamily="34" charset="0"/>
            </a:endParaRPr>
          </a:p>
        </p:txBody>
      </p:sp>
      <p:sp>
        <p:nvSpPr>
          <p:cNvPr id="4813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82887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C4B11B9-D2A9-40C6-B1AE-3750F979125D}" type="slidenum">
              <a:rPr lang="en-US" altLang="en-US">
                <a:cs typeface="Arial" panose="020B0604020202020204" pitchFamily="34" charset="0"/>
              </a:rPr>
              <a:pPr algn="r" eaLnBrk="1" hangingPunct="1">
                <a:spcBef>
                  <a:spcPct val="0"/>
                </a:spcBef>
                <a:buClrTx/>
                <a:buSzPct val="45000"/>
                <a:buFontTx/>
                <a:buNone/>
              </a:pPr>
              <a:t>24</a:t>
            </a:fld>
            <a:endParaRPr lang="en-US" altLang="en-US">
              <a:cs typeface="Arial" panose="020B0604020202020204" pitchFamily="34" charset="0"/>
            </a:endParaRPr>
          </a:p>
        </p:txBody>
      </p:sp>
      <p:sp>
        <p:nvSpPr>
          <p:cNvPr id="5017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8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94105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3DEE379-6C15-4305-B268-FD0118F80DDA}" type="slidenum">
              <a:rPr lang="en-US" altLang="en-US">
                <a:cs typeface="Arial" panose="020B0604020202020204" pitchFamily="34" charset="0"/>
              </a:rPr>
              <a:pPr algn="r" eaLnBrk="1" hangingPunct="1">
                <a:spcBef>
                  <a:spcPct val="0"/>
                </a:spcBef>
                <a:buClrTx/>
                <a:buSzPct val="45000"/>
                <a:buFontTx/>
                <a:buNone/>
              </a:pPr>
              <a:t>25</a:t>
            </a:fld>
            <a:endParaRPr lang="en-US" altLang="en-US">
              <a:cs typeface="Arial" panose="020B0604020202020204" pitchFamily="34" charset="0"/>
            </a:endParaRPr>
          </a:p>
        </p:txBody>
      </p:sp>
      <p:sp>
        <p:nvSpPr>
          <p:cNvPr id="5222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79544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B82870E-298F-41F2-9BA0-392772C06D33}" type="slidenum">
              <a:rPr lang="en-US" altLang="en-US">
                <a:cs typeface="Arial" panose="020B0604020202020204" pitchFamily="34" charset="0"/>
              </a:rPr>
              <a:pPr algn="r" eaLnBrk="1" hangingPunct="1">
                <a:spcBef>
                  <a:spcPct val="0"/>
                </a:spcBef>
                <a:buClrTx/>
                <a:buSzPct val="45000"/>
                <a:buFontTx/>
                <a:buNone/>
              </a:pPr>
              <a:t>26</a:t>
            </a:fld>
            <a:endParaRPr lang="en-US" altLang="en-US">
              <a:cs typeface="Arial" panose="020B0604020202020204" pitchFamily="34" charset="0"/>
            </a:endParaRPr>
          </a:p>
        </p:txBody>
      </p:sp>
      <p:sp>
        <p:nvSpPr>
          <p:cNvPr id="5427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9300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8D4C2FB-9C92-4C3B-9E8E-1EC9F08370AC}" type="slidenum">
              <a:rPr lang="en-US" altLang="en-US">
                <a:cs typeface="Arial" panose="020B0604020202020204" pitchFamily="34" charset="0"/>
              </a:rPr>
              <a:pPr algn="r" eaLnBrk="1" hangingPunct="1">
                <a:spcBef>
                  <a:spcPct val="0"/>
                </a:spcBef>
                <a:buClrTx/>
                <a:buSzPct val="45000"/>
                <a:buFontTx/>
                <a:buNone/>
              </a:pPr>
              <a:t>27</a:t>
            </a:fld>
            <a:endParaRPr lang="en-US" altLang="en-US">
              <a:cs typeface="Arial" panose="020B0604020202020204" pitchFamily="34" charset="0"/>
            </a:endParaRPr>
          </a:p>
        </p:txBody>
      </p:sp>
      <p:sp>
        <p:nvSpPr>
          <p:cNvPr id="5632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535031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DFDA1B0-1BB6-4439-BDA2-32B556560695}" type="slidenum">
              <a:rPr lang="en-US" altLang="en-US">
                <a:cs typeface="Arial" panose="020B0604020202020204" pitchFamily="34" charset="0"/>
              </a:rPr>
              <a:pPr algn="r" eaLnBrk="1" hangingPunct="1">
                <a:spcBef>
                  <a:spcPct val="0"/>
                </a:spcBef>
                <a:buClrTx/>
                <a:buSzPct val="45000"/>
                <a:buFontTx/>
                <a:buNone/>
              </a:pPr>
              <a:t>28</a:t>
            </a:fld>
            <a:endParaRPr lang="en-US" altLang="en-US">
              <a:cs typeface="Arial" panose="020B0604020202020204" pitchFamily="34" charset="0"/>
            </a:endParaRPr>
          </a:p>
        </p:txBody>
      </p:sp>
      <p:sp>
        <p:nvSpPr>
          <p:cNvPr id="5837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37495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E5CDD5FB-EDF1-4E67-998F-1B43A3B83BD6}" type="slidenum">
              <a:rPr lang="en-US" altLang="en-US">
                <a:cs typeface="Arial" panose="020B0604020202020204" pitchFamily="34" charset="0"/>
              </a:rPr>
              <a:pPr algn="r" eaLnBrk="1" hangingPunct="1">
                <a:spcBef>
                  <a:spcPct val="0"/>
                </a:spcBef>
                <a:buClrTx/>
                <a:buSzPct val="45000"/>
                <a:buFontTx/>
                <a:buNone/>
              </a:pPr>
              <a:t>29</a:t>
            </a:fld>
            <a:endParaRPr lang="en-US" altLang="en-US">
              <a:cs typeface="Arial" panose="020B0604020202020204" pitchFamily="34" charset="0"/>
            </a:endParaRPr>
          </a:p>
        </p:txBody>
      </p:sp>
      <p:sp>
        <p:nvSpPr>
          <p:cNvPr id="6041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2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30999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4B0D37C-6129-4CEE-9DE6-67473B2578CA}" type="slidenum">
              <a:rPr lang="en-US" altLang="en-US">
                <a:cs typeface="Arial" panose="020B0604020202020204" pitchFamily="34" charset="0"/>
              </a:rPr>
              <a:pPr algn="r" eaLnBrk="1" hangingPunct="1">
                <a:spcBef>
                  <a:spcPct val="0"/>
                </a:spcBef>
                <a:buClrTx/>
                <a:buSzPct val="45000"/>
                <a:buFontTx/>
                <a:buNone/>
              </a:pPr>
              <a:t>30</a:t>
            </a:fld>
            <a:endParaRPr lang="en-US" altLang="en-US">
              <a:cs typeface="Arial" panose="020B0604020202020204" pitchFamily="34" charset="0"/>
            </a:endParaRPr>
          </a:p>
        </p:txBody>
      </p:sp>
      <p:sp>
        <p:nvSpPr>
          <p:cNvPr id="6451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80107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FB3B748-99F7-4741-9713-97D5305FF639}" type="slidenum">
              <a:rPr lang="en-US" altLang="en-US">
                <a:cs typeface="Arial" panose="020B0604020202020204" pitchFamily="34" charset="0"/>
              </a:rPr>
              <a:pPr algn="r" eaLnBrk="1" hangingPunct="1">
                <a:spcBef>
                  <a:spcPct val="0"/>
                </a:spcBef>
                <a:buClrTx/>
                <a:buSzPct val="45000"/>
                <a:buFontTx/>
                <a:buNone/>
              </a:pPr>
              <a:t>31</a:t>
            </a:fld>
            <a:endParaRPr lang="en-US" altLang="en-US">
              <a:cs typeface="Arial" panose="020B0604020202020204" pitchFamily="34" charset="0"/>
            </a:endParaRPr>
          </a:p>
        </p:txBody>
      </p:sp>
      <p:sp>
        <p:nvSpPr>
          <p:cNvPr id="6861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905919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E85C24A-EF8E-4A92-B32F-F639674D364F}" type="slidenum">
              <a:rPr lang="en-US" altLang="en-US">
                <a:cs typeface="Arial" panose="020B0604020202020204" pitchFamily="34" charset="0"/>
              </a:rPr>
              <a:pPr algn="r" eaLnBrk="1" hangingPunct="1">
                <a:spcBef>
                  <a:spcPct val="0"/>
                </a:spcBef>
                <a:buClrTx/>
                <a:buSzPct val="45000"/>
                <a:buFontTx/>
                <a:buNone/>
              </a:pPr>
              <a:t>32</a:t>
            </a:fld>
            <a:endParaRPr lang="en-US" altLang="en-US">
              <a:cs typeface="Arial" panose="020B0604020202020204" pitchFamily="34" charset="0"/>
            </a:endParaRPr>
          </a:p>
        </p:txBody>
      </p:sp>
      <p:sp>
        <p:nvSpPr>
          <p:cNvPr id="7065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6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41298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F07C84C-FB21-4EB0-AF67-AD8D544422FF}" type="slidenum">
              <a:rPr lang="en-US" altLang="en-US">
                <a:cs typeface="Arial" panose="020B0604020202020204" pitchFamily="34" charset="0"/>
              </a:rPr>
              <a:pPr algn="r" eaLnBrk="1" hangingPunct="1">
                <a:spcBef>
                  <a:spcPct val="0"/>
                </a:spcBef>
                <a:buClrTx/>
                <a:buSzPct val="45000"/>
                <a:buFontTx/>
                <a:buNone/>
              </a:pPr>
              <a:t>33</a:t>
            </a:fld>
            <a:endParaRPr lang="en-US" altLang="en-US">
              <a:cs typeface="Arial" panose="020B0604020202020204" pitchFamily="34" charset="0"/>
            </a:endParaRPr>
          </a:p>
        </p:txBody>
      </p:sp>
      <p:sp>
        <p:nvSpPr>
          <p:cNvPr id="7475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85146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FF5E4AB-6144-4DED-B1B4-23FA6C35A994}" type="slidenum">
              <a:rPr lang="en-US" altLang="en-US">
                <a:cs typeface="Arial" panose="020B0604020202020204" pitchFamily="34" charset="0"/>
              </a:rPr>
              <a:pPr algn="r" eaLnBrk="1" hangingPunct="1">
                <a:spcBef>
                  <a:spcPct val="0"/>
                </a:spcBef>
                <a:buClrTx/>
                <a:buSzPct val="45000"/>
                <a:buFontTx/>
                <a:buNone/>
              </a:pPr>
              <a:t>34</a:t>
            </a:fld>
            <a:endParaRPr lang="en-US" altLang="en-US">
              <a:cs typeface="Arial" panose="020B0604020202020204" pitchFamily="34" charset="0"/>
            </a:endParaRPr>
          </a:p>
        </p:txBody>
      </p:sp>
      <p:sp>
        <p:nvSpPr>
          <p:cNvPr id="7680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297151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EDB09E81-644D-467D-8676-C75765679DE4}" type="slidenum">
              <a:rPr lang="en-US" altLang="en-US">
                <a:cs typeface="Arial" panose="020B0604020202020204" pitchFamily="34" charset="0"/>
              </a:rPr>
              <a:pPr algn="r" eaLnBrk="1" hangingPunct="1">
                <a:spcBef>
                  <a:spcPct val="0"/>
                </a:spcBef>
                <a:buClrTx/>
                <a:buSzPct val="45000"/>
                <a:buFontTx/>
                <a:buNone/>
              </a:pPr>
              <a:t>35</a:t>
            </a:fld>
            <a:endParaRPr lang="en-US" altLang="en-US">
              <a:cs typeface="Arial" panose="020B0604020202020204" pitchFamily="34" charset="0"/>
            </a:endParaRPr>
          </a:p>
        </p:txBody>
      </p:sp>
      <p:sp>
        <p:nvSpPr>
          <p:cNvPr id="7885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0528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452113C-8753-4108-8B1B-DE9CEC9D7B9C}" type="slidenum">
              <a:rPr lang="en-US" altLang="en-US">
                <a:cs typeface="Arial" panose="020B0604020202020204" pitchFamily="34" charset="0"/>
              </a:rPr>
              <a:pPr algn="r" eaLnBrk="1" hangingPunct="1">
                <a:spcBef>
                  <a:spcPct val="0"/>
                </a:spcBef>
                <a:buClrTx/>
                <a:buSzPct val="45000"/>
                <a:buFontTx/>
                <a:buNone/>
              </a:pPr>
              <a:t>36</a:t>
            </a:fld>
            <a:endParaRPr lang="en-US" altLang="en-US">
              <a:cs typeface="Arial" panose="020B0604020202020204" pitchFamily="34" charset="0"/>
            </a:endParaRPr>
          </a:p>
        </p:txBody>
      </p:sp>
      <p:sp>
        <p:nvSpPr>
          <p:cNvPr id="8089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090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987740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D355A10-17CF-47F9-B8AE-E57FAE7D34A9}" type="slidenum">
              <a:rPr lang="en-US" altLang="en-US">
                <a:cs typeface="Arial" panose="020B0604020202020204" pitchFamily="34" charset="0"/>
              </a:rPr>
              <a:pPr algn="r" eaLnBrk="1" hangingPunct="1">
                <a:spcBef>
                  <a:spcPct val="0"/>
                </a:spcBef>
                <a:buClrTx/>
                <a:buSzPct val="45000"/>
                <a:buFontTx/>
                <a:buNone/>
              </a:pPr>
              <a:t>37</a:t>
            </a:fld>
            <a:endParaRPr lang="en-US" altLang="en-US">
              <a:cs typeface="Arial" panose="020B0604020202020204" pitchFamily="34" charset="0"/>
            </a:endParaRPr>
          </a:p>
        </p:txBody>
      </p:sp>
      <p:sp>
        <p:nvSpPr>
          <p:cNvPr id="8294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294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451491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52204F5-BF07-43E7-9117-B6C2C31793C6}" type="slidenum">
              <a:rPr lang="en-US" altLang="en-US">
                <a:cs typeface="Arial" panose="020B0604020202020204" pitchFamily="34" charset="0"/>
              </a:rPr>
              <a:pPr algn="r" eaLnBrk="1" hangingPunct="1">
                <a:spcBef>
                  <a:spcPct val="0"/>
                </a:spcBef>
                <a:buClrTx/>
                <a:buSzPct val="45000"/>
                <a:buFontTx/>
                <a:buNone/>
              </a:pPr>
              <a:t>38</a:t>
            </a:fld>
            <a:endParaRPr lang="en-US" altLang="en-US">
              <a:cs typeface="Arial" panose="020B0604020202020204" pitchFamily="34" charset="0"/>
            </a:endParaRPr>
          </a:p>
        </p:txBody>
      </p:sp>
      <p:sp>
        <p:nvSpPr>
          <p:cNvPr id="8499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3546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3E7F579-EECC-485A-8036-79A4AC5222E1}" type="slidenum">
              <a:rPr lang="en-US" altLang="en-US">
                <a:cs typeface="Arial" panose="020B0604020202020204" pitchFamily="34" charset="0"/>
              </a:rPr>
              <a:pPr algn="r" eaLnBrk="1" hangingPunct="1">
                <a:spcBef>
                  <a:spcPct val="0"/>
                </a:spcBef>
                <a:buClrTx/>
                <a:buSzPct val="45000"/>
                <a:buFontTx/>
                <a:buNone/>
              </a:pPr>
              <a:t>39</a:t>
            </a:fld>
            <a:endParaRPr lang="en-US" altLang="en-US">
              <a:cs typeface="Arial" panose="020B0604020202020204" pitchFamily="34" charset="0"/>
            </a:endParaRPr>
          </a:p>
        </p:txBody>
      </p:sp>
      <p:sp>
        <p:nvSpPr>
          <p:cNvPr id="8704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434738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87F74CD-6291-4A9A-8951-C7B82A58EC58}" type="slidenum">
              <a:rPr lang="en-US" altLang="en-US">
                <a:cs typeface="Arial" panose="020B0604020202020204" pitchFamily="34" charset="0"/>
              </a:rPr>
              <a:pPr algn="r" eaLnBrk="1" hangingPunct="1">
                <a:spcBef>
                  <a:spcPct val="0"/>
                </a:spcBef>
                <a:buClrTx/>
                <a:buSzPct val="45000"/>
                <a:buFontTx/>
                <a:buNone/>
              </a:pPr>
              <a:t>40</a:t>
            </a:fld>
            <a:endParaRPr lang="en-US" altLang="en-US">
              <a:cs typeface="Arial" panose="020B0604020202020204" pitchFamily="34" charset="0"/>
            </a:endParaRPr>
          </a:p>
        </p:txBody>
      </p:sp>
      <p:sp>
        <p:nvSpPr>
          <p:cNvPr id="8909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5493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2A225EB-2035-4E07-94AD-B2D14B4F2544}" type="slidenum">
              <a:rPr lang="en-US" altLang="en-US">
                <a:cs typeface="Arial" panose="020B0604020202020204" pitchFamily="34" charset="0"/>
              </a:rPr>
              <a:pPr algn="r" eaLnBrk="1" hangingPunct="1">
                <a:spcBef>
                  <a:spcPct val="0"/>
                </a:spcBef>
                <a:buClrTx/>
                <a:buSzPct val="45000"/>
                <a:buFontTx/>
                <a:buNone/>
              </a:pPr>
              <a:t>41</a:t>
            </a:fld>
            <a:endParaRPr lang="en-US" altLang="en-US">
              <a:cs typeface="Arial" panose="020B0604020202020204" pitchFamily="34" charset="0"/>
            </a:endParaRPr>
          </a:p>
        </p:txBody>
      </p:sp>
      <p:sp>
        <p:nvSpPr>
          <p:cNvPr id="9113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972404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237049D-FB6E-4A2C-9DBD-37745CCE7EEA}" type="slidenum">
              <a:rPr lang="en-US" altLang="en-US">
                <a:cs typeface="Arial" panose="020B0604020202020204" pitchFamily="34" charset="0"/>
              </a:rPr>
              <a:pPr algn="r" eaLnBrk="1" hangingPunct="1">
                <a:spcBef>
                  <a:spcPct val="0"/>
                </a:spcBef>
                <a:buClrTx/>
                <a:buSzPct val="45000"/>
                <a:buFontTx/>
                <a:buNone/>
              </a:pPr>
              <a:t>42</a:t>
            </a:fld>
            <a:endParaRPr lang="en-US" altLang="en-US">
              <a:cs typeface="Arial" panose="020B0604020202020204" pitchFamily="34" charset="0"/>
            </a:endParaRPr>
          </a:p>
        </p:txBody>
      </p:sp>
      <p:sp>
        <p:nvSpPr>
          <p:cNvPr id="9318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35486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956F19C-76D6-4224-9CDA-2E9331C15A4D}" type="slidenum">
              <a:rPr lang="en-US" altLang="en-US">
                <a:cs typeface="Arial" panose="020B0604020202020204" pitchFamily="34" charset="0"/>
              </a:rPr>
              <a:pPr algn="r" eaLnBrk="1" hangingPunct="1">
                <a:spcBef>
                  <a:spcPct val="0"/>
                </a:spcBef>
                <a:buClrTx/>
                <a:buSzPct val="45000"/>
                <a:buFontTx/>
                <a:buNone/>
              </a:pPr>
              <a:t>43</a:t>
            </a:fld>
            <a:endParaRPr lang="en-US" altLang="en-US">
              <a:cs typeface="Arial" panose="020B0604020202020204" pitchFamily="34" charset="0"/>
            </a:endParaRPr>
          </a:p>
        </p:txBody>
      </p:sp>
      <p:sp>
        <p:nvSpPr>
          <p:cNvPr id="9523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275459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465C2E9-1A0D-4C95-9F3A-01AB6E900C52}" type="slidenum">
              <a:rPr lang="en-US" altLang="en-US">
                <a:cs typeface="Arial" panose="020B0604020202020204" pitchFamily="34" charset="0"/>
              </a:rPr>
              <a:pPr algn="r" eaLnBrk="1" hangingPunct="1">
                <a:spcBef>
                  <a:spcPct val="0"/>
                </a:spcBef>
                <a:buClrTx/>
                <a:buSzPct val="45000"/>
                <a:buFontTx/>
                <a:buNone/>
              </a:pPr>
              <a:t>44</a:t>
            </a:fld>
            <a:endParaRPr lang="en-US" altLang="en-US">
              <a:cs typeface="Arial" panose="020B0604020202020204" pitchFamily="34" charset="0"/>
            </a:endParaRPr>
          </a:p>
        </p:txBody>
      </p:sp>
      <p:sp>
        <p:nvSpPr>
          <p:cNvPr id="9728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069434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358841B-3355-4D54-9412-017B88AA8E97}" type="slidenum">
              <a:rPr lang="en-US" altLang="en-US">
                <a:cs typeface="Arial" panose="020B0604020202020204" pitchFamily="34" charset="0"/>
              </a:rPr>
              <a:pPr algn="r" eaLnBrk="1" hangingPunct="1">
                <a:spcBef>
                  <a:spcPct val="0"/>
                </a:spcBef>
                <a:buClrTx/>
                <a:buSzPct val="45000"/>
                <a:buFontTx/>
                <a:buNone/>
              </a:pPr>
              <a:t>45</a:t>
            </a:fld>
            <a:endParaRPr lang="en-US" altLang="en-US">
              <a:cs typeface="Arial" panose="020B0604020202020204" pitchFamily="34" charset="0"/>
            </a:endParaRPr>
          </a:p>
        </p:txBody>
      </p:sp>
      <p:sp>
        <p:nvSpPr>
          <p:cNvPr id="10137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8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37447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91E27C5-F1C5-406F-9090-0976F330BCA4}" type="slidenum">
              <a:rPr lang="en-US" altLang="en-US">
                <a:cs typeface="Arial" panose="020B0604020202020204" pitchFamily="34" charset="0"/>
              </a:rPr>
              <a:pPr algn="r" eaLnBrk="1" hangingPunct="1">
                <a:spcBef>
                  <a:spcPct val="0"/>
                </a:spcBef>
                <a:buClrTx/>
                <a:buSzPct val="45000"/>
                <a:buFontTx/>
                <a:buNone/>
              </a:pPr>
              <a:t>46</a:t>
            </a:fld>
            <a:endParaRPr lang="en-US" altLang="en-US">
              <a:cs typeface="Arial" panose="020B0604020202020204" pitchFamily="34" charset="0"/>
            </a:endParaRPr>
          </a:p>
        </p:txBody>
      </p:sp>
      <p:sp>
        <p:nvSpPr>
          <p:cNvPr id="10342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70088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783707F-FF55-4333-BF18-ACFA1A96EC38}" type="slidenum">
              <a:rPr lang="en-US" altLang="en-US">
                <a:cs typeface="Arial" panose="020B0604020202020204" pitchFamily="34" charset="0"/>
              </a:rPr>
              <a:pPr algn="r" eaLnBrk="1" hangingPunct="1">
                <a:spcBef>
                  <a:spcPct val="0"/>
                </a:spcBef>
                <a:buClrTx/>
                <a:buSzPct val="45000"/>
                <a:buFontTx/>
                <a:buNone/>
              </a:pPr>
              <a:t>47</a:t>
            </a:fld>
            <a:endParaRPr lang="en-US" altLang="en-US">
              <a:cs typeface="Arial" panose="020B0604020202020204" pitchFamily="34" charset="0"/>
            </a:endParaRPr>
          </a:p>
        </p:txBody>
      </p:sp>
      <p:sp>
        <p:nvSpPr>
          <p:cNvPr id="10547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209412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7461F52-7245-43EC-A238-653B7D7295E5}" type="slidenum">
              <a:rPr lang="en-US" altLang="en-US">
                <a:cs typeface="Arial" panose="020B0604020202020204" pitchFamily="34" charset="0"/>
              </a:rPr>
              <a:pPr algn="r" eaLnBrk="1" hangingPunct="1">
                <a:spcBef>
                  <a:spcPct val="0"/>
                </a:spcBef>
                <a:buClrTx/>
                <a:buSzPct val="45000"/>
                <a:buFontTx/>
                <a:buNone/>
              </a:pPr>
              <a:t>48</a:t>
            </a:fld>
            <a:endParaRPr lang="en-US" altLang="en-US">
              <a:cs typeface="Arial" panose="020B0604020202020204" pitchFamily="34" charset="0"/>
            </a:endParaRPr>
          </a:p>
        </p:txBody>
      </p:sp>
      <p:sp>
        <p:nvSpPr>
          <p:cNvPr id="10752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98210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4B28324-EDA1-41A2-BF52-999CAA820067}" type="slidenum">
              <a:rPr lang="en-US" altLang="en-US">
                <a:cs typeface="Arial" panose="020B0604020202020204" pitchFamily="34" charset="0"/>
              </a:rPr>
              <a:pPr algn="r" eaLnBrk="1" hangingPunct="1">
                <a:spcBef>
                  <a:spcPct val="0"/>
                </a:spcBef>
                <a:buClrTx/>
                <a:buSzPct val="45000"/>
                <a:buFontTx/>
                <a:buNone/>
              </a:pPr>
              <a:t>49</a:t>
            </a:fld>
            <a:endParaRPr lang="en-US" altLang="en-US">
              <a:cs typeface="Arial" panose="020B0604020202020204" pitchFamily="34" charset="0"/>
            </a:endParaRPr>
          </a:p>
        </p:txBody>
      </p:sp>
      <p:sp>
        <p:nvSpPr>
          <p:cNvPr id="10957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44480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6A61515-4CFD-4F59-BF61-9C659BCDF682}" type="slidenum">
              <a:rPr lang="en-US" altLang="en-US">
                <a:cs typeface="Arial" panose="020B0604020202020204" pitchFamily="34" charset="0"/>
              </a:rPr>
              <a:pPr algn="r" eaLnBrk="1" hangingPunct="1">
                <a:spcBef>
                  <a:spcPct val="0"/>
                </a:spcBef>
                <a:buClrTx/>
                <a:buSzPct val="45000"/>
                <a:buFontTx/>
                <a:buNone/>
              </a:pPr>
              <a:t>50</a:t>
            </a:fld>
            <a:endParaRPr lang="en-US" altLang="en-US">
              <a:cs typeface="Arial" panose="020B0604020202020204" pitchFamily="34" charset="0"/>
            </a:endParaRPr>
          </a:p>
        </p:txBody>
      </p:sp>
      <p:sp>
        <p:nvSpPr>
          <p:cNvPr id="11161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2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909038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E044F82-B8E0-4EDE-A8DB-ABC683CD27B1}" type="slidenum">
              <a:rPr lang="en-US" altLang="en-US">
                <a:cs typeface="Arial" panose="020B0604020202020204" pitchFamily="34" charset="0"/>
              </a:rPr>
              <a:pPr algn="r" eaLnBrk="1" hangingPunct="1">
                <a:spcBef>
                  <a:spcPct val="0"/>
                </a:spcBef>
                <a:buClrTx/>
                <a:buSzPct val="45000"/>
                <a:buFontTx/>
                <a:buNone/>
              </a:pPr>
              <a:t>51</a:t>
            </a:fld>
            <a:endParaRPr lang="en-US" altLang="en-US">
              <a:cs typeface="Arial" panose="020B0604020202020204" pitchFamily="34" charset="0"/>
            </a:endParaRPr>
          </a:p>
        </p:txBody>
      </p:sp>
      <p:sp>
        <p:nvSpPr>
          <p:cNvPr id="11366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637434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A10D7069-ACFC-408E-A42E-F0A78E12488E}" type="slidenum">
              <a:rPr lang="en-US" altLang="en-US">
                <a:cs typeface="Arial" panose="020B0604020202020204" pitchFamily="34" charset="0"/>
              </a:rPr>
              <a:pPr algn="r" eaLnBrk="1" hangingPunct="1">
                <a:spcBef>
                  <a:spcPct val="0"/>
                </a:spcBef>
                <a:buClrTx/>
                <a:buSzPct val="45000"/>
                <a:buFontTx/>
                <a:buNone/>
              </a:pPr>
              <a:t>52</a:t>
            </a:fld>
            <a:endParaRPr lang="en-US" altLang="en-US">
              <a:cs typeface="Arial" panose="020B0604020202020204" pitchFamily="34" charset="0"/>
            </a:endParaRPr>
          </a:p>
        </p:txBody>
      </p:sp>
      <p:sp>
        <p:nvSpPr>
          <p:cNvPr id="11571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98066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76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53D1668-CDE8-4060-8B09-B614F92601BA}" type="slidenum">
              <a:rPr lang="en-US" altLang="en-US">
                <a:cs typeface="Arial" panose="020B0604020202020204" pitchFamily="34" charset="0"/>
              </a:rPr>
              <a:pPr algn="r" eaLnBrk="1" hangingPunct="1">
                <a:spcBef>
                  <a:spcPct val="0"/>
                </a:spcBef>
                <a:buClrTx/>
                <a:buSzPct val="45000"/>
                <a:buFontTx/>
                <a:buNone/>
              </a:pPr>
              <a:t>53</a:t>
            </a:fld>
            <a:endParaRPr lang="en-US" altLang="en-US">
              <a:cs typeface="Arial" panose="020B0604020202020204" pitchFamily="34" charset="0"/>
            </a:endParaRPr>
          </a:p>
        </p:txBody>
      </p:sp>
      <p:sp>
        <p:nvSpPr>
          <p:cNvPr id="11776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776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311947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1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2DD3F42-1A14-46D3-828A-959A89DC460E}" type="slidenum">
              <a:rPr lang="en-US" altLang="en-US">
                <a:cs typeface="Arial" panose="020B0604020202020204" pitchFamily="34" charset="0"/>
              </a:rPr>
              <a:pPr algn="r" eaLnBrk="1" hangingPunct="1">
                <a:spcBef>
                  <a:spcPct val="0"/>
                </a:spcBef>
                <a:buClrTx/>
                <a:buSzPct val="45000"/>
                <a:buFontTx/>
                <a:buNone/>
              </a:pPr>
              <a:t>54</a:t>
            </a:fld>
            <a:endParaRPr lang="en-US" altLang="en-US">
              <a:cs typeface="Arial" panose="020B0604020202020204" pitchFamily="34" charset="0"/>
            </a:endParaRPr>
          </a:p>
        </p:txBody>
      </p:sp>
      <p:sp>
        <p:nvSpPr>
          <p:cNvPr id="11981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539054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702B822-A0A2-4B01-AC40-EC3B148173A3}" type="slidenum">
              <a:rPr lang="en-US" altLang="en-US">
                <a:cs typeface="Arial" panose="020B0604020202020204" pitchFamily="34" charset="0"/>
              </a:rPr>
              <a:pPr algn="r" eaLnBrk="1" hangingPunct="1">
                <a:spcBef>
                  <a:spcPct val="0"/>
                </a:spcBef>
                <a:buClrTx/>
                <a:buSzPct val="45000"/>
                <a:buFontTx/>
                <a:buNone/>
              </a:pPr>
              <a:t>55</a:t>
            </a:fld>
            <a:endParaRPr lang="en-US" altLang="en-US">
              <a:cs typeface="Arial" panose="020B0604020202020204" pitchFamily="34" charset="0"/>
            </a:endParaRPr>
          </a:p>
        </p:txBody>
      </p:sp>
      <p:sp>
        <p:nvSpPr>
          <p:cNvPr id="12185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6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772095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90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140CB60-D2C0-43E7-8CF9-75551D335B91}" type="slidenum">
              <a:rPr lang="en-US" altLang="en-US">
                <a:cs typeface="Arial" panose="020B0604020202020204" pitchFamily="34" charset="0"/>
              </a:rPr>
              <a:pPr algn="r" eaLnBrk="1" hangingPunct="1">
                <a:spcBef>
                  <a:spcPct val="0"/>
                </a:spcBef>
                <a:buClrTx/>
                <a:buSzPct val="45000"/>
                <a:buFontTx/>
                <a:buNone/>
              </a:pPr>
              <a:t>56</a:t>
            </a:fld>
            <a:endParaRPr lang="en-US" altLang="en-US">
              <a:cs typeface="Arial" panose="020B0604020202020204" pitchFamily="34" charset="0"/>
            </a:endParaRPr>
          </a:p>
        </p:txBody>
      </p:sp>
      <p:sp>
        <p:nvSpPr>
          <p:cNvPr id="12390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390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81887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595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72B41F43-F841-4F84-A49A-C0B144E079F8}" type="slidenum">
              <a:rPr lang="en-US" altLang="en-US">
                <a:cs typeface="Arial" panose="020B0604020202020204" pitchFamily="34" charset="0"/>
              </a:rPr>
              <a:pPr algn="r" eaLnBrk="1" hangingPunct="1">
                <a:spcBef>
                  <a:spcPct val="0"/>
                </a:spcBef>
                <a:buClrTx/>
                <a:buSzPct val="45000"/>
                <a:buFontTx/>
                <a:buNone/>
              </a:pPr>
              <a:t>57</a:t>
            </a:fld>
            <a:endParaRPr lang="en-US" altLang="en-US">
              <a:cs typeface="Arial" panose="020B0604020202020204" pitchFamily="34" charset="0"/>
            </a:endParaRPr>
          </a:p>
        </p:txBody>
      </p:sp>
      <p:sp>
        <p:nvSpPr>
          <p:cNvPr id="12595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595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57795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00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BBF2F42-99A9-44A3-BE90-0236337D1677}" type="slidenum">
              <a:rPr lang="en-US" altLang="en-US">
                <a:cs typeface="Arial" panose="020B0604020202020204" pitchFamily="34" charset="0"/>
              </a:rPr>
              <a:pPr algn="r" eaLnBrk="1" hangingPunct="1">
                <a:spcBef>
                  <a:spcPct val="0"/>
                </a:spcBef>
                <a:buClrTx/>
                <a:buSzPct val="45000"/>
                <a:buFontTx/>
                <a:buNone/>
              </a:pPr>
              <a:t>58</a:t>
            </a:fld>
            <a:endParaRPr lang="en-US" altLang="en-US">
              <a:cs typeface="Arial" panose="020B0604020202020204" pitchFamily="34" charset="0"/>
            </a:endParaRPr>
          </a:p>
        </p:txBody>
      </p:sp>
      <p:sp>
        <p:nvSpPr>
          <p:cNvPr id="12800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800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781440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05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A8D47CE-4E16-47AB-8B7A-DAAEE3C46E1B}" type="slidenum">
              <a:rPr lang="en-US" altLang="en-US">
                <a:cs typeface="Arial" panose="020B0604020202020204" pitchFamily="34" charset="0"/>
              </a:rPr>
              <a:pPr algn="r" eaLnBrk="1" hangingPunct="1">
                <a:spcBef>
                  <a:spcPct val="0"/>
                </a:spcBef>
                <a:buClrTx/>
                <a:buSzPct val="45000"/>
                <a:buFontTx/>
                <a:buNone/>
              </a:pPr>
              <a:t>59</a:t>
            </a:fld>
            <a:endParaRPr lang="en-US" altLang="en-US">
              <a:cs typeface="Arial" panose="020B0604020202020204" pitchFamily="34" charset="0"/>
            </a:endParaRPr>
          </a:p>
        </p:txBody>
      </p:sp>
      <p:sp>
        <p:nvSpPr>
          <p:cNvPr id="13005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005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96047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09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7A85CF2-90CC-47AA-A1FD-D3685623851D}" type="slidenum">
              <a:rPr lang="en-US" altLang="en-US">
                <a:cs typeface="Arial" panose="020B0604020202020204" pitchFamily="34" charset="0"/>
              </a:rPr>
              <a:pPr algn="r" eaLnBrk="1" hangingPunct="1">
                <a:spcBef>
                  <a:spcPct val="0"/>
                </a:spcBef>
                <a:buClrTx/>
                <a:buSzPct val="45000"/>
                <a:buFontTx/>
                <a:buNone/>
              </a:pPr>
              <a:t>60</a:t>
            </a:fld>
            <a:endParaRPr lang="en-US" altLang="en-US">
              <a:cs typeface="Arial" panose="020B0604020202020204" pitchFamily="34" charset="0"/>
            </a:endParaRPr>
          </a:p>
        </p:txBody>
      </p:sp>
      <p:sp>
        <p:nvSpPr>
          <p:cNvPr id="13209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210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228455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14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75A98618-E1AC-4DE8-BF10-1369FF206901}" type="slidenum">
              <a:rPr lang="en-US" altLang="en-US">
                <a:cs typeface="Arial" panose="020B0604020202020204" pitchFamily="34" charset="0"/>
              </a:rPr>
              <a:pPr algn="r" eaLnBrk="1" hangingPunct="1">
                <a:spcBef>
                  <a:spcPct val="0"/>
                </a:spcBef>
                <a:buClrTx/>
                <a:buSzPct val="45000"/>
                <a:buFontTx/>
                <a:buNone/>
              </a:pPr>
              <a:t>61</a:t>
            </a:fld>
            <a:endParaRPr lang="en-US" altLang="en-US">
              <a:cs typeface="Arial" panose="020B0604020202020204" pitchFamily="34" charset="0"/>
            </a:endParaRPr>
          </a:p>
        </p:txBody>
      </p:sp>
      <p:sp>
        <p:nvSpPr>
          <p:cNvPr id="13414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414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736852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19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D0F5B06-0214-4386-8212-3489748C4096}" type="slidenum">
              <a:rPr lang="en-US" altLang="en-US">
                <a:cs typeface="Arial" panose="020B0604020202020204" pitchFamily="34" charset="0"/>
              </a:rPr>
              <a:pPr algn="r" eaLnBrk="1" hangingPunct="1">
                <a:spcBef>
                  <a:spcPct val="0"/>
                </a:spcBef>
                <a:buClrTx/>
                <a:buSzPct val="45000"/>
                <a:buFontTx/>
                <a:buNone/>
              </a:pPr>
              <a:t>62</a:t>
            </a:fld>
            <a:endParaRPr lang="en-US" altLang="en-US">
              <a:cs typeface="Arial" panose="020B0604020202020204" pitchFamily="34" charset="0"/>
            </a:endParaRPr>
          </a:p>
        </p:txBody>
      </p:sp>
      <p:sp>
        <p:nvSpPr>
          <p:cNvPr id="13619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619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536594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1394055-B0B6-4586-B37B-F6E2425970D1}" type="slidenum">
              <a:rPr lang="en-US" altLang="en-US">
                <a:cs typeface="Arial" panose="020B0604020202020204" pitchFamily="34" charset="0"/>
              </a:rPr>
              <a:pPr algn="r" eaLnBrk="1" hangingPunct="1">
                <a:spcBef>
                  <a:spcPct val="0"/>
                </a:spcBef>
                <a:buClrTx/>
                <a:buSzPct val="45000"/>
                <a:buFontTx/>
                <a:buNone/>
              </a:pPr>
              <a:t>63</a:t>
            </a:fld>
            <a:endParaRPr lang="en-US" altLang="en-US">
              <a:cs typeface="Arial" panose="020B0604020202020204" pitchFamily="34" charset="0"/>
            </a:endParaRPr>
          </a:p>
        </p:txBody>
      </p:sp>
      <p:sp>
        <p:nvSpPr>
          <p:cNvPr id="13824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824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637799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67DD32C-4D7A-496D-9C55-7A2CDC0800CB}" type="slidenum">
              <a:rPr lang="en-US" altLang="en-US">
                <a:cs typeface="Arial" panose="020B0604020202020204" pitchFamily="34" charset="0"/>
              </a:rPr>
              <a:pPr algn="r" eaLnBrk="1" hangingPunct="1">
                <a:spcBef>
                  <a:spcPct val="0"/>
                </a:spcBef>
                <a:buClrTx/>
                <a:buSzPct val="45000"/>
                <a:buFontTx/>
                <a:buNone/>
              </a:pPr>
              <a:t>64</a:t>
            </a:fld>
            <a:endParaRPr lang="en-US" altLang="en-US">
              <a:cs typeface="Arial" panose="020B0604020202020204" pitchFamily="34" charset="0"/>
            </a:endParaRPr>
          </a:p>
        </p:txBody>
      </p:sp>
      <p:sp>
        <p:nvSpPr>
          <p:cNvPr id="14029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029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831132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33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E8F601A-2196-44F5-9189-FF5FFFDEE62C}" type="slidenum">
              <a:rPr lang="en-US" altLang="en-US">
                <a:cs typeface="Arial" panose="020B0604020202020204" pitchFamily="34" charset="0"/>
              </a:rPr>
              <a:pPr algn="r" eaLnBrk="1" hangingPunct="1">
                <a:spcBef>
                  <a:spcPct val="0"/>
                </a:spcBef>
                <a:buClrTx/>
                <a:buSzPct val="45000"/>
                <a:buFontTx/>
                <a:buNone/>
              </a:pPr>
              <a:t>65</a:t>
            </a:fld>
            <a:endParaRPr lang="en-US" altLang="en-US">
              <a:cs typeface="Arial" panose="020B0604020202020204" pitchFamily="34" charset="0"/>
            </a:endParaRPr>
          </a:p>
        </p:txBody>
      </p:sp>
      <p:sp>
        <p:nvSpPr>
          <p:cNvPr id="14233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234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911524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38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568B148-D026-4408-A6F5-231CAC34EBB0}" type="slidenum">
              <a:rPr lang="en-US" altLang="en-US">
                <a:cs typeface="Arial" panose="020B0604020202020204" pitchFamily="34" charset="0"/>
              </a:rPr>
              <a:pPr algn="r" eaLnBrk="1" hangingPunct="1">
                <a:spcBef>
                  <a:spcPct val="0"/>
                </a:spcBef>
                <a:buClrTx/>
                <a:buSzPct val="45000"/>
                <a:buFontTx/>
                <a:buNone/>
              </a:pPr>
              <a:t>66</a:t>
            </a:fld>
            <a:endParaRPr lang="en-US" altLang="en-US">
              <a:cs typeface="Arial" panose="020B0604020202020204" pitchFamily="34" charset="0"/>
            </a:endParaRPr>
          </a:p>
        </p:txBody>
      </p:sp>
      <p:sp>
        <p:nvSpPr>
          <p:cNvPr id="14438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438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58650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84AF60C-80DF-4772-BB8C-5455554CCCC7}" type="slidenum">
              <a:rPr lang="en-US" altLang="en-US">
                <a:cs typeface="Arial" panose="020B0604020202020204" pitchFamily="34" charset="0"/>
              </a:rPr>
              <a:pPr algn="r" eaLnBrk="1" hangingPunct="1">
                <a:spcBef>
                  <a:spcPct val="0"/>
                </a:spcBef>
                <a:buClrTx/>
                <a:buSzPct val="45000"/>
                <a:buFontTx/>
                <a:buNone/>
              </a:pPr>
              <a:t>67</a:t>
            </a:fld>
            <a:endParaRPr lang="en-US" altLang="en-US">
              <a:cs typeface="Arial" panose="020B0604020202020204" pitchFamily="34" charset="0"/>
            </a:endParaRPr>
          </a:p>
        </p:txBody>
      </p:sp>
      <p:sp>
        <p:nvSpPr>
          <p:cNvPr id="14848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848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877211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721753D-9468-4833-9D30-6473FBDB89D5}" type="slidenum">
              <a:rPr lang="en-US" altLang="en-US">
                <a:cs typeface="Arial" panose="020B0604020202020204" pitchFamily="34" charset="0"/>
              </a:rPr>
              <a:pPr algn="r" eaLnBrk="1" hangingPunct="1">
                <a:spcBef>
                  <a:spcPct val="0"/>
                </a:spcBef>
                <a:buClrTx/>
                <a:buSzPct val="45000"/>
                <a:buFontTx/>
                <a:buNone/>
              </a:pPr>
              <a:t>68</a:t>
            </a:fld>
            <a:endParaRPr lang="en-US" altLang="en-US">
              <a:cs typeface="Arial" panose="020B0604020202020204" pitchFamily="34" charset="0"/>
            </a:endParaRPr>
          </a:p>
        </p:txBody>
      </p:sp>
      <p:sp>
        <p:nvSpPr>
          <p:cNvPr id="15053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053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26460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0C696FC-011E-4483-9AE3-8D873904813B}" type="slidenum">
              <a:rPr lang="en-US" altLang="en-US">
                <a:cs typeface="Arial" panose="020B0604020202020204" pitchFamily="34" charset="0"/>
              </a:rPr>
              <a:pPr algn="r" eaLnBrk="1" hangingPunct="1">
                <a:spcBef>
                  <a:spcPct val="0"/>
                </a:spcBef>
                <a:buClrTx/>
                <a:buSzPct val="45000"/>
                <a:buFontTx/>
                <a:buNone/>
              </a:pPr>
              <a:t>69</a:t>
            </a:fld>
            <a:endParaRPr lang="en-US" altLang="en-US">
              <a:cs typeface="Arial" panose="020B0604020202020204" pitchFamily="34" charset="0"/>
            </a:endParaRPr>
          </a:p>
        </p:txBody>
      </p:sp>
      <p:sp>
        <p:nvSpPr>
          <p:cNvPr id="15257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258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056564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2D87B89-3428-460F-AB24-2879B84615E5}" type="slidenum">
              <a:rPr lang="en-US" altLang="en-US">
                <a:cs typeface="Arial" panose="020B0604020202020204" pitchFamily="34" charset="0"/>
              </a:rPr>
              <a:pPr algn="r" eaLnBrk="1" hangingPunct="1">
                <a:spcBef>
                  <a:spcPct val="0"/>
                </a:spcBef>
                <a:buClrTx/>
                <a:buSzPct val="45000"/>
                <a:buFontTx/>
                <a:buNone/>
              </a:pPr>
              <a:t>70</a:t>
            </a:fld>
            <a:endParaRPr lang="en-US" altLang="en-US">
              <a:cs typeface="Arial" panose="020B0604020202020204" pitchFamily="34" charset="0"/>
            </a:endParaRPr>
          </a:p>
        </p:txBody>
      </p:sp>
      <p:sp>
        <p:nvSpPr>
          <p:cNvPr id="15462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462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246148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E1AD362-33E8-4C49-A755-EEB3FBD9DFF4}" type="slidenum">
              <a:rPr lang="en-US" altLang="en-US">
                <a:cs typeface="Arial" panose="020B0604020202020204" pitchFamily="34" charset="0"/>
              </a:rPr>
              <a:pPr algn="r" eaLnBrk="1" hangingPunct="1">
                <a:spcBef>
                  <a:spcPct val="0"/>
                </a:spcBef>
                <a:buClrTx/>
                <a:buSzPct val="45000"/>
                <a:buFontTx/>
                <a:buNone/>
              </a:pPr>
              <a:t>71</a:t>
            </a:fld>
            <a:endParaRPr lang="en-US" altLang="en-US">
              <a:cs typeface="Arial" panose="020B0604020202020204" pitchFamily="34" charset="0"/>
            </a:endParaRPr>
          </a:p>
        </p:txBody>
      </p:sp>
      <p:sp>
        <p:nvSpPr>
          <p:cNvPr id="15872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872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4495670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077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700E311-738F-4FA5-A2B7-C2A7F821677D}" type="slidenum">
              <a:rPr lang="en-US" altLang="en-US">
                <a:cs typeface="Arial" panose="020B0604020202020204" pitchFamily="34" charset="0"/>
              </a:rPr>
              <a:pPr algn="r" eaLnBrk="1" hangingPunct="1">
                <a:spcBef>
                  <a:spcPct val="0"/>
                </a:spcBef>
                <a:buClrTx/>
                <a:buSzPct val="45000"/>
                <a:buFontTx/>
                <a:buNone/>
              </a:pPr>
              <a:t>72</a:t>
            </a:fld>
            <a:endParaRPr lang="en-US" altLang="en-US">
              <a:cs typeface="Arial" panose="020B0604020202020204" pitchFamily="34" charset="0"/>
            </a:endParaRPr>
          </a:p>
        </p:txBody>
      </p:sp>
      <p:sp>
        <p:nvSpPr>
          <p:cNvPr id="16077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077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59910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81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11B360F-D452-4215-8648-6E222F0FDF26}" type="slidenum">
              <a:rPr lang="en-US" altLang="en-US">
                <a:cs typeface="Arial" panose="020B0604020202020204" pitchFamily="34" charset="0"/>
              </a:rPr>
              <a:pPr algn="r" eaLnBrk="1" hangingPunct="1">
                <a:spcBef>
                  <a:spcPct val="0"/>
                </a:spcBef>
                <a:buClrTx/>
                <a:buSzPct val="45000"/>
                <a:buFontTx/>
                <a:buNone/>
              </a:pPr>
              <a:t>73</a:t>
            </a:fld>
            <a:endParaRPr lang="en-US" altLang="en-US">
              <a:cs typeface="Arial" panose="020B0604020202020204" pitchFamily="34" charset="0"/>
            </a:endParaRPr>
          </a:p>
        </p:txBody>
      </p:sp>
      <p:sp>
        <p:nvSpPr>
          <p:cNvPr id="16281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282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286652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86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7FA9A47-DF66-48C9-ACC4-BCCB23E2408B}" type="slidenum">
              <a:rPr lang="en-US" altLang="en-US">
                <a:cs typeface="Arial" panose="020B0604020202020204" pitchFamily="34" charset="0"/>
              </a:rPr>
              <a:pPr algn="r" eaLnBrk="1" hangingPunct="1">
                <a:spcBef>
                  <a:spcPct val="0"/>
                </a:spcBef>
                <a:buClrTx/>
                <a:buSzPct val="45000"/>
                <a:buFontTx/>
                <a:buNone/>
              </a:pPr>
              <a:t>74</a:t>
            </a:fld>
            <a:endParaRPr lang="en-US" altLang="en-US">
              <a:cs typeface="Arial" panose="020B0604020202020204" pitchFamily="34" charset="0"/>
            </a:endParaRPr>
          </a:p>
        </p:txBody>
      </p:sp>
      <p:sp>
        <p:nvSpPr>
          <p:cNvPr id="16486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486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319246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21659F9-0DB0-4C04-85BB-574B4D741A3A}" type="slidenum">
              <a:rPr lang="en-US" altLang="en-US">
                <a:cs typeface="Arial" panose="020B0604020202020204" pitchFamily="34" charset="0"/>
              </a:rPr>
              <a:pPr algn="r" eaLnBrk="1" hangingPunct="1">
                <a:spcBef>
                  <a:spcPct val="0"/>
                </a:spcBef>
                <a:buClrTx/>
                <a:buSzPct val="45000"/>
                <a:buFontTx/>
                <a:buNone/>
              </a:pPr>
              <a:t>75</a:t>
            </a:fld>
            <a:endParaRPr lang="en-US" altLang="en-US">
              <a:cs typeface="Arial" panose="020B0604020202020204" pitchFamily="34" charset="0"/>
            </a:endParaRPr>
          </a:p>
        </p:txBody>
      </p:sp>
      <p:sp>
        <p:nvSpPr>
          <p:cNvPr id="16691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691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564338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96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94B6369-0FE2-450E-A8A8-7004827301ED}" type="slidenum">
              <a:rPr lang="en-US" altLang="en-US">
                <a:cs typeface="Arial" panose="020B0604020202020204" pitchFamily="34" charset="0"/>
              </a:rPr>
              <a:pPr algn="r" eaLnBrk="1" hangingPunct="1">
                <a:spcBef>
                  <a:spcPct val="0"/>
                </a:spcBef>
                <a:buClrTx/>
                <a:buSzPct val="45000"/>
                <a:buFontTx/>
                <a:buNone/>
              </a:pPr>
              <a:t>76</a:t>
            </a:fld>
            <a:endParaRPr lang="en-US" altLang="en-US">
              <a:cs typeface="Arial" panose="020B0604020202020204" pitchFamily="34" charset="0"/>
            </a:endParaRPr>
          </a:p>
        </p:txBody>
      </p:sp>
      <p:sp>
        <p:nvSpPr>
          <p:cNvPr id="16896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896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583802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F567F59-A9A1-465F-BABD-373DDF413B38}" type="slidenum">
              <a:rPr lang="en-US" altLang="en-US">
                <a:cs typeface="Arial" panose="020B0604020202020204" pitchFamily="34" charset="0"/>
              </a:rPr>
              <a:pPr algn="r" eaLnBrk="1" hangingPunct="1">
                <a:spcBef>
                  <a:spcPct val="0"/>
                </a:spcBef>
                <a:buClrTx/>
                <a:buSzPct val="45000"/>
                <a:buFontTx/>
                <a:buNone/>
              </a:pPr>
              <a:t>77</a:t>
            </a:fld>
            <a:endParaRPr lang="en-US" altLang="en-US">
              <a:cs typeface="Arial" panose="020B0604020202020204" pitchFamily="34" charset="0"/>
            </a:endParaRPr>
          </a:p>
        </p:txBody>
      </p:sp>
      <p:sp>
        <p:nvSpPr>
          <p:cNvPr id="17101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101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009994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10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AFD04E2-26E0-4996-816E-C415EAB23B0E}" type="slidenum">
              <a:rPr lang="en-US" altLang="en-US">
                <a:cs typeface="Arial" panose="020B0604020202020204" pitchFamily="34" charset="0"/>
              </a:rPr>
              <a:pPr algn="r" eaLnBrk="1" hangingPunct="1">
                <a:spcBef>
                  <a:spcPct val="0"/>
                </a:spcBef>
                <a:buClrTx/>
                <a:buSzPct val="45000"/>
                <a:buFontTx/>
                <a:buNone/>
              </a:pPr>
              <a:t>78</a:t>
            </a:fld>
            <a:endParaRPr lang="en-US" altLang="en-US">
              <a:cs typeface="Arial" panose="020B0604020202020204" pitchFamily="34" charset="0"/>
            </a:endParaRPr>
          </a:p>
        </p:txBody>
      </p:sp>
      <p:sp>
        <p:nvSpPr>
          <p:cNvPr id="17510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510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9700986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15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5AE9825-A13C-48EB-890F-8E5D72F05A7B}" type="slidenum">
              <a:rPr lang="en-US" altLang="en-US">
                <a:cs typeface="Arial" panose="020B0604020202020204" pitchFamily="34" charset="0"/>
              </a:rPr>
              <a:pPr algn="r" eaLnBrk="1" hangingPunct="1">
                <a:spcBef>
                  <a:spcPct val="0"/>
                </a:spcBef>
                <a:buClrTx/>
                <a:buSzPct val="45000"/>
                <a:buFontTx/>
                <a:buNone/>
              </a:pPr>
              <a:t>79</a:t>
            </a:fld>
            <a:endParaRPr lang="en-US" altLang="en-US">
              <a:cs typeface="Arial" panose="020B0604020202020204" pitchFamily="34" charset="0"/>
            </a:endParaRPr>
          </a:p>
        </p:txBody>
      </p:sp>
      <p:sp>
        <p:nvSpPr>
          <p:cNvPr id="17715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715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159427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920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4F5ACE4-D8E0-4558-9A20-E006776A2F12}" type="slidenum">
              <a:rPr lang="en-US" altLang="en-US">
                <a:cs typeface="Arial" panose="020B0604020202020204" pitchFamily="34" charset="0"/>
              </a:rPr>
              <a:pPr algn="r" eaLnBrk="1" hangingPunct="1">
                <a:spcBef>
                  <a:spcPct val="0"/>
                </a:spcBef>
                <a:buClrTx/>
                <a:buSzPct val="45000"/>
                <a:buFontTx/>
                <a:buNone/>
              </a:pPr>
              <a:t>80</a:t>
            </a:fld>
            <a:endParaRPr lang="en-US" altLang="en-US">
              <a:cs typeface="Arial" panose="020B0604020202020204" pitchFamily="34" charset="0"/>
            </a:endParaRPr>
          </a:p>
        </p:txBody>
      </p:sp>
      <p:sp>
        <p:nvSpPr>
          <p:cNvPr id="17920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920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24669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25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92D210CB-FE47-452A-B86B-701D18F1138E}" type="slidenum">
              <a:rPr lang="en-US" altLang="en-US">
                <a:cs typeface="Arial" panose="020B0604020202020204" pitchFamily="34" charset="0"/>
              </a:rPr>
              <a:pPr algn="r" eaLnBrk="1" hangingPunct="1">
                <a:spcBef>
                  <a:spcPct val="0"/>
                </a:spcBef>
                <a:buClrTx/>
                <a:buSzPct val="45000"/>
                <a:buFontTx/>
                <a:buNone/>
              </a:pPr>
              <a:t>81</a:t>
            </a:fld>
            <a:endParaRPr lang="en-US" altLang="en-US">
              <a:cs typeface="Arial" panose="020B0604020202020204" pitchFamily="34" charset="0"/>
            </a:endParaRPr>
          </a:p>
        </p:txBody>
      </p:sp>
      <p:sp>
        <p:nvSpPr>
          <p:cNvPr id="18125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125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152429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29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70515FD2-880D-4BA9-9C47-DE2798F0C256}" type="slidenum">
              <a:rPr lang="en-US" altLang="en-US">
                <a:cs typeface="Arial" panose="020B0604020202020204" pitchFamily="34" charset="0"/>
              </a:rPr>
              <a:pPr algn="r" eaLnBrk="1" hangingPunct="1">
                <a:spcBef>
                  <a:spcPct val="0"/>
                </a:spcBef>
                <a:buClrTx/>
                <a:buSzPct val="45000"/>
                <a:buFontTx/>
                <a:buNone/>
              </a:pPr>
              <a:t>82</a:t>
            </a:fld>
            <a:endParaRPr lang="en-US" altLang="en-US">
              <a:cs typeface="Arial" panose="020B0604020202020204" pitchFamily="34" charset="0"/>
            </a:endParaRPr>
          </a:p>
        </p:txBody>
      </p:sp>
      <p:sp>
        <p:nvSpPr>
          <p:cNvPr id="18329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330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048843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534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EC50D9E1-7537-47A8-B8D5-567D089D721C}" type="slidenum">
              <a:rPr lang="en-US" altLang="en-US">
                <a:cs typeface="Arial" panose="020B0604020202020204" pitchFamily="34" charset="0"/>
              </a:rPr>
              <a:pPr algn="r" eaLnBrk="1" hangingPunct="1">
                <a:spcBef>
                  <a:spcPct val="0"/>
                </a:spcBef>
                <a:buClrTx/>
                <a:buSzPct val="45000"/>
                <a:buFontTx/>
                <a:buNone/>
              </a:pPr>
              <a:t>83</a:t>
            </a:fld>
            <a:endParaRPr lang="en-US" altLang="en-US">
              <a:cs typeface="Arial" panose="020B0604020202020204" pitchFamily="34" charset="0"/>
            </a:endParaRPr>
          </a:p>
        </p:txBody>
      </p:sp>
      <p:sp>
        <p:nvSpPr>
          <p:cNvPr id="18534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4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7009582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739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212D1EC1-8D5F-4114-8A88-B91B0B18D4A2}" type="slidenum">
              <a:rPr lang="en-US" altLang="en-US">
                <a:cs typeface="Arial" panose="020B0604020202020204" pitchFamily="34" charset="0"/>
              </a:rPr>
              <a:pPr algn="r" eaLnBrk="1" hangingPunct="1">
                <a:spcBef>
                  <a:spcPct val="0"/>
                </a:spcBef>
                <a:buClrTx/>
                <a:buSzPct val="45000"/>
                <a:buFontTx/>
                <a:buNone/>
              </a:pPr>
              <a:t>84</a:t>
            </a:fld>
            <a:endParaRPr lang="en-US" altLang="en-US">
              <a:cs typeface="Arial" panose="020B0604020202020204" pitchFamily="34" charset="0"/>
            </a:endParaRPr>
          </a:p>
        </p:txBody>
      </p:sp>
      <p:sp>
        <p:nvSpPr>
          <p:cNvPr id="18739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739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6473121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44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E3CF23B6-3CFB-472D-BEF7-B3A602E85B82}" type="slidenum">
              <a:rPr lang="en-US" altLang="en-US">
                <a:cs typeface="Arial" panose="020B0604020202020204" pitchFamily="34" charset="0"/>
              </a:rPr>
              <a:pPr algn="r" eaLnBrk="1" hangingPunct="1">
                <a:spcBef>
                  <a:spcPct val="0"/>
                </a:spcBef>
                <a:buClrTx/>
                <a:buSzPct val="45000"/>
                <a:buFontTx/>
                <a:buNone/>
              </a:pPr>
              <a:t>85</a:t>
            </a:fld>
            <a:endParaRPr lang="en-US" altLang="en-US">
              <a:cs typeface="Arial" panose="020B0604020202020204" pitchFamily="34" charset="0"/>
            </a:endParaRPr>
          </a:p>
        </p:txBody>
      </p:sp>
      <p:sp>
        <p:nvSpPr>
          <p:cNvPr id="18944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944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987718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490"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A869BB6-7A18-4764-A308-BBD102A00343}" type="slidenum">
              <a:rPr lang="en-US" altLang="en-US">
                <a:cs typeface="Arial" panose="020B0604020202020204" pitchFamily="34" charset="0"/>
              </a:rPr>
              <a:pPr algn="r" eaLnBrk="1" hangingPunct="1">
                <a:spcBef>
                  <a:spcPct val="0"/>
                </a:spcBef>
                <a:buClrTx/>
                <a:buSzPct val="45000"/>
                <a:buFontTx/>
                <a:buNone/>
              </a:pPr>
              <a:t>86</a:t>
            </a:fld>
            <a:endParaRPr lang="en-US" altLang="en-US">
              <a:cs typeface="Arial" panose="020B0604020202020204" pitchFamily="34" charset="0"/>
            </a:endParaRPr>
          </a:p>
        </p:txBody>
      </p:sp>
      <p:sp>
        <p:nvSpPr>
          <p:cNvPr id="191491"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1492"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481351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538"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6A32FF7-E6E9-42FB-AA95-90A50430EB70}" type="slidenum">
              <a:rPr lang="en-US" altLang="en-US">
                <a:cs typeface="Arial" panose="020B0604020202020204" pitchFamily="34" charset="0"/>
              </a:rPr>
              <a:pPr algn="r" eaLnBrk="1" hangingPunct="1">
                <a:spcBef>
                  <a:spcPct val="0"/>
                </a:spcBef>
                <a:buClrTx/>
                <a:buSzPct val="45000"/>
                <a:buFontTx/>
                <a:buNone/>
              </a:pPr>
              <a:t>87</a:t>
            </a:fld>
            <a:endParaRPr lang="en-US" altLang="en-US">
              <a:cs typeface="Arial" panose="020B0604020202020204" pitchFamily="34" charset="0"/>
            </a:endParaRPr>
          </a:p>
        </p:txBody>
      </p:sp>
      <p:sp>
        <p:nvSpPr>
          <p:cNvPr id="193539"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3540"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4388228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586"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ABB735B-0FB5-4253-96FA-3803C8C5DBC1}" type="slidenum">
              <a:rPr lang="en-US" altLang="en-US">
                <a:cs typeface="Arial" panose="020B0604020202020204" pitchFamily="34" charset="0"/>
              </a:rPr>
              <a:pPr algn="r" eaLnBrk="1" hangingPunct="1">
                <a:spcBef>
                  <a:spcPct val="0"/>
                </a:spcBef>
                <a:buClrTx/>
                <a:buSzPct val="45000"/>
                <a:buFontTx/>
                <a:buNone/>
              </a:pPr>
              <a:t>88</a:t>
            </a:fld>
            <a:endParaRPr lang="en-US" altLang="en-US">
              <a:cs typeface="Arial" panose="020B0604020202020204" pitchFamily="34" charset="0"/>
            </a:endParaRPr>
          </a:p>
        </p:txBody>
      </p:sp>
      <p:sp>
        <p:nvSpPr>
          <p:cNvPr id="195587"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5588"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075113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6382570-0672-49CE-A295-A096955AB47A}" type="slidenum">
              <a:rPr lang="en-US" altLang="en-US">
                <a:cs typeface="Arial" panose="020B0604020202020204" pitchFamily="34" charset="0"/>
              </a:rPr>
              <a:pPr algn="r" eaLnBrk="1" hangingPunct="1">
                <a:spcBef>
                  <a:spcPct val="0"/>
                </a:spcBef>
                <a:buClrTx/>
                <a:buSzPct val="45000"/>
                <a:buFontTx/>
                <a:buNone/>
              </a:pPr>
              <a:t>89</a:t>
            </a:fld>
            <a:endParaRPr lang="en-US" altLang="en-US">
              <a:cs typeface="Arial" panose="020B0604020202020204" pitchFamily="34" charset="0"/>
            </a:endParaRPr>
          </a:p>
        </p:txBody>
      </p:sp>
      <p:sp>
        <p:nvSpPr>
          <p:cNvPr id="197635"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7636"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6234937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682" name="Rectangle 22"/>
          <p:cNvSpPr txBox="1">
            <a:spLocks noGrp="1" noChangeArrowheads="1"/>
          </p:cNvSpPr>
          <p:nvPr/>
        </p:nvSpPr>
        <p:spPr bwMode="auto">
          <a:xfrm>
            <a:off x="3850734" y="9431389"/>
            <a:ext cx="2922307" cy="469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AA309C3-28B6-4958-95E1-B5475BB4DEBE}" type="slidenum">
              <a:rPr lang="en-US" altLang="en-US">
                <a:cs typeface="Arial" panose="020B0604020202020204" pitchFamily="34" charset="0"/>
              </a:rPr>
              <a:pPr algn="r" eaLnBrk="1" hangingPunct="1">
                <a:spcBef>
                  <a:spcPct val="0"/>
                </a:spcBef>
                <a:buClrTx/>
                <a:buSzPct val="45000"/>
                <a:buFontTx/>
                <a:buNone/>
              </a:pPr>
              <a:t>90</a:t>
            </a:fld>
            <a:endParaRPr lang="en-US" altLang="en-US">
              <a:cs typeface="Arial" panose="020B0604020202020204" pitchFamily="34" charset="0"/>
            </a:endParaRPr>
          </a:p>
        </p:txBody>
      </p:sp>
      <p:sp>
        <p:nvSpPr>
          <p:cNvPr id="199683" name="Rectangle 1"/>
          <p:cNvSpPr>
            <a:spLocks noGrp="1" noRot="1" noChangeAspect="1" noChangeArrowheads="1" noTextEdit="1"/>
          </p:cNvSpPr>
          <p:nvPr>
            <p:ph type="sldImg"/>
          </p:nvPr>
        </p:nvSpPr>
        <p:spPr>
          <a:xfrm>
            <a:off x="917575" y="744538"/>
            <a:ext cx="4964113" cy="3724275"/>
          </a:xfrm>
          <a:prstGeom prst="rect">
            <a:avLst/>
          </a:prstGeo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9684" name="Rectangle 2"/>
          <p:cNvSpPr>
            <a:spLocks noGrp="1" noChangeArrowheads="1"/>
          </p:cNvSpPr>
          <p:nvPr>
            <p:ph type="body" idx="1"/>
          </p:nvPr>
        </p:nvSpPr>
        <p:spPr>
          <a:xfrm>
            <a:off x="680537" y="4717391"/>
            <a:ext cx="5438140" cy="4468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52729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32154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zh-HK" altLang="en-US"/>
          </a:p>
        </p:txBody>
      </p:sp>
    </p:spTree>
    <p:extLst>
      <p:ext uri="{BB962C8B-B14F-4D97-AF65-F5344CB8AC3E}">
        <p14:creationId xmlns:p14="http://schemas.microsoft.com/office/powerpoint/2010/main" val="31463032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57" r:id="rId1"/>
    <p:sldLayoutId id="2147484060" r:id="rId2"/>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wmf"/><Relationship Id="rId5" Type="http://schemas.openxmlformats.org/officeDocument/2006/relationships/oleObject" Target="../embeddings/oleObject4.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w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6.wmf"/><Relationship Id="rId5" Type="http://schemas.openxmlformats.org/officeDocument/2006/relationships/oleObject" Target="../embeddings/oleObject11.bin"/><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8.wmf"/><Relationship Id="rId5" Type="http://schemas.openxmlformats.org/officeDocument/2006/relationships/oleObject" Target="../embeddings/oleObject13.bin"/><Relationship Id="rId4" Type="http://schemas.openxmlformats.org/officeDocument/2006/relationships/image" Target="../media/image17.wmf"/></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3.wmf"/><Relationship Id="rId5" Type="http://schemas.openxmlformats.org/officeDocument/2006/relationships/oleObject" Target="../embeddings/oleObject17.bin"/><Relationship Id="rId4" Type="http://schemas.openxmlformats.org/officeDocument/2006/relationships/image" Target="../media/image2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6.emf"/><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1.wmf"/><Relationship Id="rId5" Type="http://schemas.openxmlformats.org/officeDocument/2006/relationships/oleObject" Target="../embeddings/oleObject21.bin"/><Relationship Id="rId4" Type="http://schemas.openxmlformats.org/officeDocument/2006/relationships/image" Target="../media/image30.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7.wmf"/><Relationship Id="rId5" Type="http://schemas.openxmlformats.org/officeDocument/2006/relationships/oleObject" Target="../embeddings/oleObject24.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6.bin"/></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41.wmf"/><Relationship Id="rId4" Type="http://schemas.openxmlformats.org/officeDocument/2006/relationships/oleObject" Target="../embeddings/oleObject27.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8.wmf"/><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oleObject" Target="../embeddings/oleObject29.bin"/><Relationship Id="rId5" Type="http://schemas.openxmlformats.org/officeDocument/2006/relationships/image" Target="../media/image47.wmf"/><Relationship Id="rId4" Type="http://schemas.openxmlformats.org/officeDocument/2006/relationships/oleObject" Target="../embeddings/oleObject28.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9.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59.wmf"/><Relationship Id="rId4" Type="http://schemas.openxmlformats.org/officeDocument/2006/relationships/oleObject" Target="../embeddings/oleObject31.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61.wmf"/><Relationship Id="rId5" Type="http://schemas.openxmlformats.org/officeDocument/2006/relationships/oleObject" Target="../embeddings/oleObject33.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35.bin"/></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65.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67.wmf"/><Relationship Id="rId4" Type="http://schemas.openxmlformats.org/officeDocument/2006/relationships/oleObject" Target="../embeddings/oleObject37.bin"/></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2"/>
          <p:cNvSpPr>
            <a:spLocks noGrp="1"/>
          </p:cNvSpPr>
          <p:nvPr>
            <p:ph type="subTitle" idx="1"/>
          </p:nvPr>
        </p:nvSpPr>
        <p:spPr bwMode="auto">
          <a:xfrm>
            <a:off x="1403350" y="3213100"/>
            <a:ext cx="6400800" cy="3024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HK" b="1" dirty="0">
                <a:solidFill>
                  <a:srgbClr val="898989"/>
                </a:solidFill>
                <a:ea typeface="新細明體" pitchFamily="18" charset="-120"/>
              </a:rPr>
              <a:t>Instructor: </a:t>
            </a:r>
            <a:r>
              <a:rPr lang="en-US" altLang="zh-HK" dirty="0">
                <a:solidFill>
                  <a:srgbClr val="898989"/>
                </a:solidFill>
                <a:ea typeface="新細明體" pitchFamily="18" charset="-120"/>
              </a:rPr>
              <a:t>CAO Kang Hua </a:t>
            </a:r>
            <a:r>
              <a:rPr lang="en-US" altLang="zh-HK" dirty="0" err="1">
                <a:solidFill>
                  <a:srgbClr val="898989"/>
                </a:solidFill>
                <a:ea typeface="新細明體" pitchFamily="18" charset="-120"/>
              </a:rPr>
              <a:t>曹康華</a:t>
            </a:r>
            <a:endParaRPr lang="en-US" altLang="zh-HK" dirty="0">
              <a:solidFill>
                <a:srgbClr val="898989"/>
              </a:solidFill>
              <a:ea typeface="新細明體" pitchFamily="18" charset="-120"/>
            </a:endParaRPr>
          </a:p>
          <a:p>
            <a:pPr eaLnBrk="1" hangingPunct="1"/>
            <a:endParaRPr lang="en-US" altLang="zh-TW" dirty="0">
              <a:solidFill>
                <a:srgbClr val="898989"/>
              </a:solidFill>
              <a:ea typeface="新細明體" pitchFamily="18" charset="-120"/>
            </a:endParaRPr>
          </a:p>
          <a:p>
            <a:pPr algn="l" eaLnBrk="1" hangingPunct="1"/>
            <a:r>
              <a:rPr lang="en-US" altLang="zh-TW">
                <a:solidFill>
                  <a:srgbClr val="898989"/>
                </a:solidFill>
                <a:ea typeface="新細明體" pitchFamily="18" charset="-120"/>
              </a:rPr>
              <a:t>Lecture 4</a:t>
            </a:r>
            <a:endParaRPr lang="en-US" altLang="zh-TW" dirty="0">
              <a:solidFill>
                <a:srgbClr val="898989"/>
              </a:solidFill>
              <a:ea typeface="新細明體" pitchFamily="18" charset="-120"/>
            </a:endParaRPr>
          </a:p>
          <a:p>
            <a:pPr algn="l" eaLnBrk="1" hangingPunct="1">
              <a:buFont typeface="Arial" panose="020B0604020202020204" pitchFamily="34" charset="0"/>
              <a:buChar char="•"/>
            </a:pPr>
            <a:r>
              <a:rPr lang="en-US" altLang="en-US" dirty="0">
                <a:solidFill>
                  <a:srgbClr val="898989"/>
                </a:solidFill>
              </a:rPr>
              <a:t> Statistical Inference: Significance Tests About Hypotheses</a:t>
            </a:r>
          </a:p>
          <a:p>
            <a:pPr algn="l" eaLnBrk="1" hangingPunct="1">
              <a:buFont typeface="Arial" panose="020B0604020202020204" pitchFamily="34" charset="0"/>
              <a:buChar char="•"/>
            </a:pPr>
            <a:endParaRPr lang="en-US" altLang="en-US" dirty="0">
              <a:solidFill>
                <a:srgbClr val="898989"/>
              </a:solidFill>
            </a:endParaRPr>
          </a:p>
          <a:p>
            <a:pPr algn="l" eaLnBrk="1" hangingPunct="1">
              <a:buFont typeface="Arial" panose="020B0604020202020204" pitchFamily="34" charset="0"/>
              <a:buChar char="•"/>
            </a:pPr>
            <a:endParaRPr lang="en-US" altLang="en-US" dirty="0">
              <a:solidFill>
                <a:srgbClr val="898989"/>
              </a:solidFill>
            </a:endParaRPr>
          </a:p>
        </p:txBody>
      </p:sp>
      <p:sp>
        <p:nvSpPr>
          <p:cNvPr id="3074" name="Title 1"/>
          <p:cNvSpPr>
            <a:spLocks noGrp="1"/>
          </p:cNvSpPr>
          <p:nvPr>
            <p:ph type="ctrTitle" idx="4294967295"/>
          </p:nvPr>
        </p:nvSpPr>
        <p:spPr bwMode="auto">
          <a:xfrm>
            <a:off x="717550" y="1097280"/>
            <a:ext cx="7772400" cy="1470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Econ 7900</a:t>
            </a:r>
            <a:b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br>
            <a:r>
              <a:rPr lang="en-US" altLang="zh-HK" sz="4400" dirty="0">
                <a:solidFill>
                  <a:schemeClr val="tx1"/>
                </a:solidFill>
                <a:latin typeface="Calibri Light" panose="020F0302020204030204" pitchFamily="34" charset="0"/>
                <a:ea typeface="新細明體" pitchFamily="18" charset="-120"/>
                <a:cs typeface="Calibri Light" panose="020F0302020204030204" pitchFamily="34" charset="0"/>
              </a:rPr>
              <a:t>Statistics for Data Science </a:t>
            </a:r>
            <a:endParaRPr lang="zh-HK" altLang="en-US" sz="4400" dirty="0">
              <a:solidFill>
                <a:schemeClr val="tx1"/>
              </a:solidFill>
              <a:latin typeface="Calibri Light" panose="020F0302020204030204" pitchFamily="34" charset="0"/>
              <a:ea typeface="新細明體" pitchFamily="18" charset="-120"/>
              <a:cs typeface="Calibri Light" panose="020F0302020204030204" pitchFamily="34" charset="0"/>
            </a:endParaRPr>
          </a:p>
        </p:txBody>
      </p:sp>
    </p:spTree>
    <p:extLst>
      <p:ext uri="{BB962C8B-B14F-4D97-AF65-F5344CB8AC3E}">
        <p14:creationId xmlns:p14="http://schemas.microsoft.com/office/powerpoint/2010/main" val="808937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idx="4294967295"/>
          </p:nvPr>
        </p:nvSpPr>
        <p:spPr bwMode="auto">
          <a:xfrm>
            <a:off x="747713" y="228600"/>
            <a:ext cx="79248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Scientific Method</a:t>
            </a:r>
          </a:p>
        </p:txBody>
      </p:sp>
      <p:sp>
        <p:nvSpPr>
          <p:cNvPr id="6147" name="Rectangle 2"/>
          <p:cNvSpPr>
            <a:spLocks noGrp="1" noChangeArrowheads="1"/>
          </p:cNvSpPr>
          <p:nvPr>
            <p:ph type="body" idx="4294967295"/>
          </p:nvPr>
        </p:nvSpPr>
        <p:spPr bwMode="auto">
          <a:xfrm>
            <a:off x="914400" y="1676401"/>
            <a:ext cx="7543800" cy="439521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a:r>
              <a:rPr lang="en-US" altLang="en-US" sz="2000" dirty="0"/>
              <a:t>The scientific method is an empirical method of acquiring knowledge that has characterized the development of science since at least the 17th century. </a:t>
            </a:r>
          </a:p>
          <a:p>
            <a:pPr marL="0" indent="0"/>
            <a:endParaRPr lang="en-US" altLang="en-US" sz="2000" dirty="0"/>
          </a:p>
          <a:p>
            <a:pPr marL="0" indent="0"/>
            <a:r>
              <a:rPr lang="en-US" altLang="en-US" sz="2000" dirty="0"/>
              <a:t>It involves careful observation, applying rigorous skepticism about what is observed, given that cognitive assumptions can distort how one interprets the observation. </a:t>
            </a:r>
          </a:p>
          <a:p>
            <a:pPr marL="0" indent="0"/>
            <a:endParaRPr lang="en-US" altLang="en-US" sz="2000" dirty="0"/>
          </a:p>
          <a:p>
            <a:pPr marL="0" indent="0"/>
            <a:r>
              <a:rPr lang="en-US" altLang="en-US" sz="2000" dirty="0"/>
              <a:t>It involves formulating hypotheses, via induction, based on such observations; experimental and measurement-based statistical testing of deductions drawn from the hypotheses; and refinement (or elimination) of the hypotheses based on the experimental findings. </a:t>
            </a:r>
            <a:endParaRPr lang="en-US" altLang="en-US" sz="1800" b="1" dirty="0">
              <a:solidFill>
                <a:schemeClr val="tx1"/>
              </a:solidFill>
            </a:endParaRPr>
          </a:p>
        </p:txBody>
      </p:sp>
    </p:spTree>
    <p:extLst>
      <p:ext uri="{BB962C8B-B14F-4D97-AF65-F5344CB8AC3E}">
        <p14:creationId xmlns:p14="http://schemas.microsoft.com/office/powerpoint/2010/main" val="39867967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idx="4294967295"/>
          </p:nvPr>
        </p:nvSpPr>
        <p:spPr bwMode="auto">
          <a:xfrm>
            <a:off x="747713" y="228600"/>
            <a:ext cx="79248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Scientific Method</a:t>
            </a:r>
          </a:p>
        </p:txBody>
      </p:sp>
      <p:pic>
        <p:nvPicPr>
          <p:cNvPr id="2" name="Picture 1">
            <a:extLst>
              <a:ext uri="{FF2B5EF4-FFF2-40B4-BE49-F238E27FC236}">
                <a16:creationId xmlns:a16="http://schemas.microsoft.com/office/drawing/2014/main" id="{AB912B53-DA28-EFC9-172E-95EA5640F96F}"/>
              </a:ext>
            </a:extLst>
          </p:cNvPr>
          <p:cNvPicPr>
            <a:picLocks noChangeAspect="1"/>
          </p:cNvPicPr>
          <p:nvPr/>
        </p:nvPicPr>
        <p:blipFill>
          <a:blip r:embed="rId3"/>
          <a:stretch>
            <a:fillRect/>
          </a:stretch>
        </p:blipFill>
        <p:spPr>
          <a:xfrm>
            <a:off x="1929384" y="1225742"/>
            <a:ext cx="5285232" cy="5022002"/>
          </a:xfrm>
          <a:prstGeom prst="rect">
            <a:avLst/>
          </a:prstGeom>
        </p:spPr>
      </p:pic>
    </p:spTree>
    <p:extLst>
      <p:ext uri="{BB962C8B-B14F-4D97-AF65-F5344CB8AC3E}">
        <p14:creationId xmlns:p14="http://schemas.microsoft.com/office/powerpoint/2010/main" val="13766277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idx="4294967295"/>
          </p:nvPr>
        </p:nvSpPr>
        <p:spPr bwMode="auto">
          <a:xfrm>
            <a:off x="747713" y="228600"/>
            <a:ext cx="79248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Hypothesis</a:t>
            </a:r>
          </a:p>
        </p:txBody>
      </p:sp>
      <p:sp>
        <p:nvSpPr>
          <p:cNvPr id="6147" name="Rectangle 2"/>
          <p:cNvSpPr>
            <a:spLocks noGrp="1" noChangeArrowheads="1"/>
          </p:cNvSpPr>
          <p:nvPr>
            <p:ph type="body" idx="4294967295"/>
          </p:nvPr>
        </p:nvSpPr>
        <p:spPr bwMode="auto">
          <a:xfrm>
            <a:off x="914400" y="1676400"/>
            <a:ext cx="7772400" cy="44545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a:r>
              <a:rPr lang="en-US" altLang="en-US" dirty="0"/>
              <a:t>The main goal of many research studies is to check whether the data support certain statements or predictions. These statements are </a:t>
            </a:r>
            <a:r>
              <a:rPr lang="en-US" altLang="en-US" b="1" dirty="0"/>
              <a:t>hypotheses </a:t>
            </a:r>
            <a:r>
              <a:rPr lang="en-US" altLang="en-US" dirty="0"/>
              <a:t>about a population. They are usually expressed in terms of population parameters for variables measured in the study.</a:t>
            </a:r>
          </a:p>
          <a:p>
            <a:pPr marL="0" indent="0"/>
            <a:endParaRPr lang="en-US" altLang="en-US" dirty="0">
              <a:solidFill>
                <a:schemeClr val="tx1"/>
              </a:solidFill>
            </a:endParaRPr>
          </a:p>
          <a:p>
            <a:pPr marL="0" indent="0"/>
            <a:r>
              <a:rPr lang="en-US" altLang="en-US" dirty="0">
                <a:solidFill>
                  <a:schemeClr val="tx1"/>
                </a:solidFill>
              </a:rPr>
              <a:t>In statistics, a </a:t>
            </a:r>
            <a:r>
              <a:rPr lang="en-US" altLang="en-US" b="1" dirty="0">
                <a:solidFill>
                  <a:schemeClr val="tx1"/>
                </a:solidFill>
              </a:rPr>
              <a:t>hypothesis</a:t>
            </a:r>
            <a:r>
              <a:rPr lang="en-US" altLang="en-US" dirty="0">
                <a:solidFill>
                  <a:schemeClr val="tx1"/>
                </a:solidFill>
              </a:rPr>
              <a:t> is a statement about a population, usually claiming that a population parameter takes a particular numerical range of values.</a:t>
            </a:r>
          </a:p>
          <a:p>
            <a:pPr marL="0" indent="0" eaLnBrk="1" hangingPunct="1">
              <a:spcBef>
                <a:spcPts val="600"/>
              </a:spcBef>
              <a:buSzPct val="90000"/>
            </a:pPr>
            <a:endParaRPr lang="en-US" altLang="en-US" dirty="0">
              <a:solidFill>
                <a:schemeClr val="tx1"/>
              </a:solidFill>
            </a:endParaRPr>
          </a:p>
          <a:p>
            <a:pPr marL="0" indent="0" eaLnBrk="1" hangingPunct="1">
              <a:spcBef>
                <a:spcPts val="550"/>
              </a:spcBef>
              <a:buSzPct val="90000"/>
              <a:buFontTx/>
              <a:buNone/>
            </a:pPr>
            <a:endParaRPr lang="en-US" altLang="en-US" sz="2000" b="1"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idx="4294967295"/>
          </p:nvPr>
        </p:nvSpPr>
        <p:spPr bwMode="auto">
          <a:xfrm>
            <a:off x="747713" y="228600"/>
            <a:ext cx="79248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The Steps of a Significance Test</a:t>
            </a:r>
          </a:p>
        </p:txBody>
      </p:sp>
      <p:sp>
        <p:nvSpPr>
          <p:cNvPr id="8195" name="Rectangle 2"/>
          <p:cNvSpPr>
            <a:spLocks noGrp="1" noChangeArrowheads="1"/>
          </p:cNvSpPr>
          <p:nvPr>
            <p:ph type="body" idx="4294967295"/>
          </p:nvPr>
        </p:nvSpPr>
        <p:spPr bwMode="auto">
          <a:xfrm>
            <a:off x="914400" y="1676400"/>
            <a:ext cx="7772400" cy="44545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SzPct val="90000"/>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A </a:t>
            </a:r>
            <a:r>
              <a:rPr lang="en-US" altLang="en-US" i="1" dirty="0">
                <a:solidFill>
                  <a:schemeClr val="tx1"/>
                </a:solidFill>
              </a:rPr>
              <a:t>significance test</a:t>
            </a:r>
            <a:r>
              <a:rPr lang="en-US" altLang="en-US" dirty="0">
                <a:solidFill>
                  <a:schemeClr val="tx1"/>
                </a:solidFill>
              </a:rPr>
              <a:t> is a method of using data to summarize the evidence about a hypothesis.</a:t>
            </a:r>
          </a:p>
          <a:p>
            <a:pPr marL="0" indent="0" eaLnBrk="1" hangingPunct="1">
              <a:spcBef>
                <a:spcPts val="200"/>
              </a:spcBef>
              <a:buSzPct val="90000"/>
              <a:buFontTx/>
              <a:buNone/>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endParaRPr lang="en-US" altLang="en-US" dirty="0">
              <a:solidFill>
                <a:schemeClr val="tx1"/>
              </a:solidFill>
            </a:endParaRPr>
          </a:p>
          <a:p>
            <a:pPr marL="0" indent="0" eaLnBrk="1" hangingPunct="1">
              <a:spcBef>
                <a:spcPts val="600"/>
              </a:spcBef>
              <a:buSzPct val="90000"/>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A </a:t>
            </a:r>
            <a:r>
              <a:rPr lang="en-US" altLang="en-US" i="1" dirty="0">
                <a:solidFill>
                  <a:schemeClr val="tx1"/>
                </a:solidFill>
              </a:rPr>
              <a:t>significance test</a:t>
            </a:r>
            <a:r>
              <a:rPr lang="en-US" altLang="en-US" dirty="0">
                <a:solidFill>
                  <a:schemeClr val="tx1"/>
                </a:solidFill>
              </a:rPr>
              <a:t> about a hypothesis has </a:t>
            </a:r>
            <a:r>
              <a:rPr lang="en-US" altLang="en-US" i="1" dirty="0">
                <a:solidFill>
                  <a:schemeClr val="tx1"/>
                </a:solidFill>
              </a:rPr>
              <a:t>five steps.</a:t>
            </a:r>
          </a:p>
          <a:p>
            <a:pPr marL="927100" lvl="1" indent="-469900" eaLnBrk="1" hangingPunct="1">
              <a:spcBef>
                <a:spcPts val="550"/>
              </a:spcBef>
              <a:buSzPct val="75000"/>
              <a:buFont typeface="Arial" panose="020B0604020202020204" pitchFamily="34" charset="0"/>
              <a:buAutoNum type="arabicPeriod"/>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Assumptions</a:t>
            </a:r>
          </a:p>
          <a:p>
            <a:pPr marL="927100" lvl="1" indent="-469900" eaLnBrk="1" hangingPunct="1">
              <a:spcBef>
                <a:spcPts val="550"/>
              </a:spcBef>
              <a:buSzPct val="75000"/>
              <a:buFont typeface="Arial" panose="020B0604020202020204" pitchFamily="34" charset="0"/>
              <a:buAutoNum type="arabicPeriod"/>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Hypotheses</a:t>
            </a:r>
          </a:p>
          <a:p>
            <a:pPr marL="927100" lvl="1" indent="-469900" eaLnBrk="1" hangingPunct="1">
              <a:spcBef>
                <a:spcPts val="550"/>
              </a:spcBef>
              <a:buSzPct val="75000"/>
              <a:buFont typeface="Arial" panose="020B0604020202020204" pitchFamily="34" charset="0"/>
              <a:buAutoNum type="arabicPeriod"/>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Test Statistic</a:t>
            </a:r>
          </a:p>
          <a:p>
            <a:pPr marL="927100" lvl="1" indent="-469900" eaLnBrk="1" hangingPunct="1">
              <a:spcBef>
                <a:spcPts val="550"/>
              </a:spcBef>
              <a:buSzPct val="75000"/>
              <a:buFont typeface="Arial" panose="020B0604020202020204" pitchFamily="34" charset="0"/>
              <a:buAutoNum type="arabicPeriod"/>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P-value</a:t>
            </a:r>
          </a:p>
          <a:p>
            <a:pPr marL="927100" lvl="1" indent="-469900" eaLnBrk="1" hangingPunct="1">
              <a:spcBef>
                <a:spcPts val="550"/>
              </a:spcBef>
              <a:buSzPct val="75000"/>
              <a:buFont typeface="Arial" panose="020B0604020202020204" pitchFamily="34" charset="0"/>
              <a:buAutoNum type="arabicPeriod"/>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r>
              <a:rPr lang="en-US" altLang="en-US" dirty="0">
                <a:solidFill>
                  <a:schemeClr val="tx1"/>
                </a:solidFill>
              </a:rPr>
              <a:t>Conclusion</a:t>
            </a:r>
          </a:p>
          <a:p>
            <a:pPr marL="0" indent="0" eaLnBrk="1" hangingPunct="1">
              <a:spcBef>
                <a:spcPts val="550"/>
              </a:spcBef>
              <a:buSzPct val="90000"/>
              <a:buFontTx/>
              <a:buNone/>
              <a:tabLst>
                <a:tab pos="508000" algn="l"/>
                <a:tab pos="612775" algn="l"/>
                <a:tab pos="1062038" algn="l"/>
                <a:tab pos="1511300" algn="l"/>
                <a:tab pos="1960563" algn="l"/>
                <a:tab pos="2409825" algn="l"/>
                <a:tab pos="2859088" algn="l"/>
                <a:tab pos="3308350" algn="l"/>
                <a:tab pos="3757613" algn="l"/>
                <a:tab pos="4206875" algn="l"/>
                <a:tab pos="4656138" algn="l"/>
                <a:tab pos="5105400" algn="l"/>
                <a:tab pos="5554663" algn="l"/>
                <a:tab pos="6003925" algn="l"/>
                <a:tab pos="6453188" algn="l"/>
                <a:tab pos="6902450" algn="l"/>
                <a:tab pos="7351713" algn="l"/>
                <a:tab pos="7800975" algn="l"/>
                <a:tab pos="8250238" algn="l"/>
                <a:tab pos="8699500" algn="l"/>
                <a:tab pos="9148763" algn="l"/>
              </a:tabLst>
            </a:pPr>
            <a:endParaRPr lang="en-US" altLang="en-US" b="1"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idx="4294967295"/>
          </p:nvPr>
        </p:nvSpPr>
        <p:spPr bwMode="auto">
          <a:xfrm>
            <a:off x="823913" y="300038"/>
            <a:ext cx="7924800" cy="60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 1: Assumptions</a:t>
            </a:r>
          </a:p>
        </p:txBody>
      </p:sp>
      <p:sp>
        <p:nvSpPr>
          <p:cNvPr id="10243"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 significance test assumes that the data production used randomization.</a:t>
            </a:r>
          </a:p>
          <a:p>
            <a:pPr marL="0" indent="0" eaLnBrk="1" hangingPunct="1">
              <a:spcBef>
                <a:spcPts val="225"/>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Other assumptions may include:</a:t>
            </a:r>
          </a:p>
          <a:p>
            <a:pPr lvl="1"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 Assumptions about the sample size.</a:t>
            </a:r>
          </a:p>
          <a:p>
            <a:pPr lvl="1"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 Assumptions about the shape of the population   </a:t>
            </a:r>
            <a:br>
              <a:rPr lang="en-US" altLang="en-US"/>
            </a:br>
            <a:r>
              <a:rPr lang="en-US" altLang="en-US"/>
              <a:t> distribution.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Each significance test has two hypotheses:</a:t>
            </a:r>
          </a:p>
          <a:p>
            <a:pPr marL="0" indent="0" eaLnBrk="1" hangingPunct="1">
              <a:spcBef>
                <a:spcPts val="2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lvl="1" eaLnBrk="1" hangingPunct="1">
              <a:buSzPct val="75000"/>
              <a:buFont typeface="Times New Roman" panose="02020603050405020304" pitchFamily="18" charset="0"/>
              <a:buAutoNum type="arabicPeriod"/>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t>
            </a:r>
            <a:r>
              <a:rPr lang="en-US" altLang="en-US" i="1">
                <a:solidFill>
                  <a:schemeClr val="tx1"/>
                </a:solidFill>
              </a:rPr>
              <a:t>null hypothesis</a:t>
            </a:r>
            <a:r>
              <a:rPr lang="en-US" altLang="en-US">
                <a:solidFill>
                  <a:schemeClr val="tx1"/>
                </a:solidFill>
              </a:rPr>
              <a:t> is a statement that the parameter takes a particular value. It has a single parameter value.</a:t>
            </a:r>
          </a:p>
          <a:p>
            <a:pPr lvl="1" eaLnBrk="1" hangingPunct="1">
              <a:spcBef>
                <a:spcPts val="250"/>
              </a:spcBef>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lvl="1" eaLnBrk="1" hangingPunct="1">
              <a:buSzPct val="75000"/>
              <a:buFont typeface="Times New Roman" panose="02020603050405020304" pitchFamily="18" charset="0"/>
              <a:buAutoNum type="arabicPeriod" startAt="2"/>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t>
            </a:r>
            <a:r>
              <a:rPr lang="en-US" altLang="en-US" i="1">
                <a:solidFill>
                  <a:schemeClr val="tx1"/>
                </a:solidFill>
              </a:rPr>
              <a:t>alternative hypothesis</a:t>
            </a:r>
            <a:r>
              <a:rPr lang="en-US" altLang="en-US">
                <a:solidFill>
                  <a:schemeClr val="tx1"/>
                </a:solidFill>
              </a:rPr>
              <a:t> states that the parameter falls in some alternative range of values.</a:t>
            </a:r>
          </a:p>
        </p:txBody>
      </p:sp>
      <p:sp>
        <p:nvSpPr>
          <p:cNvPr id="12291" name="Rectangle 1"/>
          <p:cNvSpPr>
            <a:spLocks noChangeArrowheads="1"/>
          </p:cNvSpPr>
          <p:nvPr/>
        </p:nvSpPr>
        <p:spPr bwMode="auto">
          <a:xfrm>
            <a:off x="733425" y="277813"/>
            <a:ext cx="7924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Step 2: Hypothesis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bwMode="auto">
          <a:xfrm>
            <a:off x="838200" y="195263"/>
            <a:ext cx="7848600" cy="7127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Null and Alternative Hypotheses</a:t>
            </a:r>
          </a:p>
        </p:txBody>
      </p:sp>
      <p:sp>
        <p:nvSpPr>
          <p:cNvPr id="64515"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5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value in the null hypothesis usually represents     </a:t>
            </a:r>
            <a:r>
              <a:rPr lang="en-US" altLang="en-US" i="1" dirty="0">
                <a:solidFill>
                  <a:schemeClr val="tx1"/>
                </a:solidFill>
              </a:rPr>
              <a:t>no effect.</a:t>
            </a:r>
          </a:p>
          <a:p>
            <a:pPr marL="0" indent="0" eaLnBrk="1" hangingPunct="1">
              <a:spcBef>
                <a:spcPts val="5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solidFill>
                  <a:schemeClr val="tx1"/>
                </a:solidFill>
              </a:rPr>
              <a:t>The symbol H</a:t>
            </a:r>
            <a:r>
              <a:rPr lang="en-US" altLang="en-US" b="1" baseline="-25000" dirty="0">
                <a:solidFill>
                  <a:schemeClr val="tx1"/>
                </a:solidFill>
              </a:rPr>
              <a:t>0</a:t>
            </a:r>
            <a:r>
              <a:rPr lang="en-US" altLang="en-US" b="1" dirty="0">
                <a:solidFill>
                  <a:schemeClr val="tx1"/>
                </a:solidFill>
              </a:rPr>
              <a:t> denotes the null hypothesis.</a:t>
            </a:r>
          </a:p>
          <a:p>
            <a:pPr marL="0" indent="0" eaLnBrk="1" hangingPunct="1">
              <a:spcBef>
                <a:spcPts val="5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solidFill>
                <a:schemeClr val="tx1"/>
              </a:solidFill>
            </a:endParaRPr>
          </a:p>
          <a:p>
            <a:pPr marL="0" indent="0" eaLnBrk="1" hangingPunct="1">
              <a:spcBef>
                <a:spcPts val="5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value in the alternative hypothesis usually represents </a:t>
            </a:r>
            <a:r>
              <a:rPr lang="en-US" altLang="en-US" i="1" dirty="0">
                <a:solidFill>
                  <a:schemeClr val="tx1"/>
                </a:solidFill>
              </a:rPr>
              <a:t>an effect of some type.</a:t>
            </a:r>
          </a:p>
          <a:p>
            <a:pPr marL="0" lvl="1" indent="0" eaLnBrk="1" hangingPunct="1">
              <a:spcBef>
                <a:spcPts val="550"/>
              </a:spcBef>
              <a:buClr>
                <a:schemeClr val="tx1"/>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solidFill>
                  <a:schemeClr val="tx1"/>
                </a:solidFill>
              </a:rPr>
              <a:t>The symbol H</a:t>
            </a:r>
            <a:r>
              <a:rPr lang="en-US" altLang="en-US" b="1" i="1" baseline="-25000" dirty="0">
                <a:solidFill>
                  <a:schemeClr val="tx1"/>
                </a:solidFill>
                <a:latin typeface="+mj-lt"/>
              </a:rPr>
              <a:t>a</a:t>
            </a:r>
            <a:r>
              <a:rPr lang="en-US" altLang="en-US" b="1" i="1" dirty="0">
                <a:solidFill>
                  <a:schemeClr val="tx1"/>
                </a:solidFill>
              </a:rPr>
              <a:t> </a:t>
            </a:r>
            <a:r>
              <a:rPr lang="en-US" altLang="en-US" b="1" dirty="0">
                <a:solidFill>
                  <a:schemeClr val="tx1"/>
                </a:solidFill>
              </a:rPr>
              <a:t>denotes the</a:t>
            </a:r>
            <a:r>
              <a:rPr lang="en-US" altLang="en-US" dirty="0">
                <a:solidFill>
                  <a:srgbClr val="FF0000"/>
                </a:solidFill>
              </a:rPr>
              <a:t> </a:t>
            </a:r>
            <a:r>
              <a:rPr lang="en-US" altLang="en-US" b="1" dirty="0">
                <a:solidFill>
                  <a:schemeClr val="tx1"/>
                </a:solidFill>
              </a:rPr>
              <a:t>alternative hypothesis.</a:t>
            </a:r>
          </a:p>
          <a:p>
            <a:pPr marL="0" lvl="1" indent="0" eaLnBrk="1" hangingPunct="1">
              <a:spcBef>
                <a:spcPts val="550"/>
              </a:spcBef>
              <a:buClr>
                <a:srgbClr val="CCCC99"/>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marL="0" lvl="1" indent="0" eaLnBrk="1" hangingPunct="1">
              <a:spcBef>
                <a:spcPts val="550"/>
              </a:spcBef>
              <a:buClr>
                <a:schemeClr val="tx1"/>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alternative hypothesis should express what the researcher hopes to show. The hypotheses should be formulated before viewing or analyzing the data!</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idx="4294967295"/>
          </p:nvPr>
        </p:nvSpPr>
        <p:spPr bwMode="auto">
          <a:xfrm>
            <a:off x="914400" y="209550"/>
            <a:ext cx="79248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 3: Test Statistic</a:t>
            </a:r>
          </a:p>
        </p:txBody>
      </p:sp>
      <p:sp>
        <p:nvSpPr>
          <p:cNvPr id="2" name="TextBox 1"/>
          <p:cNvSpPr txBox="1"/>
          <p:nvPr/>
        </p:nvSpPr>
        <p:spPr>
          <a:xfrm>
            <a:off x="763588" y="1641475"/>
            <a:ext cx="7616825" cy="1938338"/>
          </a:xfrm>
          <a:prstGeom prst="rect">
            <a:avLst/>
          </a:prstGeom>
          <a:noFill/>
        </p:spPr>
        <p:txBody>
          <a:bodyPr>
            <a:spAutoFit/>
          </a:bodyPr>
          <a:lstStyle/>
          <a:p>
            <a:pPr eaLnBrk="1" hangingPunct="1">
              <a:buClr>
                <a:srgbClr val="000000"/>
              </a:buClr>
              <a:buSzPct val="100000"/>
              <a:buFont typeface="Times New Roman" panose="02020603050405020304" pitchFamily="18" charset="0"/>
              <a:buNone/>
              <a:defRPr/>
            </a:pPr>
            <a:r>
              <a:rPr lang="en-US" dirty="0">
                <a:solidFill>
                  <a:schemeClr val="tx1"/>
                </a:solidFill>
                <a:latin typeface="+mn-lt"/>
              </a:rPr>
              <a:t>A </a:t>
            </a:r>
            <a:r>
              <a:rPr lang="en-US" b="1" dirty="0">
                <a:solidFill>
                  <a:schemeClr val="tx1"/>
                </a:solidFill>
                <a:latin typeface="+mn-lt"/>
              </a:rPr>
              <a:t>test statistic </a:t>
            </a:r>
            <a:r>
              <a:rPr lang="en-US" dirty="0">
                <a:solidFill>
                  <a:schemeClr val="tx1"/>
                </a:solidFill>
                <a:latin typeface="+mn-lt"/>
              </a:rPr>
              <a:t>describes how far the point estimate falls from the parameter value given in the null hypothesis. Usually, this distance is measured by the number of standard errors between the point estimate and the parameter.</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idx="4294967295"/>
          </p:nvPr>
        </p:nvSpPr>
        <p:spPr bwMode="auto">
          <a:xfrm>
            <a:off x="928688" y="287338"/>
            <a:ext cx="7848600" cy="60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 4: P-value</a:t>
            </a:r>
          </a:p>
        </p:txBody>
      </p:sp>
      <p:sp>
        <p:nvSpPr>
          <p:cNvPr id="18435" name="Rectangle 2"/>
          <p:cNvSpPr>
            <a:spLocks noGrp="1" noChangeArrowheads="1"/>
          </p:cNvSpPr>
          <p:nvPr>
            <p:ph type="body" idx="4294967295"/>
          </p:nvPr>
        </p:nvSpPr>
        <p:spPr bwMode="auto">
          <a:xfrm>
            <a:off x="762000" y="1828800"/>
            <a:ext cx="8153400" cy="441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To interpret a test statistic value, we use a probability summary of the evidence </a:t>
            </a:r>
            <a:r>
              <a:rPr lang="en-US" altLang="en-US" i="1" dirty="0"/>
              <a:t>against</a:t>
            </a:r>
            <a:r>
              <a:rPr lang="en-US" altLang="en-US" dirty="0"/>
              <a:t> the null hypothesis, H</a:t>
            </a:r>
            <a:r>
              <a:rPr lang="en-US" altLang="en-US" baseline="-25000" dirty="0"/>
              <a:t>0</a:t>
            </a:r>
            <a:r>
              <a:rPr lang="en-US" altLang="en-US" dirty="0"/>
              <a:t>.</a:t>
            </a:r>
          </a:p>
          <a:p>
            <a:pPr marL="0" indent="0" eaLnBrk="1" hangingPunct="1">
              <a:spcBef>
                <a:spcPts val="6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aseline="-25000" dirty="0"/>
          </a:p>
          <a:p>
            <a:pPr lvl="1" eaLnBrk="1" hangingPunct="1">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First, we presume that H</a:t>
            </a:r>
            <a:r>
              <a:rPr lang="en-US" altLang="en-US" baseline="-25000" dirty="0"/>
              <a:t>0</a:t>
            </a:r>
            <a:r>
              <a:rPr lang="en-US" altLang="en-US" dirty="0"/>
              <a:t> is true.</a:t>
            </a:r>
            <a:br>
              <a:rPr lang="en-US" altLang="en-US" dirty="0"/>
            </a:br>
            <a:endParaRPr lang="en-US" altLang="en-US" dirty="0"/>
          </a:p>
          <a:p>
            <a:pPr lvl="1" eaLnBrk="1" hangingPunct="1">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Then we consider the sorts of values we’d expect to get for the test statistic, according to its sampling distribution presuming H</a:t>
            </a:r>
            <a:r>
              <a:rPr lang="en-US" altLang="en-US" baseline="-25000" dirty="0"/>
              <a:t>0</a:t>
            </a:r>
            <a:r>
              <a:rPr lang="en-US" altLang="en-US" dirty="0"/>
              <a:t> is true.</a:t>
            </a:r>
          </a:p>
          <a:p>
            <a:pPr marL="0" indent="0" eaLnBrk="1" hangingPunct="1">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We summarize how far out in the tail the </a:t>
            </a:r>
            <a:r>
              <a:rPr lang="en-US" altLang="en-US" i="1">
                <a:solidFill>
                  <a:schemeClr val="tx1"/>
                </a:solidFill>
              </a:rPr>
              <a:t>test statistic </a:t>
            </a:r>
            <a:r>
              <a:rPr lang="en-US" altLang="en-US">
                <a:solidFill>
                  <a:schemeClr val="tx1"/>
                </a:solidFill>
              </a:rPr>
              <a:t>falls by the tail probability of that value and values even more extreme.</a:t>
            </a:r>
          </a:p>
          <a:p>
            <a:pPr marL="457200" lvl="1" indent="0" eaLnBrk="1" hangingPunct="1">
              <a:spcBef>
                <a:spcPts val="700"/>
              </a:spcBef>
              <a:buClr>
                <a:srgbClr val="CCCC99"/>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457200" lvl="1" indent="0" eaLnBrk="1" hangingPunct="1">
              <a:spcBef>
                <a:spcPts val="700"/>
              </a:spcBef>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   This probability is called a </a:t>
            </a:r>
            <a:r>
              <a:rPr lang="en-US" altLang="en-US" b="1">
                <a:solidFill>
                  <a:schemeClr val="tx1"/>
                </a:solidFill>
              </a:rPr>
              <a:t>P-value</a:t>
            </a:r>
            <a:r>
              <a:rPr lang="en-US" altLang="en-US" i="1">
                <a:solidFill>
                  <a:schemeClr val="tx1"/>
                </a:solidFill>
              </a:rPr>
              <a:t>.</a:t>
            </a:r>
          </a:p>
          <a:p>
            <a:pPr marL="457200" lvl="1" indent="0" eaLnBrk="1" hangingPunct="1">
              <a:spcBef>
                <a:spcPts val="700"/>
              </a:spcBef>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i="1">
              <a:solidFill>
                <a:schemeClr val="tx1"/>
              </a:solidFill>
            </a:endParaRPr>
          </a:p>
          <a:p>
            <a:pPr marL="457200" lvl="1" indent="0" eaLnBrk="1" hangingPunct="1">
              <a:spcBef>
                <a:spcPts val="700"/>
              </a:spcBef>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   The smaller the P-value, the stronger the                               </a:t>
            </a:r>
          </a:p>
          <a:p>
            <a:pPr marL="457200" lvl="1" indent="0" eaLnBrk="1" hangingPunct="1">
              <a:spcBef>
                <a:spcPts val="700"/>
              </a:spcBef>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     evidence is against </a:t>
            </a:r>
            <a:r>
              <a:rPr lang="en-US" altLang="en-US"/>
              <a:t>H</a:t>
            </a:r>
            <a:r>
              <a:rPr lang="en-US" altLang="en-US" baseline="-25000"/>
              <a:t>0</a:t>
            </a:r>
            <a:r>
              <a:rPr lang="en-US" altLang="en-US">
                <a:solidFill>
                  <a:schemeClr val="tx1"/>
                </a:solidFill>
              </a:rPr>
              <a:t>.</a:t>
            </a:r>
            <a:endParaRPr lang="en-US" altLang="en-US" baseline="-25000">
              <a:solidFill>
                <a:schemeClr val="tx1"/>
              </a:solidFill>
            </a:endParaRPr>
          </a:p>
        </p:txBody>
      </p:sp>
      <p:sp>
        <p:nvSpPr>
          <p:cNvPr id="20483" name="Rectangle 1"/>
          <p:cNvSpPr>
            <a:spLocks noChangeArrowheads="1"/>
          </p:cNvSpPr>
          <p:nvPr/>
        </p:nvSpPr>
        <p:spPr bwMode="auto">
          <a:xfrm>
            <a:off x="914400" y="292100"/>
            <a:ext cx="7848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Step 4: P-value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1"/>
          <p:cNvSpPr txBox="1">
            <a:spLocks noChangeArrowheads="1"/>
          </p:cNvSpPr>
          <p:nvPr/>
        </p:nvSpPr>
        <p:spPr bwMode="auto">
          <a:xfrm>
            <a:off x="839788" y="5254625"/>
            <a:ext cx="792321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9.1 Suppose H</a:t>
            </a:r>
            <a:r>
              <a:rPr lang="en-US" altLang="en-US" sz="1600" b="1" baseline="-25000">
                <a:solidFill>
                  <a:schemeClr val="tx1"/>
                </a:solidFill>
                <a:latin typeface="Arial" panose="020B0604020202020204" pitchFamily="34" charset="0"/>
              </a:rPr>
              <a:t>0</a:t>
            </a:r>
            <a:r>
              <a:rPr lang="en-US" altLang="en-US" sz="1600" b="1">
                <a:solidFill>
                  <a:schemeClr val="tx1"/>
                </a:solidFill>
                <a:latin typeface="Arial" panose="020B0604020202020204" pitchFamily="34" charset="0"/>
              </a:rPr>
              <a:t> Were True. The P-value Is the Probability of a Test Statistic Value Like the Observed One or Even More Extreme</a:t>
            </a:r>
            <a:r>
              <a:rPr lang="en-US" altLang="en-US" sz="1600">
                <a:solidFill>
                  <a:schemeClr val="tx1"/>
                </a:solidFill>
                <a:latin typeface="Arial" panose="020B0604020202020204" pitchFamily="34" charset="0"/>
              </a:rPr>
              <a:t>. This is the shaded area in the tail of the sampling distribution.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Which gives stronger evidence against the null hypothesis, a P-value of 0.20 or of 0.01? Why?</a:t>
            </a:r>
          </a:p>
        </p:txBody>
      </p:sp>
      <p:sp>
        <p:nvSpPr>
          <p:cNvPr id="22531" name="Rectangle 1"/>
          <p:cNvSpPr>
            <a:spLocks noChangeArrowheads="1"/>
          </p:cNvSpPr>
          <p:nvPr/>
        </p:nvSpPr>
        <p:spPr bwMode="auto">
          <a:xfrm>
            <a:off x="914400" y="292100"/>
            <a:ext cx="7848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Step 4: P-value</a:t>
            </a:r>
          </a:p>
        </p:txBody>
      </p:sp>
      <p:pic>
        <p:nvPicPr>
          <p:cNvPr id="2253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06688" y="1408113"/>
            <a:ext cx="3435350" cy="369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4294967295"/>
          </p:nvPr>
        </p:nvSpPr>
        <p:spPr bwMode="auto">
          <a:xfrm>
            <a:off x="852488" y="1719263"/>
            <a:ext cx="8001000" cy="41624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t>
            </a:r>
            <a:r>
              <a:rPr lang="en-US" altLang="en-US" b="1">
                <a:solidFill>
                  <a:schemeClr val="tx1"/>
                </a:solidFill>
              </a:rPr>
              <a:t>P-value</a:t>
            </a:r>
            <a:r>
              <a:rPr lang="en-US" altLang="en-US">
                <a:solidFill>
                  <a:schemeClr val="tx1"/>
                </a:solidFill>
              </a:rPr>
              <a:t> is the probability that the test statistic equals the observed value or a value even more extreme.</a:t>
            </a: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It is calculated by presuming that the null hypothesis is true.</a:t>
            </a: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smaller the P</a:t>
            </a:r>
            <a:r>
              <a:rPr lang="en-US" altLang="en-US" i="1">
                <a:solidFill>
                  <a:schemeClr val="tx1"/>
                </a:solidFill>
              </a:rPr>
              <a:t>-</a:t>
            </a:r>
            <a:r>
              <a:rPr lang="en-US" altLang="en-US">
                <a:solidFill>
                  <a:schemeClr val="tx1"/>
                </a:solidFill>
              </a:rPr>
              <a:t>value, the stronger the evidence the data provide against the null hypothesis. That is, a small P-value indicates a small likelihood of observing the sampled results if the null hypothesis were true.</a:t>
            </a:r>
          </a:p>
        </p:txBody>
      </p:sp>
      <p:sp>
        <p:nvSpPr>
          <p:cNvPr id="24579" name="Rectangle 1"/>
          <p:cNvSpPr>
            <a:spLocks noChangeArrowheads="1"/>
          </p:cNvSpPr>
          <p:nvPr/>
        </p:nvSpPr>
        <p:spPr bwMode="auto">
          <a:xfrm>
            <a:off x="928688" y="306388"/>
            <a:ext cx="7848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Step 4: P-value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idx="4294967295"/>
          </p:nvPr>
        </p:nvSpPr>
        <p:spPr bwMode="auto">
          <a:xfrm>
            <a:off x="914400" y="152400"/>
            <a:ext cx="79248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 5: Conclusion</a:t>
            </a:r>
          </a:p>
        </p:txBody>
      </p:sp>
      <p:sp>
        <p:nvSpPr>
          <p:cNvPr id="26627" name="Rectangle 2"/>
          <p:cNvSpPr>
            <a:spLocks noGrp="1" noChangeArrowheads="1"/>
          </p:cNvSpPr>
          <p:nvPr>
            <p:ph type="body" idx="4294967295"/>
          </p:nvPr>
        </p:nvSpPr>
        <p:spPr bwMode="auto">
          <a:xfrm>
            <a:off x="914400" y="1981200"/>
            <a:ext cx="7772400" cy="27733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t>
            </a:r>
            <a:r>
              <a:rPr lang="en-US" altLang="en-US" b="1">
                <a:solidFill>
                  <a:schemeClr val="tx1"/>
                </a:solidFill>
              </a:rPr>
              <a:t>conclusion</a:t>
            </a:r>
            <a:r>
              <a:rPr lang="en-US" altLang="en-US">
                <a:solidFill>
                  <a:schemeClr val="tx1"/>
                </a:solidFill>
              </a:rPr>
              <a:t> of a significance test reports the         P-value and </a:t>
            </a:r>
            <a:r>
              <a:rPr lang="en-US" altLang="en-US" i="1">
                <a:solidFill>
                  <a:schemeClr val="tx1"/>
                </a:solidFill>
              </a:rPr>
              <a:t>interprets</a:t>
            </a:r>
            <a:r>
              <a:rPr lang="en-US" altLang="en-US">
                <a:solidFill>
                  <a:schemeClr val="tx1"/>
                </a:solidFill>
              </a:rPr>
              <a:t> what it says about the question that motivated the test.</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Sometimes this includes a decision about the </a:t>
            </a:r>
            <a:r>
              <a:rPr lang="en-US" altLang="en-US" i="1">
                <a:solidFill>
                  <a:schemeClr val="tx1"/>
                </a:solidFill>
              </a:rPr>
              <a:t>validity</a:t>
            </a:r>
            <a:r>
              <a:rPr lang="en-US" altLang="en-US">
                <a:solidFill>
                  <a:schemeClr val="tx1"/>
                </a:solidFill>
              </a:rPr>
              <a:t> of the null hypothesis </a:t>
            </a:r>
            <a:r>
              <a:rPr lang="en-US" altLang="en-US"/>
              <a:t>H</a:t>
            </a:r>
            <a:r>
              <a:rPr lang="en-US" altLang="en-US" baseline="-25000"/>
              <a:t>0</a:t>
            </a:r>
            <a:r>
              <a:rPr lang="en-US" altLang="en-US">
                <a:solidFill>
                  <a:schemeClr val="tx1"/>
                </a:solidFill>
              </a:rPr>
              <a: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idx="4294967295"/>
          </p:nvPr>
        </p:nvSpPr>
        <p:spPr bwMode="auto">
          <a:xfrm>
            <a:off x="914400" y="76200"/>
            <a:ext cx="7924800" cy="1066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Arial" panose="020B0604020202020204" pitchFamily="34" charset="0"/>
              </a:rPr>
              <a:t>Example: Are Astrologers’ Predictions Better Than Guessing?</a:t>
            </a:r>
          </a:p>
        </p:txBody>
      </p:sp>
      <p:sp>
        <p:nvSpPr>
          <p:cNvPr id="80899" name="Rectangle 2"/>
          <p:cNvSpPr>
            <a:spLocks noGrp="1" noChangeArrowheads="1"/>
          </p:cNvSpPr>
          <p:nvPr>
            <p:ph type="body" idx="4294967295"/>
          </p:nvPr>
        </p:nvSpPr>
        <p:spPr bwMode="auto">
          <a:xfrm>
            <a:off x="914400" y="1600200"/>
            <a:ext cx="7772400" cy="472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317500" eaLnBrk="1" hangingPunct="1">
              <a:spcBef>
                <a:spcPts val="600"/>
              </a:spcBef>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t>An astrologer prepares horoscopes for 116 adult volunteers. Each subject also filled out a California Personality Index (CPI) survey. For a given adult, his or her horoscope is shown to the astrologer along with their CPI survey as well as the CPI surveys for two other randomly selected adults. The astrologer is asked which survey is the correct one for that adult.</a:t>
            </a:r>
          </a:p>
          <a:p>
            <a:pPr marL="768350" lvl="1" indent="-285750" eaLnBrk="1" hangingPunct="1">
              <a:spcBef>
                <a:spcPts val="6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t>With random guessing, </a:t>
            </a:r>
            <a:r>
              <a:rPr lang="en-US" altLang="en-US" i="1" dirty="0">
                <a:latin typeface="+mj-lt"/>
              </a:rPr>
              <a:t>p</a:t>
            </a:r>
            <a:r>
              <a:rPr lang="en-US" altLang="en-US" dirty="0"/>
              <a:t> = 1/3 </a:t>
            </a:r>
          </a:p>
          <a:p>
            <a:pPr marL="768350" lvl="1" indent="-285750" eaLnBrk="1" hangingPunct="1">
              <a:spcBef>
                <a:spcPts val="6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t>The astrologers’ claim: </a:t>
            </a:r>
            <a:r>
              <a:rPr lang="en-US" altLang="en-US" i="1" dirty="0">
                <a:latin typeface="+mj-lt"/>
              </a:rPr>
              <a:t>p</a:t>
            </a:r>
            <a:r>
              <a:rPr lang="en-US" altLang="en-US" dirty="0"/>
              <a:t> &gt; 1/3 </a:t>
            </a:r>
          </a:p>
          <a:p>
            <a:pPr marL="768350" lvl="1" indent="-285750" eaLnBrk="1" hangingPunct="1">
              <a:spcBef>
                <a:spcPts val="6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t>The hypotheses for this test:</a:t>
            </a:r>
          </a:p>
          <a:p>
            <a:pPr marL="1371600" lvl="3" indent="0" eaLnBrk="1" hangingPunct="1">
              <a:spcBef>
                <a:spcPts val="600"/>
              </a:spcBef>
              <a:buClr>
                <a:srgbClr val="CCCC99"/>
              </a:buClr>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t> </a:t>
            </a:r>
          </a:p>
          <a:p>
            <a:pPr marL="768350" lvl="1" indent="-285750" eaLnBrk="1" hangingPunct="1">
              <a:spcBef>
                <a:spcPts val="600"/>
              </a:spcBef>
              <a:buSzPct val="75000"/>
              <a:buFontTx/>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altLang="en-US" dirty="0"/>
          </a:p>
        </p:txBody>
      </p:sp>
      <p:graphicFrame>
        <p:nvGraphicFramePr>
          <p:cNvPr id="30724" name="Object 1"/>
          <p:cNvGraphicFramePr>
            <a:graphicFrameLocks noChangeAspect="1"/>
          </p:cNvGraphicFramePr>
          <p:nvPr/>
        </p:nvGraphicFramePr>
        <p:xfrm>
          <a:off x="5827713" y="5216525"/>
          <a:ext cx="1625600" cy="901700"/>
        </p:xfrm>
        <a:graphic>
          <a:graphicData uri="http://schemas.openxmlformats.org/presentationml/2006/ole">
            <mc:AlternateContent xmlns:mc="http://schemas.openxmlformats.org/markup-compatibility/2006">
              <mc:Choice xmlns:v="urn:schemas-microsoft-com:vml" Requires="v">
                <p:oleObj name="Equation" r:id="rId3" imgW="1625600" imgH="901700" progId="Equation.DSMT4">
                  <p:embed/>
                </p:oleObj>
              </mc:Choice>
              <mc:Fallback>
                <p:oleObj name="Equation" r:id="rId3" imgW="1625600" imgH="901700" progId="Equation.DSMT4">
                  <p:embed/>
                  <p:pic>
                    <p:nvPicPr>
                      <p:cNvPr id="30724"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7713" y="5216525"/>
                        <a:ext cx="16256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idx="4294967295"/>
          </p:nvPr>
        </p:nvSpPr>
        <p:spPr bwMode="auto">
          <a:xfrm>
            <a:off x="914400" y="165100"/>
            <a:ext cx="8077200" cy="9763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Steps of a Significance Test about a Population Proportion</a:t>
            </a:r>
          </a:p>
        </p:txBody>
      </p:sp>
      <p:sp>
        <p:nvSpPr>
          <p:cNvPr id="82947"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941" t="-1750" r="-1333"/>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graphicFrame>
        <p:nvGraphicFramePr>
          <p:cNvPr id="32772" name="Object 1"/>
          <p:cNvGraphicFramePr>
            <a:graphicFrameLocks noChangeAspect="1"/>
          </p:cNvGraphicFramePr>
          <p:nvPr/>
        </p:nvGraphicFramePr>
        <p:xfrm>
          <a:off x="2895600" y="5372100"/>
          <a:ext cx="4114800" cy="444500"/>
        </p:xfrm>
        <a:graphic>
          <a:graphicData uri="http://schemas.openxmlformats.org/presentationml/2006/ole">
            <mc:AlternateContent xmlns:mc="http://schemas.openxmlformats.org/markup-compatibility/2006">
              <mc:Choice xmlns:v="urn:schemas-microsoft-com:vml" Requires="v">
                <p:oleObj name="Equation" r:id="rId4" imgW="4114800" imgH="444500" progId="Equation.DSMT4">
                  <p:embed/>
                </p:oleObj>
              </mc:Choice>
              <mc:Fallback>
                <p:oleObj name="Equation" r:id="rId4" imgW="4114800" imgH="444500" progId="Equation.DSMT4">
                  <p:embed/>
                  <p:pic>
                    <p:nvPicPr>
                      <p:cNvPr id="3277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5372100"/>
                        <a:ext cx="4114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4294967295"/>
          </p:nvPr>
        </p:nvSpPr>
        <p:spPr bwMode="auto">
          <a:xfrm>
            <a:off x="914400" y="1600200"/>
            <a:ext cx="7772400" cy="47688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lnSpc>
                <a:spcPct val="90000"/>
              </a:lnSpc>
              <a:spcBef>
                <a:spcPts val="725"/>
              </a:spcBef>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chemeClr val="tx1"/>
                </a:solidFill>
              </a:rPr>
              <a:t>Step 2:  Hypotheses</a:t>
            </a:r>
            <a:br>
              <a:rPr lang="en-US" altLang="en-US" b="1" dirty="0">
                <a:solidFill>
                  <a:schemeClr val="tx1"/>
                </a:solidFill>
              </a:rPr>
            </a:br>
            <a:endParaRPr lang="en-US" altLang="en-US" b="1" dirty="0">
              <a:solidFill>
                <a:schemeClr val="tx1"/>
              </a:solidFill>
            </a:endParaRPr>
          </a:p>
          <a:p>
            <a:pPr indent="-317500" eaLnBrk="1" hangingPunct="1">
              <a:lnSpc>
                <a:spcPct val="90000"/>
              </a:lnSpc>
              <a:spcBef>
                <a:spcPts val="5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solidFill>
                  <a:schemeClr val="tx1"/>
                </a:solidFill>
              </a:rPr>
              <a:t>The </a:t>
            </a:r>
            <a:r>
              <a:rPr lang="en-US" altLang="en-US" b="1" dirty="0">
                <a:solidFill>
                  <a:schemeClr val="tx1"/>
                </a:solidFill>
              </a:rPr>
              <a:t>null hypothesis</a:t>
            </a:r>
            <a:r>
              <a:rPr lang="en-US" altLang="en-US" dirty="0">
                <a:solidFill>
                  <a:schemeClr val="tx1"/>
                </a:solidFill>
              </a:rPr>
              <a:t> has the form:</a:t>
            </a:r>
          </a:p>
          <a:p>
            <a:pPr marL="457200" lvl="1" indent="0" eaLnBrk="1" hangingPunct="1">
              <a:lnSpc>
                <a:spcPct val="90000"/>
              </a:lnSpc>
              <a:spcBef>
                <a:spcPts val="600"/>
              </a:spcBef>
              <a:buSzPct val="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aseline="-25000" dirty="0">
              <a:solidFill>
                <a:schemeClr val="tx1"/>
              </a:solidFill>
            </a:endParaRPr>
          </a:p>
          <a:p>
            <a:pPr marL="457200" lvl="1" indent="0" eaLnBrk="1" hangingPunct="1">
              <a:lnSpc>
                <a:spcPct val="90000"/>
              </a:lnSpc>
              <a:spcBef>
                <a:spcPts val="600"/>
              </a:spcBef>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aseline="-25000" dirty="0">
              <a:solidFill>
                <a:schemeClr val="tx1"/>
              </a:solidFill>
            </a:endParaRPr>
          </a:p>
          <a:p>
            <a:pPr indent="-317500" eaLnBrk="1" hangingPunct="1">
              <a:lnSpc>
                <a:spcPct val="90000"/>
              </a:lnSpc>
              <a:spcBef>
                <a:spcPts val="5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solidFill>
                  <a:schemeClr val="tx1"/>
                </a:solidFill>
              </a:rPr>
              <a:t>The </a:t>
            </a:r>
            <a:r>
              <a:rPr lang="en-US" altLang="en-US" b="1" dirty="0">
                <a:solidFill>
                  <a:schemeClr val="tx1"/>
                </a:solidFill>
              </a:rPr>
              <a:t>alternative hypothesis </a:t>
            </a:r>
            <a:r>
              <a:rPr lang="en-US" altLang="en-US" dirty="0">
                <a:solidFill>
                  <a:schemeClr val="tx1"/>
                </a:solidFill>
              </a:rPr>
              <a:t>has the form:</a:t>
            </a:r>
          </a:p>
          <a:p>
            <a:pPr marL="457200" lvl="1" indent="0" eaLnBrk="1" hangingPunct="1">
              <a:lnSpc>
                <a:spcPct val="90000"/>
              </a:lnSpc>
              <a:spcBef>
                <a:spcPts val="600"/>
              </a:spcBef>
              <a:buSzPct val="75000"/>
              <a:buFontTx/>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p:txBody>
      </p:sp>
      <p:sp>
        <p:nvSpPr>
          <p:cNvPr id="34819" name="Rectangle 1"/>
          <p:cNvSpPr>
            <a:spLocks noGrp="1" noChangeArrowheads="1"/>
          </p:cNvSpPr>
          <p:nvPr>
            <p:ph type="title" idx="4294967295"/>
          </p:nvPr>
        </p:nvSpPr>
        <p:spPr bwMode="auto">
          <a:xfrm>
            <a:off x="914400" y="165100"/>
            <a:ext cx="8077200" cy="9763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Steps of a Significance Test about a Population Proportion</a:t>
            </a:r>
          </a:p>
        </p:txBody>
      </p:sp>
      <p:graphicFrame>
        <p:nvGraphicFramePr>
          <p:cNvPr id="34820" name="Object 1"/>
          <p:cNvGraphicFramePr>
            <a:graphicFrameLocks noChangeAspect="1"/>
          </p:cNvGraphicFramePr>
          <p:nvPr/>
        </p:nvGraphicFramePr>
        <p:xfrm>
          <a:off x="1503363" y="2806700"/>
          <a:ext cx="1663700" cy="444500"/>
        </p:xfrm>
        <a:graphic>
          <a:graphicData uri="http://schemas.openxmlformats.org/presentationml/2006/ole">
            <mc:AlternateContent xmlns:mc="http://schemas.openxmlformats.org/markup-compatibility/2006">
              <mc:Choice xmlns:v="urn:schemas-microsoft-com:vml" Requires="v">
                <p:oleObj name="Equation" r:id="rId3" imgW="1663700" imgH="444500" progId="Equation.DSMT4">
                  <p:embed/>
                </p:oleObj>
              </mc:Choice>
              <mc:Fallback>
                <p:oleObj name="Equation" r:id="rId3" imgW="1663700" imgH="444500" progId="Equation.DSMT4">
                  <p:embed/>
                  <p:pic>
                    <p:nvPicPr>
                      <p:cNvPr id="3482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3363" y="2806700"/>
                        <a:ext cx="16637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1" name="Object 2"/>
          <p:cNvGraphicFramePr>
            <a:graphicFrameLocks noChangeAspect="1"/>
          </p:cNvGraphicFramePr>
          <p:nvPr/>
        </p:nvGraphicFramePr>
        <p:xfrm>
          <a:off x="1497013" y="3943350"/>
          <a:ext cx="4635500" cy="520700"/>
        </p:xfrm>
        <a:graphic>
          <a:graphicData uri="http://schemas.openxmlformats.org/presentationml/2006/ole">
            <mc:AlternateContent xmlns:mc="http://schemas.openxmlformats.org/markup-compatibility/2006">
              <mc:Choice xmlns:v="urn:schemas-microsoft-com:vml" Requires="v">
                <p:oleObj name="Equation" r:id="rId5" imgW="4635500" imgH="520700" progId="Equation.DSMT4">
                  <p:embed/>
                </p:oleObj>
              </mc:Choice>
              <mc:Fallback>
                <p:oleObj name="Equation" r:id="rId5" imgW="4635500" imgH="520700" progId="Equation.DSMT4">
                  <p:embed/>
                  <p:pic>
                    <p:nvPicPr>
                      <p:cNvPr id="34821"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7013" y="3943350"/>
                        <a:ext cx="46355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2" name="Object 11"/>
          <p:cNvGraphicFramePr>
            <a:graphicFrameLocks noChangeAspect="1"/>
          </p:cNvGraphicFramePr>
          <p:nvPr/>
        </p:nvGraphicFramePr>
        <p:xfrm>
          <a:off x="1497013" y="4659313"/>
          <a:ext cx="4635500" cy="520700"/>
        </p:xfrm>
        <a:graphic>
          <a:graphicData uri="http://schemas.openxmlformats.org/presentationml/2006/ole">
            <mc:AlternateContent xmlns:mc="http://schemas.openxmlformats.org/markup-compatibility/2006">
              <mc:Choice xmlns:v="urn:schemas-microsoft-com:vml" Requires="v">
                <p:oleObj name="Equation" r:id="rId7" imgW="4635500" imgH="520700" progId="Equation.DSMT4">
                  <p:embed/>
                </p:oleObj>
              </mc:Choice>
              <mc:Fallback>
                <p:oleObj name="Equation" r:id="rId7" imgW="4635500" imgH="520700" progId="Equation.DSMT4">
                  <p:embed/>
                  <p:pic>
                    <p:nvPicPr>
                      <p:cNvPr id="34822"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7013" y="4659313"/>
                        <a:ext cx="46355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3" name="Object 12"/>
          <p:cNvGraphicFramePr>
            <a:graphicFrameLocks noChangeAspect="1"/>
          </p:cNvGraphicFramePr>
          <p:nvPr/>
        </p:nvGraphicFramePr>
        <p:xfrm>
          <a:off x="1477963" y="5373688"/>
          <a:ext cx="4406900" cy="520700"/>
        </p:xfrm>
        <a:graphic>
          <a:graphicData uri="http://schemas.openxmlformats.org/presentationml/2006/ole">
            <mc:AlternateContent xmlns:mc="http://schemas.openxmlformats.org/markup-compatibility/2006">
              <mc:Choice xmlns:v="urn:schemas-microsoft-com:vml" Requires="v">
                <p:oleObj name="Equation" r:id="rId9" imgW="4406900" imgH="520700" progId="Equation.DSMT4">
                  <p:embed/>
                </p:oleObj>
              </mc:Choice>
              <mc:Fallback>
                <p:oleObj name="Equation" r:id="rId9" imgW="4406900" imgH="520700" progId="Equation.DSMT4">
                  <p:embed/>
                  <p:pic>
                    <p:nvPicPr>
                      <p:cNvPr id="34823"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7963" y="5373688"/>
                        <a:ext cx="44069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941" t="-94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36867" name="Rectangle 1"/>
          <p:cNvSpPr>
            <a:spLocks noGrp="1" noChangeArrowheads="1"/>
          </p:cNvSpPr>
          <p:nvPr>
            <p:ph type="title" idx="4294967295"/>
          </p:nvPr>
        </p:nvSpPr>
        <p:spPr bwMode="auto">
          <a:xfrm>
            <a:off x="914400" y="165100"/>
            <a:ext cx="8077200" cy="9763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Steps of a Significance Test about a Population Proportion</a:t>
            </a:r>
          </a:p>
        </p:txBody>
      </p:sp>
      <p:graphicFrame>
        <p:nvGraphicFramePr>
          <p:cNvPr id="36868" name="Object 1"/>
          <p:cNvGraphicFramePr>
            <a:graphicFrameLocks noChangeAspect="1"/>
          </p:cNvGraphicFramePr>
          <p:nvPr/>
        </p:nvGraphicFramePr>
        <p:xfrm>
          <a:off x="3017838" y="4749800"/>
          <a:ext cx="2260600" cy="1295400"/>
        </p:xfrm>
        <a:graphic>
          <a:graphicData uri="http://schemas.openxmlformats.org/presentationml/2006/ole">
            <mc:AlternateContent xmlns:mc="http://schemas.openxmlformats.org/markup-compatibility/2006">
              <mc:Choice xmlns:v="urn:schemas-microsoft-com:vml" Requires="v">
                <p:oleObj name="Equation" r:id="rId4" imgW="2260600" imgH="1295400" progId="Equation.DSMT4">
                  <p:embed/>
                </p:oleObj>
              </mc:Choice>
              <mc:Fallback>
                <p:oleObj name="Equation" r:id="rId4" imgW="2260600" imgH="1295400" progId="Equation.DSMT4">
                  <p:embed/>
                  <p:pic>
                    <p:nvPicPr>
                      <p:cNvPr id="36868"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7838" y="4749800"/>
                        <a:ext cx="2260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4294967295"/>
          </p:nvPr>
        </p:nvSpPr>
        <p:spPr bwMode="auto">
          <a:xfrm>
            <a:off x="914400" y="1600200"/>
            <a:ext cx="7772400" cy="41036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25400" indent="0" eaLnBrk="1" hangingPunct="1">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chemeClr val="tx1"/>
                </a:solidFill>
              </a:rPr>
              <a:t>Step 4: P-value</a:t>
            </a:r>
          </a:p>
          <a:p>
            <a:pPr marL="25400" indent="0" eaLnBrk="1" hangingPunct="1">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solidFill>
                <a:schemeClr val="tx1"/>
              </a:solidFill>
            </a:endParaRPr>
          </a:p>
          <a:p>
            <a:pPr marL="25400" indent="0" eaLnBrk="1" hangingPunct="1">
              <a:buSzPct val="9000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solidFill>
                  <a:schemeClr val="tx1"/>
                </a:solidFill>
              </a:rPr>
              <a:t>   The P-value summarizes the evidence.</a:t>
            </a:r>
          </a:p>
          <a:p>
            <a:pPr marL="25400" indent="0" eaLnBrk="1" hangingPunct="1">
              <a:buSzPct val="9000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solidFill>
                <a:schemeClr val="tx1"/>
              </a:solidFill>
            </a:endParaRPr>
          </a:p>
          <a:p>
            <a:pPr marL="25400" indent="0" eaLnBrk="1" hangingPunct="1">
              <a:buSzPct val="90000"/>
              <a:buFont typeface="Wingdings" panose="05000000000000000000" pitchFamily="2" charset="2"/>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solidFill>
                  <a:schemeClr val="tx1"/>
                </a:solidFill>
              </a:rPr>
              <a:t>   It describes how unusual the observed data would</a:t>
            </a:r>
          </a:p>
          <a:p>
            <a:pPr marL="25400" indent="0" eaLnBrk="1" hangingPunct="1">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solidFill>
                  <a:schemeClr val="tx1"/>
                </a:solidFill>
              </a:rPr>
              <a:t>     be if H</a:t>
            </a:r>
            <a:r>
              <a:rPr lang="en-US" altLang="en-US" baseline="-25000">
                <a:solidFill>
                  <a:schemeClr val="tx1"/>
                </a:solidFill>
              </a:rPr>
              <a:t>0</a:t>
            </a:r>
            <a:r>
              <a:rPr lang="en-US" altLang="en-US">
                <a:solidFill>
                  <a:schemeClr val="tx1"/>
                </a:solidFill>
              </a:rPr>
              <a:t> were true.</a:t>
            </a:r>
          </a:p>
        </p:txBody>
      </p:sp>
      <p:sp>
        <p:nvSpPr>
          <p:cNvPr id="38915" name="Rectangle 1"/>
          <p:cNvSpPr>
            <a:spLocks noGrp="1" noChangeArrowheads="1"/>
          </p:cNvSpPr>
          <p:nvPr>
            <p:ph type="title" idx="4294967295"/>
          </p:nvPr>
        </p:nvSpPr>
        <p:spPr bwMode="auto">
          <a:xfrm>
            <a:off x="914400" y="165100"/>
            <a:ext cx="8077200" cy="9763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Steps of a Significance Test about a Population Proportion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txBox="1">
            <a:spLocks noChangeArrowheads="1"/>
          </p:cNvSpPr>
          <p:nvPr/>
        </p:nvSpPr>
        <p:spPr bwMode="auto">
          <a:xfrm>
            <a:off x="914400" y="1600200"/>
            <a:ext cx="7772400" cy="410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25400">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spcBef>
                <a:spcPts val="700"/>
              </a:spcBef>
              <a:buClrTx/>
              <a:buSzPct val="90000"/>
            </a:pPr>
            <a:r>
              <a:rPr lang="en-US" altLang="en-US" b="1">
                <a:solidFill>
                  <a:schemeClr val="tx1"/>
                </a:solidFill>
                <a:latin typeface="Arial" panose="020B0604020202020204" pitchFamily="34" charset="0"/>
              </a:rPr>
              <a:t>Step 5: Conclusion</a:t>
            </a:r>
          </a:p>
          <a:p>
            <a:pPr eaLnBrk="1" hangingPunct="1">
              <a:spcBef>
                <a:spcPts val="700"/>
              </a:spcBef>
              <a:buClrTx/>
              <a:buSzPct val="90000"/>
            </a:pPr>
            <a:endParaRPr lang="en-US" altLang="en-US">
              <a:solidFill>
                <a:schemeClr val="tx1"/>
              </a:solidFill>
              <a:latin typeface="Arial" panose="020B0604020202020204" pitchFamily="34" charset="0"/>
            </a:endParaRPr>
          </a:p>
          <a:p>
            <a:pPr eaLnBrk="1" hangingPunct="1">
              <a:spcBef>
                <a:spcPts val="700"/>
              </a:spcBef>
              <a:buClrTx/>
              <a:buSzPct val="90000"/>
            </a:pPr>
            <a:r>
              <a:rPr lang="en-US" altLang="en-US">
                <a:solidFill>
                  <a:schemeClr val="tx1"/>
                </a:solidFill>
                <a:latin typeface="Arial" panose="020B0604020202020204" pitchFamily="34" charset="0"/>
              </a:rPr>
              <a:t>We summarize the test by reporting and interpreting the P-value.</a:t>
            </a:r>
          </a:p>
        </p:txBody>
      </p:sp>
      <p:sp>
        <p:nvSpPr>
          <p:cNvPr id="40963" name="Rectangle 1"/>
          <p:cNvSpPr>
            <a:spLocks noGrp="1" noChangeArrowheads="1"/>
          </p:cNvSpPr>
          <p:nvPr>
            <p:ph type="title" idx="4294967295"/>
          </p:nvPr>
        </p:nvSpPr>
        <p:spPr bwMode="auto">
          <a:xfrm>
            <a:off x="914400" y="165100"/>
            <a:ext cx="8077200" cy="9763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Steps of a Significance Test about a Population Proportion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4294967295"/>
          </p:nvPr>
        </p:nvSpPr>
        <p:spPr bwMode="auto">
          <a:xfrm>
            <a:off x="914400" y="14859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lnSpc>
                <a:spcPct val="90000"/>
              </a:lnSpc>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t>Step 1: Assumptions</a:t>
            </a:r>
          </a:p>
          <a:p>
            <a:pPr indent="-317500" eaLnBrk="1" hangingPunct="1">
              <a:lnSpc>
                <a:spcPct val="90000"/>
              </a:lnSpc>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The data is categorical – each prediction falls in the category “correct” or “incorrect”.</a:t>
            </a:r>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Each subject was identified by a random number. Subjects were randomly selected for each experiment.</a:t>
            </a:r>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i="1"/>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a:t> </a:t>
            </a:r>
            <a:endParaRPr lang="en-US" altLang="en-US"/>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i="1"/>
          </a:p>
          <a:p>
            <a:pPr marL="800100" lvl="1" indent="-342900" eaLnBrk="1" hangingPunct="1">
              <a:lnSpc>
                <a:spcPct val="90000"/>
              </a:lnSpc>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a:t> </a:t>
            </a:r>
            <a:endParaRPr lang="en-US" altLang="en-US"/>
          </a:p>
        </p:txBody>
      </p:sp>
      <p:sp>
        <p:nvSpPr>
          <p:cNvPr id="43011" name="Text Box 2"/>
          <p:cNvSpPr txBox="1">
            <a:spLocks noChangeArrowheads="1"/>
          </p:cNvSpPr>
          <p:nvPr/>
        </p:nvSpPr>
        <p:spPr bwMode="auto">
          <a:xfrm>
            <a:off x="914400" y="76200"/>
            <a:ext cx="7924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Are Astrologers’ Predictions Better Than Guessing?</a:t>
            </a:r>
          </a:p>
        </p:txBody>
      </p:sp>
      <p:graphicFrame>
        <p:nvGraphicFramePr>
          <p:cNvPr id="43012" name="Object 1"/>
          <p:cNvGraphicFramePr>
            <a:graphicFrameLocks noChangeAspect="1"/>
          </p:cNvGraphicFramePr>
          <p:nvPr/>
        </p:nvGraphicFramePr>
        <p:xfrm>
          <a:off x="1851025" y="4983163"/>
          <a:ext cx="4025900" cy="444500"/>
        </p:xfrm>
        <a:graphic>
          <a:graphicData uri="http://schemas.openxmlformats.org/presentationml/2006/ole">
            <mc:AlternateContent xmlns:mc="http://schemas.openxmlformats.org/markup-compatibility/2006">
              <mc:Choice xmlns:v="urn:schemas-microsoft-com:vml" Requires="v">
                <p:oleObj name="Equation" r:id="rId3" imgW="4025900" imgH="444500" progId="Equation.DSMT4">
                  <p:embed/>
                </p:oleObj>
              </mc:Choice>
              <mc:Fallback>
                <p:oleObj name="Equation" r:id="rId3" imgW="4025900" imgH="444500" progId="Equation.DSMT4">
                  <p:embed/>
                  <p:pic>
                    <p:nvPicPr>
                      <p:cNvPr id="4301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025" y="4983163"/>
                        <a:ext cx="40259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3" name="Object 2"/>
          <p:cNvGraphicFramePr>
            <a:graphicFrameLocks noChangeAspect="1"/>
          </p:cNvGraphicFramePr>
          <p:nvPr/>
        </p:nvGraphicFramePr>
        <p:xfrm>
          <a:off x="1851025" y="5838825"/>
          <a:ext cx="4864100" cy="444500"/>
        </p:xfrm>
        <a:graphic>
          <a:graphicData uri="http://schemas.openxmlformats.org/presentationml/2006/ole">
            <mc:AlternateContent xmlns:mc="http://schemas.openxmlformats.org/markup-compatibility/2006">
              <mc:Choice xmlns:v="urn:schemas-microsoft-com:vml" Requires="v">
                <p:oleObj name="Equation" r:id="rId5" imgW="4864100" imgH="444500" progId="Equation.DSMT4">
                  <p:embed/>
                </p:oleObj>
              </mc:Choice>
              <mc:Fallback>
                <p:oleObj name="Equation" r:id="rId5" imgW="4864100" imgH="444500" progId="Equation.DSMT4">
                  <p:embed/>
                  <p:pic>
                    <p:nvPicPr>
                      <p:cNvPr id="43013"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1025" y="5838825"/>
                        <a:ext cx="48641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ChangeArrowheads="1"/>
          </p:cNvSpPr>
          <p:nvPr>
            <p:ph type="body" idx="4294967295"/>
          </p:nvPr>
        </p:nvSpPr>
        <p:spPr bwMode="auto">
          <a:xfrm>
            <a:off x="914400" y="1574800"/>
            <a:ext cx="7772400" cy="41036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25400" indent="0" eaLnBrk="1" hangingPunct="1">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t>Step 2:  Hypotheses</a:t>
            </a:r>
          </a:p>
          <a:p>
            <a:pPr marL="25400" indent="0" eaLnBrk="1" hangingPunct="1">
              <a:spcBef>
                <a:spcPts val="225"/>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25400" indent="0" eaLnBrk="1" hangingPunct="1">
              <a:spcBef>
                <a:spcPts val="225"/>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The null hypothesis has the form</a:t>
            </a:r>
          </a:p>
          <a:p>
            <a:pPr marL="457200" lvl="1" indent="0" eaLnBrk="1" hangingPunct="1">
              <a:spcBef>
                <a:spcPts val="700"/>
              </a:spcBef>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				 </a:t>
            </a:r>
          </a:p>
          <a:p>
            <a:pPr marL="457200" lvl="1" indent="0" eaLnBrk="1" hangingPunct="1">
              <a:spcBef>
                <a:spcPts val="700"/>
              </a:spcBef>
              <a:buClr>
                <a:srgbClr val="330033"/>
              </a:buClr>
              <a:buSzPct val="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457200" lvl="1" indent="0" eaLnBrk="1" hangingPunct="1">
              <a:spcBef>
                <a:spcPts val="700"/>
              </a:spcBef>
              <a:buClr>
                <a:srgbClr val="330033"/>
              </a:buClr>
              <a:buSzPct val="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The alternative hypothesis has the form</a:t>
            </a:r>
          </a:p>
          <a:p>
            <a:pPr marL="457200" lvl="1" indent="0" eaLnBrk="1" hangingPunct="1">
              <a:spcBef>
                <a:spcPts val="700"/>
              </a:spcBef>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				 </a:t>
            </a:r>
          </a:p>
          <a:p>
            <a:pPr marL="457200" lvl="1" indent="0" eaLnBrk="1" hangingPunct="1">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457200" lvl="1" indent="0" eaLnBrk="1" hangingPunct="1">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45059" name="Text Box 2"/>
          <p:cNvSpPr txBox="1">
            <a:spLocks noChangeArrowheads="1"/>
          </p:cNvSpPr>
          <p:nvPr/>
        </p:nvSpPr>
        <p:spPr bwMode="auto">
          <a:xfrm>
            <a:off x="914400" y="76200"/>
            <a:ext cx="7924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Are Astrologers’ Predictions Better Than Guessing?</a:t>
            </a:r>
          </a:p>
        </p:txBody>
      </p:sp>
      <p:graphicFrame>
        <p:nvGraphicFramePr>
          <p:cNvPr id="45060" name="Object 1"/>
          <p:cNvGraphicFramePr>
            <a:graphicFrameLocks noChangeAspect="1"/>
          </p:cNvGraphicFramePr>
          <p:nvPr/>
        </p:nvGraphicFramePr>
        <p:xfrm>
          <a:off x="1806575" y="2890838"/>
          <a:ext cx="1943100" cy="444500"/>
        </p:xfrm>
        <a:graphic>
          <a:graphicData uri="http://schemas.openxmlformats.org/presentationml/2006/ole">
            <mc:AlternateContent xmlns:mc="http://schemas.openxmlformats.org/markup-compatibility/2006">
              <mc:Choice xmlns:v="urn:schemas-microsoft-com:vml" Requires="v">
                <p:oleObj name="Equation" r:id="rId3" imgW="1943100" imgH="444500" progId="Equation.DSMT4">
                  <p:embed/>
                </p:oleObj>
              </mc:Choice>
              <mc:Fallback>
                <p:oleObj name="Equation" r:id="rId3" imgW="1943100" imgH="444500" progId="Equation.DSMT4">
                  <p:embed/>
                  <p:pic>
                    <p:nvPicPr>
                      <p:cNvPr id="4506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575" y="2890838"/>
                        <a:ext cx="19431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1" name="Object 2"/>
          <p:cNvGraphicFramePr>
            <a:graphicFrameLocks noChangeAspect="1"/>
          </p:cNvGraphicFramePr>
          <p:nvPr/>
        </p:nvGraphicFramePr>
        <p:xfrm>
          <a:off x="1811338" y="4284663"/>
          <a:ext cx="1955800" cy="444500"/>
        </p:xfrm>
        <a:graphic>
          <a:graphicData uri="http://schemas.openxmlformats.org/presentationml/2006/ole">
            <mc:AlternateContent xmlns:mc="http://schemas.openxmlformats.org/markup-compatibility/2006">
              <mc:Choice xmlns:v="urn:schemas-microsoft-com:vml" Requires="v">
                <p:oleObj name="Equation" r:id="rId5" imgW="1954951" imgH="444307" progId="Equation.DSMT4">
                  <p:embed/>
                </p:oleObj>
              </mc:Choice>
              <mc:Fallback>
                <p:oleObj name="Equation" r:id="rId5" imgW="1954951" imgH="444307" progId="Equation.DSMT4">
                  <p:embed/>
                  <p:pic>
                    <p:nvPicPr>
                      <p:cNvPr id="45061"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1338" y="4284663"/>
                        <a:ext cx="1955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spcBef>
                <a:spcPts val="600"/>
              </a:spcBef>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t>Step 3: Test Statistic:</a:t>
            </a:r>
          </a:p>
          <a:p>
            <a:pPr indent="-317500" eaLnBrk="1" hangingPunct="1">
              <a:spcBef>
                <a:spcPts val="600"/>
              </a:spcBef>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a:p>
          <a:p>
            <a:pPr marL="0" lvl="1" indent="0" eaLnBrk="1" hangingPunct="1">
              <a:spcBef>
                <a:spcPts val="550"/>
              </a:spcBef>
              <a:buSzPct val="1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a:t>In the actual experiment, the astrologers were correct with 40 of their 116 predictions (a success rate of 0.345).</a:t>
            </a:r>
          </a:p>
          <a:p>
            <a:pPr marL="0" lvl="1" indent="0" eaLnBrk="1" hangingPunct="1">
              <a:spcBef>
                <a:spcPts val="550"/>
              </a:spcBef>
              <a:buSzPct val="1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0" lvl="1" indent="0" eaLnBrk="1" hangingPunct="1">
              <a:spcBef>
                <a:spcPts val="550"/>
              </a:spcBef>
              <a:buSzPct val="1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0" lvl="1" indent="0" eaLnBrk="1" hangingPunct="1">
              <a:spcBef>
                <a:spcPts val="550"/>
              </a:spcBef>
              <a:buSzPct val="1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marL="0" lvl="1" indent="0" eaLnBrk="1" hangingPunct="1">
              <a:spcBef>
                <a:spcPts val="550"/>
              </a:spcBef>
              <a:buSzPct val="1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47107" name="Text Box 2"/>
          <p:cNvSpPr txBox="1">
            <a:spLocks noChangeArrowheads="1"/>
          </p:cNvSpPr>
          <p:nvPr/>
        </p:nvSpPr>
        <p:spPr bwMode="auto">
          <a:xfrm>
            <a:off x="914400" y="76200"/>
            <a:ext cx="7924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Are Astrologers’ Predictions Better Than Guessing?</a:t>
            </a:r>
          </a:p>
        </p:txBody>
      </p:sp>
      <p:graphicFrame>
        <p:nvGraphicFramePr>
          <p:cNvPr id="47108" name="Object 1"/>
          <p:cNvGraphicFramePr>
            <a:graphicFrameLocks noChangeAspect="1"/>
          </p:cNvGraphicFramePr>
          <p:nvPr/>
        </p:nvGraphicFramePr>
        <p:xfrm>
          <a:off x="1752600" y="3922713"/>
          <a:ext cx="5651500" cy="939800"/>
        </p:xfrm>
        <a:graphic>
          <a:graphicData uri="http://schemas.openxmlformats.org/presentationml/2006/ole">
            <mc:AlternateContent xmlns:mc="http://schemas.openxmlformats.org/markup-compatibility/2006">
              <mc:Choice xmlns:v="urn:schemas-microsoft-com:vml" Requires="v">
                <p:oleObj name="Equation" r:id="rId3" imgW="5651500" imgH="939800" progId="Equation.DSMT4">
                  <p:embed/>
                </p:oleObj>
              </mc:Choice>
              <mc:Fallback>
                <p:oleObj name="Equation" r:id="rId3" imgW="5651500" imgH="939800" progId="Equation.DSMT4">
                  <p:embed/>
                  <p:pic>
                    <p:nvPicPr>
                      <p:cNvPr id="47108"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922713"/>
                        <a:ext cx="56515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09" name="Object 2"/>
          <p:cNvGraphicFramePr>
            <a:graphicFrameLocks noChangeAspect="1"/>
          </p:cNvGraphicFramePr>
          <p:nvPr/>
        </p:nvGraphicFramePr>
        <p:xfrm>
          <a:off x="1784350" y="5207000"/>
          <a:ext cx="4203700" cy="787400"/>
        </p:xfrm>
        <a:graphic>
          <a:graphicData uri="http://schemas.openxmlformats.org/presentationml/2006/ole">
            <mc:AlternateContent xmlns:mc="http://schemas.openxmlformats.org/markup-compatibility/2006">
              <mc:Choice xmlns:v="urn:schemas-microsoft-com:vml" Requires="v">
                <p:oleObj name="Equation" r:id="rId5" imgW="4203700" imgH="787400" progId="Equation.DSMT4">
                  <p:embed/>
                </p:oleObj>
              </mc:Choice>
              <mc:Fallback>
                <p:oleObj name="Equation" r:id="rId5" imgW="4203700" imgH="787400" progId="Equation.DSMT4">
                  <p:embed/>
                  <p:pic>
                    <p:nvPicPr>
                      <p:cNvPr id="4710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4350" y="5207000"/>
                        <a:ext cx="42037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05275" y="1360488"/>
            <a:ext cx="402590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0" name="Rectangle 1"/>
          <p:cNvSpPr>
            <a:spLocks noGrp="1" noChangeArrowheads="1"/>
          </p:cNvSpPr>
          <p:nvPr>
            <p:ph type="body" idx="4294967295"/>
          </p:nvPr>
        </p:nvSpPr>
        <p:spPr bwMode="auto">
          <a:xfrm>
            <a:off x="763588" y="1485900"/>
            <a:ext cx="3263900" cy="34194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b="1" dirty="0"/>
              <a:t>Step 4: P-value</a:t>
            </a:r>
          </a:p>
          <a:p>
            <a:pPr marL="0" indent="0">
              <a:defRPr/>
            </a:pPr>
            <a:r>
              <a:rPr lang="en-US" dirty="0"/>
              <a:t>The P-value of 0.40 tells us that if H</a:t>
            </a:r>
            <a:r>
              <a:rPr lang="en-US" baseline="-25000" dirty="0"/>
              <a:t>0</a:t>
            </a:r>
            <a:r>
              <a:rPr lang="en-US" dirty="0"/>
              <a:t> were true, the probability would be 0.40 that the test statistic would be as or more extreme than the observed value.</a:t>
            </a:r>
            <a:endParaRPr lang="en-US" altLang="en-US" b="1" dirty="0"/>
          </a:p>
        </p:txBody>
      </p:sp>
      <p:sp>
        <p:nvSpPr>
          <p:cNvPr id="99331" name="TextBox 1"/>
          <p:cNvSpPr txBox="1">
            <a:spLocks noChangeArrowheads="1"/>
          </p:cNvSpPr>
          <p:nvPr/>
        </p:nvSpPr>
        <p:spPr bwMode="auto">
          <a:xfrm>
            <a:off x="457200" y="5257800"/>
            <a:ext cx="84582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defRPr/>
            </a:pPr>
            <a:r>
              <a:rPr lang="en-US" altLang="en-US" sz="1600" b="1" dirty="0">
                <a:solidFill>
                  <a:schemeClr val="tx1"/>
                </a:solidFill>
                <a:latin typeface="Arial" panose="020B0604020202020204" pitchFamily="34" charset="0"/>
              </a:rPr>
              <a:t>Figure 9.2 Calculation of P-value, When </a:t>
            </a:r>
            <a:r>
              <a:rPr lang="en-US" altLang="en-US" sz="1600" b="1" i="1" dirty="0">
                <a:solidFill>
                  <a:schemeClr val="tx1"/>
                </a:solidFill>
                <a:latin typeface="Arial" panose="020B0604020202020204" pitchFamily="34" charset="0"/>
              </a:rPr>
              <a:t>z </a:t>
            </a:r>
            <a:r>
              <a:rPr lang="en-US" altLang="en-US" sz="1600" b="1" dirty="0">
                <a:solidFill>
                  <a:schemeClr val="tx1"/>
                </a:solidFill>
                <a:latin typeface="Arial" panose="020B0604020202020204" pitchFamily="34" charset="0"/>
              </a:rPr>
              <a:t>= 0.26 for Testing H</a:t>
            </a:r>
            <a:r>
              <a:rPr lang="en-US" altLang="en-US" sz="1600" b="1" baseline="-25000" dirty="0">
                <a:solidFill>
                  <a:schemeClr val="tx1"/>
                </a:solidFill>
                <a:latin typeface="Arial" panose="020B0604020202020204" pitchFamily="34" charset="0"/>
              </a:rPr>
              <a:t>0</a:t>
            </a:r>
            <a:r>
              <a:rPr lang="en-US" altLang="en-US" sz="1600" b="1" dirty="0">
                <a:solidFill>
                  <a:schemeClr val="tx1"/>
                </a:solidFill>
                <a:latin typeface="Arial" panose="020B0604020202020204" pitchFamily="34" charset="0"/>
              </a:rPr>
              <a:t>: </a:t>
            </a:r>
            <a:r>
              <a:rPr lang="en-US" altLang="en-US" sz="1600" b="1" i="1" dirty="0">
                <a:solidFill>
                  <a:schemeClr val="tx1"/>
                </a:solidFill>
                <a:latin typeface="Arial" panose="020B0604020202020204" pitchFamily="34" charset="0"/>
              </a:rPr>
              <a:t>p</a:t>
            </a:r>
            <a:r>
              <a:rPr lang="en-US" altLang="en-US" sz="1600" b="1" dirty="0">
                <a:solidFill>
                  <a:schemeClr val="tx1"/>
                </a:solidFill>
                <a:latin typeface="Arial" panose="020B0604020202020204" pitchFamily="34" charset="0"/>
              </a:rPr>
              <a:t> = 1/3 Against </a:t>
            </a:r>
            <a:br>
              <a:rPr lang="en-US" altLang="en-US" sz="1600" b="1" dirty="0">
                <a:solidFill>
                  <a:schemeClr val="tx1"/>
                </a:solidFill>
                <a:latin typeface="Arial" panose="020B0604020202020204" pitchFamily="34" charset="0"/>
              </a:rPr>
            </a:br>
            <a:r>
              <a:rPr lang="en-US" altLang="en-US" sz="1600" b="1" dirty="0">
                <a:solidFill>
                  <a:schemeClr val="tx1"/>
                </a:solidFill>
                <a:latin typeface="Arial" panose="020B0604020202020204" pitchFamily="34" charset="0"/>
              </a:rPr>
              <a:t>H</a:t>
            </a:r>
            <a:r>
              <a:rPr lang="en-US" altLang="en-US" sz="1600" b="1" i="1" baseline="-25000" dirty="0">
                <a:solidFill>
                  <a:schemeClr val="tx1"/>
                </a:solidFill>
                <a:latin typeface="+mj-lt"/>
              </a:rPr>
              <a:t>a</a:t>
            </a:r>
            <a:r>
              <a:rPr lang="en-US" altLang="en-US" sz="1600" b="1" dirty="0">
                <a:solidFill>
                  <a:schemeClr val="tx1"/>
                </a:solidFill>
                <a:latin typeface="Arial" panose="020B0604020202020204" pitchFamily="34" charset="0"/>
              </a:rPr>
              <a:t>: </a:t>
            </a:r>
            <a:r>
              <a:rPr lang="en-US" altLang="en-US" sz="1600" b="1" i="1" dirty="0">
                <a:solidFill>
                  <a:schemeClr val="tx1"/>
                </a:solidFill>
                <a:latin typeface="Arial" panose="020B0604020202020204" pitchFamily="34" charset="0"/>
              </a:rPr>
              <a:t>p</a:t>
            </a:r>
            <a:r>
              <a:rPr lang="en-US" altLang="en-US" sz="1600" b="1" dirty="0">
                <a:solidFill>
                  <a:schemeClr val="tx1"/>
                </a:solidFill>
                <a:latin typeface="Arial" panose="020B0604020202020204" pitchFamily="34" charset="0"/>
              </a:rPr>
              <a:t> &gt; 1/3. </a:t>
            </a:r>
            <a:r>
              <a:rPr lang="en-US" altLang="en-US" sz="1600" dirty="0">
                <a:solidFill>
                  <a:schemeClr val="tx1"/>
                </a:solidFill>
                <a:latin typeface="Arial" panose="020B0604020202020204" pitchFamily="34" charset="0"/>
              </a:rPr>
              <a:t>Presuming that H</a:t>
            </a:r>
            <a:r>
              <a:rPr lang="en-US" altLang="en-US" sz="1600" baseline="-25000" dirty="0">
                <a:solidFill>
                  <a:schemeClr val="tx1"/>
                </a:solidFill>
                <a:latin typeface="Arial" panose="020B0604020202020204" pitchFamily="34" charset="0"/>
              </a:rPr>
              <a:t>0</a:t>
            </a:r>
            <a:r>
              <a:rPr lang="en-US" altLang="en-US" sz="1600" dirty="0">
                <a:solidFill>
                  <a:schemeClr val="tx1"/>
                </a:solidFill>
                <a:latin typeface="Arial" panose="020B0604020202020204" pitchFamily="34" charset="0"/>
              </a:rPr>
              <a:t> is true, the P-value is the right-tail probability of a test statistic value even more extreme than observed. </a:t>
            </a:r>
            <a:r>
              <a:rPr lang="en-US" altLang="en-US" sz="1600" b="1" dirty="0">
                <a:solidFill>
                  <a:schemeClr val="tx1"/>
                </a:solidFill>
                <a:latin typeface="Arial" panose="020B0604020202020204" pitchFamily="34" charset="0"/>
              </a:rPr>
              <a:t>Question </a:t>
            </a:r>
            <a:r>
              <a:rPr lang="en-US" altLang="en-US" sz="1600" dirty="0">
                <a:solidFill>
                  <a:schemeClr val="tx1"/>
                </a:solidFill>
                <a:latin typeface="Arial" panose="020B0604020202020204" pitchFamily="34" charset="0"/>
              </a:rPr>
              <a:t>Logically, why are the </a:t>
            </a:r>
            <a:r>
              <a:rPr lang="en-US" altLang="en-US" sz="1600" i="1" dirty="0">
                <a:solidFill>
                  <a:schemeClr val="tx1"/>
                </a:solidFill>
                <a:latin typeface="Arial" panose="020B0604020202020204" pitchFamily="34" charset="0"/>
              </a:rPr>
              <a:t>right-tail z </a:t>
            </a:r>
            <a:r>
              <a:rPr lang="en-US" altLang="en-US" sz="1600" dirty="0">
                <a:solidFill>
                  <a:schemeClr val="tx1"/>
                </a:solidFill>
                <a:latin typeface="Arial" panose="020B0604020202020204" pitchFamily="34" charset="0"/>
              </a:rPr>
              <a:t>-scores considered the </a:t>
            </a:r>
            <a:r>
              <a:rPr lang="en-US" altLang="en-US" sz="1600" i="1" dirty="0">
                <a:solidFill>
                  <a:schemeClr val="tx1"/>
                </a:solidFill>
                <a:latin typeface="Arial" panose="020B0604020202020204" pitchFamily="34" charset="0"/>
              </a:rPr>
              <a:t>more extreme </a:t>
            </a:r>
            <a:r>
              <a:rPr lang="en-US" altLang="en-US" sz="1600" dirty="0">
                <a:solidFill>
                  <a:schemeClr val="tx1"/>
                </a:solidFill>
                <a:latin typeface="Arial" panose="020B0604020202020204" pitchFamily="34" charset="0"/>
              </a:rPr>
              <a:t>values for testing H</a:t>
            </a:r>
            <a:r>
              <a:rPr lang="en-US" altLang="en-US" sz="1600" baseline="-25000" dirty="0">
                <a:solidFill>
                  <a:schemeClr val="tx1"/>
                </a:solidFill>
                <a:latin typeface="Arial" panose="020B0604020202020204" pitchFamily="34" charset="0"/>
              </a:rPr>
              <a:t>0</a:t>
            </a:r>
            <a:r>
              <a:rPr lang="en-US" altLang="en-US" sz="1600" dirty="0">
                <a:solidFill>
                  <a:schemeClr val="tx1"/>
                </a:solidFill>
                <a:latin typeface="Arial" panose="020B0604020202020204" pitchFamily="34" charset="0"/>
              </a:rPr>
              <a:t> against H</a:t>
            </a:r>
            <a:r>
              <a:rPr lang="en-US" altLang="en-US" sz="1600" i="1" baseline="-25000" dirty="0">
                <a:solidFill>
                  <a:schemeClr val="tx1"/>
                </a:solidFill>
                <a:latin typeface="+mj-lt"/>
              </a:rPr>
              <a:t>a </a:t>
            </a:r>
            <a:r>
              <a:rPr lang="en-US" altLang="en-US" sz="1600" dirty="0">
                <a:solidFill>
                  <a:schemeClr val="tx1"/>
                </a:solidFill>
                <a:latin typeface="Arial" panose="020B0604020202020204" pitchFamily="34" charset="0"/>
              </a:rPr>
              <a:t>:</a:t>
            </a:r>
            <a:r>
              <a:rPr lang="en-US" altLang="en-US" sz="1600" i="1" dirty="0">
                <a:solidFill>
                  <a:schemeClr val="tx1"/>
                </a:solidFill>
                <a:latin typeface="Arial" panose="020B0604020202020204" pitchFamily="34" charset="0"/>
              </a:rPr>
              <a:t>p</a:t>
            </a:r>
            <a:r>
              <a:rPr lang="en-US" altLang="en-US" sz="1600" dirty="0">
                <a:solidFill>
                  <a:schemeClr val="tx1"/>
                </a:solidFill>
                <a:latin typeface="Arial" panose="020B0604020202020204" pitchFamily="34" charset="0"/>
              </a:rPr>
              <a:t> &gt; 1/3?</a:t>
            </a:r>
          </a:p>
        </p:txBody>
      </p:sp>
      <p:sp>
        <p:nvSpPr>
          <p:cNvPr id="49157" name="Text Box 2"/>
          <p:cNvSpPr txBox="1">
            <a:spLocks noChangeArrowheads="1"/>
          </p:cNvSpPr>
          <p:nvPr/>
        </p:nvSpPr>
        <p:spPr bwMode="auto">
          <a:xfrm>
            <a:off x="914400" y="76200"/>
            <a:ext cx="7924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Are Astrologers’ Predictions Better Than Guessing?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Grp="1" noChangeArrowheads="1"/>
          </p:cNvSpPr>
          <p:nvPr>
            <p:ph type="body" idx="4294967295"/>
          </p:nvPr>
        </p:nvSpPr>
        <p:spPr bwMode="auto">
          <a:xfrm>
            <a:off x="914400" y="1600200"/>
            <a:ext cx="80010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lnSpc>
                <a:spcPct val="90000"/>
              </a:lnSpc>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Step 5: Conclusion</a:t>
            </a:r>
          </a:p>
          <a:p>
            <a:pPr indent="-317500" eaLnBrk="1" hangingPunct="1">
              <a:lnSpc>
                <a:spcPct val="90000"/>
              </a:lnSpc>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indent="-317500" eaLnBrk="1" hangingPunct="1">
              <a:lnSpc>
                <a:spcPct val="90000"/>
              </a:lnSpc>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The P-value of 0.40 is </a:t>
            </a:r>
            <a:r>
              <a:rPr lang="en-US" altLang="en-US" i="1" dirty="0"/>
              <a:t>not</a:t>
            </a:r>
            <a:r>
              <a:rPr lang="en-US" altLang="en-US" dirty="0"/>
              <a:t> especially small.</a:t>
            </a:r>
          </a:p>
          <a:p>
            <a:pPr indent="-317500" eaLnBrk="1" hangingPunct="1">
              <a:lnSpc>
                <a:spcPct val="90000"/>
              </a:lnSpc>
              <a:spcBef>
                <a:spcPts val="7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indent="-317500" eaLnBrk="1" hangingPunct="1">
              <a:lnSpc>
                <a:spcPct val="90000"/>
              </a:lnSpc>
              <a:spcBef>
                <a:spcPts val="7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It does </a:t>
            </a:r>
            <a:r>
              <a:rPr lang="en-US" altLang="en-US" i="1" dirty="0"/>
              <a:t>not</a:t>
            </a:r>
            <a:r>
              <a:rPr lang="en-US" altLang="en-US" dirty="0"/>
              <a:t> provide strong evidence against H</a:t>
            </a:r>
            <a:r>
              <a:rPr lang="en-US" altLang="en-US" baseline="-25000" dirty="0"/>
              <a:t>0</a:t>
            </a:r>
            <a:r>
              <a:rPr lang="en-US" altLang="en-US" dirty="0"/>
              <a:t>: </a:t>
            </a:r>
            <a:r>
              <a:rPr lang="en-US" altLang="en-US" i="1" dirty="0"/>
              <a:t>p </a:t>
            </a:r>
            <a:r>
              <a:rPr lang="en-US" altLang="en-US" dirty="0"/>
              <a:t>= 1/3.  </a:t>
            </a:r>
          </a:p>
          <a:p>
            <a:pPr indent="-317500" eaLnBrk="1" hangingPunct="1">
              <a:lnSpc>
                <a:spcPct val="90000"/>
              </a:lnSpc>
              <a:spcBef>
                <a:spcPts val="7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indent="-317500" eaLnBrk="1" hangingPunct="1">
              <a:lnSpc>
                <a:spcPct val="90000"/>
              </a:lnSpc>
              <a:spcBef>
                <a:spcPts val="7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We would not conclude that astrologers have </a:t>
            </a:r>
          </a:p>
          <a:p>
            <a:pPr indent="-317500" eaLnBrk="1" hangingPunct="1">
              <a:lnSpc>
                <a:spcPct val="90000"/>
              </a:lnSpc>
              <a:spcBef>
                <a:spcPts val="7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special predictive powers.</a:t>
            </a:r>
          </a:p>
        </p:txBody>
      </p:sp>
      <p:sp>
        <p:nvSpPr>
          <p:cNvPr id="51203" name="Text Box 2"/>
          <p:cNvSpPr txBox="1">
            <a:spLocks noChangeArrowheads="1"/>
          </p:cNvSpPr>
          <p:nvPr/>
        </p:nvSpPr>
        <p:spPr bwMode="auto">
          <a:xfrm>
            <a:off x="914400" y="76200"/>
            <a:ext cx="7924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Are Astrologers’ Predictions Better Than Guessing?</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Grp="1" noChangeArrowheads="1"/>
          </p:cNvSpPr>
          <p:nvPr>
            <p:ph type="title" idx="4294967295"/>
          </p:nvPr>
        </p:nvSpPr>
        <p:spPr bwMode="auto">
          <a:xfrm>
            <a:off x="855663" y="185738"/>
            <a:ext cx="7848600" cy="7127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latin typeface="Arial" panose="020B0604020202020204" pitchFamily="34" charset="0"/>
              </a:rPr>
              <a:t>Interpreting the P-value</a:t>
            </a:r>
          </a:p>
        </p:txBody>
      </p:sp>
      <p:sp>
        <p:nvSpPr>
          <p:cNvPr id="103427" name="Rectangle 2"/>
          <p:cNvSpPr>
            <a:spLocks noGrp="1" noChangeArrowheads="1"/>
          </p:cNvSpPr>
          <p:nvPr>
            <p:ph type="body" idx="4294967295"/>
          </p:nvPr>
        </p:nvSpPr>
        <p:spPr bwMode="auto">
          <a:xfrm>
            <a:off x="914400" y="1600200"/>
            <a:ext cx="7772400" cy="41894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A significance test analyzes the strength of the evidence </a:t>
            </a:r>
            <a:r>
              <a:rPr lang="en-US" altLang="en-US" i="1" dirty="0">
                <a:solidFill>
                  <a:schemeClr val="tx1"/>
                </a:solidFill>
              </a:rPr>
              <a:t>against</a:t>
            </a:r>
            <a:r>
              <a:rPr lang="en-US" altLang="en-US" dirty="0">
                <a:solidFill>
                  <a:schemeClr val="tx1"/>
                </a:solidFill>
              </a:rPr>
              <a:t> the null hypothesis H</a:t>
            </a:r>
            <a:r>
              <a:rPr lang="en-US" altLang="en-US" baseline="-25000" dirty="0">
                <a:solidFill>
                  <a:schemeClr val="tx1"/>
                </a:solidFill>
              </a:rPr>
              <a:t>0</a:t>
            </a:r>
            <a:r>
              <a:rPr lang="en-US" altLang="en-US" dirty="0">
                <a:solidFill>
                  <a:schemeClr val="tx1"/>
                </a:solidFill>
              </a:rPr>
              <a:t>.</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We start by presuming that H</a:t>
            </a:r>
            <a:r>
              <a:rPr lang="en-US" altLang="en-US" baseline="-25000" dirty="0">
                <a:solidFill>
                  <a:schemeClr val="tx1"/>
                </a:solidFill>
              </a:rPr>
              <a:t>0 </a:t>
            </a:r>
            <a:r>
              <a:rPr lang="en-US" altLang="en-US" dirty="0">
                <a:solidFill>
                  <a:schemeClr val="tx1"/>
                </a:solidFill>
              </a:rPr>
              <a:t>is true.</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a:t>
            </a:r>
            <a:r>
              <a:rPr lang="en-US" altLang="en-US" i="1" dirty="0">
                <a:solidFill>
                  <a:schemeClr val="tx1"/>
                </a:solidFill>
              </a:rPr>
              <a:t>burden of proof</a:t>
            </a:r>
            <a:r>
              <a:rPr lang="en-US" altLang="en-US" dirty="0">
                <a:solidFill>
                  <a:schemeClr val="tx1"/>
                </a:solidFill>
              </a:rPr>
              <a:t> is on H</a:t>
            </a:r>
            <a:r>
              <a:rPr lang="en-US" altLang="en-US" i="1" baseline="-25000" dirty="0">
                <a:solidFill>
                  <a:schemeClr val="tx1"/>
                </a:solidFill>
                <a:latin typeface="+mj-lt"/>
              </a:rPr>
              <a:t>a</a:t>
            </a:r>
            <a:r>
              <a:rPr lang="en-US" altLang="en-US" dirty="0">
                <a:solidFill>
                  <a:schemeClr val="tx1"/>
                </a:solidFill>
              </a:rPr>
              <a:t>.</a:t>
            </a:r>
            <a:endParaRPr lang="en-US" altLang="en-US" baseline="-25000"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approach used in hypothesis testing is called a </a:t>
            </a:r>
            <a:r>
              <a:rPr lang="en-US" altLang="en-US" i="1" dirty="0">
                <a:solidFill>
                  <a:schemeClr val="tx1"/>
                </a:solidFill>
              </a:rPr>
              <a:t>proof by contradiction.</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To convince ourselves that H</a:t>
            </a:r>
            <a:r>
              <a:rPr lang="en-US" altLang="en-US" i="1" baseline="-25000" dirty="0">
                <a:solidFill>
                  <a:schemeClr val="tx1"/>
                </a:solidFill>
                <a:latin typeface="+mj-lt"/>
              </a:rPr>
              <a:t>a</a:t>
            </a:r>
            <a:r>
              <a:rPr lang="en-US" altLang="en-US" baseline="-25000" dirty="0">
                <a:solidFill>
                  <a:schemeClr val="tx1"/>
                </a:solidFill>
              </a:rPr>
              <a:t> </a:t>
            </a:r>
            <a:r>
              <a:rPr lang="en-US" altLang="en-US" dirty="0">
                <a:solidFill>
                  <a:schemeClr val="tx1"/>
                </a:solidFill>
              </a:rPr>
              <a:t>is true, we must show that data contradict H</a:t>
            </a:r>
            <a:r>
              <a:rPr lang="en-US" altLang="en-US" baseline="-25000" dirty="0">
                <a:solidFill>
                  <a:schemeClr val="tx1"/>
                </a:solidFill>
              </a:rPr>
              <a:t>0</a:t>
            </a:r>
            <a:r>
              <a:rPr lang="en-US" altLang="en-US" dirty="0">
                <a:solidFill>
                  <a:schemeClr val="tx1"/>
                </a:solidFill>
              </a:rPr>
              <a:t>.</a:t>
            </a:r>
            <a:endParaRPr lang="en-US" altLang="en-US" baseline="-25000"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i="1"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If the P-value is small, the data </a:t>
            </a:r>
            <a:r>
              <a:rPr lang="en-US" altLang="en-US" i="1" dirty="0">
                <a:solidFill>
                  <a:schemeClr val="tx1"/>
                </a:solidFill>
              </a:rPr>
              <a:t>contradict </a:t>
            </a:r>
            <a:r>
              <a:rPr lang="en-US" altLang="en-US" dirty="0">
                <a:solidFill>
                  <a:schemeClr val="tx1"/>
                </a:solidFill>
              </a:rPr>
              <a:t>H</a:t>
            </a:r>
            <a:r>
              <a:rPr lang="en-US" altLang="en-US" baseline="-25000" dirty="0">
                <a:solidFill>
                  <a:schemeClr val="tx1"/>
                </a:solidFill>
              </a:rPr>
              <a:t>0 </a:t>
            </a:r>
            <a:r>
              <a:rPr lang="en-US" altLang="en-US" dirty="0">
                <a:solidFill>
                  <a:schemeClr val="tx1"/>
                </a:solidFill>
              </a:rPr>
              <a:t>and </a:t>
            </a:r>
            <a:r>
              <a:rPr lang="en-US" altLang="en-US" i="1" dirty="0">
                <a:solidFill>
                  <a:schemeClr val="tx1"/>
                </a:solidFill>
              </a:rPr>
              <a:t>support </a:t>
            </a:r>
            <a:r>
              <a:rPr lang="en-US" altLang="en-US" dirty="0">
                <a:solidFill>
                  <a:schemeClr val="tx1"/>
                </a:solidFill>
              </a:rPr>
              <a:t>H</a:t>
            </a:r>
            <a:r>
              <a:rPr lang="en-US" altLang="en-US" i="1" baseline="-25000" dirty="0">
                <a:solidFill>
                  <a:schemeClr val="tx1"/>
                </a:solidFill>
                <a:latin typeface="+mj-lt"/>
              </a:rPr>
              <a:t>a</a:t>
            </a:r>
            <a:r>
              <a:rPr lang="en-US" altLang="en-US" i="1" dirty="0">
                <a:solidFill>
                  <a:schemeClr val="tx1"/>
                </a:solidFill>
              </a:rPr>
              <a:t>.</a:t>
            </a:r>
            <a:endParaRPr lang="en-US" altLang="en-US" i="1" baseline="-25000" dirty="0">
              <a:solidFill>
                <a:schemeClr val="tx1"/>
              </a:solidFill>
            </a:endParaRPr>
          </a:p>
        </p:txBody>
      </p:sp>
      <p:sp>
        <p:nvSpPr>
          <p:cNvPr id="55299" name="Rectangle 1"/>
          <p:cNvSpPr>
            <a:spLocks noGrp="1" noChangeArrowheads="1"/>
          </p:cNvSpPr>
          <p:nvPr>
            <p:ph type="title" idx="4294967295"/>
          </p:nvPr>
        </p:nvSpPr>
        <p:spPr bwMode="auto">
          <a:xfrm>
            <a:off x="855663" y="185738"/>
            <a:ext cx="7848600" cy="7127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Interpreting the P-value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ChangeArrowheads="1"/>
          </p:cNvSpPr>
          <p:nvPr>
            <p:ph type="title" idx="4294967295"/>
          </p:nvPr>
        </p:nvSpPr>
        <p:spPr bwMode="auto">
          <a:xfrm>
            <a:off x="914400" y="136525"/>
            <a:ext cx="79248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Two-Sided Significance Tests</a:t>
            </a:r>
          </a:p>
        </p:txBody>
      </p:sp>
      <p:sp>
        <p:nvSpPr>
          <p:cNvPr id="57347"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solidFill>
                  <a:schemeClr val="tx1"/>
                </a:solidFill>
              </a:rPr>
              <a:t>A two-sided alternative hypothesis has the form </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solidFill>
                  <a:schemeClr val="tx1"/>
                </a:solidFill>
              </a:rPr>
              <a:t> </a:t>
            </a:r>
            <a:endParaRPr lang="en-US" altLang="en-US" baseline="-25000"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aseline="-25000"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solidFill>
                  <a:schemeClr val="tx1"/>
                </a:solidFill>
              </a:rPr>
              <a:t>The P-value is the </a:t>
            </a:r>
            <a:r>
              <a:rPr lang="en-US" altLang="en-US" i="1" dirty="0">
                <a:solidFill>
                  <a:schemeClr val="tx1"/>
                </a:solidFill>
              </a:rPr>
              <a:t>two-tail</a:t>
            </a:r>
            <a:r>
              <a:rPr lang="en-US" altLang="en-US" dirty="0">
                <a:solidFill>
                  <a:schemeClr val="tx1"/>
                </a:solidFill>
              </a:rPr>
              <a:t> probability under the standard normal curve.</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solidFill>
                  <a:schemeClr val="tx1"/>
                </a:solidFill>
              </a:rPr>
              <a:t>We calculate this by finding the tail probability in a single tail and then doubling it.</a:t>
            </a:r>
          </a:p>
        </p:txBody>
      </p:sp>
      <p:graphicFrame>
        <p:nvGraphicFramePr>
          <p:cNvPr id="57348" name="Object 1"/>
          <p:cNvGraphicFramePr>
            <a:graphicFrameLocks noChangeAspect="1"/>
          </p:cNvGraphicFramePr>
          <p:nvPr/>
        </p:nvGraphicFramePr>
        <p:xfrm>
          <a:off x="4559300" y="3149600"/>
          <a:ext cx="914400" cy="319088"/>
        </p:xfrm>
        <a:graphic>
          <a:graphicData uri="http://schemas.openxmlformats.org/presentationml/2006/ole">
            <mc:AlternateContent xmlns:mc="http://schemas.openxmlformats.org/markup-compatibility/2006">
              <mc:Choice xmlns:v="urn:schemas-microsoft-com:vml" Requires="v">
                <p:oleObj name="Equation" r:id="rId3" imgW="454663" imgH="779422" progId="Equation.DSMT4">
                  <p:embed/>
                </p:oleObj>
              </mc:Choice>
              <mc:Fallback>
                <p:oleObj name="Equation" r:id="rId3" imgW="454663" imgH="779422" progId="Equation.DSMT4">
                  <p:embed/>
                  <p:pic>
                    <p:nvPicPr>
                      <p:cNvPr id="57348"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9300" y="3149600"/>
                        <a:ext cx="9144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49" name="Object 2"/>
          <p:cNvGraphicFramePr>
            <a:graphicFrameLocks noChangeAspect="1"/>
          </p:cNvGraphicFramePr>
          <p:nvPr/>
        </p:nvGraphicFramePr>
        <p:xfrm>
          <a:off x="1379538" y="2108200"/>
          <a:ext cx="1778000" cy="444500"/>
        </p:xfrm>
        <a:graphic>
          <a:graphicData uri="http://schemas.openxmlformats.org/presentationml/2006/ole">
            <mc:AlternateContent xmlns:mc="http://schemas.openxmlformats.org/markup-compatibility/2006">
              <mc:Choice xmlns:v="urn:schemas-microsoft-com:vml" Requires="v">
                <p:oleObj name="Equation" r:id="rId5" imgW="1777229" imgH="444307" progId="Equation.DSMT4">
                  <p:embed/>
                </p:oleObj>
              </mc:Choice>
              <mc:Fallback>
                <p:oleObj name="Equation" r:id="rId5" imgW="1777229" imgH="444307" progId="Equation.DSMT4">
                  <p:embed/>
                  <p:pic>
                    <p:nvPicPr>
                      <p:cNvPr id="5734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9538" y="2108200"/>
                        <a:ext cx="17780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Grp="1" noChangeArrowheads="1"/>
          </p:cNvSpPr>
          <p:nvPr>
            <p:ph type="title" idx="4294967295"/>
          </p:nvPr>
        </p:nvSpPr>
        <p:spPr bwMode="auto">
          <a:xfrm>
            <a:off x="685800" y="184150"/>
            <a:ext cx="80772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Example: Dogs Detecting Cancer by Smell</a:t>
            </a:r>
          </a:p>
        </p:txBody>
      </p:sp>
      <p:sp>
        <p:nvSpPr>
          <p:cNvPr id="59395" name="Rectangle 2"/>
          <p:cNvSpPr>
            <a:spLocks noGrp="1" noChangeArrowheads="1"/>
          </p:cNvSpPr>
          <p:nvPr>
            <p:ph type="body" idx="4294967295"/>
          </p:nvPr>
        </p:nvSpPr>
        <p:spPr bwMode="auto">
          <a:xfrm>
            <a:off x="914400" y="1600200"/>
            <a:ext cx="7772400" cy="39322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dirty="0"/>
              <a:t>Study: </a:t>
            </a:r>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Investigate whether dogs can be trained to distinguish a patient with bladder cancer by smelling compounds released in the patient’s urine.</a:t>
            </a:r>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p>
          <a:p>
            <a:pPr marL="0" lvl="1" indent="0" eaLnBrk="1" hangingPunct="1">
              <a:spcBef>
                <a:spcPts val="800"/>
              </a:spcBef>
              <a:buClr>
                <a:srgbClr val="C0C0C0"/>
              </a:buClr>
              <a:buSzPct val="75000"/>
              <a:buNone/>
              <a:tabLst>
                <a:tab pos="717550"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US" altLang="en-US" b="1" dirty="0">
                <a:solidFill>
                  <a:schemeClr val="tx1"/>
                </a:solidFill>
              </a:rPr>
              <a:t>Experiment:</a:t>
            </a:r>
          </a:p>
          <a:p>
            <a:pPr marL="0" lvl="1" indent="0" eaLnBrk="1" hangingPunct="1">
              <a:spcBef>
                <a:spcPts val="800"/>
              </a:spcBef>
              <a:buClr>
                <a:srgbClr val="C0C0C0"/>
              </a:buClr>
              <a:buSzPct val="75000"/>
              <a:buNone/>
              <a:tabLst>
                <a:tab pos="717550"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US" altLang="en-US" dirty="0">
                <a:solidFill>
                  <a:schemeClr val="tx1"/>
                </a:solidFill>
              </a:rPr>
              <a:t>Each of 6 dogs was tested with 9 trials.</a:t>
            </a:r>
          </a:p>
          <a:p>
            <a:pPr marL="0" lvl="1" indent="0" eaLnBrk="1" hangingPunct="1">
              <a:spcBef>
                <a:spcPts val="800"/>
              </a:spcBef>
              <a:buClr>
                <a:srgbClr val="C0C0C0"/>
              </a:buClr>
              <a:buSzPct val="75000"/>
              <a:buNone/>
              <a:tabLst>
                <a:tab pos="717550"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US" altLang="en-US" dirty="0">
                <a:solidFill>
                  <a:schemeClr val="tx1"/>
                </a:solidFill>
              </a:rPr>
              <a:t>In each trial, one urine sample from a bladder cancer patient was randomly place among 6 control urine samples.</a:t>
            </a:r>
          </a:p>
          <a:p>
            <a:pPr marL="341313" indent="-317500" eaLnBrk="1" hangingPunct="1">
              <a:spcBef>
                <a:spcPts val="625"/>
              </a:spcBef>
              <a:buSzPct val="90000"/>
              <a:buFontTx/>
              <a:buNone/>
              <a:tabLst>
                <a:tab pos="717550"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endParaRPr lang="en-US" altLang="en-US" b="1" dirty="0">
              <a:solidFill>
                <a:schemeClr val="tx1"/>
              </a:solidFill>
            </a:endParaRPr>
          </a:p>
          <a:p>
            <a:pPr marL="341313" indent="-317500" eaLnBrk="1" hangingPunct="1">
              <a:spcBef>
                <a:spcPts val="625"/>
              </a:spcBef>
              <a:buSzPct val="90000"/>
              <a:buFontTx/>
              <a:buNone/>
              <a:tabLst>
                <a:tab pos="717550"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endParaRPr lang="en-US" altLang="en-US" b="1" dirty="0">
              <a:solidFill>
                <a:srgbClr val="330033"/>
              </a:solidFill>
            </a:endParaRPr>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Grp="1" noChangeArrowheads="1"/>
          </p:cNvSpPr>
          <p:nvPr>
            <p:ph type="body" idx="4294967295"/>
          </p:nvPr>
        </p:nvSpPr>
        <p:spPr bwMode="auto">
          <a:xfrm>
            <a:off x="838200" y="1563624"/>
            <a:ext cx="7772400" cy="4017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dirty="0">
                <a:solidFill>
                  <a:schemeClr val="tx1"/>
                </a:solidFill>
              </a:rPr>
              <a:t>Results:</a:t>
            </a:r>
          </a:p>
          <a:p>
            <a:pPr marL="0" indent="0" eaLnBrk="1" hangingPunct="1">
              <a:spcBef>
                <a:spcPts val="725"/>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solidFill>
                  <a:schemeClr val="tx1"/>
                </a:solidFill>
              </a:rPr>
              <a:t>In a total of 54 trials with the six dogs, the dogs made the correct selection 22 times (a success rate of 0.407).</a:t>
            </a:r>
          </a:p>
          <a:p>
            <a:pPr marL="0" indent="0" eaLnBrk="1" hangingPunct="1">
              <a:spcBef>
                <a:spcPts val="725"/>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solidFill>
                <a:schemeClr val="tx1"/>
              </a:solidFill>
            </a:endParaRPr>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dirty="0">
                <a:solidFill>
                  <a:schemeClr val="tx1"/>
                </a:solidFill>
              </a:rPr>
              <a:t>Question to Explore:</a:t>
            </a:r>
          </a:p>
          <a:p>
            <a:pPr marL="0" indent="0" eaLnBrk="1" hangingPunct="1">
              <a:spcBef>
                <a:spcPts val="7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solidFill>
                  <a:schemeClr val="tx1"/>
                </a:solidFill>
              </a:rPr>
              <a:t>Does</a:t>
            </a:r>
            <a:r>
              <a:rPr lang="en-US" altLang="en-US" b="1" dirty="0">
                <a:solidFill>
                  <a:schemeClr val="tx1"/>
                </a:solidFill>
              </a:rPr>
              <a:t> </a:t>
            </a:r>
            <a:r>
              <a:rPr lang="en-US" altLang="en-US" dirty="0">
                <a:solidFill>
                  <a:schemeClr val="tx1"/>
                </a:solidFill>
              </a:rPr>
              <a:t>this study provide strong evidence that the dogs’ predictions were better or worse than with random guessing?</a:t>
            </a:r>
          </a:p>
          <a:p>
            <a:pPr marL="0" indent="0" eaLnBrk="1" hangingPunct="1">
              <a:spcBef>
                <a:spcPts val="725"/>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 </a:t>
            </a:r>
          </a:p>
        </p:txBody>
      </p:sp>
      <p:sp>
        <p:nvSpPr>
          <p:cNvPr id="63491" name="Rectangle 1"/>
          <p:cNvSpPr>
            <a:spLocks noChangeArrowheads="1"/>
          </p:cNvSpPr>
          <p:nvPr/>
        </p:nvSpPr>
        <p:spPr bwMode="auto">
          <a:xfrm>
            <a:off x="685800" y="184150"/>
            <a:ext cx="8077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Dogs Detecting Cancer by Smell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
          <p:cNvSpPr>
            <a:spLocks noGrp="1" noChangeArrowheads="1"/>
          </p:cNvSpPr>
          <p:nvPr>
            <p:ph type="body" idx="4294967295"/>
          </p:nvPr>
        </p:nvSpPr>
        <p:spPr bwMode="auto">
          <a:xfrm>
            <a:off x="685800" y="1600200"/>
            <a:ext cx="82296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spcBef>
                <a:spcPts val="625"/>
              </a:spcBef>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b="1" dirty="0">
                <a:solidFill>
                  <a:schemeClr val="tx1"/>
                </a:solidFill>
              </a:rPr>
              <a:t>Step 1: Check the sample size requirement:</a:t>
            </a:r>
          </a:p>
          <a:p>
            <a:pPr marL="0" indent="0" eaLnBrk="1" hangingPunct="1">
              <a:spcBef>
                <a:spcPts val="6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solidFill>
                  <a:schemeClr val="tx1"/>
                </a:solidFill>
              </a:rPr>
              <a:t>Is the sample size sufficiently large to use the hypothesis test for a population proportion?</a:t>
            </a:r>
          </a:p>
          <a:p>
            <a:pPr marL="457200" lvl="1" indent="0" eaLnBrk="1" hangingPunct="1">
              <a:buClr>
                <a:srgbClr val="CCCC99"/>
              </a:buClr>
              <a:buSzPct val="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solidFill>
                  <a:schemeClr val="tx1"/>
                </a:solidFill>
              </a:rPr>
              <a:t> </a:t>
            </a:r>
          </a:p>
          <a:p>
            <a:pPr marL="457200" lvl="1" indent="0" eaLnBrk="1" hangingPunct="1">
              <a:buClr>
                <a:srgbClr val="CCCC99"/>
              </a:buClr>
              <a:buSzPct val="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solidFill>
                  <a:schemeClr val="tx1"/>
                </a:solidFill>
              </a:rPr>
              <a:t> </a:t>
            </a:r>
          </a:p>
          <a:p>
            <a:pPr indent="-317500" eaLnBrk="1" hangingPunct="1">
              <a:spcBef>
                <a:spcPts val="6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altLang="en-US" dirty="0">
              <a:solidFill>
                <a:schemeClr val="tx1"/>
              </a:solidFill>
            </a:endParaRPr>
          </a:p>
          <a:p>
            <a:pPr indent="-317500" eaLnBrk="1" hangingPunct="1">
              <a:spcBef>
                <a:spcPts val="6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solidFill>
                  <a:schemeClr val="tx1"/>
                </a:solidFill>
              </a:rPr>
              <a:t> </a:t>
            </a:r>
            <a:r>
              <a:rPr lang="en-US" altLang="en-US" i="1" dirty="0">
                <a:solidFill>
                  <a:schemeClr val="tx1"/>
                </a:solidFill>
              </a:rPr>
              <a:t>      </a:t>
            </a:r>
            <a:r>
              <a:rPr lang="en-US" altLang="en-US" baseline="-25000" dirty="0">
                <a:solidFill>
                  <a:schemeClr val="tx1"/>
                </a:solidFill>
              </a:rPr>
              <a:t>           </a:t>
            </a:r>
            <a:r>
              <a:rPr lang="en-US" altLang="en-US" i="1" dirty="0">
                <a:solidFill>
                  <a:schemeClr val="tx1"/>
                </a:solidFill>
                <a:latin typeface="+mj-lt"/>
              </a:rPr>
              <a:t>np</a:t>
            </a:r>
            <a:r>
              <a:rPr lang="en-US" altLang="en-US" baseline="-25000" dirty="0">
                <a:solidFill>
                  <a:schemeClr val="tx1"/>
                </a:solidFill>
              </a:rPr>
              <a:t>0</a:t>
            </a:r>
            <a:r>
              <a:rPr lang="en-US" altLang="en-US" dirty="0">
                <a:solidFill>
                  <a:schemeClr val="tx1"/>
                </a:solidFill>
              </a:rPr>
              <a:t> is </a:t>
            </a:r>
            <a:r>
              <a:rPr lang="en-US" altLang="en-US" b="1" i="1" dirty="0">
                <a:solidFill>
                  <a:schemeClr val="tx1"/>
                </a:solidFill>
              </a:rPr>
              <a:t>not</a:t>
            </a:r>
            <a:r>
              <a:rPr lang="en-US" altLang="en-US" dirty="0">
                <a:solidFill>
                  <a:schemeClr val="tx1"/>
                </a:solidFill>
              </a:rPr>
              <a:t> large enough.</a:t>
            </a:r>
          </a:p>
          <a:p>
            <a:pPr indent="-317500" eaLnBrk="1" hangingPunct="1">
              <a:spcBef>
                <a:spcPts val="6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altLang="en-US" dirty="0">
              <a:solidFill>
                <a:schemeClr val="tx1"/>
              </a:solidFill>
            </a:endParaRPr>
          </a:p>
          <a:p>
            <a:pPr marL="0" indent="0" eaLnBrk="1" hangingPunct="1">
              <a:spcBef>
                <a:spcPts val="625"/>
              </a:spcBef>
              <a:buClr>
                <a:srgbClr val="B2B2B2"/>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solidFill>
                  <a:schemeClr val="tx1"/>
                </a:solidFill>
              </a:rPr>
              <a:t>We will see that the two-sided test is robust even when this assumption is not satisfied.</a:t>
            </a:r>
          </a:p>
        </p:txBody>
      </p:sp>
      <p:sp>
        <p:nvSpPr>
          <p:cNvPr id="67587" name="Rectangle 1"/>
          <p:cNvSpPr>
            <a:spLocks noChangeArrowheads="1"/>
          </p:cNvSpPr>
          <p:nvPr/>
        </p:nvSpPr>
        <p:spPr bwMode="auto">
          <a:xfrm>
            <a:off x="685800" y="184150"/>
            <a:ext cx="8077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Dogs Detecting Cancer by Smell</a:t>
            </a:r>
          </a:p>
        </p:txBody>
      </p:sp>
      <p:graphicFrame>
        <p:nvGraphicFramePr>
          <p:cNvPr id="67588" name="Object 1"/>
          <p:cNvGraphicFramePr>
            <a:graphicFrameLocks noChangeAspect="1"/>
          </p:cNvGraphicFramePr>
          <p:nvPr/>
        </p:nvGraphicFramePr>
        <p:xfrm>
          <a:off x="2008188" y="3065463"/>
          <a:ext cx="4000500" cy="393700"/>
        </p:xfrm>
        <a:graphic>
          <a:graphicData uri="http://schemas.openxmlformats.org/presentationml/2006/ole">
            <mc:AlternateContent xmlns:mc="http://schemas.openxmlformats.org/markup-compatibility/2006">
              <mc:Choice xmlns:v="urn:schemas-microsoft-com:vml" Requires="v">
                <p:oleObj name="Equation" r:id="rId3" imgW="4000500" imgH="393700" progId="Equation.DSMT4">
                  <p:embed/>
                </p:oleObj>
              </mc:Choice>
              <mc:Fallback>
                <p:oleObj name="Equation" r:id="rId3" imgW="4000500" imgH="393700" progId="Equation.DSMT4">
                  <p:embed/>
                  <p:pic>
                    <p:nvPicPr>
                      <p:cNvPr id="67588"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8188" y="3065463"/>
                        <a:ext cx="4000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89" name="Object 2"/>
          <p:cNvGraphicFramePr>
            <a:graphicFrameLocks noChangeAspect="1"/>
          </p:cNvGraphicFramePr>
          <p:nvPr/>
        </p:nvGraphicFramePr>
        <p:xfrm>
          <a:off x="2008188" y="3516313"/>
          <a:ext cx="4559300" cy="368300"/>
        </p:xfrm>
        <a:graphic>
          <a:graphicData uri="http://schemas.openxmlformats.org/presentationml/2006/ole">
            <mc:AlternateContent xmlns:mc="http://schemas.openxmlformats.org/markup-compatibility/2006">
              <mc:Choice xmlns:v="urn:schemas-microsoft-com:vml" Requires="v">
                <p:oleObj name="Equation" r:id="rId5" imgW="4559300" imgH="368300" progId="Equation.DSMT4">
                  <p:embed/>
                </p:oleObj>
              </mc:Choice>
              <mc:Fallback>
                <p:oleObj name="Equation" r:id="rId5" imgW="4559300" imgH="368300" progId="Equation.DSMT4">
                  <p:embed/>
                  <p:pic>
                    <p:nvPicPr>
                      <p:cNvPr id="6758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8188" y="3516313"/>
                        <a:ext cx="4559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t>Step 2:  Hypotheses</a:t>
            </a:r>
          </a:p>
          <a:p>
            <a:pPr indent="-317500" eaLnBrk="1" hangingPunct="1">
              <a:spcBef>
                <a:spcPts val="225"/>
              </a:spcBef>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b="1" dirty="0"/>
          </a:p>
          <a:p>
            <a:pPr marL="457200" lvl="1" indent="0" eaLnBrk="1" hangingPunct="1">
              <a:spcBef>
                <a:spcPts val="700"/>
              </a:spcBef>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p>
          <a:p>
            <a:pPr marL="457200" lvl="1" indent="0" eaLnBrk="1" hangingPunct="1">
              <a:spcBef>
                <a:spcPts val="700"/>
              </a:spcBef>
              <a:buClr>
                <a:srgbClr val="330033"/>
              </a:buClr>
              <a:buSzPct val="75000"/>
              <a:buFont typeface="Wingdings" panose="05000000000000000000" pitchFamily="2" charset="2"/>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dirty="0"/>
          </a:p>
          <a:p>
            <a:pPr marL="457200" lvl="1" indent="0" eaLnBrk="1" hangingPunct="1">
              <a:spcBef>
                <a:spcPts val="700"/>
              </a:spcBef>
              <a:buClr>
                <a:srgbClr val="330033"/>
              </a:buClr>
              <a:buSzPct val="75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dirty="0"/>
              <a:t>			 </a:t>
            </a:r>
          </a:p>
        </p:txBody>
      </p:sp>
      <p:sp>
        <p:nvSpPr>
          <p:cNvPr id="69635" name="Rectangle 1"/>
          <p:cNvSpPr>
            <a:spLocks noChangeArrowheads="1"/>
          </p:cNvSpPr>
          <p:nvPr/>
        </p:nvSpPr>
        <p:spPr bwMode="auto">
          <a:xfrm>
            <a:off x="685800" y="184150"/>
            <a:ext cx="8077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Dogs Detecting Cancer by Smell</a:t>
            </a:r>
          </a:p>
        </p:txBody>
      </p:sp>
      <p:graphicFrame>
        <p:nvGraphicFramePr>
          <p:cNvPr id="69636" name="Object 1"/>
          <p:cNvGraphicFramePr>
            <a:graphicFrameLocks noChangeAspect="1"/>
          </p:cNvGraphicFramePr>
          <p:nvPr/>
        </p:nvGraphicFramePr>
        <p:xfrm>
          <a:off x="1773238" y="2495550"/>
          <a:ext cx="1879600" cy="444500"/>
        </p:xfrm>
        <a:graphic>
          <a:graphicData uri="http://schemas.openxmlformats.org/presentationml/2006/ole">
            <mc:AlternateContent xmlns:mc="http://schemas.openxmlformats.org/markup-compatibility/2006">
              <mc:Choice xmlns:v="urn:schemas-microsoft-com:vml" Requires="v">
                <p:oleObj name="Equation" r:id="rId3" imgW="1879600" imgH="444500" progId="Equation.DSMT4">
                  <p:embed/>
                </p:oleObj>
              </mc:Choice>
              <mc:Fallback>
                <p:oleObj name="Equation" r:id="rId3" imgW="1879600" imgH="444500" progId="Equation.DSMT4">
                  <p:embed/>
                  <p:pic>
                    <p:nvPicPr>
                      <p:cNvPr id="69636"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238" y="2495550"/>
                        <a:ext cx="18796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37" name="Object 6"/>
          <p:cNvGraphicFramePr>
            <a:graphicFrameLocks noChangeAspect="1"/>
          </p:cNvGraphicFramePr>
          <p:nvPr/>
        </p:nvGraphicFramePr>
        <p:xfrm>
          <a:off x="1766888" y="3451225"/>
          <a:ext cx="1892300" cy="444500"/>
        </p:xfrm>
        <a:graphic>
          <a:graphicData uri="http://schemas.openxmlformats.org/presentationml/2006/ole">
            <mc:AlternateContent xmlns:mc="http://schemas.openxmlformats.org/markup-compatibility/2006">
              <mc:Choice xmlns:v="urn:schemas-microsoft-com:vml" Requires="v">
                <p:oleObj name="Equation" r:id="rId5" imgW="1892300" imgH="444500" progId="Equation.DSMT4">
                  <p:embed/>
                </p:oleObj>
              </mc:Choice>
              <mc:Fallback>
                <p:oleObj name="Equation" r:id="rId5" imgW="1892300" imgH="444500" progId="Equation.DSMT4">
                  <p:embed/>
                  <p:pic>
                    <p:nvPicPr>
                      <p:cNvPr id="6963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6888" y="3451225"/>
                        <a:ext cx="18923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p:cNvSpPr/>
          <p:nvPr/>
        </p:nvSpPr>
        <p:spPr>
          <a:xfrm>
            <a:off x="1074420" y="4320827"/>
            <a:ext cx="3213957" cy="461665"/>
          </a:xfrm>
          <a:prstGeom prst="rect">
            <a:avLst/>
          </a:prstGeom>
        </p:spPr>
        <p:txBody>
          <a:bodyPr wrap="none">
            <a:spAutoFit/>
          </a:bodyPr>
          <a:lstStyle/>
          <a:p>
            <a:pPr marL="342900" indent="-317500" eaLnBrk="1" hangingPunct="1">
              <a:spcBef>
                <a:spcPts val="7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rgbClr val="000000"/>
                </a:solidFill>
                <a:latin typeface="+mn-lt"/>
                <a:ea typeface="+mn-ea"/>
              </a:rPr>
              <a:t>Step 3: Test Statistic</a:t>
            </a:r>
          </a:p>
        </p:txBody>
      </p:sp>
      <p:pic>
        <p:nvPicPr>
          <p:cNvPr id="3" name="Picture 2"/>
          <p:cNvPicPr>
            <a:picLocks noChangeAspect="1"/>
          </p:cNvPicPr>
          <p:nvPr/>
        </p:nvPicPr>
        <p:blipFill>
          <a:blip r:embed="rId7"/>
          <a:stretch>
            <a:fillRect/>
          </a:stretch>
        </p:blipFill>
        <p:spPr>
          <a:xfrm>
            <a:off x="1463040" y="5092967"/>
            <a:ext cx="3099727" cy="1293546"/>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17500" eaLnBrk="1" hangingPunct="1">
              <a:buSzPct val="90000"/>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t>Step 4: P-value</a:t>
            </a:r>
          </a:p>
        </p:txBody>
      </p:sp>
      <p:sp>
        <p:nvSpPr>
          <p:cNvPr id="123907" name="TextBox 1"/>
          <p:cNvSpPr txBox="1">
            <a:spLocks noRot="1" noChangeAspect="1" noMove="1" noResize="1" noEditPoints="1" noAdjustHandles="1" noChangeArrowheads="1" noChangeShapeType="1" noTextEdit="1"/>
          </p:cNvSpPr>
          <p:nvPr/>
        </p:nvSpPr>
        <p:spPr bwMode="auto">
          <a:xfrm>
            <a:off x="685800" y="5227570"/>
            <a:ext cx="8229600" cy="1077218"/>
          </a:xfrm>
          <a:prstGeom prst="rect">
            <a:avLst/>
          </a:prstGeom>
          <a:blipFill>
            <a:blip r:embed="rId3"/>
            <a:stretch>
              <a:fillRect l="-444" t="-1705" b="-681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73732" name="Rectangle 1"/>
          <p:cNvSpPr>
            <a:spLocks noChangeArrowheads="1"/>
          </p:cNvSpPr>
          <p:nvPr/>
        </p:nvSpPr>
        <p:spPr bwMode="auto">
          <a:xfrm>
            <a:off x="685800" y="184150"/>
            <a:ext cx="8077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Dogs Detecting Cancer by Smell</a:t>
            </a:r>
          </a:p>
        </p:txBody>
      </p:sp>
      <p:pic>
        <p:nvPicPr>
          <p:cNvPr id="73733" name="Picture 12" descr="M09_AGRE5940_03_SE_C09-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238" y="2030413"/>
            <a:ext cx="5562600"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94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75779" name="Rectangle 1"/>
          <p:cNvSpPr>
            <a:spLocks noChangeArrowheads="1"/>
          </p:cNvSpPr>
          <p:nvPr/>
        </p:nvSpPr>
        <p:spPr bwMode="auto">
          <a:xfrm>
            <a:off x="685800" y="184150"/>
            <a:ext cx="8077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Dogs Detecting Cancer by Smell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
          <p:cNvSpPr>
            <a:spLocks noGrp="1" noChangeArrowheads="1"/>
          </p:cNvSpPr>
          <p:nvPr>
            <p:ph type="body" idx="4294967295"/>
          </p:nvPr>
        </p:nvSpPr>
        <p:spPr bwMode="auto">
          <a:xfrm>
            <a:off x="576263" y="1528763"/>
            <a:ext cx="8415337" cy="472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sz="2200" b="1" dirty="0">
                <a:solidFill>
                  <a:schemeClr val="tx1"/>
                </a:solidFill>
              </a:rPr>
              <a:t>Insight:</a:t>
            </a:r>
          </a:p>
          <a:p>
            <a:pPr lvl="1"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sz="2200" dirty="0">
                <a:solidFill>
                  <a:schemeClr val="tx1"/>
                </a:solidFill>
              </a:rPr>
              <a:t>In this study, the subjects were a </a:t>
            </a:r>
            <a:r>
              <a:rPr lang="en-US" altLang="en-US" sz="2200" i="1" dirty="0">
                <a:solidFill>
                  <a:schemeClr val="tx1"/>
                </a:solidFill>
              </a:rPr>
              <a:t>convenience sample</a:t>
            </a:r>
            <a:r>
              <a:rPr lang="en-US" altLang="en-US" sz="2200" dirty="0">
                <a:solidFill>
                  <a:schemeClr val="tx1"/>
                </a:solidFill>
              </a:rPr>
              <a:t> rather than a random sample from some population.</a:t>
            </a:r>
          </a:p>
          <a:p>
            <a:pPr marL="457200" lvl="1" indent="0"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sz="2200" dirty="0">
              <a:solidFill>
                <a:schemeClr val="tx1"/>
              </a:solidFill>
            </a:endParaRPr>
          </a:p>
          <a:p>
            <a:pPr lvl="1"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sz="2200" dirty="0">
                <a:solidFill>
                  <a:schemeClr val="tx1"/>
                </a:solidFill>
              </a:rPr>
              <a:t>Also, the dogs were not randomly selected.</a:t>
            </a:r>
          </a:p>
          <a:p>
            <a:pPr marL="457200" lvl="1" indent="0"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sz="2200" dirty="0">
              <a:solidFill>
                <a:schemeClr val="tx1"/>
              </a:solidFill>
            </a:endParaRPr>
          </a:p>
          <a:p>
            <a:pPr lvl="1"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sz="2200" dirty="0">
                <a:solidFill>
                  <a:schemeClr val="tx1"/>
                </a:solidFill>
              </a:rPr>
              <a:t>Any inferential predictions are tentative. They are valid only to the extent that the patients and the dogs are representative of their populations.</a:t>
            </a:r>
          </a:p>
          <a:p>
            <a:pPr marL="457200" lvl="1" indent="0"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sz="2200" dirty="0">
              <a:solidFill>
                <a:schemeClr val="tx1"/>
              </a:solidFill>
            </a:endParaRPr>
          </a:p>
          <a:p>
            <a:pPr lvl="1" eaLnBrk="1" hangingPunct="1">
              <a:spcBef>
                <a:spcPts val="600"/>
              </a:spcBef>
              <a:buClr>
                <a:schemeClr val="tx1"/>
              </a:buClr>
              <a:buSzTx/>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sz="2200" dirty="0">
                <a:solidFill>
                  <a:schemeClr val="tx1"/>
                </a:solidFill>
              </a:rPr>
              <a:t>The predictions become more conclusive if similar results occur in other studies.</a:t>
            </a:r>
          </a:p>
        </p:txBody>
      </p:sp>
      <p:sp>
        <p:nvSpPr>
          <p:cNvPr id="77827" name="Rectangle 1"/>
          <p:cNvSpPr>
            <a:spLocks noChangeArrowheads="1"/>
          </p:cNvSpPr>
          <p:nvPr/>
        </p:nvSpPr>
        <p:spPr bwMode="auto">
          <a:xfrm>
            <a:off x="685800" y="184150"/>
            <a:ext cx="8077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Dogs Detecting Cancer by Smell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
          <p:cNvSpPr>
            <a:spLocks noGrp="1" noChangeArrowheads="1"/>
          </p:cNvSpPr>
          <p:nvPr>
            <p:ph type="title" idx="4294967295"/>
          </p:nvPr>
        </p:nvSpPr>
        <p:spPr bwMode="auto">
          <a:xfrm>
            <a:off x="838200" y="343715"/>
            <a:ext cx="80010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Summary: P-values for Different Alternative Hypotheses</a:t>
            </a:r>
          </a:p>
        </p:txBody>
      </p:sp>
      <p:sp>
        <p:nvSpPr>
          <p:cNvPr id="4" name="TextBox 3"/>
          <p:cNvSpPr txBox="1"/>
          <p:nvPr/>
        </p:nvSpPr>
        <p:spPr>
          <a:xfrm>
            <a:off x="996950" y="1719263"/>
            <a:ext cx="3519488" cy="461962"/>
          </a:xfrm>
          <a:prstGeom prst="rect">
            <a:avLst/>
          </a:prstGeom>
          <a:noFill/>
        </p:spPr>
        <p:txBody>
          <a:bodyPr wrap="none">
            <a:spAutoFit/>
          </a:bodyPr>
          <a:lstStyle/>
          <a:p>
            <a:pPr eaLnBrk="1" hangingPunct="1">
              <a:buClr>
                <a:srgbClr val="000000"/>
              </a:buClr>
              <a:buSzPct val="100000"/>
              <a:buFont typeface="Times New Roman" panose="02020603050405020304" pitchFamily="18" charset="0"/>
              <a:buNone/>
              <a:defRPr/>
            </a:pPr>
            <a:r>
              <a:rPr lang="en-US" b="1" dirty="0">
                <a:solidFill>
                  <a:schemeClr val="tx1"/>
                </a:solidFill>
                <a:latin typeface="+mn-lt"/>
              </a:rPr>
              <a:t>Alternative Hypothesis</a:t>
            </a:r>
          </a:p>
        </p:txBody>
      </p:sp>
      <p:sp>
        <p:nvSpPr>
          <p:cNvPr id="10" name="TextBox 9"/>
          <p:cNvSpPr txBox="1"/>
          <p:nvPr/>
        </p:nvSpPr>
        <p:spPr>
          <a:xfrm>
            <a:off x="4838700" y="1719263"/>
            <a:ext cx="1279525" cy="461962"/>
          </a:xfrm>
          <a:prstGeom prst="rect">
            <a:avLst/>
          </a:prstGeom>
          <a:noFill/>
        </p:spPr>
        <p:txBody>
          <a:bodyPr wrap="none">
            <a:spAutoFit/>
          </a:bodyPr>
          <a:lstStyle/>
          <a:p>
            <a:pPr eaLnBrk="1" hangingPunct="1">
              <a:buClr>
                <a:srgbClr val="000000"/>
              </a:buClr>
              <a:buSzPct val="100000"/>
              <a:buFont typeface="Times New Roman" panose="02020603050405020304" pitchFamily="18" charset="0"/>
              <a:buNone/>
              <a:defRPr/>
            </a:pPr>
            <a:r>
              <a:rPr lang="en-US" b="1" dirty="0">
                <a:solidFill>
                  <a:schemeClr val="tx1"/>
                </a:solidFill>
                <a:latin typeface="+mn-lt"/>
              </a:rPr>
              <a:t>P-value</a:t>
            </a:r>
          </a:p>
        </p:txBody>
      </p:sp>
      <p:graphicFrame>
        <p:nvGraphicFramePr>
          <p:cNvPr id="79877" name="Object 4"/>
          <p:cNvGraphicFramePr>
            <a:graphicFrameLocks noChangeAspect="1"/>
          </p:cNvGraphicFramePr>
          <p:nvPr/>
        </p:nvGraphicFramePr>
        <p:xfrm>
          <a:off x="1798638" y="2379663"/>
          <a:ext cx="1676400" cy="444500"/>
        </p:xfrm>
        <a:graphic>
          <a:graphicData uri="http://schemas.openxmlformats.org/presentationml/2006/ole">
            <mc:AlternateContent xmlns:mc="http://schemas.openxmlformats.org/markup-compatibility/2006">
              <mc:Choice xmlns:v="urn:schemas-microsoft-com:vml" Requires="v">
                <p:oleObj name="Equation" r:id="rId3" imgW="1675673" imgH="444307" progId="Equation.DSMT4">
                  <p:embed/>
                </p:oleObj>
              </mc:Choice>
              <mc:Fallback>
                <p:oleObj name="Equation" r:id="rId3" imgW="1675673" imgH="444307" progId="Equation.DSMT4">
                  <p:embed/>
                  <p:pic>
                    <p:nvPicPr>
                      <p:cNvPr id="7987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8638" y="2379663"/>
                        <a:ext cx="16764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11"/>
          <p:cNvSpPr txBox="1"/>
          <p:nvPr/>
        </p:nvSpPr>
        <p:spPr>
          <a:xfrm>
            <a:off x="4838700" y="2371725"/>
            <a:ext cx="2892425" cy="461963"/>
          </a:xfrm>
          <a:prstGeom prst="rect">
            <a:avLst/>
          </a:prstGeom>
          <a:noFill/>
        </p:spPr>
        <p:txBody>
          <a:bodyPr wrap="none">
            <a:spAutoFit/>
          </a:bodyPr>
          <a:lstStyle/>
          <a:p>
            <a:pPr eaLnBrk="1" hangingPunct="1">
              <a:buClr>
                <a:srgbClr val="000000"/>
              </a:buClr>
              <a:buSzPct val="100000"/>
              <a:buFont typeface="Times New Roman" panose="02020603050405020304" pitchFamily="18" charset="0"/>
              <a:buNone/>
              <a:defRPr/>
            </a:pPr>
            <a:r>
              <a:rPr lang="en-US" dirty="0">
                <a:solidFill>
                  <a:schemeClr val="tx1"/>
                </a:solidFill>
                <a:latin typeface="+mn-lt"/>
              </a:rPr>
              <a:t>Right-tail probability</a:t>
            </a:r>
          </a:p>
        </p:txBody>
      </p:sp>
      <p:graphicFrame>
        <p:nvGraphicFramePr>
          <p:cNvPr id="79879" name="Object 12"/>
          <p:cNvGraphicFramePr>
            <a:graphicFrameLocks noChangeAspect="1"/>
          </p:cNvGraphicFramePr>
          <p:nvPr/>
        </p:nvGraphicFramePr>
        <p:xfrm>
          <a:off x="1798638" y="3117850"/>
          <a:ext cx="1676400" cy="444500"/>
        </p:xfrm>
        <a:graphic>
          <a:graphicData uri="http://schemas.openxmlformats.org/presentationml/2006/ole">
            <mc:AlternateContent xmlns:mc="http://schemas.openxmlformats.org/markup-compatibility/2006">
              <mc:Choice xmlns:v="urn:schemas-microsoft-com:vml" Requires="v">
                <p:oleObj name="Equation" r:id="rId5" imgW="1675673" imgH="444307" progId="Equation.DSMT4">
                  <p:embed/>
                </p:oleObj>
              </mc:Choice>
              <mc:Fallback>
                <p:oleObj name="Equation" r:id="rId5" imgW="1675673" imgH="444307" progId="Equation.DSMT4">
                  <p:embed/>
                  <p:pic>
                    <p:nvPicPr>
                      <p:cNvPr id="79879"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8638" y="3117850"/>
                        <a:ext cx="16764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80" name="Object 13"/>
          <p:cNvGraphicFramePr>
            <a:graphicFrameLocks noChangeAspect="1"/>
          </p:cNvGraphicFramePr>
          <p:nvPr/>
        </p:nvGraphicFramePr>
        <p:xfrm>
          <a:off x="1803400" y="3857625"/>
          <a:ext cx="1689100" cy="444500"/>
        </p:xfrm>
        <a:graphic>
          <a:graphicData uri="http://schemas.openxmlformats.org/presentationml/2006/ole">
            <mc:AlternateContent xmlns:mc="http://schemas.openxmlformats.org/markup-compatibility/2006">
              <mc:Choice xmlns:v="urn:schemas-microsoft-com:vml" Requires="v">
                <p:oleObj name="Equation" r:id="rId7" imgW="1688367" imgH="444307" progId="Equation.DSMT4">
                  <p:embed/>
                </p:oleObj>
              </mc:Choice>
              <mc:Fallback>
                <p:oleObj name="Equation" r:id="rId7" imgW="1688367" imgH="444307" progId="Equation.DSMT4">
                  <p:embed/>
                  <p:pic>
                    <p:nvPicPr>
                      <p:cNvPr id="7988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3400" y="3857625"/>
                        <a:ext cx="16891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4838700" y="3116263"/>
            <a:ext cx="2686050" cy="461962"/>
          </a:xfrm>
          <a:prstGeom prst="rect">
            <a:avLst/>
          </a:prstGeom>
          <a:noFill/>
        </p:spPr>
        <p:txBody>
          <a:bodyPr wrap="none">
            <a:spAutoFit/>
          </a:bodyPr>
          <a:lstStyle/>
          <a:p>
            <a:pPr eaLnBrk="1" hangingPunct="1">
              <a:buClr>
                <a:srgbClr val="000000"/>
              </a:buClr>
              <a:buSzPct val="100000"/>
              <a:buFont typeface="Times New Roman" panose="02020603050405020304" pitchFamily="18" charset="0"/>
              <a:buNone/>
              <a:defRPr/>
            </a:pPr>
            <a:r>
              <a:rPr lang="en-US" dirty="0">
                <a:solidFill>
                  <a:schemeClr val="tx1"/>
                </a:solidFill>
                <a:latin typeface="+mn-lt"/>
              </a:rPr>
              <a:t>Left-tail probability</a:t>
            </a:r>
          </a:p>
        </p:txBody>
      </p:sp>
      <p:sp>
        <p:nvSpPr>
          <p:cNvPr id="16" name="TextBox 15"/>
          <p:cNvSpPr txBox="1"/>
          <p:nvPr/>
        </p:nvSpPr>
        <p:spPr>
          <a:xfrm>
            <a:off x="4838700" y="3840163"/>
            <a:ext cx="2736850" cy="461962"/>
          </a:xfrm>
          <a:prstGeom prst="rect">
            <a:avLst/>
          </a:prstGeom>
          <a:noFill/>
        </p:spPr>
        <p:txBody>
          <a:bodyPr wrap="none">
            <a:spAutoFit/>
          </a:bodyPr>
          <a:lstStyle/>
          <a:p>
            <a:pPr eaLnBrk="1" hangingPunct="1">
              <a:buClr>
                <a:srgbClr val="000000"/>
              </a:buClr>
              <a:buSzPct val="100000"/>
              <a:buFont typeface="Times New Roman" panose="02020603050405020304" pitchFamily="18" charset="0"/>
              <a:buNone/>
              <a:defRPr/>
            </a:pPr>
            <a:r>
              <a:rPr lang="en-US" dirty="0">
                <a:solidFill>
                  <a:schemeClr val="tx1"/>
                </a:solidFill>
                <a:latin typeface="+mn-lt"/>
              </a:rPr>
              <a:t>Two-tail probability</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
          <p:cNvSpPr>
            <a:spLocks noGrp="1" noChangeArrowheads="1"/>
          </p:cNvSpPr>
          <p:nvPr>
            <p:ph type="title" idx="4294967295"/>
          </p:nvPr>
        </p:nvSpPr>
        <p:spPr bwMode="auto">
          <a:xfrm>
            <a:off x="914400" y="123825"/>
            <a:ext cx="7924800" cy="1050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The Significance Level Tells Us How Strong the Evidence Must Be</a:t>
            </a:r>
          </a:p>
        </p:txBody>
      </p:sp>
      <p:sp>
        <p:nvSpPr>
          <p:cNvPr id="81923" name="Rectangle 2"/>
          <p:cNvSpPr>
            <a:spLocks noGrp="1" noChangeArrowheads="1"/>
          </p:cNvSpPr>
          <p:nvPr>
            <p:ph type="body" idx="4294967295"/>
          </p:nvPr>
        </p:nvSpPr>
        <p:spPr bwMode="auto">
          <a:xfrm>
            <a:off x="838200" y="1600200"/>
            <a:ext cx="7696200" cy="4038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Sometimes we need to make a decision about whether the data provide sufficient evidence to reject H</a:t>
            </a:r>
            <a:r>
              <a:rPr lang="en-US" altLang="en-US" baseline="-25000">
                <a:solidFill>
                  <a:schemeClr val="tx1"/>
                </a:solidFill>
              </a:rPr>
              <a:t>0</a:t>
            </a:r>
            <a:r>
              <a:rPr lang="en-US" altLang="en-US">
                <a:solidFill>
                  <a:schemeClr val="tx1"/>
                </a:solidFill>
              </a:rPr>
              <a:t>.</a:t>
            </a:r>
            <a:endParaRPr lang="en-US" altLang="en-US" baseline="-25000">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Before seeing the data, we decide how small the        P-value would need to be to reject H</a:t>
            </a:r>
            <a:r>
              <a:rPr lang="en-US" altLang="en-US" baseline="-25000">
                <a:solidFill>
                  <a:schemeClr val="tx1"/>
                </a:solidFill>
              </a:rPr>
              <a:t>0</a:t>
            </a:r>
            <a:r>
              <a:rPr lang="en-US" altLang="en-US">
                <a:solidFill>
                  <a:schemeClr val="tx1"/>
                </a:solidFill>
              </a:rPr>
              <a:t>.</a:t>
            </a:r>
            <a:endParaRPr lang="en-US" altLang="en-US" baseline="-25000">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aseline="-25000">
              <a:solidFill>
                <a:schemeClr val="tx1"/>
              </a:solidFill>
            </a:endParaRP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This cutoff point is called the </a:t>
            </a:r>
            <a:r>
              <a:rPr lang="en-US" altLang="en-US" b="1">
                <a:solidFill>
                  <a:schemeClr val="tx1"/>
                </a:solidFill>
              </a:rPr>
              <a:t>significance level</a:t>
            </a:r>
            <a:r>
              <a:rPr lang="en-US" altLang="en-US">
                <a:solidFill>
                  <a:schemeClr val="tx1"/>
                </a:solidFill>
              </a:rPr>
              <a: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1"/>
          <p:cNvSpPr txBox="1">
            <a:spLocks noChangeArrowheads="1"/>
          </p:cNvSpPr>
          <p:nvPr/>
        </p:nvSpPr>
        <p:spPr bwMode="auto">
          <a:xfrm>
            <a:off x="685800" y="5740400"/>
            <a:ext cx="8229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9.5 The Decision in a Significance Test. </a:t>
            </a:r>
            <a:r>
              <a:rPr lang="en-US" altLang="en-US" sz="1600">
                <a:solidFill>
                  <a:schemeClr val="tx1"/>
                </a:solidFill>
                <a:latin typeface="Arial" panose="020B0604020202020204" pitchFamily="34" charset="0"/>
              </a:rPr>
              <a:t>Reject H</a:t>
            </a:r>
            <a:r>
              <a:rPr lang="en-US" altLang="en-US" sz="1600" baseline="-25000">
                <a:solidFill>
                  <a:schemeClr val="tx1"/>
                </a:solidFill>
                <a:latin typeface="Arial" panose="020B0604020202020204" pitchFamily="34" charset="0"/>
              </a:rPr>
              <a:t>0</a:t>
            </a:r>
            <a:r>
              <a:rPr lang="en-US" altLang="en-US" sz="1600">
                <a:solidFill>
                  <a:schemeClr val="tx1"/>
                </a:solidFill>
                <a:latin typeface="Arial" panose="020B0604020202020204" pitchFamily="34" charset="0"/>
              </a:rPr>
              <a:t> if the P-value is less than or</a:t>
            </a: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equal to a chosen </a:t>
            </a:r>
            <a:r>
              <a:rPr lang="en-US" altLang="en-US" sz="1600" b="1">
                <a:solidFill>
                  <a:schemeClr val="tx1"/>
                </a:solidFill>
                <a:latin typeface="Arial" panose="020B0604020202020204" pitchFamily="34" charset="0"/>
              </a:rPr>
              <a:t>significance level</a:t>
            </a:r>
            <a:r>
              <a:rPr lang="en-US" altLang="en-US" sz="1600">
                <a:solidFill>
                  <a:schemeClr val="tx1"/>
                </a:solidFill>
                <a:latin typeface="Arial" panose="020B0604020202020204" pitchFamily="34" charset="0"/>
              </a:rPr>
              <a:t>, usually 0.05.</a:t>
            </a:r>
          </a:p>
        </p:txBody>
      </p:sp>
      <p:sp>
        <p:nvSpPr>
          <p:cNvPr id="83971" name="Rectangle 1"/>
          <p:cNvSpPr>
            <a:spLocks noChangeArrowheads="1"/>
          </p:cNvSpPr>
          <p:nvPr/>
        </p:nvSpPr>
        <p:spPr bwMode="auto">
          <a:xfrm>
            <a:off x="914400" y="201613"/>
            <a:ext cx="7924800"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The Significance Level Tells Us How Strong the Evidence Must Be</a:t>
            </a:r>
          </a:p>
        </p:txBody>
      </p:sp>
      <p:pic>
        <p:nvPicPr>
          <p:cNvPr id="83972" name="Picture 7" descr="M09_AGRE5940_03_SE_C09-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738" y="1831975"/>
            <a:ext cx="6994525"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
          <p:cNvSpPr>
            <a:spLocks noGrp="1" noChangeArrowheads="1"/>
          </p:cNvSpPr>
          <p:nvPr>
            <p:ph type="title" idx="4294967295"/>
          </p:nvPr>
        </p:nvSpPr>
        <p:spPr bwMode="auto">
          <a:xfrm>
            <a:off x="914400" y="214313"/>
            <a:ext cx="77724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Significance Level</a:t>
            </a:r>
          </a:p>
        </p:txBody>
      </p:sp>
      <p:sp>
        <p:nvSpPr>
          <p:cNvPr id="86019" name="Rectangle 2"/>
          <p:cNvSpPr>
            <a:spLocks noGrp="1" noChangeArrowheads="1"/>
          </p:cNvSpPr>
          <p:nvPr>
            <p:ph type="body" idx="4294967295"/>
          </p:nvPr>
        </p:nvSpPr>
        <p:spPr bwMode="auto">
          <a:xfrm>
            <a:off x="914400" y="1600200"/>
            <a:ext cx="7772400" cy="41894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t>
            </a:r>
            <a:r>
              <a:rPr lang="en-US" altLang="en-US" b="1">
                <a:solidFill>
                  <a:schemeClr val="tx1"/>
                </a:solidFill>
              </a:rPr>
              <a:t>significance level </a:t>
            </a:r>
            <a:r>
              <a:rPr lang="en-US" altLang="en-US">
                <a:solidFill>
                  <a:schemeClr val="tx1"/>
                </a:solidFill>
              </a:rPr>
              <a:t>is a number such that we reject    H</a:t>
            </a:r>
            <a:r>
              <a:rPr lang="en-US" altLang="en-US" baseline="-25000">
                <a:solidFill>
                  <a:schemeClr val="tx1"/>
                </a:solidFill>
              </a:rPr>
              <a:t>0</a:t>
            </a:r>
            <a:r>
              <a:rPr lang="en-US" altLang="en-US">
                <a:solidFill>
                  <a:schemeClr val="tx1"/>
                </a:solidFill>
              </a:rPr>
              <a:t> if the P-value is less than or equal to that number.</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In practice, the most common significance level is 0.05.</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When we reject H</a:t>
            </a:r>
            <a:r>
              <a:rPr lang="en-US" altLang="en-US" baseline="-25000">
                <a:solidFill>
                  <a:schemeClr val="tx1"/>
                </a:solidFill>
              </a:rPr>
              <a:t>0</a:t>
            </a:r>
            <a:r>
              <a:rPr lang="en-US" altLang="en-US">
                <a:solidFill>
                  <a:schemeClr val="tx1"/>
                </a:solidFill>
              </a:rPr>
              <a:t>, we say the results are </a:t>
            </a:r>
            <a:r>
              <a:rPr lang="en-US" altLang="en-US" b="1">
                <a:solidFill>
                  <a:schemeClr val="tx1"/>
                </a:solidFill>
              </a:rPr>
              <a:t>statistically significant</a:t>
            </a:r>
            <a:r>
              <a:rPr lang="en-US" altLang="en-US">
                <a:solidFill>
                  <a:schemeClr val="tx1"/>
                </a:solidFill>
              </a:rPr>
              <a: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
          <p:cNvSpPr>
            <a:spLocks noGrp="1" noChangeArrowheads="1"/>
          </p:cNvSpPr>
          <p:nvPr>
            <p:ph type="title" idx="4294967295"/>
          </p:nvPr>
        </p:nvSpPr>
        <p:spPr bwMode="auto">
          <a:xfrm>
            <a:off x="838200" y="76200"/>
            <a:ext cx="78486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Possible Decisions </a:t>
            </a:r>
            <a:r>
              <a:rPr lang="en-US" altLang="en-US" b="1">
                <a:solidFill>
                  <a:srgbClr val="000000"/>
                </a:solidFill>
                <a:latin typeface="Arial" panose="020B0604020202020204" pitchFamily="34" charset="0"/>
              </a:rPr>
              <a:t>in a </a:t>
            </a:r>
            <a:r>
              <a:rPr lang="en-US" altLang="en-US" b="1">
                <a:latin typeface="Arial" panose="020B0604020202020204" pitchFamily="34" charset="0"/>
              </a:rPr>
              <a:t>Test of Significance</a:t>
            </a:r>
          </a:p>
        </p:txBody>
      </p:sp>
      <p:sp>
        <p:nvSpPr>
          <p:cNvPr id="88067" name="TextBox 1"/>
          <p:cNvSpPr txBox="1">
            <a:spLocks noChangeArrowheads="1"/>
          </p:cNvSpPr>
          <p:nvPr/>
        </p:nvSpPr>
        <p:spPr bwMode="auto">
          <a:xfrm>
            <a:off x="1619250" y="4672013"/>
            <a:ext cx="5676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9.1 Possible Decisions in a Test of Significance</a:t>
            </a:r>
            <a:r>
              <a:rPr lang="en-US" altLang="en-US" sz="1600">
                <a:solidFill>
                  <a:schemeClr val="tx1"/>
                </a:solidFill>
                <a:latin typeface="Arial" panose="020B0604020202020204" pitchFamily="34" charset="0"/>
              </a:rPr>
              <a:t>.</a:t>
            </a:r>
          </a:p>
        </p:txBody>
      </p:sp>
      <p:pic>
        <p:nvPicPr>
          <p:cNvPr id="88068" name="Picture 5" descr="M09_AGRE5940_03_SE_C09-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738" y="2514600"/>
            <a:ext cx="6994525"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
          <p:cNvSpPr>
            <a:spLocks noGrp="1" noChangeArrowheads="1"/>
          </p:cNvSpPr>
          <p:nvPr>
            <p:ph type="title" idx="4294967295"/>
          </p:nvPr>
        </p:nvSpPr>
        <p:spPr bwMode="auto">
          <a:xfrm>
            <a:off x="928688" y="290513"/>
            <a:ext cx="7848600" cy="609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Report the </a:t>
            </a:r>
            <a:r>
              <a:rPr lang="en-US" altLang="en-US" b="1" i="1">
                <a:latin typeface="Arial" panose="020B0604020202020204" pitchFamily="34" charset="0"/>
              </a:rPr>
              <a:t>P</a:t>
            </a:r>
            <a:r>
              <a:rPr lang="en-US" altLang="en-US" b="1">
                <a:latin typeface="Arial" panose="020B0604020202020204" pitchFamily="34" charset="0"/>
              </a:rPr>
              <a:t>-value</a:t>
            </a:r>
          </a:p>
        </p:txBody>
      </p:sp>
      <p:sp>
        <p:nvSpPr>
          <p:cNvPr id="90115"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Learning the actual P-value is more informative than learning only whether the test is “statistically significant at the 0.05 </a:t>
            </a:r>
            <a:r>
              <a:rPr lang="en-US" altLang="en-US">
                <a:solidFill>
                  <a:schemeClr val="tx1"/>
                </a:solidFill>
              </a:rPr>
              <a:t>level.”</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P-values of 0.001 and 0.049 are both </a:t>
            </a:r>
            <a:r>
              <a:rPr lang="en-US" altLang="en-US" i="1"/>
              <a:t>statistically significant</a:t>
            </a:r>
            <a:r>
              <a:rPr lang="en-US" altLang="en-US"/>
              <a:t> in this sense, but the first P-value provides much stronger evidence that the result is statistically significant than the second P-value.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
          <p:cNvSpPr>
            <a:spLocks noGrp="1" noChangeArrowheads="1"/>
          </p:cNvSpPr>
          <p:nvPr>
            <p:ph type="title" idx="4294967295"/>
          </p:nvPr>
        </p:nvSpPr>
        <p:spPr bwMode="auto">
          <a:xfrm>
            <a:off x="685800" y="123825"/>
            <a:ext cx="8001000" cy="1050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“Do Not Reject H</a:t>
            </a:r>
            <a:r>
              <a:rPr lang="en-US" altLang="en-US" b="1" baseline="-25000">
                <a:latin typeface="Arial" panose="020B0604020202020204" pitchFamily="34" charset="0"/>
              </a:rPr>
              <a:t>0</a:t>
            </a:r>
            <a:r>
              <a:rPr lang="en-US" altLang="en-US" b="1">
                <a:latin typeface="Arial" panose="020B0604020202020204" pitchFamily="34" charset="0"/>
              </a:rPr>
              <a:t>” Is Not the Same as Saying “Accept H</a:t>
            </a:r>
            <a:r>
              <a:rPr lang="en-US" altLang="en-US" b="1" baseline="-25000">
                <a:latin typeface="Arial" panose="020B0604020202020204" pitchFamily="34" charset="0"/>
              </a:rPr>
              <a:t>0</a:t>
            </a:r>
            <a:r>
              <a:rPr lang="en-US" altLang="en-US" b="1">
                <a:latin typeface="Arial" panose="020B0604020202020204" pitchFamily="34" charset="0"/>
              </a:rPr>
              <a:t>”</a:t>
            </a:r>
            <a:r>
              <a:rPr lang="en-US" altLang="en-US"/>
              <a:t> </a:t>
            </a:r>
          </a:p>
        </p:txBody>
      </p:sp>
      <p:sp>
        <p:nvSpPr>
          <p:cNvPr id="142339" name="Rectangle 2"/>
          <p:cNvSpPr>
            <a:spLocks noGrp="1" noChangeArrowheads="1"/>
          </p:cNvSpPr>
          <p:nvPr>
            <p:ph type="body" idx="4294967295"/>
          </p:nvPr>
        </p:nvSpPr>
        <p:spPr bwMode="auto">
          <a:xfrm>
            <a:off x="914400" y="161925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r>
              <a:rPr lang="en-US" altLang="en-US" b="1" dirty="0">
                <a:solidFill>
                  <a:schemeClr val="tx1"/>
                </a:solidFill>
              </a:rPr>
              <a:t>Analogy: Courtroom trial</a:t>
            </a:r>
            <a:r>
              <a:rPr lang="en-US" altLang="en-US" dirty="0">
                <a:solidFill>
                  <a:schemeClr val="tx1"/>
                </a:solidFill>
              </a:rPr>
              <a:t>	</a:t>
            </a:r>
          </a:p>
          <a:p>
            <a:pPr marL="457200" lvl="1" indent="0"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endParaRPr lang="en-US" altLang="en-US" dirty="0">
              <a:solidFill>
                <a:schemeClr val="tx1"/>
              </a:solidFill>
            </a:endParaRPr>
          </a:p>
          <a:p>
            <a:pPr lvl="1"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r>
              <a:rPr lang="en-US" altLang="en-US" i="1" dirty="0">
                <a:solidFill>
                  <a:schemeClr val="tx1"/>
                </a:solidFill>
              </a:rPr>
              <a:t>Null Hypothesis</a:t>
            </a:r>
            <a:r>
              <a:rPr lang="en-US" altLang="en-US" dirty="0">
                <a:solidFill>
                  <a:schemeClr val="tx1"/>
                </a:solidFill>
              </a:rPr>
              <a:t>: Defendant is innocent.</a:t>
            </a:r>
          </a:p>
          <a:p>
            <a:pPr marL="457200" lvl="1" indent="0"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endParaRPr lang="en-US" altLang="en-US" dirty="0">
              <a:solidFill>
                <a:schemeClr val="tx1"/>
              </a:solidFill>
            </a:endParaRPr>
          </a:p>
          <a:p>
            <a:pPr lvl="1"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r>
              <a:rPr lang="en-US" altLang="en-US" i="1" dirty="0">
                <a:solidFill>
                  <a:schemeClr val="tx1"/>
                </a:solidFill>
              </a:rPr>
              <a:t>Alternative Hypothesis</a:t>
            </a:r>
            <a:r>
              <a:rPr lang="en-US" altLang="en-US" dirty="0">
                <a:solidFill>
                  <a:schemeClr val="tx1"/>
                </a:solidFill>
              </a:rPr>
              <a:t>: Defendant is guilty.</a:t>
            </a:r>
          </a:p>
          <a:p>
            <a:pPr marL="457200" lvl="1" indent="0"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endParaRPr lang="en-US" altLang="en-US" dirty="0">
              <a:solidFill>
                <a:schemeClr val="tx1"/>
              </a:solidFill>
            </a:endParaRPr>
          </a:p>
          <a:p>
            <a:pPr lvl="1"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r>
              <a:rPr lang="en-US" altLang="en-US" dirty="0">
                <a:solidFill>
                  <a:schemeClr val="tx1"/>
                </a:solidFill>
              </a:rPr>
              <a:t>If the jury acquits the defendant, this does not mean that it </a:t>
            </a:r>
            <a:r>
              <a:rPr lang="en-US" altLang="en-US" i="1" dirty="0">
                <a:solidFill>
                  <a:schemeClr val="tx1"/>
                </a:solidFill>
              </a:rPr>
              <a:t>accepts</a:t>
            </a:r>
            <a:r>
              <a:rPr lang="en-US" altLang="en-US" dirty="0">
                <a:solidFill>
                  <a:schemeClr val="tx1"/>
                </a:solidFill>
              </a:rPr>
              <a:t> the defendant’s claim of innocence.</a:t>
            </a:r>
          </a:p>
          <a:p>
            <a:pPr marL="457200" lvl="1" indent="0"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endParaRPr lang="en-US" altLang="en-US" dirty="0">
              <a:solidFill>
                <a:schemeClr val="tx1"/>
              </a:solidFill>
            </a:endParaRPr>
          </a:p>
          <a:p>
            <a:pPr lvl="1" eaLnBrk="1" hangingPunct="1">
              <a:lnSpc>
                <a:spcPct val="90000"/>
              </a:lnSpc>
              <a:spcBef>
                <a:spcPts val="600"/>
              </a:spcBef>
              <a:buClr>
                <a:schemeClr val="tx1"/>
              </a:buClr>
              <a:buSzTx/>
              <a:tabLst>
                <a:tab pos="863600" algn="l"/>
                <a:tab pos="1778000" algn="l"/>
                <a:tab pos="2692400" algn="l"/>
                <a:tab pos="3606800" algn="l"/>
                <a:tab pos="4521200" algn="l"/>
                <a:tab pos="5435600" algn="l"/>
                <a:tab pos="6350000" algn="l"/>
                <a:tab pos="7264400" algn="l"/>
                <a:tab pos="8178800" algn="l"/>
                <a:tab pos="9093200" algn="l"/>
                <a:tab pos="10007600" algn="l"/>
                <a:tab pos="10285413" algn="l"/>
                <a:tab pos="10736263" algn="l"/>
                <a:tab pos="10737850" algn="l"/>
                <a:tab pos="10741025" algn="l"/>
                <a:tab pos="10744200" algn="l"/>
                <a:tab pos="10747375" algn="l"/>
                <a:tab pos="10750550" algn="l"/>
                <a:tab pos="10753725" algn="l"/>
                <a:tab pos="10756900" algn="l"/>
                <a:tab pos="10760075" algn="l"/>
                <a:tab pos="10763250" algn="l"/>
                <a:tab pos="10766425" algn="l"/>
                <a:tab pos="10769600" algn="l"/>
                <a:tab pos="10772775" algn="l"/>
                <a:tab pos="10775950" algn="l"/>
                <a:tab pos="10779125" algn="l"/>
              </a:tabLst>
              <a:defRPr/>
            </a:pPr>
            <a:r>
              <a:rPr lang="en-US" altLang="en-US" dirty="0">
                <a:solidFill>
                  <a:schemeClr val="tx1"/>
                </a:solidFill>
              </a:rPr>
              <a:t>Innocence is plausible because guilt has not been established </a:t>
            </a:r>
            <a:r>
              <a:rPr lang="en-US" altLang="en-US" i="1" dirty="0">
                <a:solidFill>
                  <a:schemeClr val="tx1"/>
                </a:solidFill>
              </a:rPr>
              <a:t>beyond a reasonable</a:t>
            </a:r>
            <a:r>
              <a:rPr lang="en-US" altLang="en-US" dirty="0">
                <a:solidFill>
                  <a:schemeClr val="tx1"/>
                </a:solidFill>
              </a:rPr>
              <a:t> </a:t>
            </a:r>
            <a:r>
              <a:rPr lang="en-US" altLang="en-US" i="1" dirty="0">
                <a:solidFill>
                  <a:schemeClr val="tx1"/>
                </a:solidFill>
              </a:rPr>
              <a:t>doubt</a:t>
            </a:r>
            <a:r>
              <a:rPr lang="en-US" altLang="en-US" dirty="0">
                <a:solidFill>
                  <a:schemeClr val="tx1"/>
                </a:solidFill>
              </a:rPr>
              <a: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
          <p:cNvSpPr>
            <a:spLocks noGrp="1" noChangeArrowheads="1"/>
          </p:cNvSpPr>
          <p:nvPr>
            <p:ph type="title" idx="4294967295"/>
          </p:nvPr>
        </p:nvSpPr>
        <p:spPr bwMode="auto">
          <a:xfrm>
            <a:off x="762000" y="320040"/>
            <a:ext cx="79248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dirty="0">
                <a:solidFill>
                  <a:schemeClr val="tx1"/>
                </a:solidFill>
                <a:latin typeface="Arial" panose="020B0604020202020204" pitchFamily="34" charset="0"/>
              </a:rPr>
              <a:t>Deciding between a One-Sided and a Two-Sided Test?</a:t>
            </a:r>
          </a:p>
        </p:txBody>
      </p:sp>
      <p:sp>
        <p:nvSpPr>
          <p:cNvPr id="144387"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t>Things to consider in deciding on the alternative hypothesis:</a:t>
            </a:r>
          </a:p>
          <a:p>
            <a:pPr marL="0" indent="0" eaLnBrk="1" hangingPunct="1">
              <a:spcBef>
                <a:spcPts val="225"/>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p>
          <a:p>
            <a:pPr lvl="1"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The context of the real problem.</a:t>
            </a:r>
          </a:p>
          <a:p>
            <a:pPr marL="457200" lvl="1" indent="0"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p>
          <a:p>
            <a:pPr lvl="1"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In most research articles, significance tests use two-sided P-values.</a:t>
            </a:r>
          </a:p>
          <a:p>
            <a:pPr marL="457200" lvl="1" indent="0"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p>
          <a:p>
            <a:pPr lvl="1" eaLnBrk="1" hangingPunct="1">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Confidence intervals are two-sided.</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
          <p:cNvSpPr>
            <a:spLocks noGrp="1" noChangeArrowheads="1"/>
          </p:cNvSpPr>
          <p:nvPr>
            <p:ph type="title" idx="4294967295"/>
          </p:nvPr>
        </p:nvSpPr>
        <p:spPr bwMode="auto">
          <a:xfrm>
            <a:off x="914400" y="149225"/>
            <a:ext cx="77724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The Binomial Test for Small Samples</a:t>
            </a:r>
          </a:p>
        </p:txBody>
      </p:sp>
      <p:pic>
        <p:nvPicPr>
          <p:cNvPr id="3" name="Picture 2"/>
          <p:cNvPicPr>
            <a:picLocks noChangeAspect="1"/>
          </p:cNvPicPr>
          <p:nvPr/>
        </p:nvPicPr>
        <p:blipFill>
          <a:blip r:embed="rId3"/>
          <a:stretch>
            <a:fillRect/>
          </a:stretch>
        </p:blipFill>
        <p:spPr>
          <a:xfrm>
            <a:off x="721349" y="1827400"/>
            <a:ext cx="7701301" cy="3203200"/>
          </a:xfrm>
          <a:prstGeom prst="rect">
            <a:avLst/>
          </a:prstGeom>
        </p:spPr>
      </p:pic>
    </p:spTree>
    <p:extLst>
      <p:ext uri="{BB962C8B-B14F-4D97-AF65-F5344CB8AC3E}">
        <p14:creationId xmlns:p14="http://schemas.microsoft.com/office/powerpoint/2010/main" val="35901362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
          <p:cNvSpPr>
            <a:spLocks noGrp="1" noChangeArrowheads="1"/>
          </p:cNvSpPr>
          <p:nvPr>
            <p:ph type="title" idx="4294967295"/>
          </p:nvPr>
        </p:nvSpPr>
        <p:spPr bwMode="auto">
          <a:xfrm>
            <a:off x="914400" y="122238"/>
            <a:ext cx="7924800" cy="10525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Steps of a Significance Test About a Population Mean</a:t>
            </a:r>
          </a:p>
        </p:txBody>
      </p:sp>
      <p:sp>
        <p:nvSpPr>
          <p:cNvPr id="150531"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solidFill>
                  <a:schemeClr val="tx1"/>
                </a:solidFill>
              </a:rPr>
              <a:t>Step 1: Assumptions</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solidFill>
                <a:schemeClr val="tx1"/>
              </a:solidFill>
            </a:endParaRPr>
          </a:p>
          <a:p>
            <a:pPr lvl="1" eaLnBrk="1" hangingPunct="1">
              <a:spcBef>
                <a:spcPts val="700"/>
              </a:spcBef>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variable is quantitative.</a:t>
            </a:r>
          </a:p>
          <a:p>
            <a:pPr marL="457200" lvl="1" indent="0" eaLnBrk="1" hangingPunct="1">
              <a:spcBef>
                <a:spcPts val="700"/>
              </a:spcBef>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lvl="1" eaLnBrk="1" hangingPunct="1">
              <a:spcBef>
                <a:spcPts val="700"/>
              </a:spcBef>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data production employed randomization.</a:t>
            </a:r>
          </a:p>
          <a:p>
            <a:pPr marL="457200" lvl="1" indent="0" eaLnBrk="1" hangingPunct="1">
              <a:spcBef>
                <a:spcPts val="700"/>
              </a:spcBef>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lvl="1" eaLnBrk="1" hangingPunct="1">
              <a:spcBef>
                <a:spcPts val="800"/>
              </a:spcBef>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a:t>
            </a:r>
            <a:r>
              <a:rPr lang="en-US" altLang="en-US" i="1" dirty="0">
                <a:solidFill>
                  <a:schemeClr val="tx1"/>
                </a:solidFill>
              </a:rPr>
              <a:t>population distribution </a:t>
            </a:r>
            <a:r>
              <a:rPr lang="en-US" altLang="en-US" dirty="0">
                <a:solidFill>
                  <a:schemeClr val="tx1"/>
                </a:solidFill>
              </a:rPr>
              <a:t>is approximately normal. This is most crucial when </a:t>
            </a:r>
            <a:r>
              <a:rPr lang="en-US" altLang="en-US" i="1" dirty="0">
                <a:solidFill>
                  <a:schemeClr val="tx1"/>
                </a:solidFill>
              </a:rPr>
              <a:t>n</a:t>
            </a:r>
            <a:r>
              <a:rPr lang="en-US" altLang="en-US" dirty="0">
                <a:solidFill>
                  <a:schemeClr val="tx1"/>
                </a:solidFill>
              </a:rPr>
              <a:t> is small and          is H</a:t>
            </a:r>
            <a:r>
              <a:rPr lang="en-US" altLang="en-US" i="1" baseline="-25000" dirty="0">
                <a:solidFill>
                  <a:schemeClr val="tx1"/>
                </a:solidFill>
                <a:latin typeface="+mj-lt"/>
              </a:rPr>
              <a:t>a</a:t>
            </a:r>
            <a:r>
              <a:rPr lang="en-US" altLang="en-US" dirty="0">
                <a:solidFill>
                  <a:schemeClr val="tx1"/>
                </a:solidFill>
              </a:rPr>
              <a:t> one-sided.</a:t>
            </a:r>
            <a:r>
              <a:rPr lang="en-US" altLang="en-US" dirty="0"/>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
          <p:cNvSpPr>
            <a:spLocks noGrp="1" noChangeArrowheads="1"/>
          </p:cNvSpPr>
          <p:nvPr>
            <p:ph type="title" idx="4294967295"/>
          </p:nvPr>
        </p:nvSpPr>
        <p:spPr bwMode="auto">
          <a:xfrm>
            <a:off x="914400" y="117475"/>
            <a:ext cx="7924800" cy="10255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Steps of a Significance Test About a Population Mean</a:t>
            </a:r>
          </a:p>
        </p:txBody>
      </p:sp>
      <p:sp>
        <p:nvSpPr>
          <p:cNvPr id="102403" name="Rectangle 2"/>
          <p:cNvSpPr>
            <a:spLocks noGrp="1" noChangeArrowheads="1"/>
          </p:cNvSpPr>
          <p:nvPr>
            <p:ph type="body" idx="4294967295"/>
          </p:nvPr>
        </p:nvSpPr>
        <p:spPr bwMode="auto">
          <a:xfrm>
            <a:off x="914400" y="1600200"/>
            <a:ext cx="7772400" cy="4648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2: Hypotheses:</a:t>
            </a:r>
          </a:p>
          <a:p>
            <a:pPr marL="0" indent="0" eaLnBrk="1" hangingPunct="1">
              <a:spcBef>
                <a:spcPts val="55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solidFill>
                <a:schemeClr val="tx1"/>
              </a:solidFill>
            </a:endParaRPr>
          </a:p>
          <a:p>
            <a:pPr marL="0" indent="0" eaLnBrk="1" hangingPunct="1">
              <a:spcBef>
                <a:spcPts val="55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null hypothesis has the form:</a:t>
            </a:r>
          </a:p>
          <a:p>
            <a:pPr marL="457200" lvl="1" indent="0" eaLnBrk="1" hangingPunct="1">
              <a:spcBef>
                <a:spcPts val="600"/>
              </a:spcBef>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 </a:t>
            </a:r>
            <a:endParaRPr lang="en-US" altLang="en-US" baseline="-25000">
              <a:solidFill>
                <a:schemeClr val="tx1"/>
              </a:solidFill>
            </a:endParaRPr>
          </a:p>
          <a:p>
            <a:pPr marL="457200" lvl="1" indent="0" eaLnBrk="1" hangingPunct="1">
              <a:spcBef>
                <a:spcPts val="600"/>
              </a:spcBef>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aseline="-25000">
              <a:solidFill>
                <a:schemeClr val="tx1"/>
              </a:solidFill>
            </a:endParaRPr>
          </a:p>
          <a:p>
            <a:pPr marL="0" indent="0" eaLnBrk="1" hangingPunct="1">
              <a:spcBef>
                <a:spcPts val="55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alternative hypothesis has the form:</a:t>
            </a:r>
          </a:p>
          <a:p>
            <a:pPr marL="457200" lvl="1" indent="0" eaLnBrk="1" hangingPunct="1">
              <a:buSzPct val="75000"/>
              <a:buFontTx/>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p:txBody>
      </p:sp>
      <p:graphicFrame>
        <p:nvGraphicFramePr>
          <p:cNvPr id="102404" name="Object 1"/>
          <p:cNvGraphicFramePr>
            <a:graphicFrameLocks noChangeAspect="1"/>
          </p:cNvGraphicFramePr>
          <p:nvPr/>
        </p:nvGraphicFramePr>
        <p:xfrm>
          <a:off x="1352550" y="3038475"/>
          <a:ext cx="1701800" cy="444500"/>
        </p:xfrm>
        <a:graphic>
          <a:graphicData uri="http://schemas.openxmlformats.org/presentationml/2006/ole">
            <mc:AlternateContent xmlns:mc="http://schemas.openxmlformats.org/markup-compatibility/2006">
              <mc:Choice xmlns:v="urn:schemas-microsoft-com:vml" Requires="v">
                <p:oleObj name="Equation" r:id="rId3" imgW="1701800" imgH="444500" progId="Equation.DSMT4">
                  <p:embed/>
                </p:oleObj>
              </mc:Choice>
              <mc:Fallback>
                <p:oleObj name="Equation" r:id="rId3" imgW="1701800" imgH="444500" progId="Equation.DSMT4">
                  <p:embed/>
                  <p:pic>
                    <p:nvPicPr>
                      <p:cNvPr id="102404"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550" y="3038475"/>
                        <a:ext cx="1701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05" name="Object 2"/>
          <p:cNvGraphicFramePr>
            <a:graphicFrameLocks noChangeAspect="1"/>
          </p:cNvGraphicFramePr>
          <p:nvPr/>
        </p:nvGraphicFramePr>
        <p:xfrm>
          <a:off x="1352550" y="4297363"/>
          <a:ext cx="4686300" cy="520700"/>
        </p:xfrm>
        <a:graphic>
          <a:graphicData uri="http://schemas.openxmlformats.org/presentationml/2006/ole">
            <mc:AlternateContent xmlns:mc="http://schemas.openxmlformats.org/markup-compatibility/2006">
              <mc:Choice xmlns:v="urn:schemas-microsoft-com:vml" Requires="v">
                <p:oleObj name="Equation" r:id="rId5" imgW="4686300" imgH="520700" progId="Equation.DSMT4">
                  <p:embed/>
                </p:oleObj>
              </mc:Choice>
              <mc:Fallback>
                <p:oleObj name="Equation" r:id="rId5" imgW="4686300" imgH="520700" progId="Equation.DSMT4">
                  <p:embed/>
                  <p:pic>
                    <p:nvPicPr>
                      <p:cNvPr id="102405"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2550" y="4297363"/>
                        <a:ext cx="46863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06" name="Object 9"/>
          <p:cNvGraphicFramePr>
            <a:graphicFrameLocks noChangeAspect="1"/>
          </p:cNvGraphicFramePr>
          <p:nvPr/>
        </p:nvGraphicFramePr>
        <p:xfrm>
          <a:off x="1352550" y="5002213"/>
          <a:ext cx="4673600" cy="520700"/>
        </p:xfrm>
        <a:graphic>
          <a:graphicData uri="http://schemas.openxmlformats.org/presentationml/2006/ole">
            <mc:AlternateContent xmlns:mc="http://schemas.openxmlformats.org/markup-compatibility/2006">
              <mc:Choice xmlns:v="urn:schemas-microsoft-com:vml" Requires="v">
                <p:oleObj name="Equation" r:id="rId7" imgW="4673600" imgH="520700" progId="Equation.DSMT4">
                  <p:embed/>
                </p:oleObj>
              </mc:Choice>
              <mc:Fallback>
                <p:oleObj name="Equation" r:id="rId7" imgW="4673600" imgH="520700" progId="Equation.DSMT4">
                  <p:embed/>
                  <p:pic>
                    <p:nvPicPr>
                      <p:cNvPr id="102406"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2550" y="5002213"/>
                        <a:ext cx="46736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07" name="Object 10"/>
          <p:cNvGraphicFramePr>
            <a:graphicFrameLocks noChangeAspect="1"/>
          </p:cNvGraphicFramePr>
          <p:nvPr/>
        </p:nvGraphicFramePr>
        <p:xfrm>
          <a:off x="1352550" y="5659438"/>
          <a:ext cx="4343400" cy="520700"/>
        </p:xfrm>
        <a:graphic>
          <a:graphicData uri="http://schemas.openxmlformats.org/presentationml/2006/ole">
            <mc:AlternateContent xmlns:mc="http://schemas.openxmlformats.org/markup-compatibility/2006">
              <mc:Choice xmlns:v="urn:schemas-microsoft-com:vml" Requires="v">
                <p:oleObj name="Equation" r:id="rId9" imgW="4343400" imgH="520700" progId="Equation.DSMT4">
                  <p:embed/>
                </p:oleObj>
              </mc:Choice>
              <mc:Fallback>
                <p:oleObj name="Equation" r:id="rId9" imgW="4343400" imgH="520700" progId="Equation.DSMT4">
                  <p:embed/>
                  <p:pic>
                    <p:nvPicPr>
                      <p:cNvPr id="10240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2550" y="5659438"/>
                        <a:ext cx="4343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94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04451" name="Rectangle 1"/>
          <p:cNvSpPr>
            <a:spLocks noChangeArrowheads="1"/>
          </p:cNvSpPr>
          <p:nvPr/>
        </p:nvSpPr>
        <p:spPr bwMode="auto">
          <a:xfrm>
            <a:off x="914400" y="117475"/>
            <a:ext cx="7924800"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Steps of a Significance Test About a Population Mean</a:t>
            </a:r>
          </a:p>
        </p:txBody>
      </p:sp>
      <p:graphicFrame>
        <p:nvGraphicFramePr>
          <p:cNvPr id="104452" name="Object 1"/>
          <p:cNvGraphicFramePr>
            <a:graphicFrameLocks noChangeAspect="1"/>
          </p:cNvGraphicFramePr>
          <p:nvPr/>
        </p:nvGraphicFramePr>
        <p:xfrm>
          <a:off x="3152775" y="4905375"/>
          <a:ext cx="1663700" cy="889000"/>
        </p:xfrm>
        <a:graphic>
          <a:graphicData uri="http://schemas.openxmlformats.org/presentationml/2006/ole">
            <mc:AlternateContent xmlns:mc="http://schemas.openxmlformats.org/markup-compatibility/2006">
              <mc:Choice xmlns:v="urn:schemas-microsoft-com:vml" Requires="v">
                <p:oleObj name="Equation" r:id="rId4" imgW="1663700" imgH="889000" progId="Equation.DSMT4">
                  <p:embed/>
                </p:oleObj>
              </mc:Choice>
              <mc:Fallback>
                <p:oleObj name="Equation" r:id="rId4" imgW="1663700" imgH="889000" progId="Equation.DSMT4">
                  <p:embed/>
                  <p:pic>
                    <p:nvPicPr>
                      <p:cNvPr id="10445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775" y="4905375"/>
                        <a:ext cx="16637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solidFill>
                  <a:schemeClr val="tx1"/>
                </a:solidFill>
              </a:rPr>
              <a:t>Step 3: Test Statistic</a:t>
            </a: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solidFill>
                <a:schemeClr val="tx1"/>
              </a:solidFill>
            </a:endParaRPr>
          </a:p>
          <a:p>
            <a:pPr marL="0" indent="0">
              <a:defRPr/>
            </a:pPr>
            <a:r>
              <a:rPr lang="en-US" dirty="0"/>
              <a:t>When H</a:t>
            </a:r>
            <a:r>
              <a:rPr lang="en-US" baseline="-25000" dirty="0"/>
              <a:t>0</a:t>
            </a:r>
            <a:r>
              <a:rPr lang="en-US" dirty="0"/>
              <a:t> is true, the </a:t>
            </a:r>
            <a:r>
              <a:rPr lang="en-US" i="1" dirty="0"/>
              <a:t>t </a:t>
            </a:r>
            <a:r>
              <a:rPr lang="en-US" dirty="0"/>
              <a:t>test statistic has approximately the </a:t>
            </a:r>
            <a:r>
              <a:rPr lang="en-US" i="1" dirty="0"/>
              <a:t>t distribution. </a:t>
            </a:r>
            <a:r>
              <a:rPr lang="en-US" dirty="0"/>
              <a:t>The </a:t>
            </a:r>
            <a:r>
              <a:rPr lang="en-US" i="1" dirty="0"/>
              <a:t>t </a:t>
            </a:r>
            <a:r>
              <a:rPr lang="en-US" dirty="0"/>
              <a:t>distribution is specified by its degrees of freedom, which equal </a:t>
            </a:r>
            <a:r>
              <a:rPr lang="en-US" i="1" dirty="0">
                <a:latin typeface="+mj-lt"/>
              </a:rPr>
              <a:t>n</a:t>
            </a:r>
            <a:r>
              <a:rPr lang="en-US" i="1" dirty="0"/>
              <a:t> – </a:t>
            </a:r>
            <a:r>
              <a:rPr lang="en-US" dirty="0"/>
              <a:t>1 for inference about a mean. This test statistic is called a </a:t>
            </a:r>
            <a:r>
              <a:rPr lang="en-US" b="1" i="1" dirty="0"/>
              <a:t>t </a:t>
            </a:r>
            <a:r>
              <a:rPr lang="en-US" b="1" dirty="0"/>
              <a:t>statistic</a:t>
            </a:r>
            <a:r>
              <a:rPr lang="en-US" dirty="0"/>
              <a:t>.</a:t>
            </a:r>
            <a:endParaRPr lang="en-US" altLang="en-US" dirty="0">
              <a:solidFill>
                <a:schemeClr val="tx1"/>
              </a:solidFill>
            </a:endParaRPr>
          </a:p>
          <a:p>
            <a:pPr marL="0" indent="0" eaLnBrk="1" hangingPunct="1">
              <a:spcBef>
                <a:spcPts val="600"/>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solidFill>
                <a:schemeClr val="tx1"/>
              </a:solidFill>
            </a:endParaRPr>
          </a:p>
        </p:txBody>
      </p:sp>
      <p:sp>
        <p:nvSpPr>
          <p:cNvPr id="106499" name="Rectangle 1"/>
          <p:cNvSpPr>
            <a:spLocks noChangeArrowheads="1"/>
          </p:cNvSpPr>
          <p:nvPr/>
        </p:nvSpPr>
        <p:spPr bwMode="auto">
          <a:xfrm>
            <a:off x="914400" y="117475"/>
            <a:ext cx="7924800"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Steps of a Significance Test About a Population Mean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3: Test Statistic</a:t>
            </a: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solidFill>
                <a:schemeClr val="tx1"/>
              </a:solidFill>
            </a:endParaRPr>
          </a:p>
          <a:p>
            <a:pPr marL="0" indent="0" eaLnBrk="1" hangingPunct="1">
              <a:spcBef>
                <a:spcPts val="600"/>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solidFill>
                <a:schemeClr val="tx1"/>
              </a:solidFill>
            </a:endParaRPr>
          </a:p>
        </p:txBody>
      </p:sp>
      <p:sp>
        <p:nvSpPr>
          <p:cNvPr id="108547" name="Rectangle 1"/>
          <p:cNvSpPr>
            <a:spLocks noChangeArrowheads="1"/>
          </p:cNvSpPr>
          <p:nvPr/>
        </p:nvSpPr>
        <p:spPr bwMode="auto">
          <a:xfrm>
            <a:off x="914400" y="117475"/>
            <a:ext cx="7924800"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Steps of a Significance Test About a Population Mean</a:t>
            </a:r>
          </a:p>
        </p:txBody>
      </p:sp>
      <p:pic>
        <p:nvPicPr>
          <p:cNvPr id="10854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62175" y="1976438"/>
            <a:ext cx="4041775"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97180" y="5000626"/>
            <a:ext cx="8696008" cy="1323439"/>
          </a:xfrm>
          <a:prstGeom prst="rect">
            <a:avLst/>
          </a:prstGeom>
        </p:spPr>
        <p:txBody>
          <a:bodyPr wrap="square">
            <a:spAutoFit/>
          </a:bodyPr>
          <a:lstStyle/>
          <a:p>
            <a:pPr eaLnBrk="1" hangingPunct="1">
              <a:buClr>
                <a:srgbClr val="000000"/>
              </a:buClr>
              <a:buSzPct val="100000"/>
              <a:buFont typeface="Times New Roman" panose="02020603050405020304" pitchFamily="18" charset="0"/>
              <a:buNone/>
              <a:defRPr/>
            </a:pPr>
            <a:r>
              <a:rPr lang="en-US" sz="1600" b="1" dirty="0">
                <a:solidFill>
                  <a:schemeClr val="tx1"/>
                </a:solidFill>
                <a:latin typeface="+mn-lt"/>
              </a:rPr>
              <a:t>Figure 9.6 The </a:t>
            </a:r>
            <a:r>
              <a:rPr lang="en-US" sz="1600" b="1" i="1" dirty="0">
                <a:solidFill>
                  <a:schemeClr val="tx1"/>
                </a:solidFill>
                <a:latin typeface="+mn-lt"/>
              </a:rPr>
              <a:t>t </a:t>
            </a:r>
            <a:r>
              <a:rPr lang="en-US" sz="1600" b="1" dirty="0">
                <a:solidFill>
                  <a:schemeClr val="tx1"/>
                </a:solidFill>
                <a:latin typeface="+mn-lt"/>
              </a:rPr>
              <a:t>Distribution of the </a:t>
            </a:r>
            <a:r>
              <a:rPr lang="en-US" sz="1600" b="1" i="1" dirty="0">
                <a:solidFill>
                  <a:schemeClr val="tx1"/>
                </a:solidFill>
                <a:latin typeface="+mn-lt"/>
              </a:rPr>
              <a:t>t </a:t>
            </a:r>
            <a:r>
              <a:rPr lang="en-US" sz="1600" b="1" dirty="0">
                <a:solidFill>
                  <a:schemeClr val="tx1"/>
                </a:solidFill>
                <a:latin typeface="+mn-lt"/>
              </a:rPr>
              <a:t>Test Statistic. </a:t>
            </a:r>
            <a:r>
              <a:rPr lang="en-US" sz="1600" dirty="0">
                <a:solidFill>
                  <a:srgbClr val="000000"/>
                </a:solidFill>
                <a:latin typeface="+mn-lt"/>
              </a:rPr>
              <a:t>The </a:t>
            </a:r>
            <a:r>
              <a:rPr lang="en-US" sz="1600" i="1" dirty="0">
                <a:solidFill>
                  <a:srgbClr val="000000"/>
                </a:solidFill>
                <a:latin typeface="+mn-lt"/>
              </a:rPr>
              <a:t>t </a:t>
            </a:r>
            <a:r>
              <a:rPr lang="en-US" sz="1600" dirty="0">
                <a:solidFill>
                  <a:srgbClr val="000000"/>
                </a:solidFill>
                <a:latin typeface="+mn-lt"/>
              </a:rPr>
              <a:t>distribution looks like the</a:t>
            </a:r>
          </a:p>
          <a:p>
            <a:pPr eaLnBrk="1" hangingPunct="1">
              <a:buClr>
                <a:srgbClr val="000000"/>
              </a:buClr>
              <a:buSzPct val="100000"/>
              <a:buFont typeface="Times New Roman" panose="02020603050405020304" pitchFamily="18" charset="0"/>
              <a:buNone/>
              <a:defRPr/>
            </a:pPr>
            <a:r>
              <a:rPr lang="en-US" sz="1600" dirty="0">
                <a:solidFill>
                  <a:srgbClr val="000000"/>
                </a:solidFill>
                <a:latin typeface="+mn-lt"/>
              </a:rPr>
              <a:t>standard normal but has more variability, i.e., fatter tails. There is stronger evidence against</a:t>
            </a:r>
          </a:p>
          <a:p>
            <a:pPr eaLnBrk="1" hangingPunct="1">
              <a:buClr>
                <a:srgbClr val="000000"/>
              </a:buClr>
              <a:buSzPct val="100000"/>
              <a:buFont typeface="Times New Roman" panose="02020603050405020304" pitchFamily="18" charset="0"/>
              <a:buNone/>
              <a:defRPr/>
            </a:pPr>
            <a:r>
              <a:rPr lang="en-US" sz="1600" dirty="0">
                <a:solidFill>
                  <a:srgbClr val="000000"/>
                </a:solidFill>
                <a:latin typeface="+mn-lt"/>
              </a:rPr>
              <a:t>H</a:t>
            </a:r>
            <a:r>
              <a:rPr lang="en-US" sz="1600" baseline="-25000" dirty="0">
                <a:solidFill>
                  <a:srgbClr val="000000"/>
                </a:solidFill>
                <a:latin typeface="+mn-lt"/>
              </a:rPr>
              <a:t>0</a:t>
            </a:r>
            <a:r>
              <a:rPr lang="en-US" sz="1600" dirty="0">
                <a:solidFill>
                  <a:srgbClr val="000000"/>
                </a:solidFill>
                <a:latin typeface="+mn-lt"/>
              </a:rPr>
              <a:t> when the </a:t>
            </a:r>
            <a:r>
              <a:rPr lang="en-US" sz="1600" i="1" dirty="0">
                <a:solidFill>
                  <a:srgbClr val="000000"/>
                </a:solidFill>
                <a:latin typeface="+mn-lt"/>
              </a:rPr>
              <a:t>t </a:t>
            </a:r>
            <a:r>
              <a:rPr lang="en-US" sz="1600" dirty="0">
                <a:solidFill>
                  <a:srgbClr val="000000"/>
                </a:solidFill>
                <a:latin typeface="+mn-lt"/>
              </a:rPr>
              <a:t>test statistic falls farther out in a tail. The P-value for a two-sided H</a:t>
            </a:r>
            <a:r>
              <a:rPr lang="en-US" sz="1600" i="1" baseline="-25000" dirty="0">
                <a:solidFill>
                  <a:srgbClr val="000000"/>
                </a:solidFill>
                <a:latin typeface="+mj-lt"/>
              </a:rPr>
              <a:t>a</a:t>
            </a:r>
            <a:r>
              <a:rPr lang="en-US" sz="1600" i="1" dirty="0">
                <a:solidFill>
                  <a:srgbClr val="000000"/>
                </a:solidFill>
                <a:latin typeface="+mn-lt"/>
              </a:rPr>
              <a:t> </a:t>
            </a:r>
            <a:r>
              <a:rPr lang="en-US" sz="1600" dirty="0">
                <a:solidFill>
                  <a:srgbClr val="000000"/>
                </a:solidFill>
                <a:latin typeface="+mn-lt"/>
              </a:rPr>
              <a:t>is a two-tail</a:t>
            </a:r>
          </a:p>
          <a:p>
            <a:pPr eaLnBrk="1" hangingPunct="1">
              <a:buClr>
                <a:srgbClr val="000000"/>
              </a:buClr>
              <a:buSzPct val="100000"/>
              <a:buFont typeface="Times New Roman" panose="02020603050405020304" pitchFamily="18" charset="0"/>
              <a:buNone/>
              <a:defRPr/>
            </a:pPr>
            <a:r>
              <a:rPr lang="en-US" sz="1600" dirty="0">
                <a:solidFill>
                  <a:srgbClr val="000000"/>
                </a:solidFill>
                <a:latin typeface="+mn-lt"/>
              </a:rPr>
              <a:t>probability (shaded in figure). </a:t>
            </a:r>
            <a:r>
              <a:rPr lang="en-US" sz="1600" b="1" dirty="0">
                <a:solidFill>
                  <a:schemeClr val="tx1"/>
                </a:solidFill>
                <a:latin typeface="+mn-lt"/>
              </a:rPr>
              <a:t>Question</a:t>
            </a:r>
            <a:r>
              <a:rPr lang="en-US" sz="1600" dirty="0">
                <a:solidFill>
                  <a:srgbClr val="1A0DE6"/>
                </a:solidFill>
                <a:latin typeface="+mn-lt"/>
              </a:rPr>
              <a:t> </a:t>
            </a:r>
            <a:r>
              <a:rPr lang="en-US" sz="1600" dirty="0">
                <a:solidFill>
                  <a:srgbClr val="000000"/>
                </a:solidFill>
                <a:latin typeface="+mn-lt"/>
              </a:rPr>
              <a:t>Why is it that </a:t>
            </a:r>
            <a:r>
              <a:rPr lang="en-US" sz="1600" i="1" dirty="0">
                <a:solidFill>
                  <a:srgbClr val="000000"/>
                </a:solidFill>
                <a:latin typeface="+mn-lt"/>
              </a:rPr>
              <a:t>t</a:t>
            </a:r>
            <a:r>
              <a:rPr lang="en-US" sz="1600" dirty="0">
                <a:solidFill>
                  <a:srgbClr val="000000"/>
                </a:solidFill>
                <a:latin typeface="+mn-lt"/>
              </a:rPr>
              <a:t>-scores farther out in the tails provide</a:t>
            </a:r>
          </a:p>
          <a:p>
            <a:pPr eaLnBrk="1" hangingPunct="1">
              <a:buClr>
                <a:srgbClr val="000000"/>
              </a:buClr>
              <a:buSzPct val="100000"/>
              <a:buFont typeface="Times New Roman" panose="02020603050405020304" pitchFamily="18" charset="0"/>
              <a:buNone/>
              <a:defRPr/>
            </a:pPr>
            <a:r>
              <a:rPr lang="en-US" sz="1600" dirty="0">
                <a:solidFill>
                  <a:srgbClr val="000000"/>
                </a:solidFill>
                <a:latin typeface="+mn-lt"/>
              </a:rPr>
              <a:t>stronger evidence against </a:t>
            </a:r>
            <a:r>
              <a:rPr lang="en-US" sz="1600" dirty="0">
                <a:solidFill>
                  <a:srgbClr val="000000"/>
                </a:solidFill>
              </a:rPr>
              <a:t>H</a:t>
            </a:r>
            <a:r>
              <a:rPr lang="en-US" sz="1600" baseline="-25000" dirty="0">
                <a:solidFill>
                  <a:srgbClr val="000000"/>
                </a:solidFill>
              </a:rPr>
              <a:t>0</a:t>
            </a:r>
            <a:r>
              <a:rPr lang="en-US" sz="1600" dirty="0">
                <a:solidFill>
                  <a:srgbClr val="000000"/>
                </a:solidFill>
                <a:latin typeface="+mn-lt"/>
              </a:rPr>
              <a:t>?</a:t>
            </a:r>
            <a:endParaRPr lang="en-US" sz="1600" dirty="0">
              <a:latin typeface="+mn-lt"/>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body" idx="4294967295"/>
          </p:nvPr>
        </p:nvSpPr>
        <p:spPr bwMode="auto">
          <a:xfrm>
            <a:off x="914400" y="1600200"/>
            <a:ext cx="7772400" cy="41036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4: P-value</a:t>
            </a:r>
          </a:p>
          <a:p>
            <a:pPr marL="0" indent="0" eaLnBrk="1" hangingPunct="1">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i="1">
              <a:solidFill>
                <a:schemeClr val="tx1"/>
              </a:solidFill>
            </a:endParaRPr>
          </a:p>
          <a:p>
            <a:pPr marL="45720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P-value summarizes the evidence.</a:t>
            </a:r>
          </a:p>
          <a:p>
            <a:pPr marL="45720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45720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It describes how unusual the data would be if H</a:t>
            </a:r>
            <a:r>
              <a:rPr lang="en-US" altLang="en-US" baseline="-25000">
                <a:solidFill>
                  <a:schemeClr val="tx1"/>
                </a:solidFill>
              </a:rPr>
              <a:t>0</a:t>
            </a:r>
            <a:r>
              <a:rPr lang="en-US" altLang="en-US">
                <a:solidFill>
                  <a:schemeClr val="tx1"/>
                </a:solidFill>
              </a:rPr>
              <a:t> were true.</a:t>
            </a:r>
          </a:p>
        </p:txBody>
      </p:sp>
      <p:sp>
        <p:nvSpPr>
          <p:cNvPr id="110595" name="Rectangle 1"/>
          <p:cNvSpPr>
            <a:spLocks noChangeArrowheads="1"/>
          </p:cNvSpPr>
          <p:nvPr/>
        </p:nvSpPr>
        <p:spPr bwMode="auto">
          <a:xfrm>
            <a:off x="914400" y="117475"/>
            <a:ext cx="7924800"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Steps of a Significance Test About a Population Mean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
          <p:cNvSpPr>
            <a:spLocks noGrp="1" noChangeArrowheads="1"/>
          </p:cNvSpPr>
          <p:nvPr>
            <p:ph type="title" idx="4294967295"/>
          </p:nvPr>
        </p:nvSpPr>
        <p:spPr bwMode="auto">
          <a:xfrm>
            <a:off x="914400" y="117475"/>
            <a:ext cx="7696200" cy="10255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Summary of P-values for Different Alternative Hypotheses</a:t>
            </a:r>
          </a:p>
        </p:txBody>
      </p:sp>
      <p:sp>
        <p:nvSpPr>
          <p:cNvPr id="112643" name="TextBox 1"/>
          <p:cNvSpPr txBox="1">
            <a:spLocks noChangeArrowheads="1"/>
          </p:cNvSpPr>
          <p:nvPr/>
        </p:nvSpPr>
        <p:spPr bwMode="auto">
          <a:xfrm>
            <a:off x="762000" y="1600200"/>
            <a:ext cx="8001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a:solidFill>
                  <a:schemeClr val="tx1"/>
                </a:solidFill>
                <a:latin typeface="Arial" panose="020B0604020202020204" pitchFamily="34" charset="0"/>
              </a:rPr>
              <a:t>The</a:t>
            </a:r>
            <a:r>
              <a:rPr lang="en-US" altLang="en-US" b="1">
                <a:solidFill>
                  <a:schemeClr val="tx1"/>
                </a:solidFill>
                <a:latin typeface="Arial" panose="020B0604020202020204" pitchFamily="34" charset="0"/>
              </a:rPr>
              <a:t> P-value </a:t>
            </a:r>
            <a:r>
              <a:rPr lang="en-US" altLang="en-US">
                <a:solidFill>
                  <a:schemeClr val="tx1"/>
                </a:solidFill>
                <a:latin typeface="Arial" panose="020B0604020202020204" pitchFamily="34" charset="0"/>
              </a:rPr>
              <a:t>is a single tail or a two-tail probability depending on whether the alternative hypothesis is one-sided or two-sided.</a:t>
            </a:r>
          </a:p>
        </p:txBody>
      </p:sp>
      <p:pic>
        <p:nvPicPr>
          <p:cNvPr id="11264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1288" y="3278188"/>
            <a:ext cx="8535987"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
          <p:cNvSpPr>
            <a:spLocks noGrp="1" noChangeArrowheads="1"/>
          </p:cNvSpPr>
          <p:nvPr>
            <p:ph type="title" idx="4294967295"/>
          </p:nvPr>
        </p:nvSpPr>
        <p:spPr bwMode="auto">
          <a:xfrm>
            <a:off x="914400" y="9525"/>
            <a:ext cx="7924800" cy="1177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Steps of a Significance Test About a Population Mean</a:t>
            </a:r>
          </a:p>
        </p:txBody>
      </p:sp>
      <p:sp>
        <p:nvSpPr>
          <p:cNvPr id="114691" name="Rectangle 2"/>
          <p:cNvSpPr>
            <a:spLocks noGrp="1" noChangeArrowheads="1"/>
          </p:cNvSpPr>
          <p:nvPr>
            <p:ph type="body" idx="4294967295"/>
          </p:nvPr>
        </p:nvSpPr>
        <p:spPr bwMode="auto">
          <a:xfrm>
            <a:off x="914400" y="1600200"/>
            <a:ext cx="7772400" cy="39322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5: Conclusion </a:t>
            </a:r>
          </a:p>
          <a:p>
            <a:pPr marL="0" indent="0" eaLnBrk="1" hangingPunct="1">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i="1">
              <a:solidFill>
                <a:schemeClr val="tx1"/>
              </a:solidFill>
            </a:endParaRPr>
          </a:p>
          <a:p>
            <a:pPr marL="0" inden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conclusion of a significance test reports the P-value and </a:t>
            </a:r>
            <a:r>
              <a:rPr lang="en-US" altLang="en-US" i="1"/>
              <a:t>interprets </a:t>
            </a:r>
            <a:r>
              <a:rPr lang="en-US" altLang="en-US"/>
              <a:t>what it says about the question that motivated the test.</a:t>
            </a:r>
            <a:endParaRPr lang="en-US" altLang="en-US">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 study compared different psychological therapies for teenage girls suffering from anorexia.</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variable of interest was each girl’s weight change:  weight at the end of the study minus weight at the beginning of the study.</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weight change was positive if the girl gained weight and negative if she lost weight.</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p:txBody>
      </p:sp>
      <p:sp>
        <p:nvSpPr>
          <p:cNvPr id="116739"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Box 1"/>
          <p:cNvSpPr txBox="1">
            <a:spLocks noRot="1" noChangeAspect="1" noMove="1" noResize="1" noEditPoints="1" noAdjustHandles="1" noChangeArrowheads="1" noChangeShapeType="1" noTextEdit="1"/>
          </p:cNvSpPr>
          <p:nvPr/>
        </p:nvSpPr>
        <p:spPr bwMode="auto">
          <a:xfrm>
            <a:off x="838200" y="1828800"/>
            <a:ext cx="7848600" cy="2710294"/>
          </a:xfrm>
          <a:prstGeom prst="rect">
            <a:avLst/>
          </a:prstGeom>
          <a:blipFill>
            <a:blip r:embed="rId3"/>
            <a:stretch>
              <a:fillRect l="-1243" t="-1573"/>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18787"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Box 1"/>
          <p:cNvSpPr txBox="1">
            <a:spLocks noChangeArrowheads="1"/>
          </p:cNvSpPr>
          <p:nvPr/>
        </p:nvSpPr>
        <p:spPr bwMode="auto">
          <a:xfrm>
            <a:off x="990600" y="5791200"/>
            <a:ext cx="7467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9.4 Weights of Anorexic Girls (in Pounds) Before and After Treatment</a:t>
            </a: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This example uses the weight change as the variable of interest.</a:t>
            </a:r>
          </a:p>
        </p:txBody>
      </p:sp>
      <p:sp>
        <p:nvSpPr>
          <p:cNvPr id="120835"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pic>
        <p:nvPicPr>
          <p:cNvPr id="120836" name="Picture 6" descr="M09_AGRE5940_03_SE_C09-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752600"/>
            <a:ext cx="5867400"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How can we frame this investigation in the context of a </a:t>
            </a:r>
            <a:r>
              <a:rPr lang="en-US" altLang="en-US" i="1"/>
              <a:t>significance test </a:t>
            </a:r>
            <a:r>
              <a:rPr lang="en-US" altLang="en-US"/>
              <a:t>that can detect whether the therapy was effective?</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Null hypothesis: “no effect”</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Alternative hypothesis: therapy is “effective” </a:t>
            </a:r>
          </a:p>
        </p:txBody>
      </p:sp>
      <p:sp>
        <p:nvSpPr>
          <p:cNvPr id="122883"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1: Assumptions</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variable (weight change) is quantitative.</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subjects were a </a:t>
            </a:r>
            <a:r>
              <a:rPr lang="en-US" altLang="en-US" i="1"/>
              <a:t>convenience sample</a:t>
            </a:r>
            <a:r>
              <a:rPr lang="en-US" altLang="en-US"/>
              <a:t>, rather than a random sample. The question is whether these girls are a good representation of all girls with anorexia.</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population distribution is approximately normal.</a:t>
            </a:r>
          </a:p>
        </p:txBody>
      </p:sp>
      <p:sp>
        <p:nvSpPr>
          <p:cNvPr id="124931"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1"/>
          <p:cNvSpPr>
            <a:spLocks noGrp="1" noRot="1" noChangeAspect="1" noMove="1" noResize="1" noEditPoints="1" noAdjustHandles="1" noChangeArrowheads="1" noChangeShapeType="1" noTextEdit="1"/>
          </p:cNvSpPr>
          <p:nvPr>
            <p:ph type="body" idx="4294967295"/>
          </p:nvPr>
        </p:nvSpPr>
        <p:spPr bwMode="auto">
          <a:xfrm>
            <a:off x="914400" y="1600200"/>
            <a:ext cx="7772400" cy="4103688"/>
          </a:xfrm>
          <a:prstGeom prst="rect">
            <a:avLst/>
          </a:prstGeom>
          <a:blipFill>
            <a:blip r:embed="rId3"/>
            <a:stretch>
              <a:fillRect l="-1255" t="-1040" r="-5176"/>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26979"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graphicFrame>
        <p:nvGraphicFramePr>
          <p:cNvPr id="126980" name="Object 1"/>
          <p:cNvGraphicFramePr>
            <a:graphicFrameLocks noChangeAspect="1"/>
          </p:cNvGraphicFramePr>
          <p:nvPr/>
        </p:nvGraphicFramePr>
        <p:xfrm>
          <a:off x="2736850" y="3890963"/>
          <a:ext cx="1460500" cy="444500"/>
        </p:xfrm>
        <a:graphic>
          <a:graphicData uri="http://schemas.openxmlformats.org/presentationml/2006/ole">
            <mc:AlternateContent xmlns:mc="http://schemas.openxmlformats.org/markup-compatibility/2006">
              <mc:Choice xmlns:v="urn:schemas-microsoft-com:vml" Requires="v">
                <p:oleObj name="Equation" r:id="rId4" imgW="1459866" imgH="444307" progId="Equation.DSMT4">
                  <p:embed/>
                </p:oleObj>
              </mc:Choice>
              <mc:Fallback>
                <p:oleObj name="Equation" r:id="rId4" imgW="1459866" imgH="444307" progId="Equation.DSMT4">
                  <p:embed/>
                  <p:pic>
                    <p:nvPicPr>
                      <p:cNvPr id="12698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850" y="3890963"/>
                        <a:ext cx="14605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6981" name="Object 7"/>
          <p:cNvGraphicFramePr>
            <a:graphicFrameLocks noChangeAspect="1"/>
          </p:cNvGraphicFramePr>
          <p:nvPr/>
        </p:nvGraphicFramePr>
        <p:xfrm>
          <a:off x="2736850" y="4538663"/>
          <a:ext cx="1511300" cy="444500"/>
        </p:xfrm>
        <a:graphic>
          <a:graphicData uri="http://schemas.openxmlformats.org/presentationml/2006/ole">
            <mc:AlternateContent xmlns:mc="http://schemas.openxmlformats.org/markup-compatibility/2006">
              <mc:Choice xmlns:v="urn:schemas-microsoft-com:vml" Requires="v">
                <p:oleObj name="Equation" r:id="rId6" imgW="1511300" imgH="444500" progId="Equation.DSMT4">
                  <p:embed/>
                </p:oleObj>
              </mc:Choice>
              <mc:Fallback>
                <p:oleObj name="Equation" r:id="rId6" imgW="1511300" imgH="444500" progId="Equation.DSMT4">
                  <p:embed/>
                  <p:pic>
                    <p:nvPicPr>
                      <p:cNvPr id="12698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6850" y="4538663"/>
                        <a:ext cx="15113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3: Test Statistic</a:t>
            </a:r>
          </a:p>
          <a:p>
            <a:pPr marL="0" indent="0" eaLnBrk="1" hangingPunct="1">
              <a:spcBef>
                <a:spcPts val="600"/>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u="sng">
              <a:solidFill>
                <a:schemeClr val="tx1"/>
              </a:solidFill>
            </a:endParaRPr>
          </a:p>
          <a:p>
            <a:pPr marL="0" indent="0" eaLnBrk="1" hangingPunct="1">
              <a:spcBef>
                <a:spcPts val="600"/>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u="sng">
              <a:solidFill>
                <a:srgbClr val="330033"/>
              </a:solidFill>
            </a:endParaRPr>
          </a:p>
          <a:p>
            <a:pPr marL="741363" lvl="1" indent="-260350" eaLnBrk="1" hangingPunct="1">
              <a:spcBef>
                <a:spcPts val="550"/>
              </a:spcBef>
              <a:buSzPct val="75000"/>
              <a:buFontTx/>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u="sng">
              <a:solidFill>
                <a:srgbClr val="330033"/>
              </a:solidFill>
            </a:endParaRPr>
          </a:p>
        </p:txBody>
      </p:sp>
      <p:sp>
        <p:nvSpPr>
          <p:cNvPr id="129027"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graphicFrame>
        <p:nvGraphicFramePr>
          <p:cNvPr id="129028" name="Object 1"/>
          <p:cNvGraphicFramePr>
            <a:graphicFrameLocks noChangeAspect="1"/>
          </p:cNvGraphicFramePr>
          <p:nvPr/>
        </p:nvGraphicFramePr>
        <p:xfrm>
          <a:off x="1928813" y="2728913"/>
          <a:ext cx="4089400" cy="1295400"/>
        </p:xfrm>
        <a:graphic>
          <a:graphicData uri="http://schemas.openxmlformats.org/presentationml/2006/ole">
            <mc:AlternateContent xmlns:mc="http://schemas.openxmlformats.org/markup-compatibility/2006">
              <mc:Choice xmlns:v="urn:schemas-microsoft-com:vml" Requires="v">
                <p:oleObj name="Equation" r:id="rId3" imgW="4089400" imgH="1295400" progId="Equation.DSMT4">
                  <p:embed/>
                </p:oleObj>
              </mc:Choice>
              <mc:Fallback>
                <p:oleObj name="Equation" r:id="rId3" imgW="4089400" imgH="1295400" progId="Equation.DSMT4">
                  <p:embed/>
                  <p:pic>
                    <p:nvPicPr>
                      <p:cNvPr id="129028"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13" y="2728913"/>
                        <a:ext cx="4089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1"/>
          <p:cNvSpPr>
            <a:spLocks noGrp="1" noChangeArrowheads="1"/>
          </p:cNvSpPr>
          <p:nvPr>
            <p:ph type="body" idx="4294967295"/>
          </p:nvPr>
        </p:nvSpPr>
        <p:spPr bwMode="auto">
          <a:xfrm>
            <a:off x="685800" y="1600200"/>
            <a:ext cx="80010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solidFill>
                  <a:schemeClr val="tx1"/>
                </a:solidFill>
              </a:rPr>
              <a:t>Step 4: </a:t>
            </a:r>
            <a:r>
              <a:rPr lang="en-US" altLang="en-US" b="1" i="1" dirty="0">
                <a:solidFill>
                  <a:schemeClr val="tx1"/>
                </a:solidFill>
              </a:rPr>
              <a:t>P</a:t>
            </a:r>
            <a:r>
              <a:rPr lang="en-US" altLang="en-US" b="1" dirty="0">
                <a:solidFill>
                  <a:schemeClr val="tx1"/>
                </a:solidFill>
              </a:rPr>
              <a:t>-value</a:t>
            </a:r>
          </a:p>
          <a:p>
            <a:pPr marL="482600" lvl="1" indent="0" eaLnBrk="1" hangingPunct="1">
              <a:lnSpc>
                <a:spcPct val="90000"/>
              </a:lnSpc>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solidFill>
                <a:schemeClr val="tx1"/>
              </a:solidFill>
            </a:endParaRPr>
          </a:p>
          <a:p>
            <a:pPr marL="825500" lvl="1" indent="-342900" eaLnBrk="1" hangingPunct="1">
              <a:lnSpc>
                <a:spcPct val="90000"/>
              </a:lnSpc>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The </a:t>
            </a:r>
            <a:r>
              <a:rPr lang="en-US" altLang="en-US" b="1" dirty="0">
                <a:solidFill>
                  <a:schemeClr val="tx1"/>
                </a:solidFill>
              </a:rPr>
              <a:t>P-value</a:t>
            </a:r>
            <a:r>
              <a:rPr lang="en-US" altLang="en-US" dirty="0">
                <a:solidFill>
                  <a:schemeClr val="tx1"/>
                </a:solidFill>
              </a:rPr>
              <a:t> is the area to the right of </a:t>
            </a:r>
            <a:r>
              <a:rPr lang="en-US" altLang="en-US" i="1" dirty="0">
                <a:solidFill>
                  <a:schemeClr val="tx1"/>
                </a:solidFill>
              </a:rPr>
              <a:t>t </a:t>
            </a:r>
            <a:r>
              <a:rPr lang="en-US" altLang="en-US" dirty="0">
                <a:solidFill>
                  <a:schemeClr val="tx1"/>
                </a:solidFill>
              </a:rPr>
              <a:t>= 2.21 for the </a:t>
            </a:r>
            <a:r>
              <a:rPr lang="en-US" altLang="en-US" i="1" dirty="0">
                <a:solidFill>
                  <a:schemeClr val="tx1"/>
                </a:solidFill>
              </a:rPr>
              <a:t>t</a:t>
            </a:r>
            <a:r>
              <a:rPr lang="en-US" altLang="en-US" dirty="0">
                <a:solidFill>
                  <a:schemeClr val="tx1"/>
                </a:solidFill>
              </a:rPr>
              <a:t> distribution with 28 </a:t>
            </a:r>
            <a:r>
              <a:rPr lang="en-US" altLang="en-US" i="1" dirty="0">
                <a:solidFill>
                  <a:schemeClr val="tx1"/>
                </a:solidFill>
                <a:latin typeface="+mj-lt"/>
              </a:rPr>
              <a:t>df.</a:t>
            </a:r>
            <a:r>
              <a:rPr lang="en-US" altLang="en-US" dirty="0">
                <a:solidFill>
                  <a:schemeClr val="tx1"/>
                </a:solidFill>
              </a:rPr>
              <a:t> This value is 0.018.</a:t>
            </a:r>
          </a:p>
          <a:p>
            <a:pPr marL="482600" lvl="1" indent="0" eaLnBrk="1" hangingPunct="1">
              <a:lnSpc>
                <a:spcPct val="90000"/>
              </a:lnSpc>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marL="825500" lvl="1" indent="-342900" eaLnBrk="1" hangingPunct="1">
              <a:lnSpc>
                <a:spcPct val="90000"/>
              </a:lnSpc>
              <a:buClr>
                <a:schemeClr val="tx1"/>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If the treatment had no effect, the probability of obtaining a sample this extreme would be 0.018.</a:t>
            </a:r>
          </a:p>
          <a:p>
            <a:pPr marL="482600" lvl="1" indent="0" eaLnBrk="1" hangingPunct="1">
              <a:lnSpc>
                <a:spcPct val="90000"/>
              </a:lnSpc>
              <a:buSzPct val="75000"/>
              <a:buFontTx/>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b="1" dirty="0">
              <a:solidFill>
                <a:schemeClr val="tx1"/>
              </a:solidFill>
            </a:endParaRPr>
          </a:p>
        </p:txBody>
      </p:sp>
      <p:sp>
        <p:nvSpPr>
          <p:cNvPr id="131075"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1"/>
          <p:cNvSpPr>
            <a:spLocks noGrp="1" noChangeArrowheads="1"/>
          </p:cNvSpPr>
          <p:nvPr>
            <p:ph type="body" idx="4294967295"/>
          </p:nvPr>
        </p:nvSpPr>
        <p:spPr bwMode="auto">
          <a:xfrm>
            <a:off x="762000" y="1600200"/>
            <a:ext cx="80772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solidFill>
                  <a:schemeClr val="tx1"/>
                </a:solidFill>
              </a:rPr>
              <a:t>Step 5: Conclusion</a:t>
            </a:r>
          </a:p>
          <a:p>
            <a:pPr marL="0" indent="0" eaLnBrk="1" hangingPunct="1">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u="sng">
              <a:solidFill>
                <a:schemeClr val="tx1"/>
              </a:solidFill>
            </a:endParaRPr>
          </a:p>
          <a:p>
            <a:pPr marL="45720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a:t>
            </a:r>
            <a:r>
              <a:rPr lang="en-US" altLang="en-US" b="1">
                <a:solidFill>
                  <a:schemeClr val="tx1"/>
                </a:solidFill>
              </a:rPr>
              <a:t>small</a:t>
            </a:r>
            <a:r>
              <a:rPr lang="en-US" altLang="en-US">
                <a:solidFill>
                  <a:schemeClr val="tx1"/>
                </a:solidFill>
              </a:rPr>
              <a:t> P-value of 0.018 provides considerable evidence against the null hypothesis (the hypothesis that the therapy had no effect).</a:t>
            </a:r>
          </a:p>
        </p:txBody>
      </p:sp>
      <p:sp>
        <p:nvSpPr>
          <p:cNvPr id="133123"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Mean Weight Change in Anorexic Girls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1"/>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r="-141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35171" name="Text Box 2"/>
          <p:cNvSpPr txBox="1">
            <a:spLocks noChangeArrowheads="1"/>
          </p:cNvSpPr>
          <p:nvPr/>
        </p:nvSpPr>
        <p:spPr bwMode="auto">
          <a:xfrm>
            <a:off x="769938" y="184150"/>
            <a:ext cx="81454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spcBef>
                <a:spcPts val="275"/>
              </a:spcBef>
              <a:buSzPct val="90000"/>
            </a:pPr>
            <a:r>
              <a:rPr lang="en-US" altLang="en-US" sz="3200" b="1">
                <a:solidFill>
                  <a:schemeClr val="tx1"/>
                </a:solidFill>
              </a:rPr>
              <a:t>Results of two-sided tests and confidence intervals agree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
          <p:cNvSpPr>
            <a:spLocks noGrp="1" noChangeArrowheads="1"/>
          </p:cNvSpPr>
          <p:nvPr>
            <p:ph type="title" idx="4294967295"/>
          </p:nvPr>
        </p:nvSpPr>
        <p:spPr bwMode="auto">
          <a:xfrm>
            <a:off x="914400" y="125413"/>
            <a:ext cx="7924800" cy="10493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Results of Two-Sided Tests and Results of Confidence Intervals Agree</a:t>
            </a:r>
            <a:endParaRPr lang="en-US" altLang="en-US" b="1">
              <a:solidFill>
                <a:srgbClr val="FF0000"/>
              </a:solidFill>
              <a:latin typeface="Arial" panose="020B0604020202020204" pitchFamily="34" charset="0"/>
            </a:endParaRPr>
          </a:p>
        </p:txBody>
      </p:sp>
      <p:sp>
        <p:nvSpPr>
          <p:cNvPr id="183299"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1750" r="-141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1"/>
          <p:cNvSpPr>
            <a:spLocks noGrp="1" noChangeArrowheads="1"/>
          </p:cNvSpPr>
          <p:nvPr>
            <p:ph type="title" idx="4294967295"/>
          </p:nvPr>
        </p:nvSpPr>
        <p:spPr bwMode="auto">
          <a:xfrm>
            <a:off x="914400" y="122238"/>
            <a:ext cx="7924800" cy="10525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When the Population Does Not Satisfy the Normality </a:t>
            </a:r>
            <a:r>
              <a:rPr lang="en-US" altLang="en-US" b="1">
                <a:solidFill>
                  <a:srgbClr val="000000"/>
                </a:solidFill>
                <a:latin typeface="Arial" panose="020B0604020202020204" pitchFamily="34" charset="0"/>
              </a:rPr>
              <a:t>Assumption</a:t>
            </a:r>
          </a:p>
        </p:txBody>
      </p:sp>
      <p:sp>
        <p:nvSpPr>
          <p:cNvPr id="185347"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94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1750" r="-1725" b="-269"/>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41315" name="Rectangle 1"/>
          <p:cNvSpPr>
            <a:spLocks noChangeArrowheads="1"/>
          </p:cNvSpPr>
          <p:nvPr/>
        </p:nvSpPr>
        <p:spPr bwMode="auto">
          <a:xfrm>
            <a:off x="914400" y="122238"/>
            <a:ext cx="7924800" cy="1052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When the Population Does Not Satisfy the Normality </a:t>
            </a:r>
            <a:r>
              <a:rPr lang="en-US" altLang="en-US" sz="3200" b="1">
                <a:solidFill>
                  <a:srgbClr val="000000"/>
                </a:solidFill>
                <a:latin typeface="Arial" panose="020B0604020202020204" pitchFamily="34" charset="0"/>
              </a:rPr>
              <a:t>Assumption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1"/>
          <p:cNvSpPr>
            <a:spLocks noGrp="1" noChangeArrowheads="1"/>
          </p:cNvSpPr>
          <p:nvPr>
            <p:ph type="title" idx="4294967295"/>
          </p:nvPr>
        </p:nvSpPr>
        <p:spPr bwMode="auto">
          <a:xfrm>
            <a:off x="685800" y="184150"/>
            <a:ext cx="8229600" cy="99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Regardless of Robustness, Look at the Data</a:t>
            </a:r>
          </a:p>
        </p:txBody>
      </p:sp>
      <p:sp>
        <p:nvSpPr>
          <p:cNvPr id="143363" name="Rectangle 2"/>
          <p:cNvSpPr>
            <a:spLocks noGrp="1" noChangeArrowheads="1"/>
          </p:cNvSpPr>
          <p:nvPr>
            <p:ph type="body" idx="4294967295"/>
          </p:nvPr>
        </p:nvSpPr>
        <p:spPr bwMode="auto">
          <a:xfrm>
            <a:off x="914400" y="2027238"/>
            <a:ext cx="7772400" cy="41036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Whether </a:t>
            </a:r>
            <a:r>
              <a:rPr lang="en-US" altLang="en-US" i="1"/>
              <a:t>n</a:t>
            </a:r>
            <a:r>
              <a:rPr lang="en-US" altLang="en-US"/>
              <a:t> is small or large, you should look at the data to check for </a:t>
            </a:r>
            <a:r>
              <a:rPr lang="en-US" altLang="en-US" i="1"/>
              <a:t>severe skew </a:t>
            </a:r>
            <a:r>
              <a:rPr lang="en-US" altLang="en-US"/>
              <a:t>or for </a:t>
            </a:r>
            <a:r>
              <a:rPr lang="en-US" altLang="en-US" i="1"/>
              <a:t>outliers</a:t>
            </a:r>
            <a:r>
              <a:rPr lang="en-US" altLang="en-US"/>
              <a:t> that occur primarily in one direction.</a:t>
            </a:r>
          </a:p>
          <a:p>
            <a:pPr marL="0" indent="0" eaLnBrk="1" hangingPunct="1">
              <a:spcBef>
                <a:spcPts val="2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lvl="1" indent="0" eaLnBrk="1" hangingPunct="1">
              <a:spcBef>
                <a:spcPts val="700"/>
              </a:spcBef>
              <a:buClr>
                <a:schemeClr val="tx1"/>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They could cause the </a:t>
            </a:r>
            <a:r>
              <a:rPr lang="en-US" altLang="en-US" b="1"/>
              <a:t>sample mean </a:t>
            </a:r>
            <a:r>
              <a:rPr lang="en-US" altLang="en-US"/>
              <a:t>to be a misleading measure.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
          <p:cNvSpPr>
            <a:spLocks noGrp="1" noChangeArrowheads="1"/>
          </p:cNvSpPr>
          <p:nvPr>
            <p:ph type="title" idx="4294967295"/>
          </p:nvPr>
        </p:nvSpPr>
        <p:spPr bwMode="auto">
          <a:xfrm>
            <a:off x="914400" y="130175"/>
            <a:ext cx="7696200" cy="7889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Type I and Type II Errors</a:t>
            </a:r>
          </a:p>
        </p:txBody>
      </p:sp>
      <p:sp>
        <p:nvSpPr>
          <p:cNvPr id="147459" name="Rectangle 2"/>
          <p:cNvSpPr>
            <a:spLocks noGrp="1" noChangeArrowheads="1"/>
          </p:cNvSpPr>
          <p:nvPr>
            <p:ph type="body" idx="4294967295"/>
          </p:nvPr>
        </p:nvSpPr>
        <p:spPr bwMode="auto">
          <a:xfrm>
            <a:off x="762000" y="1600200"/>
            <a:ext cx="7924800" cy="4648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When </a:t>
            </a:r>
            <a:r>
              <a:rPr lang="en-US" altLang="en-US"/>
              <a:t>H</a:t>
            </a:r>
            <a:r>
              <a:rPr lang="en-US" altLang="en-US" baseline="-25000"/>
              <a:t>0</a:t>
            </a:r>
            <a:r>
              <a:rPr lang="en-US" altLang="en-US" baseline="-25000">
                <a:solidFill>
                  <a:schemeClr val="tx1"/>
                </a:solidFill>
              </a:rPr>
              <a:t> </a:t>
            </a:r>
            <a:r>
              <a:rPr lang="en-US" altLang="en-US">
                <a:solidFill>
                  <a:schemeClr val="tx1"/>
                </a:solidFill>
              </a:rPr>
              <a:t>is true, a </a:t>
            </a:r>
            <a:r>
              <a:rPr lang="en-US" altLang="en-US" b="1">
                <a:solidFill>
                  <a:schemeClr val="tx1"/>
                </a:solidFill>
              </a:rPr>
              <a:t>Type I Error </a:t>
            </a:r>
            <a:r>
              <a:rPr lang="en-US" altLang="en-US">
                <a:solidFill>
                  <a:schemeClr val="tx1"/>
                </a:solidFill>
              </a:rPr>
              <a:t>occurs when </a:t>
            </a:r>
            <a:r>
              <a:rPr lang="en-US" altLang="en-US"/>
              <a:t>H</a:t>
            </a:r>
            <a:r>
              <a:rPr lang="en-US" altLang="en-US" baseline="-25000"/>
              <a:t>0</a:t>
            </a:r>
            <a:r>
              <a:rPr lang="en-US" altLang="en-US" baseline="-25000">
                <a:solidFill>
                  <a:schemeClr val="tx1"/>
                </a:solidFill>
              </a:rPr>
              <a:t> </a:t>
            </a:r>
            <a:r>
              <a:rPr lang="en-US" altLang="en-US">
                <a:solidFill>
                  <a:schemeClr val="tx1"/>
                </a:solidFill>
              </a:rPr>
              <a:t>is rejected.  (</a:t>
            </a:r>
            <a:r>
              <a:rPr lang="en-US" altLang="en-US" i="1">
                <a:solidFill>
                  <a:schemeClr val="tx1"/>
                </a:solidFill>
              </a:rPr>
              <a:t>a false positive</a:t>
            </a:r>
            <a:r>
              <a:rPr lang="en-US" altLang="en-US">
                <a:solidFill>
                  <a:schemeClr val="tx1"/>
                </a:solidFill>
              </a:rPr>
              <a:t>)</a:t>
            </a:r>
          </a:p>
          <a:p>
            <a:pPr marL="0" indent="0" eaLnBrk="1" hangingPunct="1">
              <a:lnSpc>
                <a:spcPct val="90000"/>
              </a:lnSpc>
              <a:spcBef>
                <a:spcPts val="3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When </a:t>
            </a:r>
            <a:r>
              <a:rPr lang="en-US" altLang="en-US"/>
              <a:t>H</a:t>
            </a:r>
            <a:r>
              <a:rPr lang="en-US" altLang="en-US" baseline="-25000"/>
              <a:t>0</a:t>
            </a:r>
            <a:r>
              <a:rPr lang="en-US" altLang="en-US">
                <a:solidFill>
                  <a:schemeClr val="tx1"/>
                </a:solidFill>
              </a:rPr>
              <a:t> is false, a </a:t>
            </a:r>
            <a:r>
              <a:rPr lang="en-US" altLang="en-US" b="1">
                <a:solidFill>
                  <a:schemeClr val="tx1"/>
                </a:solidFill>
              </a:rPr>
              <a:t>Type II Error </a:t>
            </a:r>
            <a:r>
              <a:rPr lang="en-US" altLang="en-US">
                <a:solidFill>
                  <a:schemeClr val="tx1"/>
                </a:solidFill>
              </a:rPr>
              <a:t>occurs when </a:t>
            </a:r>
            <a:r>
              <a:rPr lang="en-US" altLang="en-US"/>
              <a:t>H</a:t>
            </a:r>
            <a:r>
              <a:rPr lang="en-US" altLang="en-US" baseline="-25000"/>
              <a:t>0</a:t>
            </a:r>
            <a:r>
              <a:rPr lang="en-US" altLang="en-US" baseline="-25000">
                <a:solidFill>
                  <a:schemeClr val="tx1"/>
                </a:solidFill>
              </a:rPr>
              <a:t> </a:t>
            </a:r>
            <a:r>
              <a:rPr lang="en-US" altLang="en-US">
                <a:solidFill>
                  <a:schemeClr val="tx1"/>
                </a:solidFill>
              </a:rPr>
              <a:t>is not rejected</a:t>
            </a:r>
            <a:r>
              <a:rPr lang="en-US" altLang="en-US" i="1">
                <a:solidFill>
                  <a:schemeClr val="tx1"/>
                </a:solidFill>
              </a:rPr>
              <a:t>. (a false negative)</a:t>
            </a: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As P(Type I Error) goes </a:t>
            </a:r>
            <a:r>
              <a:rPr lang="en-US" altLang="en-US" i="1">
                <a:solidFill>
                  <a:schemeClr val="tx1"/>
                </a:solidFill>
              </a:rPr>
              <a:t>Down</a:t>
            </a:r>
            <a:r>
              <a:rPr lang="en-US" altLang="en-US">
                <a:solidFill>
                  <a:schemeClr val="tx1"/>
                </a:solidFill>
              </a:rPr>
              <a:t>, P(Type II Error) goes </a:t>
            </a:r>
            <a:r>
              <a:rPr lang="en-US" altLang="en-US" i="1">
                <a:solidFill>
                  <a:schemeClr val="tx1"/>
                </a:solidFill>
              </a:rPr>
              <a:t>Up.</a:t>
            </a:r>
            <a:r>
              <a:rPr lang="en-US" altLang="en-US">
                <a:solidFill>
                  <a:schemeClr val="tx1"/>
                </a:solidFill>
              </a:rPr>
              <a:t> </a:t>
            </a:r>
          </a:p>
          <a:p>
            <a:pPr marL="0" indent="0" eaLnBrk="1" hangingPunct="1">
              <a:lnSpc>
                <a:spcPct val="90000"/>
              </a:lnSpc>
              <a:spcBef>
                <a:spcPts val="3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lnSpc>
                <a:spcPct val="90000"/>
              </a:lnSpc>
              <a:buClr>
                <a:srgbClr val="CCCC99"/>
              </a:buClr>
              <a:buSzPct val="75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The two probabilities are </a:t>
            </a:r>
            <a:r>
              <a:rPr lang="en-US" altLang="en-US" b="1">
                <a:solidFill>
                  <a:schemeClr val="tx1"/>
                </a:solidFill>
              </a:rPr>
              <a:t>inversely</a:t>
            </a:r>
            <a:r>
              <a:rPr lang="en-US" altLang="en-US">
                <a:solidFill>
                  <a:schemeClr val="tx1"/>
                </a:solidFill>
              </a:rPr>
              <a:t> related.</a:t>
            </a:r>
            <a:endParaRPr lang="en-US" altLang="en-US" b="1"/>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
          <p:cNvSpPr>
            <a:spLocks noGrp="1" noChangeArrowheads="1"/>
          </p:cNvSpPr>
          <p:nvPr>
            <p:ph type="title" idx="4294967295"/>
          </p:nvPr>
        </p:nvSpPr>
        <p:spPr bwMode="auto">
          <a:xfrm>
            <a:off x="914400" y="212725"/>
            <a:ext cx="7848600" cy="6985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Significance Test Results</a:t>
            </a:r>
          </a:p>
        </p:txBody>
      </p:sp>
      <p:sp>
        <p:nvSpPr>
          <p:cNvPr id="149507" name="TextBox 1"/>
          <p:cNvSpPr txBox="1">
            <a:spLocks noChangeArrowheads="1"/>
          </p:cNvSpPr>
          <p:nvPr/>
        </p:nvSpPr>
        <p:spPr bwMode="auto">
          <a:xfrm>
            <a:off x="704850" y="4672013"/>
            <a:ext cx="7848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9.5 The Four Possible Results of a Decision in a Significance Test. </a:t>
            </a:r>
            <a:r>
              <a:rPr lang="en-US" altLang="en-US" sz="1600">
                <a:solidFill>
                  <a:schemeClr val="tx1"/>
                </a:solidFill>
                <a:latin typeface="Arial" panose="020B0604020202020204" pitchFamily="34" charset="0"/>
              </a:rPr>
              <a:t>Type I and Type II errors are the two possible incorrect decisions. We make a correct decision if we do not reject H</a:t>
            </a:r>
            <a:r>
              <a:rPr lang="en-US" altLang="en-US" sz="1600" baseline="-25000">
                <a:solidFill>
                  <a:schemeClr val="tx1"/>
                </a:solidFill>
                <a:latin typeface="Arial" panose="020B0604020202020204" pitchFamily="34" charset="0"/>
              </a:rPr>
              <a:t>0</a:t>
            </a:r>
            <a:r>
              <a:rPr lang="en-US" altLang="en-US" sz="1600">
                <a:solidFill>
                  <a:schemeClr val="tx1"/>
                </a:solidFill>
                <a:latin typeface="Arial" panose="020B0604020202020204" pitchFamily="34" charset="0"/>
              </a:rPr>
              <a:t> when it is true or if we reject it when it is false.</a:t>
            </a:r>
          </a:p>
        </p:txBody>
      </p:sp>
      <p:pic>
        <p:nvPicPr>
          <p:cNvPr id="14950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6725" y="1874838"/>
            <a:ext cx="83248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Box 1"/>
          <p:cNvSpPr txBox="1">
            <a:spLocks noChangeArrowheads="1"/>
          </p:cNvSpPr>
          <p:nvPr/>
        </p:nvSpPr>
        <p:spPr bwMode="auto">
          <a:xfrm>
            <a:off x="914400" y="4438650"/>
            <a:ext cx="693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Table 9.6 Possible Results of a Legal Trial</a:t>
            </a:r>
            <a:endParaRPr lang="en-US" altLang="en-US" sz="1600">
              <a:solidFill>
                <a:schemeClr val="tx1"/>
              </a:solidFill>
              <a:latin typeface="Arial" panose="020B0604020202020204" pitchFamily="34" charset="0"/>
            </a:endParaRPr>
          </a:p>
        </p:txBody>
      </p:sp>
      <p:sp>
        <p:nvSpPr>
          <p:cNvPr id="151555" name="Rectangle 1"/>
          <p:cNvSpPr>
            <a:spLocks noChangeArrowheads="1"/>
          </p:cNvSpPr>
          <p:nvPr/>
        </p:nvSpPr>
        <p:spPr bwMode="auto">
          <a:xfrm>
            <a:off x="914400" y="33338"/>
            <a:ext cx="7848600" cy="865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Significance Test Results</a:t>
            </a:r>
          </a:p>
        </p:txBody>
      </p:sp>
      <p:pic>
        <p:nvPicPr>
          <p:cNvPr id="15155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030413"/>
            <a:ext cx="8147050" cy="177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1"/>
          <p:cNvSpPr>
            <a:spLocks noGrp="1" noRot="1" noChangeAspect="1" noMove="1" noResize="1" noEditPoints="1" noAdjustHandles="1" noChangeArrowheads="1" noChangeShapeType="1" noTextEdit="1"/>
          </p:cNvSpPr>
          <p:nvPr>
            <p:ph type="title" idx="4294967295"/>
          </p:nvPr>
        </p:nvSpPr>
        <p:spPr bwMode="auto">
          <a:xfrm>
            <a:off x="762000" y="193675"/>
            <a:ext cx="7848600" cy="712788"/>
          </a:xfrm>
          <a:prstGeom prst="rect">
            <a:avLst/>
          </a:prstGeom>
          <a:blipFill>
            <a:blip r:embed="rId3"/>
            <a:stretch>
              <a:fillRect l="-2019" b="-28205"/>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201731"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4"/>
            <a:stretch>
              <a:fillRect l="-1255" t="-1750" b="-269"/>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
          <p:cNvSpPr>
            <a:spLocks noGrp="1" noChangeArrowheads="1"/>
          </p:cNvSpPr>
          <p:nvPr>
            <p:ph type="title" idx="4294967295"/>
          </p:nvPr>
        </p:nvSpPr>
        <p:spPr bwMode="auto">
          <a:xfrm>
            <a:off x="609600" y="0"/>
            <a:ext cx="7924800" cy="1177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Statistical Significance Does Not Mean Practical Significance</a:t>
            </a:r>
          </a:p>
        </p:txBody>
      </p:sp>
      <p:sp>
        <p:nvSpPr>
          <p:cNvPr id="157699" name="Rectangle 2"/>
          <p:cNvSpPr>
            <a:spLocks noGrp="1" noChangeArrowheads="1"/>
          </p:cNvSpPr>
          <p:nvPr>
            <p:ph type="body" idx="4294967295"/>
          </p:nvPr>
        </p:nvSpPr>
        <p:spPr bwMode="auto">
          <a:xfrm>
            <a:off x="914400" y="1600200"/>
            <a:ext cx="7772400" cy="4530725"/>
          </a:xfrm>
          <a:prstGeom prst="rect">
            <a:avLst/>
          </a:prstGeom>
          <a:solidFill>
            <a:schemeClr val="bg1"/>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When we conduct a significance test, its main relevance is studying whether the </a:t>
            </a:r>
            <a:r>
              <a:rPr lang="en-US" altLang="en-US" b="1" dirty="0"/>
              <a:t>true parameter value </a:t>
            </a:r>
            <a:r>
              <a:rPr lang="en-US" altLang="en-US" dirty="0"/>
              <a:t>is:</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dirty="0"/>
          </a:p>
          <a:p>
            <a:pPr marL="914400" lvl="2" indent="0" eaLnBrk="1" hangingPunct="1">
              <a:buClr>
                <a:srgbClr val="B2B2B2"/>
              </a:buClr>
              <a:buSzPct val="90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1.  </a:t>
            </a:r>
            <a:r>
              <a:rPr lang="en-US" altLang="en-US"/>
              <a:t>Above, or below, the value in H</a:t>
            </a:r>
            <a:r>
              <a:rPr lang="en-US" altLang="en-US" baseline="-25000"/>
              <a:t>0</a:t>
            </a:r>
            <a:r>
              <a:rPr lang="en-US" altLang="en-US"/>
              <a:t> </a:t>
            </a:r>
            <a:r>
              <a:rPr lang="en-US" altLang="en-US" i="1"/>
              <a:t>and</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i="1"/>
          </a:p>
          <a:p>
            <a:pPr marL="914400" lvl="2" indent="0" eaLnBrk="1" hangingPunct="1">
              <a:buClr>
                <a:srgbClr val="B2B2B2"/>
              </a:buClr>
              <a:buSzPct val="90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dirty="0"/>
              <a:t>2.  Sufficiently different from the value in H</a:t>
            </a:r>
            <a:r>
              <a:rPr lang="en-US" altLang="en-US" baseline="-25000" dirty="0"/>
              <a:t>0</a:t>
            </a:r>
            <a:r>
              <a:rPr lang="en-US" altLang="en-US" dirty="0"/>
              <a:t> to be   </a:t>
            </a:r>
            <a:br>
              <a:rPr lang="en-US" altLang="en-US" dirty="0"/>
            </a:br>
            <a:r>
              <a:rPr lang="en-US" altLang="en-US" dirty="0"/>
              <a:t>     of </a:t>
            </a:r>
            <a:r>
              <a:rPr lang="en-US" altLang="en-US" b="1" dirty="0"/>
              <a:t>practical importance.</a:t>
            </a:r>
          </a:p>
          <a:p>
            <a:pPr marL="914400" lvl="2" indent="0" eaLnBrk="1" hangingPunct="1">
              <a:buClr>
                <a:srgbClr val="B2B2B2"/>
              </a:buClr>
              <a:buSzPct val="90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i="1" dirty="0">
              <a:solidFill>
                <a:srgbClr val="124ECC"/>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1"/>
          <p:cNvSpPr>
            <a:spLocks noGrp="1" noChangeArrowheads="1"/>
          </p:cNvSpPr>
          <p:nvPr>
            <p:ph type="title" idx="4294967295"/>
          </p:nvPr>
        </p:nvSpPr>
        <p:spPr bwMode="auto">
          <a:xfrm>
            <a:off x="762000" y="209550"/>
            <a:ext cx="7924800" cy="71278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What the Significance Test Tells Us</a:t>
            </a:r>
          </a:p>
        </p:txBody>
      </p:sp>
      <p:sp>
        <p:nvSpPr>
          <p:cNvPr id="159747"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 significance test gives us information about whether the parameter differs from the H</a:t>
            </a:r>
            <a:r>
              <a:rPr lang="en-US" altLang="en-US" baseline="-25000"/>
              <a:t>0</a:t>
            </a:r>
            <a:r>
              <a:rPr lang="en-US" altLang="en-US"/>
              <a:t> value and its direction from that value.</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It does not tell us about the </a:t>
            </a:r>
            <a:r>
              <a:rPr lang="en-US" altLang="en-US" b="1"/>
              <a:t>practical significance </a:t>
            </a:r>
            <a:r>
              <a:rPr lang="en-US" altLang="en-US"/>
              <a:t>(or importance) of the finding.</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i="1">
              <a:solidFill>
                <a:srgbClr val="124ECC"/>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i="1">
                <a:solidFill>
                  <a:srgbClr val="124ECC"/>
                </a:solidFill>
              </a:rPr>
              <a:t>Statistical significance is not the same thing as practical significance.</a:t>
            </a:r>
            <a:endParaRPr lang="en-US" altLang="en-US" i="1">
              <a:solidFill>
                <a:srgbClr val="CCCC99"/>
              </a:solidFill>
            </a:endParaRPr>
          </a:p>
          <a:p>
            <a:pPr marL="914400" lvl="2" indent="0" eaLnBrk="1" hangingPunct="1">
              <a:buClr>
                <a:srgbClr val="B2B2B2"/>
              </a:buClr>
              <a:buSzPct val="90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A small P-value, such as 0.001, is highly</a:t>
            </a:r>
            <a:r>
              <a:rPr lang="en-US" altLang="en-US" i="1">
                <a:solidFill>
                  <a:schemeClr val="tx1"/>
                </a:solidFill>
              </a:rPr>
              <a:t> statistically significant</a:t>
            </a:r>
            <a:r>
              <a:rPr lang="en-US" altLang="en-US">
                <a:solidFill>
                  <a:schemeClr val="tx1"/>
                </a:solidFill>
              </a:rPr>
              <a:t>, but it does not imply an important finding in any practical sense. </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solidFill>
                <a:schemeClr val="tx1"/>
              </a:solidFill>
            </a:endParaRP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solidFill>
                  <a:schemeClr val="tx1"/>
                </a:solidFill>
              </a:rPr>
              <a:t>In particular, whenever the sample size is large, small P-values can occur when the point estimate is near the parameter value in </a:t>
            </a:r>
            <a:r>
              <a:rPr lang="en-US" altLang="en-US"/>
              <a:t>H</a:t>
            </a:r>
            <a:r>
              <a:rPr lang="en-US" altLang="en-US" baseline="-25000"/>
              <a:t>0</a:t>
            </a:r>
            <a:r>
              <a:rPr lang="en-US" altLang="en-US">
                <a:solidFill>
                  <a:schemeClr val="tx1"/>
                </a:solidFill>
              </a:rPr>
              <a:t>.</a:t>
            </a:r>
            <a:endParaRPr lang="en-US" altLang="en-US" baseline="-25000">
              <a:solidFill>
                <a:schemeClr val="tx1"/>
              </a:solidFill>
            </a:endParaRPr>
          </a:p>
        </p:txBody>
      </p:sp>
      <p:sp>
        <p:nvSpPr>
          <p:cNvPr id="161795" name="Text Box 2"/>
          <p:cNvSpPr txBox="1">
            <a:spLocks noChangeArrowheads="1"/>
          </p:cNvSpPr>
          <p:nvPr/>
        </p:nvSpPr>
        <p:spPr bwMode="auto">
          <a:xfrm>
            <a:off x="685800" y="76200"/>
            <a:ext cx="80772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Statistical Significance vs. Practical Significance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
          <p:cNvSpPr>
            <a:spLocks noGrp="1" noChangeArrowheads="1"/>
          </p:cNvSpPr>
          <p:nvPr>
            <p:ph type="title" idx="4294967295"/>
          </p:nvPr>
        </p:nvSpPr>
        <p:spPr bwMode="auto">
          <a:xfrm>
            <a:off x="914400" y="117475"/>
            <a:ext cx="8001000" cy="1101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Significance Tests Are Less Useful Than Confidence Intervals</a:t>
            </a:r>
          </a:p>
        </p:txBody>
      </p:sp>
      <p:sp>
        <p:nvSpPr>
          <p:cNvPr id="163843" name="Rectangle 2"/>
          <p:cNvSpPr>
            <a:spLocks noGrp="1" noChangeArrowheads="1"/>
          </p:cNvSpPr>
          <p:nvPr>
            <p:ph type="body" idx="4294967295"/>
          </p:nvPr>
        </p:nvSpPr>
        <p:spPr bwMode="auto">
          <a:xfrm>
            <a:off x="762000" y="1600200"/>
            <a:ext cx="8229600" cy="4549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Although significance tests are useful, most statisticians believe that this method has been </a:t>
            </a:r>
            <a:r>
              <a:rPr lang="en-US" altLang="en-US" b="1"/>
              <a:t>overemphasized</a:t>
            </a:r>
            <a:r>
              <a:rPr lang="en-US" altLang="en-US"/>
              <a:t> in research.</a:t>
            </a:r>
          </a:p>
          <a:p>
            <a:pPr marL="742950" lvl="1" indent="-285750" eaLnBrk="1" hangingPunct="1">
              <a:lnSpc>
                <a:spcPct val="90000"/>
              </a:lnSpc>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 </a:t>
            </a:r>
            <a:r>
              <a:rPr lang="en-US" altLang="en-US" b="1"/>
              <a:t>significance test </a:t>
            </a:r>
            <a:r>
              <a:rPr lang="en-US" altLang="en-US"/>
              <a:t>merely indicates whether the particular parameter value in H</a:t>
            </a:r>
            <a:r>
              <a:rPr lang="en-US" altLang="en-US" baseline="-25000"/>
              <a:t>0</a:t>
            </a:r>
            <a:r>
              <a:rPr lang="en-US" altLang="en-US"/>
              <a:t> is plausible.</a:t>
            </a:r>
          </a:p>
          <a:p>
            <a:pPr marL="0" indent="0" eaLnBrk="1" hangingPunct="1">
              <a:lnSpc>
                <a:spcPct val="90000"/>
              </a:lnSpc>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When a P-value is small, the significance test indicates that the hypothesized value is not plausible, but it tells us little about which potential parameter values </a:t>
            </a:r>
            <a:r>
              <a:rPr lang="en-US" altLang="en-US" i="1"/>
              <a:t>are</a:t>
            </a:r>
            <a:r>
              <a:rPr lang="en-US" altLang="en-US"/>
              <a:t> plausible.</a:t>
            </a: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742950" lvl="1" indent="-285750" eaLnBrk="1" hangingPunct="1">
              <a:lnSpc>
                <a:spcPct val="90000"/>
              </a:lnSpc>
              <a:spcBef>
                <a:spcPts val="7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A </a:t>
            </a:r>
            <a:r>
              <a:rPr lang="en-US" altLang="en-US" b="1"/>
              <a:t>Confidence Interval </a:t>
            </a:r>
            <a:r>
              <a:rPr lang="en-US" altLang="en-US"/>
              <a:t>is more informativ</a:t>
            </a:r>
            <a:r>
              <a:rPr lang="en-US" altLang="en-US">
                <a:solidFill>
                  <a:schemeClr val="tx1"/>
                </a:solidFill>
              </a:rPr>
              <a:t>e</a:t>
            </a:r>
            <a:r>
              <a:rPr lang="en-US" altLang="en-US"/>
              <a:t> because it displays the entire set of believable values.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1"/>
          <p:cNvSpPr>
            <a:spLocks noGrp="1" noChangeArrowheads="1"/>
          </p:cNvSpPr>
          <p:nvPr>
            <p:ph type="body" idx="4294967295"/>
          </p:nvPr>
        </p:nvSpPr>
        <p:spPr bwMode="auto">
          <a:xfrm>
            <a:off x="692151" y="1619251"/>
            <a:ext cx="7921498" cy="453009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solidFill>
                  <a:schemeClr val="tx1"/>
                </a:solidFill>
              </a:rPr>
              <a:t>Results of significance tests are often </a:t>
            </a:r>
            <a:r>
              <a:rPr lang="en-US" altLang="en-US" i="1" dirty="0">
                <a:solidFill>
                  <a:schemeClr val="tx1"/>
                </a:solidFill>
              </a:rPr>
              <a:t>misinterpreted</a:t>
            </a:r>
            <a:r>
              <a:rPr lang="en-US" altLang="en-US" dirty="0">
                <a:solidFill>
                  <a:schemeClr val="tx1"/>
                </a:solidFill>
              </a:rPr>
              <a:t>. Here are some important comments about significance tests, some of which we’ve already discussed:</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solidFill>
                <a:schemeClr val="tx1"/>
              </a:solidFill>
            </a:endParaRPr>
          </a:p>
          <a:p>
            <a:pPr eaLnBrk="1" hangingPunct="1">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solidFill>
                  <a:schemeClr val="tx1"/>
                </a:solidFill>
              </a:rPr>
              <a:t>“Do Not Reject </a:t>
            </a:r>
            <a:r>
              <a:rPr lang="en-US" altLang="en-US" b="1" dirty="0"/>
              <a:t>H</a:t>
            </a:r>
            <a:r>
              <a:rPr lang="en-US" altLang="en-US" b="1" baseline="-25000" dirty="0"/>
              <a:t>0</a:t>
            </a:r>
            <a:r>
              <a:rPr lang="en-US" altLang="en-US" b="1" dirty="0">
                <a:solidFill>
                  <a:schemeClr val="tx1"/>
                </a:solidFill>
              </a:rPr>
              <a:t>”</a:t>
            </a:r>
            <a:r>
              <a:rPr lang="en-US" altLang="en-US" b="1" baseline="-25000" dirty="0">
                <a:solidFill>
                  <a:schemeClr val="tx1"/>
                </a:solidFill>
              </a:rPr>
              <a:t>  </a:t>
            </a:r>
            <a:r>
              <a:rPr lang="en-US" altLang="en-US" b="1" dirty="0">
                <a:solidFill>
                  <a:schemeClr val="tx1"/>
                </a:solidFill>
              </a:rPr>
              <a:t>does </a:t>
            </a:r>
            <a:r>
              <a:rPr lang="en-US" altLang="en-US" b="1" i="1" dirty="0">
                <a:solidFill>
                  <a:schemeClr val="tx1"/>
                </a:solidFill>
              </a:rPr>
              <a:t>not</a:t>
            </a:r>
            <a:r>
              <a:rPr lang="en-US" altLang="en-US" b="1" dirty="0">
                <a:solidFill>
                  <a:schemeClr val="tx1"/>
                </a:solidFill>
              </a:rPr>
              <a:t> mean “Accept </a:t>
            </a:r>
            <a:r>
              <a:rPr lang="en-US" altLang="en-US" b="1" dirty="0"/>
              <a:t>H</a:t>
            </a:r>
            <a:r>
              <a:rPr lang="en-US" altLang="en-US" b="1" baseline="-25000" dirty="0"/>
              <a:t>0</a:t>
            </a:r>
            <a:r>
              <a:rPr lang="en-US" altLang="en-US" dirty="0">
                <a:solidFill>
                  <a:schemeClr val="tx1"/>
                </a:solidFill>
              </a:rPr>
              <a:t>”.  A P-value above 0.05 when the significance level is 0.05, does not mean that </a:t>
            </a:r>
            <a:r>
              <a:rPr lang="en-US" altLang="en-US" dirty="0"/>
              <a:t>H</a:t>
            </a:r>
            <a:r>
              <a:rPr lang="en-US" altLang="en-US" baseline="-25000" dirty="0"/>
              <a:t>0</a:t>
            </a:r>
            <a:r>
              <a:rPr lang="en-US" altLang="en-US" dirty="0">
                <a:solidFill>
                  <a:schemeClr val="tx1"/>
                </a:solidFill>
              </a:rPr>
              <a:t> is correct. A test merely indicates whether a particular parameter value is </a:t>
            </a:r>
            <a:r>
              <a:rPr lang="en-US" altLang="en-US" i="1" dirty="0">
                <a:solidFill>
                  <a:schemeClr val="tx1"/>
                </a:solidFill>
              </a:rPr>
              <a:t>plausible. </a:t>
            </a:r>
            <a:br>
              <a:rPr lang="en-US" altLang="en-US" i="1" dirty="0">
                <a:solidFill>
                  <a:schemeClr val="tx1"/>
                </a:solidFill>
              </a:rPr>
            </a:br>
            <a:br>
              <a:rPr lang="en-US" altLang="en-US" i="1" dirty="0">
                <a:solidFill>
                  <a:schemeClr val="tx1"/>
                </a:solidFill>
              </a:rPr>
            </a:br>
            <a:r>
              <a:rPr lang="en-US" altLang="en-US" dirty="0">
                <a:solidFill>
                  <a:schemeClr val="tx1"/>
                </a:solidFill>
              </a:rPr>
              <a:t>A </a:t>
            </a:r>
            <a:r>
              <a:rPr lang="en-US" altLang="en-US" b="1" dirty="0">
                <a:solidFill>
                  <a:schemeClr val="tx1"/>
                </a:solidFill>
              </a:rPr>
              <a:t>confidence interval </a:t>
            </a:r>
            <a:r>
              <a:rPr lang="en-US" altLang="en-US" dirty="0">
                <a:solidFill>
                  <a:schemeClr val="tx1"/>
                </a:solidFill>
              </a:rPr>
              <a:t>shows that there is a range of plausible values, not just a single one.</a:t>
            </a:r>
          </a:p>
        </p:txBody>
      </p:sp>
      <p:sp>
        <p:nvSpPr>
          <p:cNvPr id="165891" name="Text Box 2"/>
          <p:cNvSpPr txBox="1">
            <a:spLocks noChangeArrowheads="1"/>
          </p:cNvSpPr>
          <p:nvPr/>
        </p:nvSpPr>
        <p:spPr bwMode="auto">
          <a:xfrm>
            <a:off x="852488" y="152400"/>
            <a:ext cx="760571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Misinterpretations of Results of Significance Tests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body" idx="4294967295"/>
          </p:nvPr>
        </p:nvSpPr>
        <p:spPr bwMode="auto">
          <a:xfrm>
            <a:off x="762000" y="1600200"/>
            <a:ext cx="815340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eaLnBrk="1" hangingPunct="1">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t>Statistical significance does not mean practical significance</a:t>
            </a:r>
            <a:r>
              <a:rPr lang="en-US" altLang="en-US" dirty="0"/>
              <a:t>. A small </a:t>
            </a:r>
            <a:r>
              <a:rPr lang="en-US" altLang="en-US" i="1" dirty="0"/>
              <a:t>P</a:t>
            </a:r>
            <a:r>
              <a:rPr lang="en-US" altLang="en-US" dirty="0"/>
              <a:t>-value does not tell us whether the parameter value differs by much in practical terms from the value in H</a:t>
            </a:r>
            <a:r>
              <a:rPr lang="en-US" altLang="en-US" baseline="-25000" dirty="0"/>
              <a:t>0</a:t>
            </a:r>
            <a:r>
              <a:rPr lang="en-US" altLang="en-US" dirty="0"/>
              <a:t>.</a:t>
            </a:r>
            <a:endParaRPr lang="en-US" altLang="en-US" baseline="-25000" dirty="0"/>
          </a:p>
          <a:p>
            <a:pPr marL="0" indent="0" eaLnBrk="1" hangingPunct="1">
              <a:lnSpc>
                <a:spcPct val="80000"/>
              </a:lnSpc>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t>   </a:t>
            </a:r>
          </a:p>
          <a:p>
            <a:pPr eaLnBrk="1" hangingPunct="1">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b="1" dirty="0"/>
              <a:t>The </a:t>
            </a:r>
            <a:r>
              <a:rPr lang="en-US" altLang="en-US" b="1" i="1" dirty="0"/>
              <a:t>P</a:t>
            </a:r>
            <a:r>
              <a:rPr lang="en-US" altLang="en-US" b="1" dirty="0"/>
              <a:t>-value cannot be interpreted as the probability that H</a:t>
            </a:r>
            <a:r>
              <a:rPr lang="en-US" altLang="en-US" b="1" baseline="-25000" dirty="0"/>
              <a:t>0</a:t>
            </a:r>
            <a:r>
              <a:rPr lang="en-US" altLang="en-US" b="1" dirty="0"/>
              <a:t> is true</a:t>
            </a:r>
            <a:r>
              <a:rPr lang="en-US" altLang="en-US" dirty="0"/>
              <a:t>. The </a:t>
            </a:r>
            <a:r>
              <a:rPr lang="en-US" altLang="en-US" i="1" dirty="0"/>
              <a:t>P</a:t>
            </a:r>
            <a:r>
              <a:rPr lang="en-US" altLang="en-US" dirty="0"/>
              <a:t>-value is P(test statistic takes observed value or beyond in tails | H</a:t>
            </a:r>
            <a:r>
              <a:rPr lang="en-US" altLang="en-US" baseline="-25000" dirty="0"/>
              <a:t>0</a:t>
            </a:r>
            <a:r>
              <a:rPr lang="en-US" altLang="en-US" dirty="0"/>
              <a:t> true), </a:t>
            </a:r>
            <a:r>
              <a:rPr lang="en-US" altLang="en-US" b="1" dirty="0"/>
              <a:t>NOT</a:t>
            </a:r>
            <a:r>
              <a:rPr lang="en-US" altLang="en-US" dirty="0"/>
              <a:t>  </a:t>
            </a:r>
            <a:br>
              <a:rPr lang="en-US" altLang="en-US" dirty="0"/>
            </a:br>
            <a:r>
              <a:rPr lang="en-US" altLang="en-US" dirty="0"/>
              <a:t>P(H</a:t>
            </a:r>
            <a:r>
              <a:rPr lang="en-US" altLang="en-US" baseline="-25000" dirty="0"/>
              <a:t>0</a:t>
            </a:r>
            <a:r>
              <a:rPr lang="en-US" altLang="en-US" dirty="0"/>
              <a:t> true | observed test statistic value).</a:t>
            </a:r>
          </a:p>
        </p:txBody>
      </p:sp>
      <p:sp>
        <p:nvSpPr>
          <p:cNvPr id="167939" name="Text Box 2"/>
          <p:cNvSpPr txBox="1">
            <a:spLocks noChangeArrowheads="1"/>
          </p:cNvSpPr>
          <p:nvPr/>
        </p:nvSpPr>
        <p:spPr bwMode="auto">
          <a:xfrm>
            <a:off x="609600" y="152400"/>
            <a:ext cx="83058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Misinterpretations of Results of Significance Tests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1"/>
          <p:cNvSpPr>
            <a:spLocks noGrp="1" noChangeArrowheads="1"/>
          </p:cNvSpPr>
          <p:nvPr>
            <p:ph type="body" idx="4294967295"/>
          </p:nvPr>
        </p:nvSpPr>
        <p:spPr bwMode="auto">
          <a:xfrm>
            <a:off x="762000" y="1600200"/>
            <a:ext cx="79248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eaLnBrk="1" hangingPunct="1">
              <a:spcBef>
                <a:spcPts val="725"/>
              </a:spcBef>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It is misleading to report results only if they are  “statistically significant”.</a:t>
            </a:r>
          </a:p>
          <a:p>
            <a:pPr marL="0" indent="0" eaLnBrk="1" hangingPunct="1">
              <a:spcBef>
                <a:spcPts val="725"/>
              </a:spcBef>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p>
          <a:p>
            <a:pPr marL="0" indent="0" eaLnBrk="1" hangingPunct="1">
              <a:spcBef>
                <a:spcPts val="725"/>
              </a:spcBef>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   Some tests may be statistically significant just by </a:t>
            </a:r>
          </a:p>
          <a:p>
            <a:pPr marL="0" indent="0" eaLnBrk="1" hangingPunct="1">
              <a:spcBef>
                <a:spcPts val="7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     chance.</a:t>
            </a:r>
          </a:p>
          <a:p>
            <a:pPr marL="0" indent="0" eaLnBrk="1" hangingPunct="1">
              <a:spcBef>
                <a:spcPts val="725"/>
              </a:spcBef>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p>
          <a:p>
            <a:pPr eaLnBrk="1" hangingPunct="1">
              <a:spcBef>
                <a:spcPts val="725"/>
              </a:spcBef>
              <a:buSzPct val="90000"/>
              <a:buFont typeface="Wingdings" panose="05000000000000000000" pitchFamily="2" charset="2"/>
              <a:buChar cha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r>
              <a:rPr lang="en-US" altLang="en-US" dirty="0"/>
              <a:t>True effects may not be as large as initial estimates reported by the media.</a:t>
            </a:r>
          </a:p>
          <a:p>
            <a:pPr marL="0" indent="0" eaLnBrk="1" hangingPunct="1">
              <a:spcBef>
                <a:spcPts val="725"/>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defRPr/>
            </a:pPr>
            <a:endParaRPr lang="en-US" altLang="en-US" dirty="0"/>
          </a:p>
        </p:txBody>
      </p:sp>
      <p:sp>
        <p:nvSpPr>
          <p:cNvPr id="169987" name="Text Box 2"/>
          <p:cNvSpPr txBox="1">
            <a:spLocks noChangeArrowheads="1"/>
          </p:cNvSpPr>
          <p:nvPr/>
        </p:nvSpPr>
        <p:spPr bwMode="auto">
          <a:xfrm>
            <a:off x="609600" y="152400"/>
            <a:ext cx="83058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Misinterpretations of Results of Significance Tests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1"/>
          <p:cNvSpPr>
            <a:spLocks noGrp="1" noChangeArrowheads="1"/>
          </p:cNvSpPr>
          <p:nvPr>
            <p:ph type="title" idx="4294967295"/>
          </p:nvPr>
        </p:nvSpPr>
        <p:spPr bwMode="auto">
          <a:xfrm>
            <a:off x="838200" y="228600"/>
            <a:ext cx="78486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Type II Error</a:t>
            </a:r>
          </a:p>
        </p:txBody>
      </p:sp>
      <p:sp>
        <p:nvSpPr>
          <p:cNvPr id="226307" name="Rectangle 2"/>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94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graphicFrame>
        <p:nvGraphicFramePr>
          <p:cNvPr id="174084" name="Object 4"/>
          <p:cNvGraphicFramePr>
            <a:graphicFrameLocks noChangeAspect="1"/>
          </p:cNvGraphicFramePr>
          <p:nvPr/>
        </p:nvGraphicFramePr>
        <p:xfrm>
          <a:off x="2147888" y="1995488"/>
          <a:ext cx="476250" cy="463550"/>
        </p:xfrm>
        <a:graphic>
          <a:graphicData uri="http://schemas.openxmlformats.org/presentationml/2006/ole">
            <mc:AlternateContent xmlns:mc="http://schemas.openxmlformats.org/markup-compatibility/2006">
              <mc:Choice xmlns:v="urn:schemas-microsoft-com:vml" Requires="v">
                <p:oleObj name="Equation" r:id="rId4" imgW="457002" imgH="444307" progId="Equation.DSMT4">
                  <p:embed/>
                </p:oleObj>
              </mc:Choice>
              <mc:Fallback>
                <p:oleObj name="Equation" r:id="rId4" imgW="457002" imgH="444307" progId="Equation.DSMT4">
                  <p:embed/>
                  <p:pic>
                    <p:nvPicPr>
                      <p:cNvPr id="17408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7888" y="1995488"/>
                        <a:ext cx="476250" cy="4635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t>Scientific “test of astrologers’ predictions”:</a:t>
            </a:r>
          </a:p>
          <a:p>
            <a:pPr marL="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For each of 116 adult volunteers, an astrologer prepared a horoscope based on the positions of the planets and the moon at the moment of the person’s birth.</a:t>
            </a:r>
          </a:p>
          <a:p>
            <a:pPr marL="0" lvl="1" indent="0" eaLnBrk="1" hangingPunct="1">
              <a:spcBef>
                <a:spcPts val="300"/>
              </a:spcBef>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lvl="1" indent="0" eaLnBrk="1" hangingPunct="1">
              <a:buClr>
                <a:srgbClr val="CCCC99"/>
              </a:buClr>
              <a:buSzPct val="75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Each adult subject also filled out a California Personality Index (CPI)</a:t>
            </a:r>
            <a:r>
              <a:rPr lang="en-US" altLang="en-US">
                <a:solidFill>
                  <a:srgbClr val="FF0000"/>
                </a:solidFill>
              </a:rPr>
              <a:t> </a:t>
            </a:r>
            <a:r>
              <a:rPr lang="en-US" altLang="en-US"/>
              <a:t>Survey.</a:t>
            </a:r>
          </a:p>
        </p:txBody>
      </p:sp>
      <p:sp>
        <p:nvSpPr>
          <p:cNvPr id="176131" name="Text Box 2"/>
          <p:cNvSpPr txBox="1">
            <a:spLocks noChangeArrowheads="1"/>
          </p:cNvSpPr>
          <p:nvPr/>
        </p:nvSpPr>
        <p:spPr bwMode="auto">
          <a:xfrm>
            <a:off x="838200" y="193675"/>
            <a:ext cx="784860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For a given adult, his or her birth data and horoscope were shown to the astrologer together with the results of the personality survey for that adult and for two other adults randomly selected from the group.</a:t>
            </a:r>
          </a:p>
          <a:p>
            <a:pPr marL="0" indent="0" eaLnBrk="1" hangingPunct="1">
              <a:lnSpc>
                <a:spcPct val="90000"/>
              </a:lnSpc>
              <a:spcBef>
                <a:spcPts val="2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astrologer was asked which personality chart of the 3 subjects was the correct one for that adult, based on his or her horoscope.</a:t>
            </a:r>
          </a:p>
          <a:p>
            <a:pPr marL="0" indent="0" eaLnBrk="1" hangingPunct="1">
              <a:lnSpc>
                <a:spcPct val="90000"/>
              </a:lnSpc>
              <a:spcBef>
                <a:spcPts val="600"/>
              </a:spcBef>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p:txBody>
      </p:sp>
      <p:sp>
        <p:nvSpPr>
          <p:cNvPr id="178179" name="Text Box 2"/>
          <p:cNvSpPr txBox="1">
            <a:spLocks noChangeArrowheads="1"/>
          </p:cNvSpPr>
          <p:nvPr/>
        </p:nvSpPr>
        <p:spPr bwMode="auto">
          <a:xfrm>
            <a:off x="838200" y="209550"/>
            <a:ext cx="784860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28 astrologers were randomly chosen to take part in the experiment.</a:t>
            </a:r>
          </a:p>
          <a:p>
            <a:pPr marL="0" indent="0" eaLnBrk="1" hangingPunct="1">
              <a:lnSpc>
                <a:spcPct val="90000"/>
              </a:lnSpc>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National Council for Geocosmic Research claimed that the probability of a correct guess on any given trial in the experiment was larger than 1/3, the value for random guessing.</a:t>
            </a:r>
          </a:p>
          <a:p>
            <a:pPr marL="0" indent="0" eaLnBrk="1" hangingPunct="1">
              <a:lnSpc>
                <a:spcPct val="90000"/>
              </a:lnSpc>
              <a:buSzPct val="90000"/>
              <a:buFontTx/>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p:txBody>
      </p:sp>
      <p:sp>
        <p:nvSpPr>
          <p:cNvPr id="180227" name="Text Box 2"/>
          <p:cNvSpPr txBox="1">
            <a:spLocks noChangeArrowheads="1"/>
          </p:cNvSpPr>
          <p:nvPr/>
        </p:nvSpPr>
        <p:spPr bwMode="auto">
          <a:xfrm>
            <a:off x="823913" y="209550"/>
            <a:ext cx="784860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With random guessing,  </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astrologers’ </a:t>
            </a:r>
            <a:r>
              <a:rPr lang="en-US" altLang="en-US" b="1"/>
              <a:t>claim</a:t>
            </a:r>
            <a:r>
              <a:rPr lang="en-US" altLang="en-US"/>
              <a:t>:  </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a:t>
            </a:r>
            <a:r>
              <a:rPr lang="en-US" altLang="en-US" i="1"/>
              <a:t>hypotheses</a:t>
            </a:r>
            <a:r>
              <a:rPr lang="en-US" altLang="en-US"/>
              <a:t> for this test:</a:t>
            </a:r>
          </a:p>
          <a:p>
            <a:pPr marL="1371600" lvl="3" indent="0" eaLnBrk="1" hangingPunct="1">
              <a:spcBef>
                <a:spcPts val="700"/>
              </a:spcBef>
              <a:buClr>
                <a:srgbClr val="CCCC99"/>
              </a:buClr>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 </a:t>
            </a:r>
          </a:p>
          <a:p>
            <a:pPr marL="1371600" lvl="3" indent="0" eaLnBrk="1" hangingPunct="1">
              <a:spcBef>
                <a:spcPts val="700"/>
              </a:spcBef>
              <a:buClr>
                <a:srgbClr val="CCCC99"/>
              </a:buClr>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spcBef>
                <a:spcPts val="6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spcBef>
                <a:spcPts val="625"/>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a:t>
            </a:r>
            <a:r>
              <a:rPr lang="en-US" altLang="en-US" i="1"/>
              <a:t>significance level </a:t>
            </a:r>
            <a:r>
              <a:rPr lang="en-US" altLang="en-US"/>
              <a:t>used for the test is 0.05.</a:t>
            </a:r>
          </a:p>
        </p:txBody>
      </p:sp>
      <p:sp>
        <p:nvSpPr>
          <p:cNvPr id="182275" name="Text Box 2"/>
          <p:cNvSpPr txBox="1">
            <a:spLocks noChangeArrowheads="1"/>
          </p:cNvSpPr>
          <p:nvPr/>
        </p:nvSpPr>
        <p:spPr bwMode="auto">
          <a:xfrm>
            <a:off x="823913" y="207963"/>
            <a:ext cx="784860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graphicFrame>
        <p:nvGraphicFramePr>
          <p:cNvPr id="182276" name="Object 5"/>
          <p:cNvGraphicFramePr>
            <a:graphicFrameLocks noChangeAspect="1"/>
          </p:cNvGraphicFramePr>
          <p:nvPr/>
        </p:nvGraphicFramePr>
        <p:xfrm>
          <a:off x="4191000" y="1628775"/>
          <a:ext cx="1155700" cy="419100"/>
        </p:xfrm>
        <a:graphic>
          <a:graphicData uri="http://schemas.openxmlformats.org/presentationml/2006/ole">
            <mc:AlternateContent xmlns:mc="http://schemas.openxmlformats.org/markup-compatibility/2006">
              <mc:Choice xmlns:v="urn:schemas-microsoft-com:vml" Requires="v">
                <p:oleObj name="Equation" r:id="rId3" imgW="1155700" imgH="419100" progId="Equation.DSMT4">
                  <p:embed/>
                </p:oleObj>
              </mc:Choice>
              <mc:Fallback>
                <p:oleObj name="Equation" r:id="rId3" imgW="1155700" imgH="419100" progId="Equation.DSMT4">
                  <p:embed/>
                  <p:pic>
                    <p:nvPicPr>
                      <p:cNvPr id="18227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628775"/>
                        <a:ext cx="1155700" cy="419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277" name="Object 6"/>
          <p:cNvGraphicFramePr>
            <a:graphicFrameLocks noChangeAspect="1"/>
          </p:cNvGraphicFramePr>
          <p:nvPr/>
        </p:nvGraphicFramePr>
        <p:xfrm>
          <a:off x="4267200" y="2514600"/>
          <a:ext cx="1155700" cy="419100"/>
        </p:xfrm>
        <a:graphic>
          <a:graphicData uri="http://schemas.openxmlformats.org/presentationml/2006/ole">
            <mc:AlternateContent xmlns:mc="http://schemas.openxmlformats.org/markup-compatibility/2006">
              <mc:Choice xmlns:v="urn:schemas-microsoft-com:vml" Requires="v">
                <p:oleObj name="Equation" r:id="rId5" imgW="1155700" imgH="419100" progId="Equation.DSMT4">
                  <p:embed/>
                </p:oleObj>
              </mc:Choice>
              <mc:Fallback>
                <p:oleObj name="Equation" r:id="rId5" imgW="1155700" imgH="419100" progId="Equation.DSMT4">
                  <p:embed/>
                  <p:pic>
                    <p:nvPicPr>
                      <p:cNvPr id="18227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2514600"/>
                        <a:ext cx="1155700" cy="4191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278" name="Object 7"/>
          <p:cNvGraphicFramePr>
            <a:graphicFrameLocks noChangeAspect="1"/>
          </p:cNvGraphicFramePr>
          <p:nvPr/>
        </p:nvGraphicFramePr>
        <p:xfrm>
          <a:off x="2540000" y="3886200"/>
          <a:ext cx="1854200" cy="444500"/>
        </p:xfrm>
        <a:graphic>
          <a:graphicData uri="http://schemas.openxmlformats.org/presentationml/2006/ole">
            <mc:AlternateContent xmlns:mc="http://schemas.openxmlformats.org/markup-compatibility/2006">
              <mc:Choice xmlns:v="urn:schemas-microsoft-com:vml" Requires="v">
                <p:oleObj name="Equation" r:id="rId7" imgW="1854200" imgH="444500" progId="Equation.DSMT4">
                  <p:embed/>
                </p:oleObj>
              </mc:Choice>
              <mc:Fallback>
                <p:oleObj name="Equation" r:id="rId7" imgW="1854200" imgH="444500" progId="Equation.DSMT4">
                  <p:embed/>
                  <p:pic>
                    <p:nvPicPr>
                      <p:cNvPr id="18227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0000" y="3886200"/>
                        <a:ext cx="1854200" cy="444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2279" name="Object 8"/>
          <p:cNvGraphicFramePr>
            <a:graphicFrameLocks noChangeAspect="1"/>
          </p:cNvGraphicFramePr>
          <p:nvPr/>
        </p:nvGraphicFramePr>
        <p:xfrm>
          <a:off x="2540000" y="4495800"/>
          <a:ext cx="1866900" cy="444500"/>
        </p:xfrm>
        <a:graphic>
          <a:graphicData uri="http://schemas.openxmlformats.org/presentationml/2006/ole">
            <mc:AlternateContent xmlns:mc="http://schemas.openxmlformats.org/markup-compatibility/2006">
              <mc:Choice xmlns:v="urn:schemas-microsoft-com:vml" Requires="v">
                <p:oleObj name="Equation" r:id="rId9" imgW="1866090" imgH="444307" progId="Equation.DSMT4">
                  <p:embed/>
                </p:oleObj>
              </mc:Choice>
              <mc:Fallback>
                <p:oleObj name="Equation" r:id="rId9" imgW="1866090" imgH="444307" progId="Equation.DSMT4">
                  <p:embed/>
                  <p:pic>
                    <p:nvPicPr>
                      <p:cNvPr id="182279"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0000" y="4495800"/>
                        <a:ext cx="1866900" cy="444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1"/>
          <p:cNvSpPr>
            <a:spLocks noGrp="1" noRot="1" noChangeAspect="1" noMove="1" noResize="1" noEditPoints="1" noAdjustHandles="1" noChangeArrowheads="1" noChangeShapeType="1" noTextEdit="1"/>
          </p:cNvSpPr>
          <p:nvPr>
            <p:ph type="body" idx="4294967295"/>
          </p:nvPr>
        </p:nvSpPr>
        <p:spPr bwMode="auto">
          <a:xfrm>
            <a:off x="500063" y="1447800"/>
            <a:ext cx="8643937" cy="4779264"/>
          </a:xfrm>
          <a:prstGeom prst="rect">
            <a:avLst/>
          </a:prstGeom>
          <a:blipFill>
            <a:blip r:embed="rId3"/>
            <a:stretch>
              <a:fillRect l="-1128" t="-893" r="-1975"/>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84323" name="Text Box 2"/>
          <p:cNvSpPr txBox="1">
            <a:spLocks noChangeArrowheads="1"/>
          </p:cNvSpPr>
          <p:nvPr/>
        </p:nvSpPr>
        <p:spPr bwMode="auto">
          <a:xfrm>
            <a:off x="838200" y="195263"/>
            <a:ext cx="784860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1"/>
          <p:cNvSpPr>
            <a:spLocks noGrp="1" noChangeArrowheads="1"/>
          </p:cNvSpPr>
          <p:nvPr>
            <p:ph type="body" idx="4294967295"/>
          </p:nvPr>
        </p:nvSpPr>
        <p:spPr bwMode="auto">
          <a:xfrm>
            <a:off x="774700" y="1600200"/>
            <a:ext cx="7924800" cy="472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b="1"/>
              <a:t>Find the value of the sample proportion that would give us a </a:t>
            </a:r>
            <a:r>
              <a:rPr lang="en-US" altLang="en-US" b="1" i="1"/>
              <a:t>z</a:t>
            </a:r>
            <a:r>
              <a:rPr lang="en-US" altLang="en-US" b="1"/>
              <a:t> of 1.645:</a:t>
            </a: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b="1"/>
          </a:p>
          <a:p>
            <a:pPr marL="571500" lvl="1" indent="0" eaLnBrk="1" hangingPunct="1">
              <a:spcBef>
                <a:spcPts val="600"/>
              </a:spcBef>
              <a:buClr>
                <a:srgbClr val="B2B2B2"/>
              </a:buClr>
              <a:buSzPct val="90000"/>
              <a:buFont typeface="Wingdings" panose="05000000000000000000" pitchFamily="2" charset="2"/>
              <a:buNone/>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So, we reject H</a:t>
            </a:r>
            <a:r>
              <a:rPr lang="en-US" altLang="en-US" baseline="-25000"/>
              <a:t>0 </a:t>
            </a:r>
            <a:r>
              <a:rPr lang="en-US" altLang="en-US"/>
              <a:t>when we get a sample proportion that is 0.405 or larger.</a:t>
            </a:r>
          </a:p>
        </p:txBody>
      </p:sp>
      <p:sp>
        <p:nvSpPr>
          <p:cNvPr id="186371" name="Text Box 2"/>
          <p:cNvSpPr txBox="1">
            <a:spLocks noChangeArrowheads="1"/>
          </p:cNvSpPr>
          <p:nvPr/>
        </p:nvSpPr>
        <p:spPr bwMode="auto">
          <a:xfrm>
            <a:off x="838200" y="193675"/>
            <a:ext cx="784860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graphicFrame>
        <p:nvGraphicFramePr>
          <p:cNvPr id="186372" name="Object 1"/>
          <p:cNvGraphicFramePr>
            <a:graphicFrameLocks noChangeAspect="1"/>
          </p:cNvGraphicFramePr>
          <p:nvPr/>
        </p:nvGraphicFramePr>
        <p:xfrm>
          <a:off x="1541463" y="2651125"/>
          <a:ext cx="4864100" cy="876300"/>
        </p:xfrm>
        <a:graphic>
          <a:graphicData uri="http://schemas.openxmlformats.org/presentationml/2006/ole">
            <mc:AlternateContent xmlns:mc="http://schemas.openxmlformats.org/markup-compatibility/2006">
              <mc:Choice xmlns:v="urn:schemas-microsoft-com:vml" Requires="v">
                <p:oleObj name="Equation" r:id="rId3" imgW="4864100" imgH="876300" progId="Equation.DSMT4">
                  <p:embed/>
                </p:oleObj>
              </mc:Choice>
              <mc:Fallback>
                <p:oleObj name="Equation" r:id="rId3" imgW="4864100" imgH="876300" progId="Equation.DSMT4">
                  <p:embed/>
                  <p:pic>
                    <p:nvPicPr>
                      <p:cNvPr id="18637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1463" y="2651125"/>
                        <a:ext cx="48641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1"/>
          <p:cNvSpPr>
            <a:spLocks noGrp="1" noChangeArrowheads="1"/>
          </p:cNvSpPr>
          <p:nvPr>
            <p:ph type="body" idx="4294967295"/>
          </p:nvPr>
        </p:nvSpPr>
        <p:spPr bwMode="auto">
          <a:xfrm>
            <a:off x="762000" y="1600200"/>
            <a:ext cx="8001000" cy="4343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Suppose that in reality astrologers can make the correct prediction 50% of the time (that is, p = 0.50).</a:t>
            </a:r>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spcBef>
                <a:spcPts val="600"/>
              </a:spcBef>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In this case, (p = 0.50), we can now calculate the probability of a Type II error.</a:t>
            </a:r>
          </a:p>
        </p:txBody>
      </p:sp>
      <p:sp>
        <p:nvSpPr>
          <p:cNvPr id="188419" name="Text Box 2"/>
          <p:cNvSpPr txBox="1">
            <a:spLocks noChangeArrowheads="1"/>
          </p:cNvSpPr>
          <p:nvPr/>
        </p:nvSpPr>
        <p:spPr bwMode="auto">
          <a:xfrm>
            <a:off x="838200" y="193675"/>
            <a:ext cx="784860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1"/>
          <p:cNvSpPr>
            <a:spLocks noGrp="1" noRot="1" noChangeAspect="1" noMove="1" noResize="1" noEditPoints="1" noAdjustHandles="1" noChangeArrowheads="1" noChangeShapeType="1" noTextEdit="1"/>
          </p:cNvSpPr>
          <p:nvPr>
            <p:ph type="body" idx="4294967295"/>
          </p:nvPr>
        </p:nvSpPr>
        <p:spPr bwMode="auto">
          <a:xfrm>
            <a:off x="914400" y="1600200"/>
            <a:ext cx="7772400" cy="4530725"/>
          </a:xfrm>
          <a:prstGeom prst="rect">
            <a:avLst/>
          </a:prstGeom>
          <a:blipFill>
            <a:blip r:embed="rId3"/>
            <a:stretch>
              <a:fillRect l="-1255" t="-942" r="-1490"/>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
        <p:nvSpPr>
          <p:cNvPr id="190467" name="Text Box 2"/>
          <p:cNvSpPr txBox="1">
            <a:spLocks noChangeArrowheads="1"/>
          </p:cNvSpPr>
          <p:nvPr/>
        </p:nvSpPr>
        <p:spPr bwMode="auto">
          <a:xfrm>
            <a:off x="838200" y="195263"/>
            <a:ext cx="784860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graphicFrame>
        <p:nvGraphicFramePr>
          <p:cNvPr id="190468" name="Object 1"/>
          <p:cNvGraphicFramePr>
            <a:graphicFrameLocks noChangeAspect="1"/>
          </p:cNvGraphicFramePr>
          <p:nvPr/>
        </p:nvGraphicFramePr>
        <p:xfrm>
          <a:off x="4462463" y="2651125"/>
          <a:ext cx="3073400" cy="876300"/>
        </p:xfrm>
        <a:graphic>
          <a:graphicData uri="http://schemas.openxmlformats.org/presentationml/2006/ole">
            <mc:AlternateContent xmlns:mc="http://schemas.openxmlformats.org/markup-compatibility/2006">
              <mc:Choice xmlns:v="urn:schemas-microsoft-com:vml" Requires="v">
                <p:oleObj name="Equation" r:id="rId4" imgW="3073400" imgH="876300" progId="Equation.DSMT4">
                  <p:embed/>
                </p:oleObj>
              </mc:Choice>
              <mc:Fallback>
                <p:oleObj name="Equation" r:id="rId4" imgW="3073400" imgH="876300" progId="Equation.DSMT4">
                  <p:embed/>
                  <p:pic>
                    <p:nvPicPr>
                      <p:cNvPr id="190468"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2463" y="2651125"/>
                        <a:ext cx="30734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1"/>
          <p:cNvSpPr>
            <a:spLocks noGrp="1" noChangeArrowheads="1"/>
          </p:cNvSpPr>
          <p:nvPr>
            <p:ph type="body" idx="4294967295"/>
          </p:nvPr>
        </p:nvSpPr>
        <p:spPr bwMode="auto">
          <a:xfrm>
            <a:off x="914400" y="1600200"/>
            <a:ext cx="7772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area to the left of 0.405 in the standard normal table is 0.02.</a:t>
            </a: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In Summary: The probability of making a Type II error and failing to reject H</a:t>
            </a:r>
            <a:r>
              <a:rPr lang="en-US" altLang="en-US" baseline="-25000"/>
              <a:t>0</a:t>
            </a:r>
            <a:r>
              <a:rPr lang="en-US" altLang="en-US"/>
              <a:t>: p = 1/3 is only 0.02 in the case for which the true proportion is 0.50.</a:t>
            </a: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This is only a small chance of making a Type II error.</a:t>
            </a:r>
          </a:p>
        </p:txBody>
      </p:sp>
      <p:sp>
        <p:nvSpPr>
          <p:cNvPr id="192515" name="Text Box 2"/>
          <p:cNvSpPr txBox="1">
            <a:spLocks noChangeArrowheads="1"/>
          </p:cNvSpPr>
          <p:nvPr/>
        </p:nvSpPr>
        <p:spPr bwMode="auto">
          <a:xfrm>
            <a:off x="838200" y="193675"/>
            <a:ext cx="784860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rgbClr val="000000"/>
                </a:solidFill>
                <a:latin typeface="Arial" panose="020B0604020202020204" pitchFamily="34" charset="0"/>
              </a:rPr>
              <a:t>Example: Part of a Study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1"/>
          <p:cNvSpPr>
            <a:spLocks noGrp="1" noChangeArrowheads="1"/>
          </p:cNvSpPr>
          <p:nvPr>
            <p:ph type="title" idx="4294967295"/>
          </p:nvPr>
        </p:nvSpPr>
        <p:spPr bwMode="auto">
          <a:xfrm>
            <a:off x="838200" y="242888"/>
            <a:ext cx="7848600" cy="6445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latin typeface="Arial" panose="020B0604020202020204" pitchFamily="34" charset="0"/>
              </a:rPr>
              <a:t>Type II Error</a:t>
            </a:r>
          </a:p>
        </p:txBody>
      </p:sp>
      <p:sp>
        <p:nvSpPr>
          <p:cNvPr id="248835" name="Rectangle 2"/>
          <p:cNvSpPr>
            <a:spLocks noGrp="1" noRot="1" noChangeAspect="1" noMove="1" noResize="1" noEditPoints="1" noAdjustHandles="1" noChangeArrowheads="1" noChangeShapeType="1" noTextEdit="1"/>
          </p:cNvSpPr>
          <p:nvPr>
            <p:ph type="body" idx="4294967295"/>
          </p:nvPr>
        </p:nvSpPr>
        <p:spPr bwMode="auto">
          <a:xfrm>
            <a:off x="685800" y="1600200"/>
            <a:ext cx="7848600" cy="4530725"/>
          </a:xfrm>
          <a:prstGeom prst="rect">
            <a:avLst/>
          </a:prstGeom>
          <a:blipFill>
            <a:blip r:embed="rId3"/>
            <a:stretch>
              <a:fillRect l="-1243" t="-942"/>
            </a:stretch>
          </a:blipFill>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1"/>
          <p:cNvSpPr>
            <a:spLocks noGrp="1" noChangeArrowheads="1"/>
          </p:cNvSpPr>
          <p:nvPr>
            <p:ph type="title" idx="4294967295"/>
          </p:nvPr>
        </p:nvSpPr>
        <p:spPr bwMode="auto">
          <a:xfrm>
            <a:off x="838200" y="134938"/>
            <a:ext cx="7848600" cy="766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chemeClr val="tx1"/>
                </a:solidFill>
                <a:latin typeface="Arial" panose="020B0604020202020204" pitchFamily="34" charset="0"/>
              </a:rPr>
              <a:t>The</a:t>
            </a:r>
            <a:r>
              <a:rPr lang="en-US" altLang="en-US" b="1">
                <a:solidFill>
                  <a:srgbClr val="FF0000"/>
                </a:solidFill>
                <a:latin typeface="Arial" panose="020B0604020202020204" pitchFamily="34" charset="0"/>
              </a:rPr>
              <a:t> </a:t>
            </a:r>
            <a:r>
              <a:rPr lang="en-US" altLang="en-US" b="1">
                <a:latin typeface="Arial" panose="020B0604020202020204" pitchFamily="34" charset="0"/>
              </a:rPr>
              <a:t>Power of a Test</a:t>
            </a:r>
          </a:p>
        </p:txBody>
      </p:sp>
      <p:sp>
        <p:nvSpPr>
          <p:cNvPr id="196611" name="Rectangle 2"/>
          <p:cNvSpPr>
            <a:spLocks noGrp="1" noChangeArrowheads="1"/>
          </p:cNvSpPr>
          <p:nvPr>
            <p:ph type="body" idx="4294967295"/>
          </p:nvPr>
        </p:nvSpPr>
        <p:spPr bwMode="auto">
          <a:xfrm>
            <a:off x="762000" y="1600200"/>
            <a:ext cx="8153400" cy="45307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When H</a:t>
            </a:r>
            <a:r>
              <a:rPr lang="en-US" altLang="en-US" baseline="-25000"/>
              <a:t>0</a:t>
            </a:r>
            <a:r>
              <a:rPr lang="en-US" altLang="en-US"/>
              <a:t> is false, you want the probability of rejecting it to be high. The probability of rejecting H</a:t>
            </a:r>
            <a:r>
              <a:rPr lang="en-US" altLang="en-US" baseline="-25000"/>
              <a:t>0</a:t>
            </a:r>
            <a:r>
              <a:rPr lang="en-US" altLang="en-US"/>
              <a:t> when it is false is called the </a:t>
            </a:r>
            <a:r>
              <a:rPr lang="en-US" altLang="en-US" b="1"/>
              <a:t>power</a:t>
            </a:r>
            <a:r>
              <a:rPr lang="en-US" altLang="en-US"/>
              <a:t> of the test.</a:t>
            </a:r>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Power = 1 – P(Type II error) for a particular value of the parameter from the range of alternative hypothesis values.</a:t>
            </a:r>
          </a:p>
          <a:p>
            <a:pPr marL="0" indent="0" eaLnBrk="1" hangingPunct="1">
              <a:lnSpc>
                <a:spcPct val="90000"/>
              </a:lnSpc>
              <a:spcBef>
                <a:spcPts val="3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The higher the power, the better.</a:t>
            </a:r>
          </a:p>
          <a:p>
            <a:pPr marL="0" indent="0" eaLnBrk="1" hangingPunct="1">
              <a:lnSpc>
                <a:spcPct val="90000"/>
              </a:lnSpc>
              <a:spcBef>
                <a:spcPts val="325"/>
              </a:spcBef>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lnSpc>
                <a:spcPct val="90000"/>
              </a:lnSpc>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In practice, it is ideal for studies to have high power while using a relatively small significance level.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1"/>
          <p:cNvSpPr>
            <a:spLocks noGrp="1" noChangeArrowheads="1"/>
          </p:cNvSpPr>
          <p:nvPr>
            <p:ph type="body" idx="4294967295"/>
          </p:nvPr>
        </p:nvSpPr>
        <p:spPr bwMode="auto">
          <a:xfrm>
            <a:off x="914400" y="1857375"/>
            <a:ext cx="7772400" cy="42735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In the example Part of a Study Design, the Power of the test when p = 0.50 is: </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Power = 1 – P(Type II error) = 1 – 0.02 = 0.98.</a:t>
            </a:r>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endParaRPr lang="en-US" altLang="en-US"/>
          </a:p>
          <a:p>
            <a:pPr marL="0" indent="0" eaLnBrk="1" hangingPunct="1">
              <a:buClr>
                <a:srgbClr val="B2B2B2"/>
              </a:buClr>
              <a:buSzPct val="90000"/>
              <a:tabLst>
                <a:tab pos="317500" algn="l"/>
                <a:tab pos="422275"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Lst>
            </a:pPr>
            <a:r>
              <a:rPr lang="en-US" altLang="en-US"/>
              <a:t>Since, the </a:t>
            </a:r>
            <a:r>
              <a:rPr lang="en-US" altLang="en-US" i="1"/>
              <a:t>higher</a:t>
            </a:r>
            <a:r>
              <a:rPr lang="en-US" altLang="en-US"/>
              <a:t> the power the </a:t>
            </a:r>
            <a:r>
              <a:rPr lang="en-US" altLang="en-US" i="1"/>
              <a:t>better</a:t>
            </a:r>
            <a:r>
              <a:rPr lang="en-US" altLang="en-US"/>
              <a:t>, a test with power of 0.98 is quite good.</a:t>
            </a:r>
          </a:p>
        </p:txBody>
      </p:sp>
      <p:sp>
        <p:nvSpPr>
          <p:cNvPr id="198659" name="Rectangle 1"/>
          <p:cNvSpPr>
            <a:spLocks noChangeArrowheads="1"/>
          </p:cNvSpPr>
          <p:nvPr/>
        </p:nvSpPr>
        <p:spPr bwMode="auto">
          <a:xfrm>
            <a:off x="838200" y="120650"/>
            <a:ext cx="7848600"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Tx/>
              <a:buFontTx/>
              <a:buNone/>
            </a:pPr>
            <a:r>
              <a:rPr lang="en-US" altLang="en-US" sz="3200" b="1">
                <a:solidFill>
                  <a:schemeClr val="tx1"/>
                </a:solidFill>
                <a:latin typeface="Arial" panose="020B0604020202020204" pitchFamily="34" charset="0"/>
              </a:rPr>
              <a:t>The</a:t>
            </a:r>
            <a:r>
              <a:rPr lang="en-US" altLang="en-US" sz="3200" b="1">
                <a:solidFill>
                  <a:srgbClr val="FF0000"/>
                </a:solidFill>
                <a:latin typeface="Arial" panose="020B0604020202020204" pitchFamily="34" charset="0"/>
              </a:rPr>
              <a:t> </a:t>
            </a:r>
            <a:r>
              <a:rPr lang="en-US" altLang="en-US" sz="3200" b="1">
                <a:solidFill>
                  <a:schemeClr val="tx1"/>
                </a:solidFill>
                <a:latin typeface="Arial" panose="020B0604020202020204" pitchFamily="34" charset="0"/>
              </a:rPr>
              <a:t>Power of a Test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6207</TotalTime>
  <Words>4001</Words>
  <Application>Microsoft Office PowerPoint</Application>
  <PresentationFormat>On-screen Show (4:3)</PresentationFormat>
  <Paragraphs>548</Paragraphs>
  <Slides>90</Slides>
  <Notes>89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90</vt:i4>
      </vt:variant>
    </vt:vector>
  </HeadingPairs>
  <TitlesOfParts>
    <vt:vector size="96" baseType="lpstr">
      <vt:lpstr>Arial</vt:lpstr>
      <vt:lpstr>Calibri Light</vt:lpstr>
      <vt:lpstr>Times New Roman</vt:lpstr>
      <vt:lpstr>Wingdings</vt:lpstr>
      <vt:lpstr>2_Content Theme</vt:lpstr>
      <vt:lpstr>Equation</vt:lpstr>
      <vt:lpstr>Econ 7900 Statistics for Data Science </vt:lpstr>
      <vt:lpstr>Scientific Method</vt:lpstr>
      <vt:lpstr>Scientific Method</vt:lpstr>
      <vt:lpstr>Hypothesis</vt:lpstr>
      <vt:lpstr>The Steps of a Significance Test</vt:lpstr>
      <vt:lpstr>Step 1: Assumptions</vt:lpstr>
      <vt:lpstr>PowerPoint Presentation</vt:lpstr>
      <vt:lpstr>Null and Alternative Hypotheses</vt:lpstr>
      <vt:lpstr>Step 3: Test Statistic</vt:lpstr>
      <vt:lpstr>Step 4: P-value</vt:lpstr>
      <vt:lpstr>PowerPoint Presentation</vt:lpstr>
      <vt:lpstr>PowerPoint Presentation</vt:lpstr>
      <vt:lpstr>PowerPoint Presentation</vt:lpstr>
      <vt:lpstr>Step 5: Conclusion</vt:lpstr>
      <vt:lpstr>Example: Are Astrologers’ Predictions Better Than Guessing?</vt:lpstr>
      <vt:lpstr>Steps of a Significance Test about a Population Proportion</vt:lpstr>
      <vt:lpstr>Steps of a Significance Test about a Population Proportion</vt:lpstr>
      <vt:lpstr>Steps of a Significance Test about a Population Proportion</vt:lpstr>
      <vt:lpstr>Steps of a Significance Test about a Population Proportion</vt:lpstr>
      <vt:lpstr>Steps of a Significance Test about a Population Proportion</vt:lpstr>
      <vt:lpstr>PowerPoint Presentation</vt:lpstr>
      <vt:lpstr>PowerPoint Presentation</vt:lpstr>
      <vt:lpstr>PowerPoint Presentation</vt:lpstr>
      <vt:lpstr>PowerPoint Presentation</vt:lpstr>
      <vt:lpstr>PowerPoint Presentation</vt:lpstr>
      <vt:lpstr>Interpreting the P-value</vt:lpstr>
      <vt:lpstr>Interpreting the P-value</vt:lpstr>
      <vt:lpstr>Two-Sided Significance Tests</vt:lpstr>
      <vt:lpstr>Example: Dogs Detecting Cancer by Smell</vt:lpstr>
      <vt:lpstr>PowerPoint Presentation</vt:lpstr>
      <vt:lpstr>PowerPoint Presentation</vt:lpstr>
      <vt:lpstr>PowerPoint Presentation</vt:lpstr>
      <vt:lpstr>PowerPoint Presentation</vt:lpstr>
      <vt:lpstr>PowerPoint Presentation</vt:lpstr>
      <vt:lpstr>PowerPoint Presentation</vt:lpstr>
      <vt:lpstr>Summary: P-values for Different Alternative Hypotheses</vt:lpstr>
      <vt:lpstr>The Significance Level Tells Us How Strong the Evidence Must Be</vt:lpstr>
      <vt:lpstr>PowerPoint Presentation</vt:lpstr>
      <vt:lpstr>Significance Level</vt:lpstr>
      <vt:lpstr>Possible Decisions in a Test of Significance</vt:lpstr>
      <vt:lpstr>Report the P-value</vt:lpstr>
      <vt:lpstr>“Do Not Reject H0” Is Not the Same as Saying “Accept H0” </vt:lpstr>
      <vt:lpstr>Deciding between a One-Sided and a Two-Sided Test?</vt:lpstr>
      <vt:lpstr>The Binomial Test for Small Samples</vt:lpstr>
      <vt:lpstr>Steps of a Significance Test About a Population Mean</vt:lpstr>
      <vt:lpstr>Steps of a Significance Test About a Population Mean</vt:lpstr>
      <vt:lpstr>PowerPoint Presentation</vt:lpstr>
      <vt:lpstr>PowerPoint Presentation</vt:lpstr>
      <vt:lpstr>PowerPoint Presentation</vt:lpstr>
      <vt:lpstr>PowerPoint Presentation</vt:lpstr>
      <vt:lpstr>Summary of P-values for Different Alternative Hypotheses</vt:lpstr>
      <vt:lpstr>Steps of a Significance Test About a Population Mean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of Two-Sided Tests and Results of Confidence Intervals Agree</vt:lpstr>
      <vt:lpstr>When the Population Does Not Satisfy the Normality Assumption</vt:lpstr>
      <vt:lpstr>PowerPoint Presentation</vt:lpstr>
      <vt:lpstr>Regardless of Robustness, Look at the Data</vt:lpstr>
      <vt:lpstr>Type I and Type II Errors</vt:lpstr>
      <vt:lpstr>Significance Test Results</vt:lpstr>
      <vt:lpstr>PowerPoint Presentation</vt:lpstr>
      <vt:lpstr> </vt:lpstr>
      <vt:lpstr>Statistical Significance Does Not Mean Practical Significance</vt:lpstr>
      <vt:lpstr>What the Significance Test Tells Us</vt:lpstr>
      <vt:lpstr>PowerPoint Presentation</vt:lpstr>
      <vt:lpstr>Significance Tests Are Less Useful Than Confidence Intervals</vt:lpstr>
      <vt:lpstr>PowerPoint Presentation</vt:lpstr>
      <vt:lpstr>PowerPoint Presentation</vt:lpstr>
      <vt:lpstr>PowerPoint Presentation</vt:lpstr>
      <vt:lpstr>Type II Error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 II Error</vt:lpstr>
      <vt:lpstr>The Power of a Test</vt:lpstr>
      <vt:lpstr>PowerPoint Presentation</vt:lpstr>
    </vt:vector>
  </TitlesOfParts>
  <Company>©  2017, 2013 and 2009 Pearson Education, Inc.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dc:title>
  <dc:subject>Statistics The Art and Science of Learning from Data  4th ed</dc:subject>
  <dc:creator>Agresti/Franklin/Klingenberg</dc:creator>
  <cp:lastModifiedBy>Kang Hua CAO</cp:lastModifiedBy>
  <cp:revision>390</cp:revision>
  <cp:lastPrinted>2019-10-16T02:46:19Z</cp:lastPrinted>
  <dcterms:created xsi:type="dcterms:W3CDTF">2001-09-30T23:03:25Z</dcterms:created>
  <dcterms:modified xsi:type="dcterms:W3CDTF">2022-09-28T04:49:47Z</dcterms:modified>
</cp:coreProperties>
</file>